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0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ink/ink1.xml" ContentType="application/inkml+xml"/>
  <Override PartName="/ppt/tags/tag34.xml" ContentType="application/vnd.openxmlformats-officedocument.presentationml.tags+xml"/>
  <Override PartName="/ppt/ink/ink2.xml" ContentType="application/inkml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9"/>
  </p:notesMasterIdLst>
  <p:handoutMasterIdLst>
    <p:handoutMasterId r:id="rId100"/>
  </p:handoutMasterIdLst>
  <p:sldIdLst>
    <p:sldId id="946" r:id="rId2"/>
    <p:sldId id="947" r:id="rId3"/>
    <p:sldId id="948" r:id="rId4"/>
    <p:sldId id="949" r:id="rId5"/>
    <p:sldId id="950" r:id="rId6"/>
    <p:sldId id="951" r:id="rId7"/>
    <p:sldId id="952" r:id="rId8"/>
    <p:sldId id="953" r:id="rId9"/>
    <p:sldId id="954" r:id="rId10"/>
    <p:sldId id="955" r:id="rId11"/>
    <p:sldId id="956" r:id="rId12"/>
    <p:sldId id="957" r:id="rId13"/>
    <p:sldId id="958" r:id="rId14"/>
    <p:sldId id="959" r:id="rId15"/>
    <p:sldId id="960" r:id="rId16"/>
    <p:sldId id="962" r:id="rId17"/>
    <p:sldId id="963" r:id="rId18"/>
    <p:sldId id="961" r:id="rId19"/>
    <p:sldId id="964" r:id="rId20"/>
    <p:sldId id="965" r:id="rId21"/>
    <p:sldId id="966" r:id="rId22"/>
    <p:sldId id="967" r:id="rId23"/>
    <p:sldId id="968" r:id="rId24"/>
    <p:sldId id="969" r:id="rId25"/>
    <p:sldId id="970" r:id="rId26"/>
    <p:sldId id="971" r:id="rId27"/>
    <p:sldId id="972" r:id="rId28"/>
    <p:sldId id="973" r:id="rId29"/>
    <p:sldId id="974" r:id="rId30"/>
    <p:sldId id="975" r:id="rId31"/>
    <p:sldId id="976" r:id="rId32"/>
    <p:sldId id="977" r:id="rId33"/>
    <p:sldId id="978" r:id="rId34"/>
    <p:sldId id="979" r:id="rId35"/>
    <p:sldId id="980" r:id="rId36"/>
    <p:sldId id="981" r:id="rId37"/>
    <p:sldId id="982" r:id="rId38"/>
    <p:sldId id="983" r:id="rId39"/>
    <p:sldId id="984" r:id="rId40"/>
    <p:sldId id="985" r:id="rId41"/>
    <p:sldId id="986" r:id="rId42"/>
    <p:sldId id="987" r:id="rId43"/>
    <p:sldId id="988" r:id="rId44"/>
    <p:sldId id="989" r:id="rId45"/>
    <p:sldId id="990" r:id="rId46"/>
    <p:sldId id="991" r:id="rId47"/>
    <p:sldId id="992" r:id="rId48"/>
    <p:sldId id="993" r:id="rId49"/>
    <p:sldId id="994" r:id="rId50"/>
    <p:sldId id="995" r:id="rId51"/>
    <p:sldId id="996" r:id="rId52"/>
    <p:sldId id="997" r:id="rId53"/>
    <p:sldId id="998" r:id="rId54"/>
    <p:sldId id="999" r:id="rId55"/>
    <p:sldId id="1000" r:id="rId56"/>
    <p:sldId id="1001" r:id="rId57"/>
    <p:sldId id="1002" r:id="rId58"/>
    <p:sldId id="1003" r:id="rId59"/>
    <p:sldId id="1004" r:id="rId60"/>
    <p:sldId id="1005" r:id="rId61"/>
    <p:sldId id="1006" r:id="rId62"/>
    <p:sldId id="1007" r:id="rId63"/>
    <p:sldId id="1008" r:id="rId64"/>
    <p:sldId id="1009" r:id="rId65"/>
    <p:sldId id="1010" r:id="rId66"/>
    <p:sldId id="1011" r:id="rId67"/>
    <p:sldId id="1012" r:id="rId68"/>
    <p:sldId id="1013" r:id="rId69"/>
    <p:sldId id="1014" r:id="rId70"/>
    <p:sldId id="1015" r:id="rId71"/>
    <p:sldId id="1016" r:id="rId72"/>
    <p:sldId id="1017" r:id="rId73"/>
    <p:sldId id="1018" r:id="rId74"/>
    <p:sldId id="1019" r:id="rId75"/>
    <p:sldId id="1020" r:id="rId76"/>
    <p:sldId id="1021" r:id="rId77"/>
    <p:sldId id="1022" r:id="rId78"/>
    <p:sldId id="1023" r:id="rId79"/>
    <p:sldId id="1024" r:id="rId80"/>
    <p:sldId id="1040" r:id="rId81"/>
    <p:sldId id="1041" r:id="rId82"/>
    <p:sldId id="1025" r:id="rId83"/>
    <p:sldId id="1042" r:id="rId84"/>
    <p:sldId id="1043" r:id="rId85"/>
    <p:sldId id="1044" r:id="rId86"/>
    <p:sldId id="1026" r:id="rId87"/>
    <p:sldId id="1027" r:id="rId88"/>
    <p:sldId id="1028" r:id="rId89"/>
    <p:sldId id="1029" r:id="rId90"/>
    <p:sldId id="1030" r:id="rId91"/>
    <p:sldId id="1031" r:id="rId92"/>
    <p:sldId id="1032" r:id="rId93"/>
    <p:sldId id="1033" r:id="rId94"/>
    <p:sldId id="1034" r:id="rId95"/>
    <p:sldId id="1035" r:id="rId96"/>
    <p:sldId id="1036" r:id="rId97"/>
    <p:sldId id="1037" r:id="rId9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34817"/>
    <a:srgbClr val="C945B3"/>
    <a:srgbClr val="FEF9F5"/>
    <a:srgbClr val="E3E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90" autoAdjust="0"/>
    <p:restoredTop sz="85294"/>
  </p:normalViewPr>
  <p:slideViewPr>
    <p:cSldViewPr snapToGrid="0">
      <p:cViewPr varScale="1">
        <p:scale>
          <a:sx n="94" d="100"/>
          <a:sy n="94" d="100"/>
        </p:scale>
        <p:origin x="13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notesMaster" Target="notesMasters/notesMaster1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cs typeface="华文楷体" panose="0201060004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cs typeface="华文楷体" panose="02010600040101010101" charset="-122"/>
              </a:rPr>
              <a:t>2025/11/30</a:t>
            </a:fld>
            <a:endParaRPr lang="zh-CN" altLang="en-US">
              <a:cs typeface="华文楷体" panose="0201060004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cs typeface="华文楷体" panose="0201060004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cs typeface="华文楷体" panose="02010600040101010101" charset="-122"/>
              </a:rPr>
              <a:t>‹#›</a:t>
            </a:fld>
            <a:endParaRPr lang="zh-CN" altLang="en-US">
              <a:cs typeface="华文楷体" panose="0201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84" units="cm"/>
          <inkml:channel name="Y" type="integer" max="1600" units="cm"/>
          <inkml:channel name="T" type="integer" max="2.14748E9" units="dev"/>
        </inkml:traceFormat>
        <inkml:channelProperties>
          <inkml:channelProperty channel="X" name="resolution" value="104.18604" units="1/cm"/>
          <inkml:channelProperty channel="Y" name="resolution" value="74.4186" units="1/cm"/>
          <inkml:channelProperty channel="T" name="resolution" value="1" units="1/dev"/>
        </inkml:channelProperties>
      </inkml:inkSource>
      <inkml:timestamp xml:id="ts0" timeString="2025-11-30T05:52:01.0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2574 3943 0,'0'17'15,"33"-17"1,-17 0-16,33 0 16,0 16-16,49-16 15,48 16-15,50 17 16,-1-1-16,66 17 15,-33-49 1,98 16-16,-98-16 16,65 33-16,-32-33 15,32 33-15,-32-33 16,32 0-16,-32 0 16,-1 16-16,-31 17 15,-1-33-15,0 16 16,-33-16-1,33 0-15,17 32 16,-17-32-16,-33 0 16,66 33-16,-65-33 15,32 0-15,-33 16 0,33-16 16,-32 33-16,-33-33 16,16 16-16,-16-16 15,0 33-15,0-33 16,0 0-1,-33 0-15,-16 0 0,49 16 16,-65-16 15,-17 16-31,17-16 0,-17 17 0,17-17 0,0 32 16,0-32 0,48 17-16,17-17 0,33 32 15,-17-16-15,16 17 16,66-17-16,-65 33 15,32-49-15,0 33 16,49-1-16,-17-32 16,-15 0-16,-17 0 15,0 0-15,-32 0 16,-50 0 0,-15 0-16,-34 0 15,1 0-15,-17 0 16,-32 0-16,0 0 15,0 0-15,-16 0 16,32-32-16,-49 32 0,0 0 16,17-16-16,-17 16 15,17 0 1,0-17-16,-1 17 16,1 0-16,-1 0 15,1-16-15,-1 16 16,1 0-16,-17 0 15,33-16-15,-33 16 16,17 0-16,0-17 16,32 1-16,-16 16 15,0-16 1,16-17-16,-16 17 16,-1 0-16,-31 16 15,15-17-15,1 1 0,-17 0 16,1 16-16,-17-17 15,16 1-15,0 16 16,0-16 62,1-17-78,-1 33 16,0-16-16,17 0 15,-33-1-15,16 1 16,0 0-16,1-1 31</inkml:trace>
  <inkml:trace contextRef="#ctx0" brushRef="#br0" timeOffset="1086.7">19844 1923 0,'0'32'47,"0"33"-32,0 33 1,0 32-16,0 66 15,0 32-15,-16-16 16,16-16-16,0-1 16,16-65-16,-16-32 15,0-16-15,0-17 16,0-33-16,0 17 16,0-32-16,0-1 15</inkml:trace>
  <inkml:trace contextRef="#ctx0" brushRef="#br0" timeOffset="2094.46">19812 1694 0,'16'0'78,"0"0"-78,17 0 16,-17 0-1,33 0-15,-33 0 16,33 0-16,-33 0 15,50 0-15,-17 17 0,-17-17 16,17 16 0,0 0-16,16 1 0,-49-17 15,1 16 1,-17 0 15,0 0-15,16 1-16,-16-1 15,0 0-15,0 17 16,0 0-16,0 15 16,-16 18-16,-17-1 15,-32 33-15,-33-17 16,49-32-16,-16 16 16,32-32-1,1-1-15,16-32 0,-1 0 31,1 17 16,0-1-15,-1-16-17,1 0-15,0 16 16,0-16-16,-1 16 15</inkml:trace>
  <inkml:trace contextRef="#ctx0" brushRef="#br0" timeOffset="3092.28">20463 3047 0,'17'33'78,"-1"-1"-78,17 17 16,-1 16-16,-16-16 15,17 0-15,16 16 16,-17-32-16,-15-17 15,-17 0-15,16-16 47,66-49-31,32-32 0,32-17-16,-32 33 15,65-33-15,-32 0 16,-33 1-16,0-1 15,-49 49-15,17-16 16,-50 32 0,-15 1-16,-1 32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584" units="cm"/>
          <inkml:channel name="Y" type="integer" max="1600" units="cm"/>
          <inkml:channel name="T" type="integer" max="2.14748E9" units="dev"/>
        </inkml:traceFormat>
        <inkml:channelProperties>
          <inkml:channelProperty channel="X" name="resolution" value="104.18604" units="1/cm"/>
          <inkml:channelProperty channel="Y" name="resolution" value="74.4186" units="1/cm"/>
          <inkml:channelProperty channel="T" name="resolution" value="1" units="1/dev"/>
        </inkml:channelProperties>
      </inkml:inkSource>
      <inkml:timestamp xml:id="ts0" timeString="2025-11-30T05:52:11.7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1939 7642 0,'16'0'125,"17"0"-125,-1 0 0,-15 0 16,15 0-16,17 0 15,0 0-15,32 17 16,17-17 0,32 16-16,-32-16 15,49 0-15,-17 0 16,1 16-16,-34-16 15,17 0-15,-49 33 16,17-33-16,-33 0 16,-17 0-16,1 16 15,-17-16 32,1 0-31,-1 0-1,16 0-15,1 0 16,16 0-16,32 0 16,-15 0-16,15 16 15,17 1 1,-17-17-16,17 16 16,16 33-16,-16-33 15,16 17-15,-49-33 16,16 16-16,-15-16 15,-34 0-15,1 0 16,-17 0-16,0 0 16,17 0-16,-17 0 15,1 0 1,-1 0-16,0 0 16,0 0 15,1 0-16,-1 0 17,0 0-17,1 0 173,15 0-173,-15-16 1,-1 16 0,0 0-16,0 0 62,-16-16-62,17 16 16,-1 0-1,0 0 17,1 0-32,-1 0 47,0 0-32,0 0-15,1-17 0,-1 17 16,0 0-16,1-16 31,-1 16-15,0 0-16,0 0 15,1 0 1,-1 0 109</inkml:trace>
  <inkml:trace contextRef="#ctx0" brushRef="#br0" timeOffset="9704.07">2248 10054 0,'17'0'109,"-1"0"-78,0 0-15,17 0-16,-1 0 15,1 0-15,0 0 16,15 0-16,1 0 16,0 0-16,33-16 0,-1 16 15,-16 0-15,17 0 16,-17 0 0,16 0-16,1 0 15,-17 0-15,33 0 16,-33 0-16,16 0 15,-15 0-15,-18 0 16,34 0-16,-17 0 16,0 0-16,-16 0 15,0 16 1,-16-16-16,-17 0 16,16 0-16,1 17 15,-17-17-15,17 16 16,0-16-16,-1 0 15,17 16-15,-16-16 16,15 0 0,18 0-16,-17 0 15,16 33-15,0-33 16,-16 0-16,0 0 16,-17 16-16,17-16 15,-16 0-15,-1 0 0,1 0 16,-17 0-16,0 0 15,17 0 1,-17 0 0,1 0-16,-1 0 15,16 0-15,-15 0 16,15 0-16,-15 0 16,-1 0-16,17 0 15,-1 0-15,1 0 16,-1 0-16,-15 0 15,15 0 1,-16 0 0,1 0-16,-1 0 1734,17-16-1718,15 16-16,-15-17 15,0 17-15,-1-16 16,-15 16-16,-1-16 16,0 16-16,0 0 31,1-16-31,15-1 15,1 1-15,-1 0 16,1 16-16,0-17 16,-17 1-16,0 16 31,0 0-31</inkml:trace>
  <inkml:trace contextRef="#ctx0" brushRef="#br0" timeOffset="29082.43">2411 12254 0,'17'0'125,"15"0"-109,17 0-16,33 0 16,-34 0-16,18 16 15,15-16-15,17 0 0,-17 17 16,-16-17-1,33 32-15,16-15 16,-49-17-16,33 16 16,-16-16-16,-34 16 15,1-16-15,-16 17 16,32-17 0,-32 0-16,16 0 15,-17 16-15,17-16 16,-16 0-16,-1 0 15,17 0-15,0 16 16,-16-16 0,15 0-16,-15 0 0,0 0 15,-1 16-15,1-16 16,-1 0-16,17 0 16,-16 17-16,-17-17 15,17 0 1,-1 0-16,1 0 15,-17 0-15,33 0 16,-16 0-16,-17 0 16,49 0-16,-32 0 15,16 0-15,-1 0 16,1 0-16,-16 0 16,16 0-1,16 0-15,-49 0 0,33 0 16,-33 0-1,1 0-15,-1 0 16,0 0 0,1 0-16,-1-17 31,0 17-31,0 0 16,1 0-16,-1 0 15,0 0-15,1 0 31,-1 0-31,0 0 16,0 0-16,1 0 0,-1-16 16,0 16-1,1-16 1,15 16-16,1-16 16,-1-1-16,1 17 15,-17-16-15,17 0 16,-17 16-16,-16-17 15,16 17 1</inkml:trace>
  <inkml:trace contextRef="#ctx0" brushRef="#br0" timeOffset="30340.95">3096 12352 0,'-17'0'78,"1"0"-62,0 0-1,-1 0-15,-31 16 16,-1 33 0,-65 33-16,-33 64 15,-32 17-15,-33 49 0,16-33 16,50-16-16,15-16 15,50-33-15,16-32 16,16-1 0,16-16-16,17-16 15,16 0-15,-16-16 16,-1 48-16,17-32 16,0 0-16,-16-17 15,16 17-15,-49 65 16,33 17-16,-33 48 15,0-49 1,33-16-16,-17-48 0,1 15 16,32 1-16,-16-17 15,-1 0-15,17-16 16,0-17-16,-16-15 16,16-1-16,0 0 46,0 1-30,0-1 0,0 0-16,0 17 15,0-17-15,0 0 16,0 1 15,0-1-31,0 0 0,16 17 16,1 16-16,-1 0 15,0 16-15,17-16 16,-17-17-16,0 17 16,17 16-16,-17-32 15,17 0 1,-33-17-16,16-16 16,-16 16-16,16-16 15</inkml:trace>
  <inkml:trace contextRef="#ctx0" brushRef="#br0" timeOffset="31234.71">1075 15986 0,'0'-16'0,"17"16"15,-17-17 1,16 17-16,0 0 31,0 0-15,1 0-16,-1 0 15,17 0 1,-1 33-16,1 32 16,-1-16-16,34-16 0,-34-1 15,-16 1-15,1-17 16,-17 0 15,16 1-15,0-17 77,-16-17-93,33-15 16,-1-1-16,-15-48 16,32 32-16,-17 0 0,-15-16 15,-1 16-15,0 0 16,-16 16-16,16-15 16,-16 15-16,0 17 15,0-17 1,0 17-16</inkml:trace>
  <inkml:trace contextRef="#ctx0" brushRef="#br0" timeOffset="31692.48">2639 15530 0,'0'16'31,"0"0"-31,0 49 16,0 33-16,0-33 16,0 33-16,0-16 15,17 15-15,-1-31 16,0-34-16,-16 33 16,17-48-1,-1-17 1</inkml:trace>
  <inkml:trace contextRef="#ctx0" brushRef="#br0" timeOffset="32652.79">2867 15464 0,'33'0'31,"0"0"-15,16 0-16,-1 0 15,34 0-15,16 0 16,-33 0-16,0 17 0,0-17 15,-32 0-15,-17 0 16,0 0 78,1 0-79,-1 0-15,0 0 16,0 0 0,1 0-16,-1 0 15,17-17 1,-1 17 0,-15 0-16,-1-16 15,0 16-15,0 0 31,1-16-15,-17 65 93,-17 49-93,-15-17-16,16 1 16,-1-34-1,-15 1-15,32-16 16,0-1-16,0-15 16,0-1-16,0 0 15,-17 1 1,17-1-1</inkml:trace>
  <inkml:trace contextRef="#ctx0" brushRef="#br0" timeOffset="33354.17">3128 15627 0,'0'17'62,"0"15"-46,-16 34-16,16-34 16,0-16-16,0 1 15,0-1-15,0 0 16,0 1-16</inkml:trace>
  <inkml:trace contextRef="#ctx0" brushRef="#br0" timeOffset="33912.68">3210 15595 0,'16'0'31,"-16"32"-15,0 17-1,16-16-15,-16 16 16,0-17-1,0-15-15,0-1 16</inkml:trace>
  <inkml:trace contextRef="#ctx0" brushRef="#br0" timeOffset="34872.47">2802 15986 0,'17'0'63,"-1"0"-48,16 0-15,1 0 16,16 0-16,-33 0 15,17 0-15,-17 0 16,0 0 0,1 0 15,-1 0-15,17 0-1,-17 0 1,0 0-1,0 0 48,1 0-47,-1 0-1,0 0-15,1 0 16,-1 0-16,0-16 0,0 16 15,1 0-15,15-17 16,-15 17-16,15-16 16,17 0-16,-16-1 15,-17 17-15</inkml:trace>
  <inkml:trace contextRef="#ctx0" brushRef="#br0" timeOffset="35682.21">3096 16312 0,'48'0'125,"-15"0"-109,16 0-1,32 0-15,-32 0 16,0 0-16,0 0 16,-16 0-16,-1 0 15,-16 0 63</inkml:trace>
  <inkml:trace contextRef="#ctx0" brushRef="#br0" timeOffset="36156.29">3438 16084 0,'0'16'31,"-17"49"-31,-31 0 16,-1 33-16,-33 16 15,1 0-15,-17 0 16,65-65-16,-32 33 15,33-17-15,15-32 16</inkml:trace>
  <inkml:trace contextRef="#ctx0" brushRef="#br0" timeOffset="36645.78">3014 16736 0,'0'65'78,"16"-16"-78,-16 0 15,0 32-15,0-32 16,0 0-16,0-33 16,0 17-16,17-17 15</inkml:trace>
  <inkml:trace contextRef="#ctx0" brushRef="#br0" timeOffset="37664.39">3144 16654 0,'17'0'79,"-1"0"-48,0 0-31,1 0 15,-1 0 1,0-16-16,17 16 16,-17 0-16,0-17 15,1 17-15,-1 0 16,0 0-16,1-16 31,-1 16-15,0 0-16,0 0 47,1 0-32,-1 0 1,-16-16 0,16 16 15,1 0-16,-1 0 17,0 0-32,0 0 78,-16 16-63,0 0-15,0 17 16,0 16-16,17 0 0,-17 16 16,0-16-16,0 0 15,0-17-15,0 17 16,0 33-16,0-50 16,0 17-1,0-16-15,-17-1 16,17 1-16,0-17 15</inkml:trace>
  <inkml:trace contextRef="#ctx0" brushRef="#br0" timeOffset="38430.44">3128 16882 0,'16'0'78,"17"0"-62,-17 0-16,17 0 15,-17 0-15,0 0 16,1 0 62,-1 0-62</inkml:trace>
  <inkml:trace contextRef="#ctx0" brushRef="#br0" timeOffset="39313.14">3193 16980 0,'17'0'125,"-1"0"-125,0 0 15,0 0-15,1 0 16,-1 0 15,0 0-15,1 0 15</inkml:trace>
  <inkml:trace contextRef="#ctx0" brushRef="#br0" timeOffset="39853.42">3258 17094 0,'17'0'125,"-1"16"-109,0-16-16,1 0 15,-1 0 1,0 0-1</inkml:trace>
  <inkml:trace contextRef="#ctx0" brushRef="#br0" timeOffset="40528.83">2265 17339 0,'16'0'32,"0"0"-17,33 0-15,0 0 16,16 0-16,33 0 16,65 0-1,0 0-15,32 0 16,-16 0-16,17 0 0,0 0 15,-99 0-15,-32 0 16,-32 0-16,-17 0 16,1 0 46,-1 0-46,0 0-1,-16-17-15</inkml:trace>
  <inkml:trace contextRef="#ctx0" brushRef="#br0" timeOffset="41097.22">4643 15481 0,'0'32'31,"0"50"-15,-16-17-16,-17 82 16,1-50-1,16 50-15,-1-49 16,-15 16-16,-1-33 16,17-15-16,0-1 15,-33-16-15,32-17 16,17-15-16,-16-1 0</inkml:trace>
  <inkml:trace contextRef="#ctx0" brushRef="#br0" timeOffset="41473.44">4578 16247 0,'0'16'0,"16"33"16,1 32-16,15 50 16,-15-17-16,-1 16 15,17 17 1,-1-49-16,-32-33 16,0-33-16,16-32 15,-16 17-15,17-34 78</inkml:trace>
  <inkml:trace contextRef="#ctx0" brushRef="#br0" timeOffset="41908.99">5181 15464 0,'0'17'31,"33"15"-15,-17 1-16,16 16 15,-15 0-15,-1-17 16,0 1 0,1 0-16,-17-17 15,16 16-15,-16 1 16,0-17 0,0 1-16</inkml:trace>
  <inkml:trace contextRef="#ctx0" brushRef="#br0" timeOffset="42483.35">4986 15937 0,'65'0'47,"16"0"-31,-16 0-16,17 0 15,-33 0 1,0 16-16,-1-16 16,-15 0-16,-17 0 0,1 0 15,48 17 1,-33-17-16,-15 0 0,-17 16 94</inkml:trace>
  <inkml:trace contextRef="#ctx0" brushRef="#br0" timeOffset="42950.03">4986 16393 0,'48'0'31,"1"0"-15,16 0-16,17 0 15,16 0-15,-1 0 16,34 17-16,-17 15 16,-65-32-16,0 17 15,-33-17-15,0 0 16</inkml:trace>
  <inkml:trace contextRef="#ctx0" brushRef="#br0" timeOffset="43778.53">5328 16736 0,'32'0'62,"-15"0"-46,15 0-16,1 0 15,16 0-15,16 0 16,-16 0-16,-17 0 16,1 0-1,-17 0-15,0 0 47,-16 16 78</inkml:trace>
  <inkml:trace contextRef="#ctx0" brushRef="#br0" timeOffset="44264.27">5100 16980 0,'0'16'78,"0"1"-78,0-1 31,16 16-31,0-15 16,0 15-16,1-15 16</inkml:trace>
  <inkml:trace contextRef="#ctx0" brushRef="#br0" timeOffset="45191.97">5425 16931 0,'17'0'63,"15"0"-48,-15 0 1,-1 0 15,0 0 16,0 16-31,1-16 46,-17 17-62,16-17 16,-16 16 0,0 0 30,0 17-46,0-17 16,0 0-16,0 1 16,0-1-1,-16 0-15,-1 1 0,1-1 16,-16 0-16,-17 17 16,-33-17-1,33 0-15,-32 1 16,65-17-16,-33 32 15,32-32 1,34 0 109,15-16-109,1 16-16,-17 0 15,17 0-15,-17 0 32,0 0-17</inkml:trace>
  <inkml:trace contextRef="#ctx0" brushRef="#br0" timeOffset="46267.35">6387 15790 0,'0'33'15,"16"81"1,0 16-16,17 33 15,16 82-15,-33-50 16,49 34 0,-49 15-16,33-81 15,-16-33-15,-17-65 16,-16-32-16,0-17 16,17-16-16,-17-32 109,-17-1-93,-32-32-16,17 16 15,-17 0-15,33 17 0,-17-17 16,-16 32-1,33 1 1,0 16 62,-17-16 47</inkml:trace>
  <inkml:trace contextRef="#ctx0" brushRef="#br0" timeOffset="46813.73">6240 16556 0,'16'33'47,"-16"-1"-32,17-15-15,-1 15 16,-16 1-16,16 0 16,-16 15-16,0 1 15,-16 33 1,-66-1-16,17 1 0,-32-17 15,15 0-15,1 0 16,32-48-16,16-1 16,17 0-16,16-32 78,0-17-78,49-16 15,48-16-15</inkml:trace>
  <inkml:trace contextRef="#ctx0" brushRef="#br0" timeOffset="47547.61">6875 16263 0,'0'16'16,"0"17"-1,-16 16 1,-33 32-16,0 1 0,-16-1 16,33 1-16,15-50 15,1 1 1,16-17 78,0 0-79,16-16 1,17 17-16,-17-1 16,1 0-16,15 1 15,-16-1-15,17-16 0,0 16 16,-17 1-1,0-17 32,0 0-15</inkml:trace>
  <inkml:trace contextRef="#ctx0" brushRef="#br0" timeOffset="48054.59">7413 16084 0,'16'0'0,"1"0"31,15 0-31,50 0 0,-17 0 16,-33 0-1,50 0-15,-33 16 16,-33-16-16,17 0 15,-17 0 1,49 0-16,-32 0 0</inkml:trace>
  <inkml:trace contextRef="#ctx0" brushRef="#br0" timeOffset="48643.28">7462 16377 0,'0'33'63,"33"-1"-63,-1 1 0,-16-17 15,1 0-15,15 1 16,-15-1-16,31 17 15,-31-1-15,15-16 16,-15 1-16,-17-1 16,16-16-16,-16 16 15,16-16 1,17 0 0</inkml:trace>
  <inkml:trace contextRef="#ctx0" brushRef="#br0" timeOffset="49263.47">8325 16263 0,'0'16'78,"0"1"-78,0 15 15,-16-32-15,16 16 16,-32 17-16,15-17 16,1 17-16,-17-17 15,1 17-15,-33-1 16,16-15-16,0 32 15,-33-17-15,1-16 16,16 1-16,-17-1 16,1 17-16,32-17 15,16 0-15,17-16 16,0 0 78,16 17-79,-16-17-15,-1 0 16,1 0 0</inkml:trace>
  <inkml:trace contextRef="#ctx0" brushRef="#br0" timeOffset="50029.15">7462 16736 0,'16'0'94,"17"0"-94,16 0 15,16 0-15,16 0 16,17 0-1,0 0-15,16 16 16,-49-16-16,-16 16 16,16-16-16,-49 0 109,1 0-93,-1 0-16,0 0 15,1 0 1,-1 0-16,0 0 16,0 0-1</inkml:trace>
  <inkml:trace contextRef="#ctx0" brushRef="#br0" timeOffset="50894.45">7820 16198 0,'0'32'31,"-16"34"-15,16 80-16,0-15 16,0 32-16,0-33 15,0 33 1,0 0-16,0-33 16,16-16-16,-16-49 15,17-16-15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华文楷体" panose="02010600040101010101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华文楷体" panose="02010600040101010101" charset="-122"/>
              </a:defRPr>
            </a:lvl1pPr>
          </a:lstStyle>
          <a:p>
            <a:fld id="{B586E302-C140-3C48-B864-CBECF97A156C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华文楷体" panose="02010600040101010101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华文楷体" panose="02010600040101010101" charset="-122"/>
              </a:defRPr>
            </a:lvl1pPr>
          </a:lstStyle>
          <a:p>
            <a:fld id="{1E748098-C577-E44C-AC2C-7005F6D96E9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华文楷体" panose="02010600040101010101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华文楷体" panose="02010600040101010101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华文楷体" panose="02010600040101010101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华文楷体" panose="02010600040101010101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华文楷体" panose="02010600040101010101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“截面像一张照片、时间序列像一段视频，而面板数据相当于对很多人同时拍了好多年。”</a:t>
            </a:r>
          </a:p>
          <a:p>
            <a:r>
              <a:rPr lang="zh-CN" altLang="en-US" dirty="0"/>
              <a:t>“在金融研究中，上市公司面板数据最常用，比如：多家公司、十年间的财务表现。”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748098-C577-E44C-AC2C-7005F6D96E9B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在金融工作中，</a:t>
            </a:r>
            <a:r>
              <a:rPr lang="zh-CN" altLang="en-US" b="1" dirty="0"/>
              <a:t>数据质量往往比模型复杂度更重要</a:t>
            </a:r>
            <a:r>
              <a:rPr lang="zh-CN" altLang="en-US" dirty="0"/>
              <a:t>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748098-C577-E44C-AC2C-7005F6D96E9B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  <a:t>35</a:t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30051" name="Rectangle 2"/>
          <p:cNvSpPr>
            <a:spLocks noGrp="1"/>
          </p:cNvSpPr>
          <p:nvPr>
            <p:ph type="body" idx="1"/>
          </p:nvPr>
        </p:nvSpPr>
        <p:spPr>
          <a:xfrm>
            <a:off x="914400" y="3276600"/>
            <a:ext cx="5029200" cy="5181600"/>
          </a:xfrm>
        </p:spPr>
        <p:txBody>
          <a:bodyPr wrap="square" lIns="90488" tIns="44450" rIns="90488" bIns="44450" anchor="t" anchorCtr="0"/>
          <a:lstStyle/>
          <a:p>
            <a:pPr lvl="0" eaLnBrk="1" hangingPunct="1"/>
            <a:endParaRPr lang="zh-CN" altLang="en-US" dirty="0"/>
          </a:p>
        </p:txBody>
      </p:sp>
      <p:sp>
        <p:nvSpPr>
          <p:cNvPr id="130052" name="Rectangle 3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913467" y="692150"/>
            <a:ext cx="3031067" cy="2273300"/>
          </a:xfrm>
          <a:ln w="12700">
            <a:solidFill>
              <a:schemeClr val="tx1">
                <a:alpha val="100000"/>
              </a:schemeClr>
            </a:solidFill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  <a:t>36</a:t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31075" name="Rectangle 2"/>
          <p:cNvSpPr>
            <a:spLocks noGrp="1"/>
          </p:cNvSpPr>
          <p:nvPr>
            <p:ph type="body" idx="1"/>
          </p:nvPr>
        </p:nvSpPr>
        <p:spPr>
          <a:xfrm>
            <a:off x="914400" y="3276600"/>
            <a:ext cx="5029200" cy="5181600"/>
          </a:xfrm>
        </p:spPr>
        <p:txBody>
          <a:bodyPr wrap="square" lIns="90488" tIns="44450" rIns="90488" bIns="44450" anchor="t" anchorCtr="0"/>
          <a:lstStyle/>
          <a:p>
            <a:pPr lvl="0" eaLnBrk="1" hangingPunct="1"/>
            <a:endParaRPr lang="zh-CN" altLang="en-US" dirty="0"/>
          </a:p>
        </p:txBody>
      </p:sp>
      <p:sp>
        <p:nvSpPr>
          <p:cNvPr id="131076" name="Rectangle 3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913467" y="692150"/>
            <a:ext cx="3031067" cy="2273300"/>
          </a:xfrm>
          <a:ln w="12700">
            <a:solidFill>
              <a:schemeClr val="tx1">
                <a:alpha val="100000"/>
              </a:schemeClr>
            </a:solidFill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  <a:t>37</a:t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32099" name="Rectangle 2"/>
          <p:cNvSpPr>
            <a:spLocks noGrp="1"/>
          </p:cNvSpPr>
          <p:nvPr>
            <p:ph type="body" idx="1"/>
          </p:nvPr>
        </p:nvSpPr>
        <p:spPr>
          <a:xfrm>
            <a:off x="914400" y="3276600"/>
            <a:ext cx="5029200" cy="5181600"/>
          </a:xfrm>
        </p:spPr>
        <p:txBody>
          <a:bodyPr wrap="square" lIns="90488" tIns="44450" rIns="90488" bIns="44450" anchor="t" anchorCtr="0"/>
          <a:lstStyle/>
          <a:p>
            <a:pPr lvl="0" eaLnBrk="1" hangingPunct="1"/>
            <a:endParaRPr lang="zh-CN" altLang="en-US" dirty="0"/>
          </a:p>
        </p:txBody>
      </p:sp>
      <p:sp>
        <p:nvSpPr>
          <p:cNvPr id="132100" name="Rectangle 3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913467" y="692150"/>
            <a:ext cx="3031067" cy="2273300"/>
          </a:xfrm>
          <a:ln w="12700">
            <a:solidFill>
              <a:schemeClr val="tx1">
                <a:alpha val="100000"/>
              </a:schemeClr>
            </a:solidFill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  <a:t>38</a:t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00355" name="Rectangle 2"/>
          <p:cNvSpPr>
            <a:spLocks noGrp="1"/>
          </p:cNvSpPr>
          <p:nvPr>
            <p:ph type="body" idx="1"/>
          </p:nvPr>
        </p:nvSpPr>
        <p:spPr>
          <a:xfrm>
            <a:off x="914400" y="3276600"/>
            <a:ext cx="5029200" cy="5181600"/>
          </a:xfrm>
        </p:spPr>
        <p:txBody>
          <a:bodyPr wrap="square" lIns="90488" tIns="44450" rIns="90488" bIns="44450" anchor="t" anchorCtr="0"/>
          <a:lstStyle/>
          <a:p>
            <a:pPr lvl="0" eaLnBrk="1" hangingPunct="1"/>
            <a:endParaRPr lang="zh-CN" altLang="en-US" dirty="0"/>
          </a:p>
        </p:txBody>
      </p:sp>
      <p:sp>
        <p:nvSpPr>
          <p:cNvPr id="100356" name="Rectangle 3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913467" y="692150"/>
            <a:ext cx="3031067" cy="2273300"/>
          </a:xfrm>
          <a:ln w="12700">
            <a:solidFill>
              <a:schemeClr val="tx1">
                <a:alpha val="100000"/>
              </a:schemeClr>
            </a:solidFill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  <a:t>39</a:t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23907" name="Rectangle 2"/>
          <p:cNvSpPr>
            <a:spLocks noGrp="1"/>
          </p:cNvSpPr>
          <p:nvPr>
            <p:ph type="body" idx="1"/>
          </p:nvPr>
        </p:nvSpPr>
        <p:spPr>
          <a:xfrm>
            <a:off x="914400" y="3276600"/>
            <a:ext cx="5029200" cy="5181600"/>
          </a:xfrm>
        </p:spPr>
        <p:txBody>
          <a:bodyPr wrap="square" lIns="90488" tIns="44450" rIns="90488" bIns="44450" anchor="t" anchorCtr="0"/>
          <a:lstStyle/>
          <a:p>
            <a:pPr lvl="0" eaLnBrk="1" hangingPunct="1"/>
            <a:endParaRPr lang="zh-CN" altLang="en-US" dirty="0"/>
          </a:p>
        </p:txBody>
      </p:sp>
      <p:sp>
        <p:nvSpPr>
          <p:cNvPr id="123908" name="Rectangle 3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913467" y="692150"/>
            <a:ext cx="3031067" cy="2273300"/>
          </a:xfrm>
          <a:ln w="12700">
            <a:solidFill>
              <a:schemeClr val="tx1">
                <a:alpha val="100000"/>
              </a:schemeClr>
            </a:solidFill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  <a:t>40</a:t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24931" name="Rectangle 2"/>
          <p:cNvSpPr>
            <a:spLocks noGrp="1"/>
          </p:cNvSpPr>
          <p:nvPr>
            <p:ph type="body" idx="1"/>
          </p:nvPr>
        </p:nvSpPr>
        <p:spPr>
          <a:xfrm>
            <a:off x="914400" y="3276600"/>
            <a:ext cx="5029200" cy="5181600"/>
          </a:xfrm>
        </p:spPr>
        <p:txBody>
          <a:bodyPr wrap="square" lIns="90488" tIns="44450" rIns="90488" bIns="44450" anchor="t" anchorCtr="0"/>
          <a:lstStyle/>
          <a:p>
            <a:pPr lvl="0" eaLnBrk="1" hangingPunct="1"/>
            <a:endParaRPr lang="zh-CN" altLang="en-US" dirty="0"/>
          </a:p>
        </p:txBody>
      </p:sp>
      <p:sp>
        <p:nvSpPr>
          <p:cNvPr id="124932" name="Rectangle 3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913467" y="692150"/>
            <a:ext cx="3031067" cy="2273300"/>
          </a:xfrm>
          <a:ln w="12700">
            <a:solidFill>
              <a:schemeClr val="tx1">
                <a:alpha val="100000"/>
              </a:schemeClr>
            </a:solidFill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  <a:t>41</a:t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26979" name="Rectangle 2"/>
          <p:cNvSpPr>
            <a:spLocks noGrp="1"/>
          </p:cNvSpPr>
          <p:nvPr>
            <p:ph type="body" idx="1"/>
          </p:nvPr>
        </p:nvSpPr>
        <p:spPr>
          <a:xfrm>
            <a:off x="914400" y="3276600"/>
            <a:ext cx="5029200" cy="5181600"/>
          </a:xfrm>
        </p:spPr>
        <p:txBody>
          <a:bodyPr wrap="square" lIns="90488" tIns="44450" rIns="90488" bIns="44450" anchor="t" anchorCtr="0"/>
          <a:lstStyle/>
          <a:p>
            <a:pPr lvl="0" eaLnBrk="1" hangingPunct="1"/>
            <a:endParaRPr lang="zh-CN" altLang="en-US" dirty="0"/>
          </a:p>
        </p:txBody>
      </p:sp>
      <p:sp>
        <p:nvSpPr>
          <p:cNvPr id="126980" name="Rectangle 3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912938" y="692150"/>
            <a:ext cx="3032125" cy="2273300"/>
          </a:xfrm>
          <a:ln w="12700">
            <a:solidFill>
              <a:schemeClr val="tx1">
                <a:alpha val="100000"/>
              </a:schemeClr>
            </a:solidFill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  <a:t>42</a:t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28003" name="Rectangle 2"/>
          <p:cNvSpPr>
            <a:spLocks noGrp="1"/>
          </p:cNvSpPr>
          <p:nvPr>
            <p:ph type="body" idx="1"/>
          </p:nvPr>
        </p:nvSpPr>
        <p:spPr>
          <a:xfrm>
            <a:off x="914400" y="3276600"/>
            <a:ext cx="5029200" cy="5181600"/>
          </a:xfrm>
        </p:spPr>
        <p:txBody>
          <a:bodyPr wrap="square" lIns="90488" tIns="44450" rIns="90488" bIns="44450" anchor="t" anchorCtr="0"/>
          <a:lstStyle/>
          <a:p>
            <a:pPr lvl="0" eaLnBrk="1" hangingPunct="1"/>
            <a:endParaRPr lang="zh-CN" altLang="en-US" dirty="0"/>
          </a:p>
        </p:txBody>
      </p:sp>
      <p:sp>
        <p:nvSpPr>
          <p:cNvPr id="128004" name="Rectangle 3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912938" y="692150"/>
            <a:ext cx="3032125" cy="2273300"/>
          </a:xfrm>
          <a:ln w="12700">
            <a:solidFill>
              <a:schemeClr val="tx1">
                <a:alpha val="100000"/>
              </a:schemeClr>
            </a:solidFill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  <a:t>45</a:t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69634" name="Rectangle 2"/>
          <p:cNvSpPr>
            <a:spLocks noGrp="1"/>
          </p:cNvSpPr>
          <p:nvPr>
            <p:ph type="body"/>
          </p:nvPr>
        </p:nvSpPr>
        <p:spPr>
          <a:xfrm>
            <a:off x="914400" y="3276600"/>
            <a:ext cx="5029200" cy="5181600"/>
          </a:xfrm>
        </p:spPr>
        <p:txBody>
          <a:bodyPr wrap="square" lIns="90488" tIns="44450" rIns="90488" bIns="44450" anchor="t" anchorCtr="0"/>
          <a:lstStyle/>
          <a:p>
            <a:pPr lvl="0" eaLnBrk="1" hangingPunct="1"/>
            <a:endParaRPr lang="zh-CN" altLang="en-US" dirty="0"/>
          </a:p>
        </p:txBody>
      </p:sp>
      <p:sp>
        <p:nvSpPr>
          <p:cNvPr id="69635" name="Rectangle 3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912938" y="692150"/>
            <a:ext cx="3032125" cy="2273300"/>
          </a:xfrm>
          <a:ln w="12700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  <a:t>46</a:t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98306" name="Rectangle 2"/>
          <p:cNvSpPr>
            <a:spLocks noGrp="1"/>
          </p:cNvSpPr>
          <p:nvPr>
            <p:ph type="body"/>
          </p:nvPr>
        </p:nvSpPr>
        <p:spPr>
          <a:xfrm>
            <a:off x="914400" y="3276600"/>
            <a:ext cx="5029200" cy="5181600"/>
          </a:xfrm>
        </p:spPr>
        <p:txBody>
          <a:bodyPr wrap="square" lIns="90488" tIns="44450" rIns="90488" bIns="44450" anchor="t" anchorCtr="0"/>
          <a:lstStyle/>
          <a:p>
            <a:pPr lvl="0" eaLnBrk="1" hangingPunct="1"/>
            <a:endParaRPr lang="zh-CN" altLang="en-US" dirty="0"/>
          </a:p>
        </p:txBody>
      </p:sp>
      <p:sp>
        <p:nvSpPr>
          <p:cNvPr id="98307" name="Rectangle 3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912938" y="692150"/>
            <a:ext cx="3032125" cy="2273300"/>
          </a:xfrm>
          <a:ln w="12700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  <a:t>47</a:t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00354" name="Rectangle 2"/>
          <p:cNvSpPr>
            <a:spLocks noGrp="1"/>
          </p:cNvSpPr>
          <p:nvPr>
            <p:ph type="body"/>
          </p:nvPr>
        </p:nvSpPr>
        <p:spPr>
          <a:xfrm>
            <a:off x="914400" y="3276600"/>
            <a:ext cx="5029200" cy="5181600"/>
          </a:xfrm>
        </p:spPr>
        <p:txBody>
          <a:bodyPr wrap="square" lIns="90488" tIns="44450" rIns="90488" bIns="44450" anchor="t" anchorCtr="0"/>
          <a:lstStyle/>
          <a:p>
            <a:pPr lvl="0" eaLnBrk="1" hangingPunct="1"/>
            <a:endParaRPr lang="zh-CN" altLang="en-US" dirty="0"/>
          </a:p>
        </p:txBody>
      </p:sp>
      <p:sp>
        <p:nvSpPr>
          <p:cNvPr id="100355" name="Rectangle 3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912938" y="692150"/>
            <a:ext cx="3032125" cy="2273300"/>
          </a:xfrm>
          <a:ln w="12700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  <a:t>48</a:t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12642" name="Rectangle 2"/>
          <p:cNvSpPr>
            <a:spLocks noGrp="1"/>
          </p:cNvSpPr>
          <p:nvPr>
            <p:ph type="body"/>
          </p:nvPr>
        </p:nvSpPr>
        <p:spPr>
          <a:xfrm>
            <a:off x="914400" y="3276600"/>
            <a:ext cx="5029200" cy="5181600"/>
          </a:xfrm>
        </p:spPr>
        <p:txBody>
          <a:bodyPr wrap="square" lIns="90488" tIns="44450" rIns="90488" bIns="44450" anchor="t" anchorCtr="0"/>
          <a:lstStyle/>
          <a:p>
            <a:pPr lvl="0" eaLnBrk="1" hangingPunct="1"/>
            <a:endParaRPr lang="zh-CN" altLang="en-US" dirty="0"/>
          </a:p>
        </p:txBody>
      </p:sp>
      <p:sp>
        <p:nvSpPr>
          <p:cNvPr id="112643" name="Rectangle 3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912938" y="692150"/>
            <a:ext cx="3032125" cy="2273300"/>
          </a:xfrm>
          <a:ln w="12700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  <a:t>50</a:t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25954" name="Rectangle 2"/>
          <p:cNvSpPr>
            <a:spLocks noGrp="1"/>
          </p:cNvSpPr>
          <p:nvPr>
            <p:ph type="body"/>
          </p:nvPr>
        </p:nvSpPr>
        <p:spPr>
          <a:xfrm>
            <a:off x="914400" y="3276600"/>
            <a:ext cx="5029200" cy="5181600"/>
          </a:xfrm>
        </p:spPr>
        <p:txBody>
          <a:bodyPr wrap="square" lIns="90488" tIns="44450" rIns="90488" bIns="44450" anchor="t" anchorCtr="0"/>
          <a:lstStyle/>
          <a:p>
            <a:pPr lvl="0" eaLnBrk="1" hangingPunct="1"/>
            <a:endParaRPr lang="zh-CN" altLang="en-US" dirty="0"/>
          </a:p>
        </p:txBody>
      </p:sp>
      <p:sp>
        <p:nvSpPr>
          <p:cNvPr id="125955" name="Rectangle 3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912938" y="692150"/>
            <a:ext cx="3032125" cy="2273300"/>
          </a:xfrm>
          <a:ln w="12700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  <a:t>51</a:t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32098" name="Rectangle 2"/>
          <p:cNvSpPr>
            <a:spLocks noGrp="1"/>
          </p:cNvSpPr>
          <p:nvPr>
            <p:ph type="body"/>
          </p:nvPr>
        </p:nvSpPr>
        <p:spPr>
          <a:xfrm>
            <a:off x="914400" y="3276600"/>
            <a:ext cx="5029200" cy="5181600"/>
          </a:xfrm>
        </p:spPr>
        <p:txBody>
          <a:bodyPr wrap="square" lIns="90488" tIns="44450" rIns="90488" bIns="44450" anchor="t" anchorCtr="0"/>
          <a:lstStyle/>
          <a:p>
            <a:pPr lvl="0" eaLnBrk="1" hangingPunct="1"/>
            <a:endParaRPr lang="zh-CN" altLang="en-US" dirty="0"/>
          </a:p>
        </p:txBody>
      </p:sp>
      <p:sp>
        <p:nvSpPr>
          <p:cNvPr id="132099" name="Rectangle 3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912938" y="692150"/>
            <a:ext cx="3032125" cy="2273300"/>
          </a:xfrm>
          <a:ln w="12700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52</a:t>
            </a:fld>
            <a:endParaRPr lang="zh-CN" altLang="en-US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6434" name="Rectangle 2"/>
          <p:cNvSpPr>
            <a:spLocks noGrp="1"/>
          </p:cNvSpPr>
          <p:nvPr>
            <p:ph type="body"/>
          </p:nvPr>
        </p:nvSpPr>
        <p:spPr>
          <a:xfrm>
            <a:off x="914400" y="3276600"/>
            <a:ext cx="5029200" cy="5181600"/>
          </a:xfrm>
        </p:spPr>
        <p:txBody>
          <a:bodyPr wrap="square" lIns="90488" tIns="44450" rIns="90488" bIns="44450" anchor="t" anchorCtr="0"/>
          <a:lstStyle/>
          <a:p>
            <a:pPr lvl="0" eaLnBrk="1" hangingPunct="1"/>
            <a:endParaRPr lang="zh-CN" altLang="en-US" dirty="0"/>
          </a:p>
        </p:txBody>
      </p:sp>
      <p:sp>
        <p:nvSpPr>
          <p:cNvPr id="146435" name="Rectangle 3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912938" y="692150"/>
            <a:ext cx="3032125" cy="2273300"/>
          </a:xfrm>
          <a:ln w="12700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lstStyle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  <a:t>53</a:t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69986" name="Rectangle 2"/>
          <p:cNvSpPr>
            <a:spLocks noGrp="1"/>
          </p:cNvSpPr>
          <p:nvPr>
            <p:ph type="body"/>
          </p:nvPr>
        </p:nvSpPr>
        <p:spPr>
          <a:xfrm>
            <a:off x="914400" y="3276600"/>
            <a:ext cx="5029200" cy="5181600"/>
          </a:xfrm>
        </p:spPr>
        <p:txBody>
          <a:bodyPr wrap="square" lIns="90488" tIns="44450" rIns="90488" bIns="44450" anchor="t" anchorCtr="0"/>
          <a:lstStyle/>
          <a:p>
            <a:pPr lvl="0" eaLnBrk="1" hangingPunct="1"/>
            <a:endParaRPr lang="zh-CN" altLang="en-US" dirty="0"/>
          </a:p>
        </p:txBody>
      </p:sp>
      <p:sp>
        <p:nvSpPr>
          <p:cNvPr id="169987" name="Rectangle 3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913467" y="692150"/>
            <a:ext cx="3031067" cy="2273300"/>
          </a:xfrm>
          <a:ln w="12700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/>
          </p:cNvSpPr>
          <p:nvPr>
            <p:ph type="body" idx="1"/>
          </p:nvPr>
        </p:nvSpPr>
        <p:spPr/>
        <p:txBody>
          <a:bodyPr wrap="square" lIns="90488" tIns="44450" rIns="90488" bIns="44450" anchor="t" anchorCtr="0"/>
          <a:lstStyle/>
          <a:p>
            <a:pPr lvl="0"/>
            <a:endParaRPr lang="zh-CN" altLang="zh-CN" dirty="0"/>
          </a:p>
        </p:txBody>
      </p:sp>
      <p:sp>
        <p:nvSpPr>
          <p:cNvPr id="104451" name="Rectangle 3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913467" y="692150"/>
            <a:ext cx="3031067" cy="2273300"/>
          </a:xfr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/>
          </p:cNvSpPr>
          <p:nvPr>
            <p:ph type="body" idx="1"/>
          </p:nvPr>
        </p:nvSpPr>
        <p:spPr/>
        <p:txBody>
          <a:bodyPr wrap="square" lIns="90488" tIns="44450" rIns="90488" bIns="44450" anchor="t" anchorCtr="0"/>
          <a:lstStyle/>
          <a:p>
            <a:pPr lvl="0"/>
            <a:endParaRPr lang="zh-CN" altLang="zh-CN" dirty="0"/>
          </a:p>
        </p:txBody>
      </p:sp>
      <p:sp>
        <p:nvSpPr>
          <p:cNvPr id="119811" name="Rectangle 3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913467" y="692150"/>
            <a:ext cx="3031067" cy="2273300"/>
          </a:xfr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4F34F-1DF6-FB40-9346-159FE86DFEC1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graphicFrame>
        <p:nvGraphicFramePr>
          <p:cNvPr id="10" name="table 10"/>
          <p:cNvGraphicFramePr>
            <a:graphicFrameLocks noGrp="1"/>
          </p:cNvGraphicFramePr>
          <p:nvPr userDrawn="1"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4F34F-1DF6-FB40-9346-159FE86DFEC1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graphicFrame>
        <p:nvGraphicFramePr>
          <p:cNvPr id="10" name="table 10"/>
          <p:cNvGraphicFramePr>
            <a:graphicFrameLocks noGrp="1"/>
          </p:cNvGraphicFramePr>
          <p:nvPr userDrawn="1"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4F34F-1DF6-FB40-9346-159FE86DFEC1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4F34F-1DF6-FB40-9346-159FE86DFEC1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4F34F-1DF6-FB40-9346-159FE86DFEC1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4F34F-1DF6-FB40-9346-159FE86DFEC1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4F34F-1DF6-FB40-9346-159FE86DFEC1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4F34F-1DF6-FB40-9346-159FE86DFEC1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4F34F-1DF6-FB40-9346-159FE86DFEC1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4F34F-1DF6-FB40-9346-159FE86DFEC1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4F34F-1DF6-FB40-9346-159FE86DFEC1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9A270-F088-384F-AD84-6CFBDECFED1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cs typeface="华文楷体" panose="02010600040101010101" charset="-122"/>
              </a:defRPr>
            </a:lvl1pPr>
          </a:lstStyle>
          <a:p>
            <a:fld id="{FB14F34F-1DF6-FB40-9346-159FE86DFEC1}" type="datetimeFigureOut">
              <a:rPr kumimoji="1" lang="zh-CN" altLang="en-US" smtClean="0"/>
              <a:t>2025/11/30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cs typeface="华文楷体" panose="02010600040101010101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cs typeface="华文楷体" panose="02010600040101010101" charset="-122"/>
              </a:defRPr>
            </a:lvl1pPr>
          </a:lstStyle>
          <a:p>
            <a:fld id="{2B99A270-F088-384F-AD84-6CFBDECFED1B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graphicFrame>
        <p:nvGraphicFramePr>
          <p:cNvPr id="10" name="table 10"/>
          <p:cNvGraphicFramePr>
            <a:graphicFrameLocks noGrp="1"/>
          </p:cNvGraphicFramePr>
          <p:nvPr userDrawn="1"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华文楷体" panose="02010600040101010101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华文楷体" panose="02010600040101010101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华文楷体" panose="02010600040101010101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华文楷体" panose="02010600040101010101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华文楷体" panose="02010600040101010101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华文楷体" panose="0201060004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notesSlide" Target="../notesSlides/notesSlide1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slideLayout" Target="../slideLayouts/slideLayout2.xml"/><Relationship Id="rId5" Type="http://schemas.openxmlformats.org/officeDocument/2006/relationships/tags" Target="../tags/tag25.xml"/><Relationship Id="rId10" Type="http://schemas.openxmlformats.org/officeDocument/2006/relationships/tags" Target="../tags/tag30.xml"/><Relationship Id="rId4" Type="http://schemas.openxmlformats.org/officeDocument/2006/relationships/tags" Target="../tags/tag24.xml"/><Relationship Id="rId9" Type="http://schemas.openxmlformats.org/officeDocument/2006/relationships/tags" Target="../tags/tag2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Relationship Id="rId4" Type="http://schemas.openxmlformats.org/officeDocument/2006/relationships/image" Target="../media/image16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2"/>
          <p:cNvSpPr/>
          <p:nvPr/>
        </p:nvSpPr>
        <p:spPr>
          <a:xfrm>
            <a:off x="63246" y="1449323"/>
            <a:ext cx="9021317" cy="1527047"/>
          </a:xfrm>
          <a:prstGeom prst="rect">
            <a:avLst/>
          </a:prstGeom>
          <a:solidFill>
            <a:srgbClr val="D3481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>
              <a:cs typeface="华文楷体" panose="02010600040101010101" charset="-122"/>
            </a:endParaRPr>
          </a:p>
        </p:txBody>
      </p:sp>
      <p:sp>
        <p:nvSpPr>
          <p:cNvPr id="8" name="rect 6"/>
          <p:cNvSpPr/>
          <p:nvPr/>
        </p:nvSpPr>
        <p:spPr>
          <a:xfrm>
            <a:off x="63246" y="1396745"/>
            <a:ext cx="9021317" cy="120396"/>
          </a:xfrm>
          <a:prstGeom prst="rect">
            <a:avLst/>
          </a:prstGeom>
          <a:solidFill>
            <a:srgbClr val="E6B1A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>
              <a:cs typeface="华文楷体" panose="02010600040101010101" charset="-122"/>
            </a:endParaRPr>
          </a:p>
        </p:txBody>
      </p:sp>
      <p:sp>
        <p:nvSpPr>
          <p:cNvPr id="9" name="rect 8"/>
          <p:cNvSpPr/>
          <p:nvPr/>
        </p:nvSpPr>
        <p:spPr>
          <a:xfrm>
            <a:off x="63246" y="2976371"/>
            <a:ext cx="9021317" cy="110490"/>
          </a:xfrm>
          <a:prstGeom prst="rect">
            <a:avLst/>
          </a:prstGeom>
          <a:solidFill>
            <a:srgbClr val="91848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>
              <a:cs typeface="华文楷体" panose="0201060004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92250" y="1831975"/>
            <a:ext cx="6953885" cy="82994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sz="4800" b="1" kern="0" spc="-30" dirty="0">
                <a:solidFill>
                  <a:srgbClr val="FFFFFF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第一讲 数据分析概论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435225" y="3802380"/>
            <a:ext cx="4603750" cy="82994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ctr"/>
            <a:r>
              <a:rPr lang="zh-CN" altLang="en-US" sz="2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胡利琴</a:t>
            </a:r>
            <a:r>
              <a:rPr lang="en-US" altLang="zh-CN" sz="2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</a:t>
            </a:r>
          </a:p>
          <a:p>
            <a:pPr algn="ctr"/>
            <a:r>
              <a:rPr lang="zh-CN" altLang="en-US" sz="2400" b="1"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武汉大学经济与管理学院金融系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0832" y="66928"/>
          <a:ext cx="9019540" cy="6699250"/>
        </p:xfrm>
        <a:graphic>
          <a:graphicData uri="http://schemas.openxmlformats.org/drawingml/2006/table">
            <a:tbl>
              <a:tblPr/>
              <a:tblGrid>
                <a:gridCol w="9019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19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69995" algn="l" rtl="0" eaLnBrk="0">
                        <a:lnSpc>
                          <a:spcPct val="86000"/>
                        </a:lnSpc>
                      </a:pPr>
                      <a:endParaRPr sz="4000" dirty="0">
                        <a:latin typeface="幼圆" panose="02010509060101010101" charset="-122"/>
                        <a:ea typeface="幼圆" panose="02010509060101010101" charset="-122"/>
                        <a:cs typeface="幼圆" panose="02010509060101010101" charset="-122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02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1145" algn="l" rtl="0" eaLnBrk="0">
                        <a:lnSpc>
                          <a:spcPct val="80000"/>
                        </a:lnSpc>
                        <a:spcBef>
                          <a:spcPts val="5"/>
                        </a:spcBef>
                      </a:pPr>
                      <a:r>
                        <a:rPr sz="13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Franklin Gothic Book" panose="020B0503020102020204"/>
                          <a:ea typeface="Franklin Gothic Book" panose="020B0503020102020204"/>
                          <a:cs typeface="Franklin Gothic Book" panose="020B0503020102020204"/>
                        </a:rPr>
                        <a:t>2</a:t>
                      </a:r>
                      <a:endParaRPr sz="1300" dirty="0">
                        <a:latin typeface="Franklin Gothic Book" panose="020B0503020102020204"/>
                        <a:ea typeface="Franklin Gothic Book" panose="020B0503020102020204"/>
                        <a:cs typeface="Franklin Gothic Book" panose="020B0503020102020204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5630" y="971075"/>
            <a:ext cx="7886700" cy="633833"/>
          </a:xfrm>
        </p:spPr>
        <p:txBody>
          <a:bodyPr>
            <a:normAutofit fontScale="90000"/>
          </a:bodyPr>
          <a:lstStyle/>
          <a:p>
            <a:r>
              <a:rPr kumimoji="1" lang="zh-CN" altLang="en-US" b="1" dirty="0"/>
              <a:t>本讲主要内容：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5630" y="1772285"/>
            <a:ext cx="7886700" cy="38715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kumimoji="1" lang="en-US" altLang="zh-CN" sz="2000" b="1" dirty="0"/>
              <a:t>1.</a:t>
            </a:r>
            <a:r>
              <a:rPr kumimoji="1" lang="zh-CN" altLang="en-US" sz="2000" b="1" dirty="0"/>
              <a:t>数据分析流程</a:t>
            </a:r>
            <a:endParaRPr kumimoji="1" lang="en-US" altLang="zh-CN" sz="2000" b="1" dirty="0"/>
          </a:p>
          <a:p>
            <a:pPr marL="0" indent="0">
              <a:buNone/>
            </a:pPr>
            <a:r>
              <a:rPr kumimoji="1" lang="en-US" altLang="zh-CN" sz="2000" b="1" dirty="0"/>
              <a:t>2.</a:t>
            </a:r>
            <a:r>
              <a:rPr kumimoji="1" lang="zh-CN" altLang="en-US" sz="2000" b="1" dirty="0"/>
              <a:t>数据的分类与特征</a:t>
            </a:r>
            <a:endParaRPr kumimoji="1" lang="en-US" altLang="zh-CN" sz="2000" b="1" dirty="0"/>
          </a:p>
          <a:p>
            <a:pPr marL="0" indent="0">
              <a:buNone/>
            </a:pPr>
            <a:r>
              <a:rPr kumimoji="1" lang="en-US" altLang="zh-CN" sz="2000" b="1" dirty="0"/>
              <a:t>3.</a:t>
            </a:r>
            <a:r>
              <a:rPr kumimoji="1" lang="zh-CN" altLang="en-US" sz="2000" b="1" dirty="0"/>
              <a:t>数据的采集</a:t>
            </a:r>
            <a:endParaRPr kumimoji="1" lang="en-US" altLang="zh-CN" sz="2000" b="1" dirty="0"/>
          </a:p>
          <a:p>
            <a:pPr marL="0" indent="0">
              <a:buNone/>
            </a:pPr>
            <a:r>
              <a:rPr kumimoji="1" lang="en-US" altLang="zh-CN" sz="2000" b="1" dirty="0"/>
              <a:t>4.</a:t>
            </a:r>
            <a:r>
              <a:rPr kumimoji="1" lang="zh-CN" altLang="en-US" sz="2000" b="1" dirty="0"/>
              <a:t>数据的预处理</a:t>
            </a:r>
            <a:endParaRPr kumimoji="1" lang="en-US" altLang="zh-CN" sz="2000" b="1" dirty="0"/>
          </a:p>
          <a:p>
            <a:pPr marL="0" indent="0">
              <a:buNone/>
            </a:pPr>
            <a:r>
              <a:rPr kumimoji="1" lang="en-US" altLang="zh-CN" sz="2000" b="1" dirty="0"/>
              <a:t>5.</a:t>
            </a:r>
            <a:r>
              <a:rPr kumimoji="1" lang="zh-CN" altLang="en-US" sz="2000" b="1" dirty="0"/>
              <a:t>数据的可视化</a:t>
            </a:r>
            <a:endParaRPr kumimoji="1" lang="en-US" altLang="zh-CN" sz="2000" b="1" dirty="0"/>
          </a:p>
          <a:p>
            <a:pPr marL="0" indent="0">
              <a:buNone/>
            </a:pPr>
            <a:r>
              <a:rPr kumimoji="1" lang="en-US" altLang="zh-CN" sz="2000" b="1" dirty="0"/>
              <a:t>6.</a:t>
            </a:r>
            <a:r>
              <a:rPr kumimoji="1" lang="zh-CN" altLang="en-US" sz="2000" b="1" dirty="0"/>
              <a:t>数据的统计特征</a:t>
            </a:r>
            <a:endParaRPr kumimoji="1" lang="en-US" altLang="zh-CN" sz="2000" b="1" dirty="0"/>
          </a:p>
          <a:p>
            <a:pPr marL="0" indent="0">
              <a:buNone/>
            </a:pPr>
            <a:r>
              <a:rPr kumimoji="1" lang="en-US" altLang="zh-CN" sz="2000" b="1" dirty="0"/>
              <a:t>7.</a:t>
            </a:r>
            <a:r>
              <a:rPr kumimoji="1" lang="zh-CN" altLang="en-US" sz="2000" b="1" dirty="0"/>
              <a:t>常见的统计分布</a:t>
            </a:r>
            <a:endParaRPr kumimoji="1" lang="en-US" altLang="zh-CN" sz="2000" b="1" dirty="0"/>
          </a:p>
          <a:p>
            <a:pPr marL="0" indent="0">
              <a:buNone/>
            </a:pPr>
            <a:r>
              <a:rPr kumimoji="1" lang="en-US" altLang="zh-CN" sz="2000" b="1" dirty="0"/>
              <a:t>8.</a:t>
            </a:r>
            <a:r>
              <a:rPr kumimoji="1" lang="zh-CN" altLang="en-US" sz="2000" b="1" dirty="0"/>
              <a:t>参数估计</a:t>
            </a:r>
            <a:endParaRPr kumimoji="1" lang="en-US" altLang="zh-CN" sz="2000" b="1" dirty="0"/>
          </a:p>
          <a:p>
            <a:pPr marL="0" indent="0">
              <a:buNone/>
            </a:pPr>
            <a:r>
              <a:rPr kumimoji="1" lang="en-US" altLang="zh-CN" sz="2000" b="1" dirty="0"/>
              <a:t>9.</a:t>
            </a:r>
            <a:r>
              <a:rPr kumimoji="1" lang="zh-CN" altLang="en-US" sz="2000" b="1" dirty="0"/>
              <a:t>统计假设检验</a:t>
            </a:r>
            <a:endParaRPr kumimoji="1" lang="en-US" altLang="zh-CN" sz="2000" b="1" dirty="0"/>
          </a:p>
          <a:p>
            <a:pPr marL="0" indent="0">
              <a:buNone/>
            </a:pPr>
            <a:r>
              <a:rPr kumimoji="1" lang="en-US" altLang="zh-CN" sz="2000" b="1" dirty="0"/>
              <a:t>10.</a:t>
            </a:r>
            <a:r>
              <a:rPr kumimoji="1" lang="zh-CN" altLang="en-US" sz="2000" b="1" dirty="0"/>
              <a:t>方差分析实例</a:t>
            </a:r>
            <a:endParaRPr kumimoji="1" lang="en-US" altLang="zh-CN" sz="2000" b="1" dirty="0"/>
          </a:p>
          <a:p>
            <a:pPr marL="0" indent="0">
              <a:buNone/>
            </a:pPr>
            <a:endParaRPr kumimoji="1" lang="en-US" altLang="zh-CN" sz="1600" dirty="0"/>
          </a:p>
          <a:p>
            <a:endParaRPr kumimoji="1" lang="en-US" altLang="zh-CN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567690" y="332105"/>
            <a:ext cx="7366000" cy="979170"/>
          </a:xfrm>
        </p:spPr>
        <p:txBody>
          <a:bodyPr>
            <a:normAutofit/>
          </a:bodyPr>
          <a:lstStyle/>
          <a:p>
            <a:pPr marL="3315970" algn="l" eaLnBrk="0">
              <a:lnSpc>
                <a:spcPct val="86000"/>
              </a:lnSpc>
              <a:buClrTx/>
              <a:buSzTx/>
              <a:buFontTx/>
            </a:pPr>
            <a:r>
              <a:rPr lang="zh-CN" sz="3100" b="1" kern="0" spc="40" dirty="0">
                <a:solidFill>
                  <a:srgbClr val="000000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一、</a:t>
            </a:r>
            <a:r>
              <a:rPr sz="3100" b="1" kern="0" spc="40" dirty="0">
                <a:solidFill>
                  <a:srgbClr val="000000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数据分析流程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285115" y="1311910"/>
          <a:ext cx="8612505" cy="4634230"/>
        </p:xfrm>
        <a:graphic>
          <a:graphicData uri="http://schemas.openxmlformats.org/drawingml/2006/table">
            <a:tbl>
              <a:tblPr/>
              <a:tblGrid>
                <a:gridCol w="139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9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7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33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2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cs typeface="华文楷体" panose="02010600040101010101" charset="-122"/>
                        </a:rPr>
                        <a:t>步骤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cs typeface="华文楷体" panose="02010600040101010101" charset="-122"/>
                        </a:rPr>
                        <a:t>核心问题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cs typeface="华文楷体" panose="02010600040101010101" charset="-122"/>
                        </a:rPr>
                        <a:t>主要任务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cs typeface="华文楷体" panose="02010600040101010101" charset="-122"/>
                        </a:rPr>
                        <a:t>金融案例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73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1" dirty="0">
                          <a:cs typeface="华文楷体" panose="02010600040101010101" charset="-122"/>
                        </a:rPr>
                        <a:t>1. </a:t>
                      </a:r>
                      <a:r>
                        <a:rPr lang="zh-CN" altLang="en-US" sz="1600" b="1" dirty="0">
                          <a:cs typeface="华文楷体" panose="02010600040101010101" charset="-122"/>
                        </a:rPr>
                        <a:t>明确问题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cs typeface="华文楷体" panose="02010600040101010101" charset="-122"/>
                        </a:rPr>
                        <a:t>我想解决什么？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cs typeface="华文楷体" panose="02010600040101010101" charset="-122"/>
                        </a:rPr>
                        <a:t>确定分析目标与假设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cs typeface="华文楷体" panose="02010600040101010101" charset="-122"/>
                        </a:rPr>
                        <a:t>绿色债券收益是否更稳？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7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1">
                          <a:cs typeface="华文楷体" panose="02010600040101010101" charset="-122"/>
                        </a:rPr>
                        <a:t>2. </a:t>
                      </a:r>
                      <a:r>
                        <a:rPr lang="zh-CN" altLang="en-US" sz="1600" b="1">
                          <a:cs typeface="华文楷体" panose="02010600040101010101" charset="-122"/>
                        </a:rPr>
                        <a:t>数据收集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cs typeface="华文楷体" panose="02010600040101010101" charset="-122"/>
                        </a:rPr>
                        <a:t>我要哪些数据？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cs typeface="华文楷体" panose="02010600040101010101" charset="-122"/>
                        </a:rPr>
                        <a:t>明确数据来源与维度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cs typeface="华文楷体" panose="02010600040101010101" charset="-122"/>
                        </a:rPr>
                        <a:t>收益率、评级、久期、行业等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67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1">
                          <a:cs typeface="华文楷体" panose="02010600040101010101" charset="-122"/>
                        </a:rPr>
                        <a:t>3. </a:t>
                      </a:r>
                      <a:r>
                        <a:rPr lang="zh-CN" altLang="en-US" sz="1600" b="1">
                          <a:cs typeface="华文楷体" panose="02010600040101010101" charset="-122"/>
                        </a:rPr>
                        <a:t>数据预处理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cs typeface="华文楷体" panose="02010600040101010101" charset="-122"/>
                        </a:rPr>
                        <a:t>数据是否可靠？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cs typeface="华文楷体" panose="02010600040101010101" charset="-122"/>
                        </a:rPr>
                        <a:t>处理缺失值、异常值、不一致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cs typeface="华文楷体" panose="02010600040101010101" charset="-122"/>
                        </a:rPr>
                        <a:t>剔除录入错误、补充缺失样本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67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1">
                          <a:cs typeface="华文楷体" panose="02010600040101010101" charset="-122"/>
                        </a:rPr>
                        <a:t>4. </a:t>
                      </a:r>
                      <a:r>
                        <a:rPr lang="zh-CN" altLang="en-US" sz="1600" b="1">
                          <a:cs typeface="华文楷体" panose="02010600040101010101" charset="-122"/>
                        </a:rPr>
                        <a:t>数据分析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cs typeface="华文楷体" panose="02010600040101010101" charset="-122"/>
                        </a:rPr>
                        <a:t>数据告诉我什么？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cs typeface="华文楷体" panose="02010600040101010101" charset="-122"/>
                        </a:rPr>
                        <a:t>统计描述、相关分析、模型估计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cs typeface="华文楷体" panose="02010600040101010101" charset="-122"/>
                        </a:rPr>
                        <a:t>比较不同债券收益均值差异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73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1">
                          <a:cs typeface="华文楷体" panose="02010600040101010101" charset="-122"/>
                        </a:rPr>
                        <a:t>5. </a:t>
                      </a:r>
                      <a:r>
                        <a:rPr lang="zh-CN" altLang="en-US" sz="1600" b="1">
                          <a:cs typeface="华文楷体" panose="02010600040101010101" charset="-122"/>
                        </a:rPr>
                        <a:t>结果解释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cs typeface="华文楷体" panose="02010600040101010101" charset="-122"/>
                        </a:rPr>
                        <a:t>结果意味着什么？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cs typeface="华文楷体" panose="02010600040101010101" charset="-122"/>
                        </a:rPr>
                        <a:t>结合经济与金融逻辑说明发现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>
                          <a:ea typeface="华文楷体" panose="02010600040101010101" charset="-122"/>
                          <a:cs typeface="华文楷体" panose="02010600040101010101" charset="-122"/>
                        </a:rPr>
                        <a:t>ESG</a:t>
                      </a:r>
                      <a:r>
                        <a:rPr lang="zh-CN" altLang="en-US" sz="1600" dirty="0">
                          <a:cs typeface="华文楷体" panose="02010600040101010101" charset="-122"/>
                        </a:rPr>
                        <a:t>属性可能提高投资稳定性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67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00" b="1">
                          <a:cs typeface="华文楷体" panose="02010600040101010101" charset="-122"/>
                        </a:rPr>
                        <a:t>6. </a:t>
                      </a:r>
                      <a:r>
                        <a:rPr lang="zh-CN" altLang="en-US" sz="1600" b="1">
                          <a:cs typeface="华文楷体" panose="02010600040101010101" charset="-122"/>
                        </a:rPr>
                        <a:t>决策与报告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cs typeface="华文楷体" panose="02010600040101010101" charset="-122"/>
                        </a:rPr>
                        <a:t>我能提出什么建议？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>
                          <a:cs typeface="华文楷体" panose="02010600040101010101" charset="-122"/>
                        </a:rPr>
                        <a:t>撰写结论、辅助决策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00" dirty="0">
                          <a:cs typeface="华文楷体" panose="02010600040101010101" charset="-122"/>
                        </a:rPr>
                        <a:t>建议加大绿色债券配置比例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2245" y="331470"/>
            <a:ext cx="9166225" cy="99441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100" dirty="0">
                <a:latin typeface="+mj-ea"/>
              </a:rPr>
              <a:t>例子：</a:t>
            </a:r>
            <a:br>
              <a:rPr lang="zh-CN" altLang="en-US" sz="2100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100" dirty="0">
                <a:latin typeface="+mj-ea"/>
              </a:rPr>
              <a:t>某商业银行发现近两年农户贷款不良率上升，要求风险管理部分析原因。</a:t>
            </a:r>
            <a:endParaRPr kumimoji="1" lang="zh-CN" altLang="en-US" sz="2100" dirty="0">
              <a:latin typeface="+mj-ea"/>
            </a:endParaRP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220345" y="1254125"/>
          <a:ext cx="8543290" cy="4872990"/>
        </p:xfrm>
        <a:graphic>
          <a:graphicData uri="http://schemas.openxmlformats.org/drawingml/2006/table">
            <a:tbl>
              <a:tblPr/>
              <a:tblGrid>
                <a:gridCol w="173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09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cs typeface="华文楷体" panose="02010600040101010101" charset="-122"/>
                        </a:rPr>
                        <a:t>流程步骤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cs typeface="华文楷体" panose="02010600040101010101" charset="-122"/>
                        </a:rPr>
                        <a:t>分析内容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6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1" dirty="0">
                          <a:cs typeface="华文楷体" panose="02010600040101010101" charset="-122"/>
                        </a:rPr>
                        <a:t>1. </a:t>
                      </a:r>
                      <a:r>
                        <a:rPr lang="zh-CN" altLang="en-US" sz="1800" b="1" dirty="0">
                          <a:cs typeface="华文楷体" panose="02010600040101010101" charset="-122"/>
                        </a:rPr>
                        <a:t>明确问题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cs typeface="华文楷体" panose="02010600040101010101" charset="-122"/>
                        </a:rPr>
                        <a:t>目标：找出影响违约的关键因素。</a:t>
                      </a: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cs typeface="华文楷体" panose="02010600040101010101" charset="-122"/>
                        </a:rPr>
                        <a:t>假设：收入水平、贷款金额、地区经济状况可能影响违约率。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1" dirty="0">
                          <a:cs typeface="华文楷体" panose="02010600040101010101" charset="-122"/>
                        </a:rPr>
                        <a:t>2. </a:t>
                      </a:r>
                      <a:r>
                        <a:rPr lang="zh-CN" altLang="en-US" sz="1800" b="1" dirty="0">
                          <a:cs typeface="华文楷体" panose="02010600040101010101" charset="-122"/>
                        </a:rPr>
                        <a:t>数据收集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cs typeface="华文楷体" panose="02010600040101010101" charset="-122"/>
                        </a:rPr>
                        <a:t>内部：客户收入、贷款记录、还款表现。</a:t>
                      </a:r>
                    </a:p>
                    <a:p>
                      <a:pPr>
                        <a:buNone/>
                      </a:pPr>
                      <a:r>
                        <a:rPr lang="zh-CN" altLang="en-US" sz="1800">
                          <a:cs typeface="华文楷体" panose="02010600040101010101" charset="-122"/>
                        </a:rPr>
                        <a:t>外部：地区</a:t>
                      </a:r>
                      <a:r>
                        <a:rPr lang="en-GB" sz="1800">
                          <a:ea typeface="华文楷体" panose="02010600040101010101" charset="-122"/>
                          <a:cs typeface="华文楷体" panose="02010600040101010101" charset="-122"/>
                        </a:rPr>
                        <a:t>GDP、</a:t>
                      </a:r>
                      <a:r>
                        <a:rPr lang="zh-CN" altLang="en-US" sz="1800">
                          <a:cs typeface="华文楷体" panose="02010600040101010101" charset="-122"/>
                        </a:rPr>
                        <a:t>农产品价格、气候灾害。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8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1" dirty="0">
                          <a:cs typeface="华文楷体" panose="02010600040101010101" charset="-122"/>
                        </a:rPr>
                        <a:t>3. </a:t>
                      </a:r>
                      <a:r>
                        <a:rPr lang="zh-CN" altLang="en-US" sz="1800" b="1" dirty="0">
                          <a:cs typeface="华文楷体" panose="02010600040101010101" charset="-122"/>
                        </a:rPr>
                        <a:t>数据预处理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cs typeface="华文楷体" panose="02010600040101010101" charset="-122"/>
                        </a:rPr>
                        <a:t>删除重复客户、修正录入错误、剔除极端值（如贷款额过大样本）。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5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1">
                          <a:cs typeface="华文楷体" panose="02010600040101010101" charset="-122"/>
                        </a:rPr>
                        <a:t>4. </a:t>
                      </a:r>
                      <a:r>
                        <a:rPr lang="zh-CN" altLang="en-US" sz="1800" b="1">
                          <a:cs typeface="华文楷体" panose="02010600040101010101" charset="-122"/>
                        </a:rPr>
                        <a:t>数据分析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dirty="0">
                          <a:cs typeface="华文楷体" panose="02010600040101010101" charset="-122"/>
                        </a:rPr>
                        <a:t>① </a:t>
                      </a:r>
                      <a:r>
                        <a:rPr lang="zh-CN" altLang="en-US" sz="1800" dirty="0">
                          <a:cs typeface="华文楷体" panose="02010600040101010101" charset="-122"/>
                        </a:rPr>
                        <a:t>描述性统计分析违约率分布；</a:t>
                      </a:r>
                    </a:p>
                    <a:p>
                      <a:pPr>
                        <a:buNone/>
                      </a:pPr>
                      <a:r>
                        <a:rPr lang="en-US" altLang="zh-CN" sz="1800" dirty="0">
                          <a:cs typeface="华文楷体" panose="02010600040101010101" charset="-122"/>
                        </a:rPr>
                        <a:t>② </a:t>
                      </a:r>
                      <a:r>
                        <a:rPr lang="zh-CN" altLang="en-US" sz="1800" dirty="0">
                          <a:cs typeface="华文楷体" panose="02010600040101010101" charset="-122"/>
                        </a:rPr>
                        <a:t>绘制散点图观察收入与违约率关系；</a:t>
                      </a:r>
                    </a:p>
                    <a:p>
                      <a:pPr>
                        <a:buNone/>
                      </a:pPr>
                      <a:r>
                        <a:rPr lang="en-US" altLang="zh-CN" sz="1800" dirty="0">
                          <a:cs typeface="华文楷体" panose="02010600040101010101" charset="-122"/>
                        </a:rPr>
                        <a:t>③ </a:t>
                      </a:r>
                      <a:r>
                        <a:rPr lang="zh-CN" altLang="en-US" sz="1800" dirty="0">
                          <a:cs typeface="华文楷体" panose="02010600040101010101" charset="-122"/>
                        </a:rPr>
                        <a:t>使用</a:t>
                      </a:r>
                      <a:r>
                        <a:rPr lang="en-GB" sz="1800" dirty="0">
                          <a:ea typeface="华文楷体" panose="02010600040101010101" charset="-122"/>
                          <a:cs typeface="华文楷体" panose="02010600040101010101" charset="-122"/>
                        </a:rPr>
                        <a:t>Logit</a:t>
                      </a:r>
                      <a:r>
                        <a:rPr lang="zh-CN" altLang="en-US" sz="1800" dirty="0">
                          <a:cs typeface="华文楷体" panose="02010600040101010101" charset="-122"/>
                        </a:rPr>
                        <a:t>模型回归分析风险因素。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1">
                          <a:cs typeface="华文楷体" panose="02010600040101010101" charset="-122"/>
                        </a:rPr>
                        <a:t>5. </a:t>
                      </a:r>
                      <a:r>
                        <a:rPr lang="zh-CN" altLang="en-US" sz="1800" b="1">
                          <a:cs typeface="华文楷体" panose="02010600040101010101" charset="-122"/>
                        </a:rPr>
                        <a:t>结果解释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cs typeface="华文楷体" panose="02010600040101010101" charset="-122"/>
                        </a:rPr>
                        <a:t>收入与违约率显著负相关，经济下行地区风险更高。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b="1">
                          <a:cs typeface="华文楷体" panose="02010600040101010101" charset="-122"/>
                        </a:rPr>
                        <a:t>6. </a:t>
                      </a:r>
                      <a:r>
                        <a:rPr lang="zh-CN" altLang="en-US" sz="1800" b="1">
                          <a:cs typeface="华文楷体" panose="02010600040101010101" charset="-122"/>
                        </a:rPr>
                        <a:t>决策与报告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cs typeface="华文楷体" panose="02010600040101010101" charset="-122"/>
                        </a:rPr>
                        <a:t>调整信贷额度、优化风险定价，提出差异化授信政策。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85035" y="321310"/>
            <a:ext cx="7886700" cy="1325563"/>
          </a:xfrm>
        </p:spPr>
        <p:txBody>
          <a:bodyPr/>
          <a:lstStyle/>
          <a:p>
            <a:r>
              <a:rPr lang="zh-CN" sz="3100" b="1" kern="0" spc="40" dirty="0">
                <a:solidFill>
                  <a:srgbClr val="000000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二、数据的分类与特征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9425" y="1565910"/>
            <a:ext cx="8112125" cy="4351655"/>
          </a:xfrm>
        </p:spPr>
        <p:txBody>
          <a:bodyPr>
            <a:normAutofit fontScale="90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b="1" dirty="0"/>
              <a:t>（一）为什么要理解数据类型？</a:t>
            </a:r>
            <a:endParaRPr lang="en-US" altLang="zh-CN" b="1" dirty="0"/>
          </a:p>
          <a:p>
            <a:pPr marL="0" indent="0">
              <a:lnSpc>
                <a:spcPct val="150000"/>
              </a:lnSpc>
              <a:buNone/>
            </a:pPr>
            <a:r>
              <a:rPr sz="24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 </a:t>
            </a:r>
            <a:r>
              <a:rPr lang="zh-CN" altLang="en-US" sz="2400" dirty="0"/>
              <a:t>因为“数据类型”决定了你能做什么样的分析。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 </a:t>
            </a:r>
            <a:r>
              <a:rPr lang="en-US" altLang="zh-CN" sz="2400" dirty="0"/>
              <a:t>   </a:t>
            </a:r>
            <a:r>
              <a:rPr lang="zh-CN" altLang="en-US" sz="2400" dirty="0"/>
              <a:t>不同类型的数据，能用的统计方法、图表方式和模型完</a:t>
            </a:r>
            <a:r>
              <a:rPr lang="en-US" altLang="zh-CN" sz="2400" dirty="0"/>
              <a:t>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全不同。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4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 </a:t>
            </a:r>
            <a:r>
              <a:rPr lang="zh-CN" altLang="en-US" sz="2400" dirty="0"/>
              <a:t>举个例子：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4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 </a:t>
            </a:r>
            <a:r>
              <a:rPr lang="zh-CN" altLang="en-US" sz="2400" dirty="0"/>
              <a:t>如果你分析客户性别（男</a:t>
            </a:r>
            <a:r>
              <a:rPr lang="en-US" altLang="zh-CN" sz="2400" dirty="0"/>
              <a:t>/</a:t>
            </a:r>
            <a:r>
              <a:rPr lang="zh-CN" altLang="en-US" sz="2400" dirty="0"/>
              <a:t>女），你只能算比例、画饼图；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4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 </a:t>
            </a:r>
            <a:r>
              <a:rPr lang="zh-CN" altLang="en-US" sz="2400" dirty="0"/>
              <a:t>如果你分析收益率，你可以计算均值、方差，甚至做回归。</a:t>
            </a:r>
          </a:p>
          <a:p>
            <a:pPr>
              <a:lnSpc>
                <a:spcPct val="150000"/>
              </a:lnSpc>
            </a:pPr>
            <a:endParaRPr kumimoji="1" lang="zh-CN" alt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9550" y="365125"/>
            <a:ext cx="7886700" cy="1325563"/>
          </a:xfrm>
        </p:spPr>
        <p:txBody>
          <a:bodyPr/>
          <a:lstStyle/>
          <a:p>
            <a:r>
              <a:rPr lang="zh-CN" altLang="en-US" b="1" dirty="0"/>
              <a:t>按照数据来源方式分类</a:t>
            </a:r>
            <a:endParaRPr kumimoji="1" lang="zh-CN" altLang="en-US" b="1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258445" y="1932305"/>
          <a:ext cx="8637270" cy="2447290"/>
        </p:xfrm>
        <a:graphic>
          <a:graphicData uri="http://schemas.openxmlformats.org/drawingml/2006/table">
            <a:tbl>
              <a:tblPr/>
              <a:tblGrid>
                <a:gridCol w="2072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3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3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cs typeface="华文楷体" panose="02010600040101010101" charset="-122"/>
                        </a:rPr>
                        <a:t>类型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cs typeface="华文楷体" panose="02010600040101010101" charset="-122"/>
                        </a:rPr>
                        <a:t>含义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cs typeface="华文楷体" panose="02010600040101010101" charset="-122"/>
                        </a:rPr>
                        <a:t>金融举例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cs typeface="华文楷体" panose="02010600040101010101" charset="-122"/>
                        </a:rPr>
                        <a:t>特点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1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b="1" dirty="0">
                          <a:cs typeface="华文楷体" panose="02010600040101010101" charset="-122"/>
                        </a:rPr>
                        <a:t>观测数据</a:t>
                      </a:r>
                      <a:r>
                        <a:rPr lang="zh-CN" altLang="en-US" sz="1800" dirty="0">
                          <a:cs typeface="华文楷体" panose="02010600040101010101" charset="-122"/>
                        </a:rPr>
                        <a:t> </a:t>
                      </a:r>
                      <a:r>
                        <a:rPr lang="en-US" altLang="zh-CN" sz="1800" dirty="0">
                          <a:cs typeface="华文楷体" panose="02010600040101010101" charset="-122"/>
                        </a:rPr>
                        <a:t>(</a:t>
                      </a:r>
                      <a:r>
                        <a:rPr lang="en-GB" sz="1800" dirty="0">
                          <a:ea typeface="华文楷体" panose="02010600040101010101" charset="-122"/>
                          <a:cs typeface="华文楷体" panose="02010600040101010101" charset="-122"/>
                        </a:rPr>
                        <a:t>Observational Data)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cs typeface="华文楷体" panose="02010600040101010101" charset="-122"/>
                        </a:rPr>
                        <a:t>被动观察、非人为干预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cs typeface="华文楷体" panose="02010600040101010101" charset="-122"/>
                        </a:rPr>
                        <a:t>银行客户贷款记录、股价数据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cs typeface="华文楷体" panose="02010600040101010101" charset="-122"/>
                        </a:rPr>
                        <a:t>现实中最常见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b="1">
                          <a:cs typeface="华文楷体" panose="02010600040101010101" charset="-122"/>
                        </a:rPr>
                        <a:t>实验数据</a:t>
                      </a:r>
                      <a:r>
                        <a:rPr lang="zh-CN" altLang="en-US" sz="1800">
                          <a:cs typeface="华文楷体" panose="02010600040101010101" charset="-122"/>
                        </a:rPr>
                        <a:t> </a:t>
                      </a:r>
                      <a:r>
                        <a:rPr lang="en-US" altLang="zh-CN" sz="1800">
                          <a:cs typeface="华文楷体" panose="02010600040101010101" charset="-122"/>
                        </a:rPr>
                        <a:t>(</a:t>
                      </a:r>
                      <a:r>
                        <a:rPr lang="en-GB" sz="1800">
                          <a:ea typeface="华文楷体" panose="02010600040101010101" charset="-122"/>
                          <a:cs typeface="华文楷体" panose="02010600040101010101" charset="-122"/>
                        </a:rPr>
                        <a:t>Experimental Data)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cs typeface="华文楷体" panose="02010600040101010101" charset="-122"/>
                        </a:rPr>
                        <a:t>通过试验或对照组获得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>
                          <a:ea typeface="华文楷体" panose="02010600040101010101" charset="-122"/>
                          <a:cs typeface="华文楷体" panose="02010600040101010101" charset="-122"/>
                        </a:rPr>
                        <a:t>A/B</a:t>
                      </a:r>
                      <a:r>
                        <a:rPr lang="zh-CN" altLang="en-US" sz="1800" dirty="0">
                          <a:cs typeface="华文楷体" panose="02010600040101010101" charset="-122"/>
                        </a:rPr>
                        <a:t>测试：两个理财产品的点击率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cs typeface="华文楷体" panose="02010600040101010101" charset="-122"/>
                        </a:rPr>
                        <a:t>更能识别因果关系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0650" y="309880"/>
            <a:ext cx="7886700" cy="1325563"/>
          </a:xfrm>
        </p:spPr>
        <p:txBody>
          <a:bodyPr/>
          <a:lstStyle/>
          <a:p>
            <a:r>
              <a:rPr lang="zh-CN" altLang="en-US" b="1" dirty="0"/>
              <a:t>按照计量尺度分类</a:t>
            </a:r>
            <a:endParaRPr kumimoji="1" lang="zh-CN" altLang="en-US" b="1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191770" y="1483360"/>
          <a:ext cx="8724900" cy="4361815"/>
        </p:xfrm>
        <a:graphic>
          <a:graphicData uri="http://schemas.openxmlformats.org/drawingml/2006/table">
            <a:tbl>
              <a:tblPr/>
              <a:tblGrid>
                <a:gridCol w="2181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1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9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5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cs typeface="华文楷体" panose="02010600040101010101" charset="-122"/>
                        </a:rPr>
                        <a:t>数据类型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cs typeface="华文楷体" panose="02010600040101010101" charset="-122"/>
                        </a:rPr>
                        <a:t>特征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cs typeface="华文楷体" panose="02010600040101010101" charset="-122"/>
                        </a:rPr>
                        <a:t>可进行的统计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cs typeface="华文楷体" panose="02010600040101010101" charset="-122"/>
                        </a:rPr>
                        <a:t>金融举例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8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b="1" dirty="0">
                          <a:cs typeface="华文楷体" panose="02010600040101010101" charset="-122"/>
                        </a:rPr>
                        <a:t>定类数据（</a:t>
                      </a:r>
                      <a:r>
                        <a:rPr lang="en-GB" sz="1800" b="1" dirty="0">
                          <a:ea typeface="华文楷体" panose="02010600040101010101" charset="-122"/>
                          <a:cs typeface="华文楷体" panose="02010600040101010101" charset="-122"/>
                        </a:rPr>
                        <a:t>Nominal）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cs typeface="华文楷体" panose="02010600040101010101" charset="-122"/>
                        </a:rPr>
                        <a:t>分类、无顺序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cs typeface="华文楷体" panose="02010600040101010101" charset="-122"/>
                        </a:rPr>
                        <a:t>计算比例、众数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cs typeface="华文楷体" panose="02010600040101010101" charset="-122"/>
                        </a:rPr>
                        <a:t>行业类别、地区、省份、是否违约（是</a:t>
                      </a:r>
                      <a:r>
                        <a:rPr lang="en-US" altLang="zh-CN" sz="1800">
                          <a:cs typeface="华文楷体" panose="02010600040101010101" charset="-122"/>
                        </a:rPr>
                        <a:t>/</a:t>
                      </a:r>
                      <a:r>
                        <a:rPr lang="zh-CN" altLang="en-US" sz="1800">
                          <a:cs typeface="华文楷体" panose="02010600040101010101" charset="-122"/>
                        </a:rPr>
                        <a:t>否）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b="1">
                          <a:cs typeface="华文楷体" panose="02010600040101010101" charset="-122"/>
                        </a:rPr>
                        <a:t>定序数据（</a:t>
                      </a:r>
                      <a:r>
                        <a:rPr lang="en-GB" sz="1800" b="1">
                          <a:ea typeface="华文楷体" panose="02010600040101010101" charset="-122"/>
                          <a:cs typeface="华文楷体" panose="02010600040101010101" charset="-122"/>
                        </a:rPr>
                        <a:t>Ordinal）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cs typeface="华文楷体" panose="02010600040101010101" charset="-122"/>
                        </a:rPr>
                        <a:t>有顺序、间隔不等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cs typeface="华文楷体" panose="02010600040101010101" charset="-122"/>
                        </a:rPr>
                        <a:t>中位数、排序分析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cs typeface="华文楷体" panose="02010600040101010101" charset="-122"/>
                        </a:rPr>
                        <a:t>信用评级（</a:t>
                      </a:r>
                      <a:r>
                        <a:rPr lang="en-GB" sz="1800">
                          <a:ea typeface="华文楷体" panose="02010600040101010101" charset="-122"/>
                          <a:cs typeface="华文楷体" panose="02010600040101010101" charset="-122"/>
                        </a:rPr>
                        <a:t>AAA &gt; AA &gt; A）、</a:t>
                      </a:r>
                      <a:r>
                        <a:rPr lang="zh-CN" altLang="en-US" sz="1800">
                          <a:cs typeface="华文楷体" panose="02010600040101010101" charset="-122"/>
                        </a:rPr>
                        <a:t>风险等级（高、中、低）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0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b="1">
                          <a:cs typeface="华文楷体" panose="02010600040101010101" charset="-122"/>
                        </a:rPr>
                        <a:t>定距数据（</a:t>
                      </a:r>
                      <a:r>
                        <a:rPr lang="en-GB" sz="1800" b="1">
                          <a:ea typeface="华文楷体" panose="02010600040101010101" charset="-122"/>
                          <a:cs typeface="华文楷体" panose="02010600040101010101" charset="-122"/>
                        </a:rPr>
                        <a:t>Interval）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cs typeface="华文楷体" panose="02010600040101010101" charset="-122"/>
                        </a:rPr>
                        <a:t>差值有意义、但无绝对零点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cs typeface="华文楷体" panose="02010600040101010101" charset="-122"/>
                        </a:rPr>
                        <a:t>加减运算、均值、标准差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cs typeface="华文楷体" panose="02010600040101010101" charset="-122"/>
                        </a:rPr>
                        <a:t>温度、利率变化率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15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b="1">
                          <a:cs typeface="华文楷体" panose="02010600040101010101" charset="-122"/>
                        </a:rPr>
                        <a:t>定比数据（</a:t>
                      </a:r>
                      <a:r>
                        <a:rPr lang="en-GB" sz="1800" b="1">
                          <a:ea typeface="华文楷体" panose="02010600040101010101" charset="-122"/>
                          <a:cs typeface="华文楷体" panose="02010600040101010101" charset="-122"/>
                        </a:rPr>
                        <a:t>Ratio）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cs typeface="华文楷体" panose="02010600040101010101" charset="-122"/>
                        </a:rPr>
                        <a:t>有绝对零点、可比率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cs typeface="华文楷体" panose="02010600040101010101" charset="-122"/>
                        </a:rPr>
                        <a:t>加减乘除均可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>
                          <a:cs typeface="华文楷体" panose="02010600040101010101" charset="-122"/>
                        </a:rPr>
                        <a:t>收益率、资产规模、债券价格、交易量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5755" y="299085"/>
            <a:ext cx="7886700" cy="1325563"/>
          </a:xfrm>
        </p:spPr>
        <p:txBody>
          <a:bodyPr/>
          <a:lstStyle/>
          <a:p>
            <a:r>
              <a:rPr lang="zh-CN" altLang="en-US" b="1" dirty="0"/>
              <a:t>举例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363220" y="1567815"/>
          <a:ext cx="8372475" cy="3638550"/>
        </p:xfrm>
        <a:graphic>
          <a:graphicData uri="http://schemas.openxmlformats.org/drawingml/2006/table">
            <a:tbl>
              <a:tblPr/>
              <a:tblGrid>
                <a:gridCol w="4113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8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6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>
                          <a:cs typeface="华文楷体" panose="02010600040101010101" charset="-122"/>
                        </a:rPr>
                        <a:t>指标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>
                          <a:cs typeface="华文楷体" panose="02010600040101010101" charset="-122"/>
                        </a:rPr>
                        <a:t>类型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>
                          <a:cs typeface="华文楷体" panose="02010600040101010101" charset="-122"/>
                        </a:rPr>
                        <a:t>能否计算平均数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53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>
                          <a:cs typeface="华文楷体" panose="02010600040101010101" charset="-122"/>
                        </a:rPr>
                        <a:t>银行类型（国有、股份制、城商行）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>
                          <a:cs typeface="华文楷体" panose="02010600040101010101" charset="-122"/>
                        </a:rPr>
                        <a:t>定类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>
                          <a:cs typeface="华文楷体" panose="02010600040101010101" charset="-122"/>
                        </a:rPr>
                        <a:t>❌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6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>
                          <a:cs typeface="华文楷体" panose="02010600040101010101" charset="-122"/>
                        </a:rPr>
                        <a:t>信用评级（</a:t>
                      </a:r>
                      <a:r>
                        <a:rPr lang="en-GB" sz="2000" dirty="0">
                          <a:ea typeface="华文楷体" panose="02010600040101010101" charset="-122"/>
                          <a:cs typeface="华文楷体" panose="02010600040101010101" charset="-122"/>
                        </a:rPr>
                        <a:t>AAA、AA、A）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>
                          <a:cs typeface="华文楷体" panose="02010600040101010101" charset="-122"/>
                        </a:rPr>
                        <a:t>定序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>
                          <a:cs typeface="华文楷体" panose="02010600040101010101" charset="-122"/>
                        </a:rPr>
                        <a:t>✅ 可算中位评级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>
                          <a:cs typeface="华文楷体" panose="02010600040101010101" charset="-122"/>
                        </a:rPr>
                        <a:t>利率（</a:t>
                      </a:r>
                      <a:r>
                        <a:rPr lang="en-US" altLang="zh-CN" sz="2000" dirty="0">
                          <a:cs typeface="华文楷体" panose="02010600040101010101" charset="-122"/>
                        </a:rPr>
                        <a:t>3%</a:t>
                      </a:r>
                      <a:r>
                        <a:rPr lang="zh-CN" altLang="en-US" sz="2000" dirty="0">
                          <a:cs typeface="华文楷体" panose="02010600040101010101" charset="-122"/>
                        </a:rPr>
                        <a:t>、</a:t>
                      </a:r>
                      <a:r>
                        <a:rPr lang="en-US" altLang="zh-CN" sz="2000" dirty="0">
                          <a:cs typeface="华文楷体" panose="02010600040101010101" charset="-122"/>
                        </a:rPr>
                        <a:t>4%</a:t>
                      </a:r>
                      <a:r>
                        <a:rPr lang="zh-CN" altLang="en-US" sz="2000" dirty="0">
                          <a:cs typeface="华文楷体" panose="02010600040101010101" charset="-122"/>
                        </a:rPr>
                        <a:t>、</a:t>
                      </a:r>
                      <a:r>
                        <a:rPr lang="en-US" altLang="zh-CN" sz="2000" dirty="0">
                          <a:cs typeface="华文楷体" panose="02010600040101010101" charset="-122"/>
                        </a:rPr>
                        <a:t>5%</a:t>
                      </a:r>
                      <a:r>
                        <a:rPr lang="zh-CN" altLang="en-US" sz="2000" dirty="0">
                          <a:cs typeface="华文楷体" panose="02010600040101010101" charset="-122"/>
                        </a:rPr>
                        <a:t>）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>
                          <a:cs typeface="华文楷体" panose="02010600040101010101" charset="-122"/>
                        </a:rPr>
                        <a:t>定距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>
                          <a:cs typeface="华文楷体" panose="02010600040101010101" charset="-122"/>
                        </a:rPr>
                        <a:t>✅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6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>
                          <a:cs typeface="华文楷体" panose="02010600040101010101" charset="-122"/>
                        </a:rPr>
                        <a:t>净利润（单位：亿元）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>
                          <a:cs typeface="华文楷体" panose="02010600040101010101" charset="-122"/>
                        </a:rPr>
                        <a:t>定比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>
                          <a:cs typeface="华文楷体" panose="02010600040101010101" charset="-122"/>
                        </a:rPr>
                        <a:t>✅ 可算均值、比率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3835" y="365125"/>
            <a:ext cx="7886700" cy="1325563"/>
          </a:xfrm>
        </p:spPr>
        <p:txBody>
          <a:bodyPr/>
          <a:lstStyle/>
          <a:p>
            <a:r>
              <a:rPr lang="zh-CN" altLang="en-US" b="1" dirty="0"/>
              <a:t>按照时间与对象关系分类</a:t>
            </a:r>
            <a:endParaRPr kumimoji="1" lang="zh-CN" altLang="en-US" b="1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389890" y="1729105"/>
          <a:ext cx="8361680" cy="3428365"/>
        </p:xfrm>
        <a:graphic>
          <a:graphicData uri="http://schemas.openxmlformats.org/drawingml/2006/table">
            <a:tbl>
              <a:tblPr/>
              <a:tblGrid>
                <a:gridCol w="1819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2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41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50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54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>
                          <a:cs typeface="华文楷体" panose="02010600040101010101" charset="-122"/>
                        </a:rPr>
                        <a:t>类型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>
                          <a:cs typeface="华文楷体" panose="02010600040101010101" charset="-122"/>
                        </a:rPr>
                        <a:t>含义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>
                          <a:cs typeface="华文楷体" panose="02010600040101010101" charset="-122"/>
                        </a:rPr>
                        <a:t>金融举例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>
                          <a:cs typeface="华文楷体" panose="02010600040101010101" charset="-122"/>
                        </a:rPr>
                        <a:t>分析方法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2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b="1" dirty="0">
                          <a:cs typeface="华文楷体" panose="02010600040101010101" charset="-122"/>
                        </a:rPr>
                        <a:t>截面数据</a:t>
                      </a:r>
                    </a:p>
                    <a:p>
                      <a:pPr>
                        <a:buNone/>
                      </a:pPr>
                      <a:r>
                        <a:rPr lang="zh-CN" altLang="en-US" sz="1650" b="1" dirty="0">
                          <a:cs typeface="华文楷体" panose="02010600040101010101" charset="-122"/>
                        </a:rPr>
                        <a:t>（</a:t>
                      </a:r>
                      <a:r>
                        <a:rPr lang="en-GB" sz="1650" b="1" dirty="0">
                          <a:ea typeface="华文楷体" panose="02010600040101010101" charset="-122"/>
                          <a:cs typeface="华文楷体" panose="02010600040101010101" charset="-122"/>
                        </a:rPr>
                        <a:t>Cross-sectional）</a:t>
                      </a:r>
                      <a:endParaRPr lang="en-GB" sz="1650" dirty="0"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>
                          <a:cs typeface="华文楷体" panose="02010600040101010101" charset="-122"/>
                        </a:rPr>
                        <a:t>同一时间、多个对象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 dirty="0">
                          <a:cs typeface="华文楷体" panose="02010600040101010101" charset="-122"/>
                        </a:rPr>
                        <a:t>2024</a:t>
                      </a:r>
                      <a:r>
                        <a:rPr lang="zh-CN" altLang="en-US" sz="1650" dirty="0">
                          <a:cs typeface="华文楷体" panose="02010600040101010101" charset="-122"/>
                        </a:rPr>
                        <a:t>年所有银行的</a:t>
                      </a:r>
                      <a:r>
                        <a:rPr lang="en-GB" sz="1650" dirty="0">
                          <a:ea typeface="华文楷体" panose="02010600040101010101" charset="-122"/>
                          <a:cs typeface="华文楷体" panose="02010600040101010101" charset="-122"/>
                        </a:rPr>
                        <a:t>ROE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>
                          <a:cs typeface="华文楷体" panose="02010600040101010101" charset="-122"/>
                        </a:rPr>
                        <a:t>回归、均值比较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8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b="1" dirty="0">
                          <a:cs typeface="华文楷体" panose="02010600040101010101" charset="-122"/>
                        </a:rPr>
                        <a:t>时间序列数据</a:t>
                      </a:r>
                    </a:p>
                    <a:p>
                      <a:pPr>
                        <a:buNone/>
                      </a:pPr>
                      <a:r>
                        <a:rPr lang="zh-CN" altLang="en-US" sz="1650" b="1" dirty="0">
                          <a:cs typeface="华文楷体" panose="02010600040101010101" charset="-122"/>
                        </a:rPr>
                        <a:t>（</a:t>
                      </a:r>
                      <a:r>
                        <a:rPr lang="en-GB" sz="1650" b="1" dirty="0">
                          <a:ea typeface="华文楷体" panose="02010600040101010101" charset="-122"/>
                          <a:cs typeface="华文楷体" panose="02010600040101010101" charset="-122"/>
                        </a:rPr>
                        <a:t>Time Series）</a:t>
                      </a:r>
                      <a:endParaRPr lang="en-GB" sz="1650" dirty="0"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>
                          <a:cs typeface="华文楷体" panose="02010600040101010101" charset="-122"/>
                        </a:rPr>
                        <a:t>同一对象、多个时间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>
                          <a:cs typeface="华文楷体" panose="02010600040101010101" charset="-122"/>
                        </a:rPr>
                        <a:t>中国月度</a:t>
                      </a:r>
                      <a:r>
                        <a:rPr lang="en-GB" sz="1650" dirty="0">
                          <a:ea typeface="华文楷体" panose="02010600040101010101" charset="-122"/>
                          <a:cs typeface="华文楷体" panose="02010600040101010101" charset="-122"/>
                        </a:rPr>
                        <a:t>CPI、</a:t>
                      </a:r>
                      <a:r>
                        <a:rPr lang="zh-CN" altLang="en-US" sz="1650" dirty="0">
                          <a:cs typeface="华文楷体" panose="02010600040101010101" charset="-122"/>
                        </a:rPr>
                        <a:t>上证指数日收盘价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>
                          <a:cs typeface="华文楷体" panose="02010600040101010101" charset="-122"/>
                        </a:rPr>
                        <a:t>趋势分析、</a:t>
                      </a:r>
                      <a:r>
                        <a:rPr lang="en-GB" sz="1650">
                          <a:ea typeface="华文楷体" panose="02010600040101010101" charset="-122"/>
                          <a:cs typeface="华文楷体" panose="02010600040101010101" charset="-122"/>
                        </a:rPr>
                        <a:t>ARIMA、VAR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2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b="1">
                          <a:cs typeface="华文楷体" panose="02010600040101010101" charset="-122"/>
                        </a:rPr>
                        <a:t>面板数据</a:t>
                      </a:r>
                    </a:p>
                    <a:p>
                      <a:pPr>
                        <a:buNone/>
                      </a:pPr>
                      <a:r>
                        <a:rPr lang="zh-CN" altLang="en-US" sz="1650" b="1">
                          <a:cs typeface="华文楷体" panose="02010600040101010101" charset="-122"/>
                        </a:rPr>
                        <a:t>（</a:t>
                      </a:r>
                      <a:r>
                        <a:rPr lang="en-GB" sz="1650" b="1">
                          <a:ea typeface="华文楷体" panose="02010600040101010101" charset="-122"/>
                          <a:cs typeface="华文楷体" panose="02010600040101010101" charset="-122"/>
                        </a:rPr>
                        <a:t>Panel Data）</a:t>
                      </a:r>
                      <a:endParaRPr lang="en-GB" sz="1650">
                        <a:ea typeface="华文楷体" panose="02010600040101010101" charset="-122"/>
                        <a:cs typeface="华文楷体" panose="02010600040101010101" charset="-122"/>
                      </a:endParaRP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>
                          <a:cs typeface="华文楷体" panose="02010600040101010101" charset="-122"/>
                        </a:rPr>
                        <a:t>多对象 </a:t>
                      </a:r>
                      <a:r>
                        <a:rPr lang="en-US" altLang="zh-CN" sz="1650" dirty="0">
                          <a:cs typeface="华文楷体" panose="02010600040101010101" charset="-122"/>
                        </a:rPr>
                        <a:t>+ </a:t>
                      </a:r>
                      <a:r>
                        <a:rPr lang="zh-CN" altLang="en-US" sz="1650" dirty="0">
                          <a:cs typeface="华文楷体" panose="02010600040101010101" charset="-122"/>
                        </a:rPr>
                        <a:t>多时间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>
                          <a:cs typeface="华文楷体" panose="02010600040101010101" charset="-122"/>
                        </a:rPr>
                        <a:t>各省份</a:t>
                      </a:r>
                      <a:r>
                        <a:rPr lang="en-US" altLang="zh-CN" sz="1650" dirty="0">
                          <a:cs typeface="华文楷体" panose="02010600040101010101" charset="-122"/>
                        </a:rPr>
                        <a:t>2010–2024</a:t>
                      </a:r>
                      <a:r>
                        <a:rPr lang="zh-CN" altLang="en-US" sz="1650" dirty="0">
                          <a:cs typeface="华文楷体" panose="02010600040101010101" charset="-122"/>
                        </a:rPr>
                        <a:t>年的</a:t>
                      </a:r>
                      <a:r>
                        <a:rPr lang="en-GB" sz="1650" dirty="0">
                          <a:ea typeface="华文楷体" panose="02010600040101010101" charset="-122"/>
                          <a:cs typeface="华文楷体" panose="02010600040101010101" charset="-122"/>
                        </a:rPr>
                        <a:t>GDP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>
                          <a:cs typeface="华文楷体" panose="02010600040101010101" charset="-122"/>
                        </a:rPr>
                        <a:t>固定效应、随机效应模型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7345" y="365125"/>
            <a:ext cx="7886700" cy="1325563"/>
          </a:xfrm>
        </p:spPr>
        <p:txBody>
          <a:bodyPr/>
          <a:lstStyle/>
          <a:p>
            <a:r>
              <a:rPr kumimoji="1" lang="zh-CN" altLang="en-US" b="1" dirty="0"/>
              <a:t>综合举例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384810" y="1820545"/>
          <a:ext cx="8362950" cy="3662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93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2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7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数据类型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示例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说明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定类数据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是否绿色债券（是</a:t>
                      </a:r>
                      <a:r>
                        <a:rPr lang="en-US" altLang="zh-CN" sz="2000" dirty="0"/>
                        <a:t>/</a:t>
                      </a:r>
                      <a:r>
                        <a:rPr lang="zh-CN" altLang="en-US" sz="2000" dirty="0"/>
                        <a:t>否）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分类特征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定序数据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信用评级（</a:t>
                      </a:r>
                      <a:r>
                        <a:rPr lang="en-GB" sz="2000" dirty="0"/>
                        <a:t>AAA, AA+, AA）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排序信息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定距数据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利率、期限（年）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有可比差距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定比数据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收益率、成交量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可计算比例或增长率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时间序列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某债券月度收益率变化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连续时间变化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3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面板数据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各企业每年发行债券数据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企业 </a:t>
                      </a:r>
                      <a:r>
                        <a:rPr lang="en-US" altLang="zh-CN" sz="2000" dirty="0"/>
                        <a:t>× </a:t>
                      </a:r>
                      <a:r>
                        <a:rPr lang="zh-CN" altLang="en-US" sz="2000" dirty="0"/>
                        <a:t>年份结构</a:t>
                      </a:r>
                    </a:p>
                  </a:txBody>
                  <a:tcPr marL="68580" marR="68580" marT="34290" marB="34290" anchor="ctr">
                    <a:lnL w="12700">
                      <a:solidFill>
                        <a:srgbClr val="C00000"/>
                      </a:solidFill>
                      <a:prstDash val="solid"/>
                    </a:lnL>
                    <a:lnR w="12700">
                      <a:solidFill>
                        <a:srgbClr val="C00000"/>
                      </a:solidFill>
                      <a:prstDash val="solid"/>
                    </a:lnR>
                    <a:lnT w="127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C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59280" y="365125"/>
            <a:ext cx="6904355" cy="1325880"/>
          </a:xfrm>
        </p:spPr>
        <p:txBody>
          <a:bodyPr/>
          <a:lstStyle/>
          <a:p>
            <a:r>
              <a:rPr lang="zh-CN" sz="3100" b="1" kern="0" spc="40" dirty="0">
                <a:solidFill>
                  <a:srgbClr val="000000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三、数据的收集</a:t>
            </a:r>
            <a:r>
              <a:rPr lang="en-US" altLang="zh-CN" sz="3100" b="1" kern="0" spc="40" dirty="0">
                <a:solidFill>
                  <a:srgbClr val="000000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——</a:t>
            </a:r>
            <a:r>
              <a:rPr lang="zh-CN" sz="3100" b="1" kern="0" spc="40" dirty="0">
                <a:solidFill>
                  <a:srgbClr val="000000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间接来源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379095" y="1518285"/>
          <a:ext cx="8384540" cy="405384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95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60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7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来源类型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/>
                        <a:t>典型渠道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/>
                        <a:t>金融场景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26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内部数据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银行核心系统、交易记录、</a:t>
                      </a:r>
                      <a:r>
                        <a:rPr lang="en-GB" sz="1800" dirty="0"/>
                        <a:t>CRM</a:t>
                      </a:r>
                      <a:r>
                        <a:rPr lang="zh-CN" altLang="en-US" sz="1800" dirty="0"/>
                        <a:t>系统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/>
                        <a:t>客户画像、授信风险管理、资金流分析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2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/>
                        <a:t>数据服务机构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Wind、CSMAR、</a:t>
                      </a:r>
                      <a:r>
                        <a:rPr lang="zh-CN" altLang="en-US" sz="1800" dirty="0"/>
                        <a:t>同花顺、国泰安、彭博（</a:t>
                      </a:r>
                      <a:r>
                        <a:rPr lang="en-GB" sz="1800" dirty="0"/>
                        <a:t>Bloomberg）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/>
                        <a:t>市场行情、财务指标、债券收益率、宏观数据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2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/>
                        <a:t>政府与监管机构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中国人民银行、国家统计局、银保监会、证监会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/>
                        <a:t>宏观经济、货币政策、行业统计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00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第三方研究报告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投研机构、券商报告、评级公司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市场趋势、行业研判、投资逻辑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0345" y="365125"/>
            <a:ext cx="7886700" cy="1325563"/>
          </a:xfrm>
        </p:spPr>
        <p:txBody>
          <a:bodyPr/>
          <a:lstStyle/>
          <a:p>
            <a:r>
              <a:rPr kumimoji="1" lang="zh-CN" altLang="en-US" b="1" dirty="0"/>
              <a:t>数据的收集——直接来源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512445" y="1690370"/>
          <a:ext cx="8201025" cy="3744595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431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9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0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38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类型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采集方式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金融场景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8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调查数据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问卷、访谈、座谈会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/>
                        <a:t>投资者情绪、消费预期、信贷满意度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13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/>
                        <a:t>实验数据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A/B</a:t>
                      </a:r>
                      <a:r>
                        <a:rPr lang="zh-CN" altLang="en-US" sz="1800" dirty="0"/>
                        <a:t>测试、政策试点、市场实验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/>
                        <a:t>金融产品定价、营销活动效果评估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11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/>
                        <a:t>网络数据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爬虫、</a:t>
                      </a:r>
                      <a:r>
                        <a:rPr lang="en-GB" sz="1800" dirty="0"/>
                        <a:t>API</a:t>
                      </a:r>
                      <a:r>
                        <a:rPr lang="zh-CN" altLang="en-US" sz="1800" dirty="0"/>
                        <a:t>接口、新闻舆情、社交媒体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舆情分析、文本情感分析、风险预警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2425" y="365125"/>
            <a:ext cx="7886700" cy="1325563"/>
          </a:xfrm>
        </p:spPr>
        <p:txBody>
          <a:bodyPr/>
          <a:lstStyle/>
          <a:p>
            <a:r>
              <a:rPr kumimoji="1" lang="zh-CN" altLang="en-US" b="1" dirty="0"/>
              <a:t>数据采集方法</a:t>
            </a:r>
            <a:r>
              <a:rPr kumimoji="1" lang="en-US" altLang="zh-CN" b="1" dirty="0"/>
              <a:t>——</a:t>
            </a:r>
            <a:r>
              <a:rPr kumimoji="1" lang="zh-CN" altLang="en-US" b="1" dirty="0"/>
              <a:t>概率抽样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352425" y="1795780"/>
          <a:ext cx="8162925" cy="3566795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634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87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9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4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方法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特点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金融应用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简单随机抽样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/>
                        <a:t>每个样本有相同被选概率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/>
                        <a:t>从所有贷款客户中随机抽取样本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分层抽样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/>
                        <a:t>按行业、地区分层抽取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/>
                        <a:t>按省份或行业分析贷款违约率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整群抽样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把总体划分为“群体”，随机抽若干群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/>
                        <a:t>选几个支行全部客户做调查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4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/>
                        <a:t>等距抽样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每隔一定间隔抽样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每</a:t>
                      </a:r>
                      <a:r>
                        <a:rPr lang="en-US" altLang="zh-CN" sz="1800" dirty="0"/>
                        <a:t>100</a:t>
                      </a:r>
                      <a:r>
                        <a:rPr lang="zh-CN" altLang="en-US" sz="1800" dirty="0"/>
                        <a:t>个账户选</a:t>
                      </a:r>
                      <a:r>
                        <a:rPr lang="en-US" altLang="zh-CN" sz="1800" dirty="0"/>
                        <a:t>1</a:t>
                      </a:r>
                      <a:r>
                        <a:rPr lang="zh-CN" altLang="en-US" sz="1800" dirty="0"/>
                        <a:t>个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9260" y="365125"/>
            <a:ext cx="7886700" cy="1325563"/>
          </a:xfrm>
        </p:spPr>
        <p:txBody>
          <a:bodyPr/>
          <a:lstStyle/>
          <a:p>
            <a:r>
              <a:rPr kumimoji="1" lang="zh-CN" altLang="en-US" b="1" dirty="0"/>
              <a:t>数据采集方法</a:t>
            </a:r>
            <a:r>
              <a:rPr kumimoji="1" lang="en-US" altLang="zh-CN" b="1" dirty="0"/>
              <a:t>——</a:t>
            </a:r>
            <a:r>
              <a:rPr kumimoji="1" lang="zh-CN" altLang="en-US" b="1" dirty="0"/>
              <a:t>抽样调查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540160" y="3019732"/>
          <a:ext cx="7886700" cy="2807335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702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8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5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1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方法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特点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金融应用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便利抽样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选取易获得样本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在银行大厅发放客户满意度问卷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判断抽样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专家主观挑选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挑选重点高风险客户做调研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配额抽样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按比例配额抽取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每个地区抽取固定数量企业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滚雪球抽样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通过样本推荐样本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私募基金投资者人脉网络调查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385445" y="1506855"/>
            <a:ext cx="8162925" cy="144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sz="165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 </a:t>
            </a:r>
            <a:r>
              <a:rPr kumimoji="1" lang="zh-CN" altLang="en-US" sz="1650" dirty="0">
                <a:cs typeface="华文楷体" panose="02010600040101010101" charset="-122"/>
              </a:rPr>
              <a:t>由调查人员自由选择被调查者的非随机选样。    </a:t>
            </a:r>
            <a:endParaRPr kumimoji="1" lang="en-US" altLang="zh-CN" sz="1650" dirty="0">
              <a:cs typeface="华文楷体" panose="02010600040101010101" charset="-122"/>
            </a:endParaRP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sz="165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 </a:t>
            </a:r>
            <a:r>
              <a:rPr kumimoji="1" lang="zh-CN" altLang="en-US" sz="1650" dirty="0">
                <a:cs typeface="华文楷体" panose="02010600040101010101" charset="-122"/>
              </a:rPr>
              <a:t>通过某些过滤条件选择某些被调查者。在许多情况下，由于研究对象可能仅限于一部</a:t>
            </a:r>
            <a:r>
              <a:rPr kumimoji="1" lang="en-US" altLang="zh-CN" sz="1650" dirty="0">
                <a:cs typeface="华文楷体" panose="02010600040101010101" charset="-122"/>
              </a:rPr>
              <a:t>   </a:t>
            </a:r>
          </a:p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umimoji="1" lang="en-US" altLang="zh-CN" sz="1650" dirty="0">
                <a:cs typeface="华文楷体" panose="02010600040101010101" charset="-122"/>
              </a:rPr>
              <a:t>     </a:t>
            </a:r>
            <a:r>
              <a:rPr kumimoji="1" lang="zh-CN" altLang="en-US" sz="1650" dirty="0">
                <a:cs typeface="华文楷体" panose="02010600040101010101" charset="-122"/>
              </a:rPr>
              <a:t>分居民因而有时采用这种方法能节省大量经费。</a:t>
            </a:r>
            <a:endParaRPr kumimoji="1" lang="en-US" altLang="zh-CN" sz="1650" dirty="0">
              <a:cs typeface="华文楷体" panose="02010600040101010101" charset="-122"/>
            </a:endParaRPr>
          </a:p>
          <a:p>
            <a:endParaRPr lang="zh-CN" altLang="en-US" sz="13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9405" y="365125"/>
            <a:ext cx="7886700" cy="1325563"/>
          </a:xfrm>
        </p:spPr>
        <p:txBody>
          <a:bodyPr/>
          <a:lstStyle/>
          <a:p>
            <a:r>
              <a:rPr kumimoji="1" lang="zh-CN" altLang="en-US" b="1" dirty="0"/>
              <a:t>调查方案设计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401955" y="1805305"/>
          <a:ext cx="8113395" cy="346710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113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3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5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4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要素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问题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示例（投资者情绪调查）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50" dirty="0"/>
                        <a:t>Why（</a:t>
                      </a:r>
                      <a:r>
                        <a:rPr lang="zh-CN" altLang="en-US" sz="1650" dirty="0"/>
                        <a:t>目的）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为什么要调查？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分析情绪对短期股市波动的影响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4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50"/>
                        <a:t>Who（</a:t>
                      </a:r>
                      <a:r>
                        <a:rPr lang="zh-CN" altLang="en-US" sz="1650"/>
                        <a:t>对象）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向谁调查？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活跃散户投资者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50" dirty="0"/>
                        <a:t>What（</a:t>
                      </a:r>
                      <a:r>
                        <a:rPr lang="zh-CN" altLang="en-US" sz="1650" dirty="0"/>
                        <a:t>内容）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调查什么？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投资偏好、风险认知、交易频率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54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50" dirty="0"/>
                        <a:t>How（</a:t>
                      </a:r>
                      <a:r>
                        <a:rPr lang="zh-CN" altLang="en-US" sz="1650" dirty="0"/>
                        <a:t>方式）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如何调查？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线上问卷 </a:t>
                      </a:r>
                      <a:r>
                        <a:rPr lang="en-US" altLang="zh-CN" sz="1650" dirty="0"/>
                        <a:t>+ </a:t>
                      </a:r>
                      <a:r>
                        <a:rPr lang="zh-CN" altLang="en-US" sz="1650" dirty="0"/>
                        <a:t>微信小程序采集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1795" y="365125"/>
            <a:ext cx="7886700" cy="1325563"/>
          </a:xfrm>
        </p:spPr>
        <p:txBody>
          <a:bodyPr/>
          <a:lstStyle/>
          <a:p>
            <a:r>
              <a:rPr kumimoji="1" lang="zh-CN" altLang="en-US" b="1" dirty="0"/>
              <a:t>思考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0855" y="1555750"/>
            <a:ext cx="8024495" cy="4621530"/>
          </a:xfrm>
        </p:spPr>
        <p:txBody>
          <a:bodyPr>
            <a:normAutofit fontScale="80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 </a:t>
            </a:r>
            <a:r>
              <a:rPr lang="zh-CN" altLang="en-US" dirty="0"/>
              <a:t>假设你在一家银行风控部，想研究“地区经济水平与贷款违约率”的关系，请写出你的数据采集方案。</a:t>
            </a: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r>
              <a:rPr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 </a:t>
            </a:r>
            <a:r>
              <a:rPr lang="zh-CN" altLang="en-US" b="1" dirty="0"/>
              <a:t>以下是参考</a:t>
            </a:r>
            <a:r>
              <a:rPr lang="en-US" altLang="zh-CN" b="1" dirty="0"/>
              <a:t>——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 </a:t>
            </a:r>
            <a:r>
              <a:rPr lang="zh-CN" altLang="en-US" dirty="0"/>
              <a:t>数据来源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银行内部：客户贷款、还款记录；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外部：地区</a:t>
            </a:r>
            <a:r>
              <a:rPr lang="en-GB" altLang="zh-CN" dirty="0"/>
              <a:t>GDP</a:t>
            </a:r>
            <a:r>
              <a:rPr lang="zh-CN" altLang="en-GB" dirty="0"/>
              <a:t>、</a:t>
            </a:r>
            <a:r>
              <a:rPr lang="zh-CN" altLang="en-US" dirty="0"/>
              <a:t>人均可支配收入。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 </a:t>
            </a:r>
            <a:r>
              <a:rPr lang="zh-CN" altLang="en-US" dirty="0"/>
              <a:t>抽样方式：分层抽样（按地区层次选取客户样本）。</a:t>
            </a: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 </a:t>
            </a:r>
            <a:r>
              <a:rPr lang="zh-CN" altLang="en-US" dirty="0"/>
              <a:t>数据质量控制：统一统计时间口径，剔除异常贷款样本。</a:t>
            </a:r>
          </a:p>
          <a:p>
            <a:endParaRPr kumimoji="1"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7300" y="365125"/>
            <a:ext cx="7886700" cy="1325563"/>
          </a:xfrm>
        </p:spPr>
        <p:txBody>
          <a:bodyPr/>
          <a:lstStyle/>
          <a:p>
            <a:r>
              <a:rPr lang="zh-CN" sz="3100" b="1" kern="0" spc="40" dirty="0">
                <a:solidFill>
                  <a:srgbClr val="000000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四、数据的预处理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60170"/>
            <a:ext cx="8117840" cy="448627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 </a:t>
            </a:r>
            <a:r>
              <a:rPr lang="zh-CN" altLang="en-US" sz="2000" dirty="0"/>
              <a:t>数据分析前的</a:t>
            </a:r>
            <a:r>
              <a:rPr lang="en-US" altLang="zh-CN" sz="2000" dirty="0"/>
              <a:t>80%</a:t>
            </a:r>
            <a:r>
              <a:rPr lang="zh-CN" altLang="en-US" sz="2000" dirty="0"/>
              <a:t>时间，都花在整理数据上。</a:t>
            </a:r>
            <a:endParaRPr kumimoji="1" lang="en-US" altLang="zh-CN" sz="2000" dirty="0"/>
          </a:p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 </a:t>
            </a:r>
            <a:r>
              <a:rPr lang="zh-CN" altLang="en-US" sz="2000" dirty="0"/>
              <a:t>在金融数据中，常见问题包括：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/>
              <a:t>有的公司缺少财报；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/>
              <a:t>有的日期不对齐；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/>
              <a:t>有的收益率出现负值；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/>
              <a:t>有的样本是手动录入错误。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 </a:t>
            </a:r>
            <a:r>
              <a:rPr lang="zh-CN" altLang="en-US" sz="2000" b="1" dirty="0"/>
              <a:t>数据预处理的目标：</a:t>
            </a:r>
            <a:endParaRPr lang="zh-CN" altLang="en-US" sz="20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000" dirty="0"/>
              <a:t>保证数据的“可用性”“准确性”和“可比性”。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6225" y="365125"/>
            <a:ext cx="7886700" cy="1325563"/>
          </a:xfrm>
        </p:spPr>
        <p:txBody>
          <a:bodyPr/>
          <a:lstStyle/>
          <a:p>
            <a:r>
              <a:rPr kumimoji="1" lang="zh-CN" altLang="en-US" b="1" dirty="0"/>
              <a:t>例子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369570" y="1547495"/>
          <a:ext cx="8145780" cy="409829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185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4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5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7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场景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采集方式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说明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7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信贷风险评估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系统记录 </a:t>
                      </a:r>
                      <a:r>
                        <a:rPr lang="en-US" altLang="zh-CN" sz="1650" dirty="0"/>
                        <a:t>+ </a:t>
                      </a:r>
                      <a:r>
                        <a:rPr lang="zh-CN" altLang="en-US" sz="1650" dirty="0"/>
                        <a:t>客户访谈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获取客户还款意愿、抵押物信息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4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投资策略回测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50"/>
                        <a:t>Wind、Bloomberg</a:t>
                      </a:r>
                      <a:r>
                        <a:rPr lang="zh-CN" altLang="en-US" sz="1650"/>
                        <a:t>数据接口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收益率、成交量、因子指标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91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金融消费者保护研究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问卷调查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调查金融知识水平与消费风险意识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宏观金融研究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国家统计局、央行数据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宏观指标时间序列分析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2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舆情与风险监测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网络爬虫、</a:t>
                      </a:r>
                      <a:r>
                        <a:rPr lang="en-GB" sz="1650" dirty="0"/>
                        <a:t>API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舆情关键词、情感分布、公司负面新闻频率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4795" y="365125"/>
            <a:ext cx="7886700" cy="1325563"/>
          </a:xfrm>
        </p:spPr>
        <p:txBody>
          <a:bodyPr/>
          <a:lstStyle/>
          <a:p>
            <a:r>
              <a:rPr kumimoji="1" lang="zh-CN" altLang="en-US" b="1" dirty="0"/>
              <a:t>数据预处理的核心任务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405765" y="1858645"/>
          <a:ext cx="8173720" cy="3715385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1878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0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4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4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50" dirty="0"/>
                        <a:t>步骤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tint val="2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50"/>
                        <a:t>内容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tint val="2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50"/>
                        <a:t>目的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tint val="20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580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650"/>
                        <a:t>1️⃣ </a:t>
                      </a:r>
                      <a:r>
                        <a:rPr lang="zh-CN" altLang="en-US" sz="1650"/>
                        <a:t>数据审核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tint val="2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50" dirty="0"/>
                        <a:t>确认数据来源、定义、口径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tint val="2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50"/>
                        <a:t>保证数据可靠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tint val="20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650"/>
                        <a:t>2️⃣ </a:t>
                      </a:r>
                      <a:r>
                        <a:rPr lang="zh-CN" altLang="en-US" sz="1650"/>
                        <a:t>数据清洗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tint val="2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50" dirty="0"/>
                        <a:t>缺失、异常、不一致处理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tint val="2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50" dirty="0"/>
                        <a:t>提高分析精度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tint val="20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650"/>
                        <a:t>3️⃣ </a:t>
                      </a:r>
                      <a:r>
                        <a:rPr lang="zh-CN" altLang="en-US" sz="1650"/>
                        <a:t>数据筛选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tint val="2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50"/>
                        <a:t>选出符合研究目标的样本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tint val="2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50" dirty="0"/>
                        <a:t>保持样本代表性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tint val="20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580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650"/>
                        <a:t>4️⃣ </a:t>
                      </a:r>
                      <a:r>
                        <a:rPr lang="zh-CN" altLang="en-US" sz="1650"/>
                        <a:t>数据转换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tint val="2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50"/>
                        <a:t>标准化、对数化、货币统一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tint val="2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50" dirty="0"/>
                        <a:t>保证可比性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tint val="20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4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650"/>
                        <a:t>5️⃣ </a:t>
                      </a:r>
                      <a:r>
                        <a:rPr lang="zh-CN" altLang="en-US" sz="1650"/>
                        <a:t>数据整合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tint val="2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50"/>
                        <a:t>多来源数据合并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tint val="20000"/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50" dirty="0"/>
                        <a:t>形成分析用总表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tint val="20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7670" y="365125"/>
            <a:ext cx="7306945" cy="1325880"/>
          </a:xfrm>
        </p:spPr>
        <p:txBody>
          <a:bodyPr/>
          <a:lstStyle/>
          <a:p>
            <a:r>
              <a:rPr kumimoji="1" lang="zh-CN" altLang="en-US" b="1" dirty="0"/>
              <a:t>数据审核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935" y="1556385"/>
            <a:ext cx="8150860" cy="459295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 </a:t>
            </a:r>
            <a:r>
              <a:rPr lang="en-US" altLang="zh-CN" sz="2000" b="1" dirty="0"/>
              <a:t>1. </a:t>
            </a:r>
            <a:r>
              <a:rPr lang="zh-CN" altLang="en-US" sz="2000" b="1" dirty="0"/>
              <a:t>适用性审核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确认数据来源：是</a:t>
            </a:r>
            <a:r>
              <a:rPr lang="en-GB" altLang="zh-CN" sz="2000" dirty="0"/>
              <a:t>Wind</a:t>
            </a:r>
            <a:r>
              <a:rPr lang="zh-CN" altLang="en-GB" sz="2000" dirty="0"/>
              <a:t>、</a:t>
            </a:r>
            <a:r>
              <a:rPr lang="en-GB" altLang="zh-CN" sz="2000" dirty="0"/>
              <a:t>CSMAR</a:t>
            </a:r>
            <a:r>
              <a:rPr lang="zh-CN" altLang="en-GB" sz="2000" dirty="0"/>
              <a:t>，</a:t>
            </a:r>
            <a:r>
              <a:rPr lang="zh-CN" altLang="en-US" sz="2000" dirty="0"/>
              <a:t>还是公司内部系统？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检查指标口径：如“净利润”是否为“归母净利润”？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判断变量定义：如“杠杆率”是资产负债率还是权益乘数？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 </a:t>
            </a:r>
            <a:r>
              <a:rPr lang="en-US" altLang="zh-CN" sz="2000" b="1" dirty="0"/>
              <a:t>2. </a:t>
            </a:r>
            <a:r>
              <a:rPr lang="zh-CN" altLang="en-US" sz="2000" b="1" dirty="0"/>
              <a:t>时效性审核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尽量使用最新数据；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检查更新频率（季度、月度）；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若样本跨度过长，考虑通货膨胀或制度变化的影响。</a:t>
            </a:r>
          </a:p>
          <a:p>
            <a:pPr marL="0" indent="0">
              <a:lnSpc>
                <a:spcPct val="150000"/>
              </a:lnSpc>
              <a:buNone/>
            </a:pPr>
            <a:endParaRPr lang="zh-CN" altLang="en-US" sz="2000" dirty="0"/>
          </a:p>
        </p:txBody>
      </p:sp>
      <p:sp>
        <p:nvSpPr>
          <p:cNvPr id="4" name="椭圆形标注 3"/>
          <p:cNvSpPr/>
          <p:nvPr/>
        </p:nvSpPr>
        <p:spPr>
          <a:xfrm>
            <a:off x="4761865" y="265430"/>
            <a:ext cx="4195445" cy="1582420"/>
          </a:xfrm>
          <a:prstGeom prst="wedgeEllipseCallout">
            <a:avLst>
              <a:gd name="adj1" fmla="val -37074"/>
              <a:gd name="adj2" fmla="val 55898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088255" y="494665"/>
            <a:ext cx="3558540" cy="106172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>
              <a:lnSpc>
                <a:spcPct val="150000"/>
              </a:lnSpc>
            </a:pPr>
            <a:r>
              <a:rPr lang="zh-CN" altLang="en-US" sz="1400" b="1" dirty="0">
                <a:solidFill>
                  <a:schemeClr val="bg1"/>
                </a:solidFill>
                <a:sym typeface="+mn-ea"/>
              </a:rPr>
              <a:t>一位研究员在做“企业</a:t>
            </a:r>
            <a:r>
              <a:rPr lang="en-GB" altLang="zh-CN" sz="1400" b="1" dirty="0">
                <a:solidFill>
                  <a:schemeClr val="bg1"/>
                </a:solidFill>
                <a:sym typeface="+mn-ea"/>
              </a:rPr>
              <a:t>ESG</a:t>
            </a:r>
            <a:r>
              <a:rPr lang="zh-CN" altLang="en-US" sz="1400" b="1" dirty="0">
                <a:solidFill>
                  <a:schemeClr val="bg1"/>
                </a:solidFill>
                <a:sym typeface="+mn-ea"/>
              </a:rPr>
              <a:t>表现与融资成本”分析时，用了</a:t>
            </a:r>
            <a:r>
              <a:rPr lang="en-US" altLang="zh-CN" sz="1400" b="1" dirty="0">
                <a:solidFill>
                  <a:schemeClr val="bg1"/>
                </a:solidFill>
                <a:sym typeface="+mn-ea"/>
              </a:rPr>
              <a:t>2015</a:t>
            </a:r>
            <a:r>
              <a:rPr lang="zh-CN" altLang="en-US" sz="1400" b="1" dirty="0">
                <a:solidFill>
                  <a:schemeClr val="bg1"/>
                </a:solidFill>
                <a:sym typeface="+mn-ea"/>
              </a:rPr>
              <a:t>年的</a:t>
            </a:r>
            <a:r>
              <a:rPr lang="en-GB" altLang="zh-CN" sz="1400" b="1" dirty="0">
                <a:solidFill>
                  <a:schemeClr val="bg1"/>
                </a:solidFill>
                <a:sym typeface="+mn-ea"/>
              </a:rPr>
              <a:t>ESG</a:t>
            </a:r>
            <a:r>
              <a:rPr lang="zh-CN" altLang="en-US" sz="1400" b="1" dirty="0">
                <a:solidFill>
                  <a:schemeClr val="bg1"/>
                </a:solidFill>
                <a:sym typeface="+mn-ea"/>
              </a:rPr>
              <a:t>评分数据，却配上</a:t>
            </a:r>
            <a:r>
              <a:rPr lang="en-US" altLang="zh-CN" sz="1400" b="1" dirty="0">
                <a:solidFill>
                  <a:schemeClr val="bg1"/>
                </a:solidFill>
                <a:sym typeface="+mn-ea"/>
              </a:rPr>
              <a:t>2022</a:t>
            </a:r>
            <a:r>
              <a:rPr lang="zh-CN" altLang="en-US" sz="1400" b="1" dirty="0">
                <a:solidFill>
                  <a:schemeClr val="bg1"/>
                </a:solidFill>
                <a:sym typeface="+mn-ea"/>
              </a:rPr>
              <a:t>年的债券利率，结果完全偏差。</a:t>
            </a:r>
            <a:endParaRPr lang="zh-CN" altLang="en-US" sz="1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2590" y="365125"/>
            <a:ext cx="7886700" cy="1325563"/>
          </a:xfrm>
        </p:spPr>
        <p:txBody>
          <a:bodyPr/>
          <a:lstStyle/>
          <a:p>
            <a:r>
              <a:rPr kumimoji="1" lang="zh-CN" altLang="en-US" b="1" dirty="0"/>
              <a:t>数据清洗</a:t>
            </a:r>
            <a:r>
              <a:rPr kumimoji="1" lang="en-US" altLang="zh-CN" b="1" dirty="0"/>
              <a:t>——</a:t>
            </a:r>
            <a:r>
              <a:rPr kumimoji="1" lang="zh-CN" altLang="en-US" b="1" dirty="0"/>
              <a:t>处理缺失值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402590" y="1691005"/>
          <a:ext cx="8112760" cy="366395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1739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5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1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方式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说明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金融场景举例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删除法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若缺失比例小，可直接删除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少数公司财报缺一年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均值</a:t>
                      </a:r>
                      <a:r>
                        <a:rPr lang="en-US" altLang="zh-CN" sz="1650" dirty="0"/>
                        <a:t>/</a:t>
                      </a:r>
                      <a:r>
                        <a:rPr lang="zh-CN" altLang="en-US" sz="1650" dirty="0"/>
                        <a:t>中位数填充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适合连续变量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利润率、利率等指标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24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预测填补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用回归、插值法估算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缺失一季度的</a:t>
                      </a:r>
                      <a:r>
                        <a:rPr lang="en-GB" sz="1650" dirty="0"/>
                        <a:t>CPI</a:t>
                      </a:r>
                      <a:r>
                        <a:rPr lang="zh-CN" altLang="en-US" sz="1650" dirty="0"/>
                        <a:t>或</a:t>
                      </a:r>
                      <a:r>
                        <a:rPr lang="en-GB" sz="1650" dirty="0"/>
                        <a:t>ROE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99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指示变量法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缺失设为</a:t>
                      </a:r>
                      <a:r>
                        <a:rPr lang="en-US" altLang="zh-CN" sz="1650"/>
                        <a:t>0</a:t>
                      </a:r>
                      <a:r>
                        <a:rPr lang="zh-CN" altLang="en-US" sz="1650"/>
                        <a:t>，另建“是否缺失”变量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50" dirty="0"/>
                        <a:t>ESG</a:t>
                      </a:r>
                      <a:r>
                        <a:rPr lang="zh-CN" altLang="en-US" sz="1650" dirty="0"/>
                        <a:t>评分缺失样本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29895" y="696755"/>
            <a:ext cx="7886700" cy="434079"/>
          </a:xfrm>
        </p:spPr>
        <p:txBody>
          <a:bodyPr>
            <a:normAutofit fontScale="90000"/>
          </a:bodyPr>
          <a:lstStyle/>
          <a:p>
            <a:r>
              <a:rPr kumimoji="1" lang="zh-CN" altLang="en-US" b="1" dirty="0"/>
              <a:t>例子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7205" y="1217930"/>
            <a:ext cx="7886700" cy="514921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18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zh-CN" altLang="en-US" sz="1800" dirty="0"/>
              <a:t>例：研究“杠杆率与违约率”时，</a:t>
            </a:r>
            <a:r>
              <a:rPr lang="en-GB" altLang="zh-CN" sz="1800" dirty="0"/>
              <a:t>A</a:t>
            </a:r>
            <a:r>
              <a:rPr lang="zh-CN" altLang="en-US" sz="1800" dirty="0"/>
              <a:t>公司</a:t>
            </a:r>
            <a:r>
              <a:rPr lang="en-US" altLang="zh-CN" sz="1800" dirty="0"/>
              <a:t>2024</a:t>
            </a:r>
            <a:r>
              <a:rPr lang="zh-CN" altLang="en-US" sz="1800" dirty="0"/>
              <a:t>年负债额缺失。</a:t>
            </a:r>
            <a:endParaRPr lang="en-US" altLang="zh-CN" sz="1800" dirty="0"/>
          </a:p>
          <a:p>
            <a:pPr>
              <a:lnSpc>
                <a:spcPct val="150000"/>
              </a:lnSpc>
            </a:pPr>
            <a:endParaRPr lang="en-US" altLang="zh-CN" sz="1800" dirty="0"/>
          </a:p>
          <a:p>
            <a:pPr>
              <a:lnSpc>
                <a:spcPct val="150000"/>
              </a:lnSpc>
            </a:pPr>
            <a:endParaRPr lang="en-US" altLang="zh-CN" sz="1800" dirty="0"/>
          </a:p>
          <a:p>
            <a:pPr marL="0" indent="0">
              <a:lnSpc>
                <a:spcPct val="250000"/>
              </a:lnSpc>
              <a:buNone/>
            </a:pPr>
            <a:r>
              <a:rPr sz="18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zh-CN" altLang="en-US" sz="1800" dirty="0"/>
              <a:t>处理方法：</a:t>
            </a:r>
          </a:p>
          <a:p>
            <a:pPr>
              <a:lnSpc>
                <a:spcPct val="150000"/>
              </a:lnSpc>
            </a:pPr>
            <a:r>
              <a:rPr lang="zh-CN" altLang="en-US" sz="1800" dirty="0"/>
              <a:t>缺失极少 → 删除；</a:t>
            </a:r>
          </a:p>
          <a:p>
            <a:pPr>
              <a:lnSpc>
                <a:spcPct val="150000"/>
              </a:lnSpc>
            </a:pPr>
            <a:r>
              <a:rPr lang="zh-CN" altLang="en-US" sz="1800" dirty="0"/>
              <a:t>连续变量 → 用均值或中位数补齐；</a:t>
            </a:r>
          </a:p>
          <a:p>
            <a:pPr>
              <a:lnSpc>
                <a:spcPct val="150000"/>
              </a:lnSpc>
            </a:pPr>
            <a:r>
              <a:rPr lang="zh-CN" altLang="en-US" sz="1800" dirty="0"/>
              <a:t>时间序列 → 用相邻年份插补。</a:t>
            </a:r>
            <a:br>
              <a:rPr lang="zh-CN" altLang="en-US" sz="1800" dirty="0"/>
            </a:br>
            <a:r>
              <a:rPr lang="zh-CN" altLang="en-US" sz="1800" dirty="0"/>
              <a:t>债券收益率缺口可用上期值或插值法。</a:t>
            </a:r>
            <a:br>
              <a:rPr lang="zh-CN" altLang="en-US" sz="1800" dirty="0"/>
            </a:br>
            <a:r>
              <a:rPr lang="zh-CN" altLang="en-US" sz="1800" dirty="0"/>
              <a:t>关键是补充数据的同时不扭曲趋势。</a:t>
            </a:r>
          </a:p>
          <a:p>
            <a:pPr>
              <a:lnSpc>
                <a:spcPct val="150000"/>
              </a:lnSpc>
            </a:pPr>
            <a:endParaRPr lang="en-US" altLang="zh-CN" sz="1800" dirty="0"/>
          </a:p>
          <a:p>
            <a:endParaRPr kumimoji="1" lang="en-US" altLang="zh-CN" sz="18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67836" y="1843468"/>
          <a:ext cx="7886700" cy="12801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7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公司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年份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总资产</a:t>
                      </a:r>
                      <a:r>
                        <a:rPr lang="en-US" altLang="zh-CN" sz="1650"/>
                        <a:t>(</a:t>
                      </a:r>
                      <a:r>
                        <a:rPr lang="zh-CN" altLang="en-US" sz="1650"/>
                        <a:t>亿元</a:t>
                      </a:r>
                      <a:r>
                        <a:rPr lang="en-US" altLang="zh-CN" sz="1650"/>
                        <a:t>)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负债</a:t>
                      </a:r>
                      <a:r>
                        <a:rPr lang="en-US" altLang="zh-CN" sz="1650"/>
                        <a:t>(</a:t>
                      </a:r>
                      <a:r>
                        <a:rPr lang="zh-CN" altLang="en-US" sz="1650"/>
                        <a:t>亿元</a:t>
                      </a:r>
                      <a:r>
                        <a:rPr lang="en-US" altLang="zh-CN" sz="1650"/>
                        <a:t>)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50"/>
                        <a:t>A</a:t>
                      </a:r>
                      <a:r>
                        <a:rPr lang="zh-CN" altLang="en-US" sz="1650"/>
                        <a:t>公司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 dirty="0"/>
                        <a:t>2018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 dirty="0"/>
                        <a:t>200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/>
                        <a:t>80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50" dirty="0"/>
                        <a:t>A</a:t>
                      </a:r>
                      <a:r>
                        <a:rPr lang="zh-CN" altLang="en-US" sz="1650" dirty="0"/>
                        <a:t>公司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/>
                        <a:t>2019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 dirty="0"/>
                        <a:t>220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 dirty="0"/>
                        <a:t>—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50" dirty="0"/>
                        <a:t>A</a:t>
                      </a:r>
                      <a:r>
                        <a:rPr lang="zh-CN" altLang="en-US" sz="1650" dirty="0"/>
                        <a:t>公司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 dirty="0"/>
                        <a:t>2020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 dirty="0"/>
                        <a:t>260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 dirty="0"/>
                        <a:t>100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8465" y="365125"/>
            <a:ext cx="7886700" cy="1325563"/>
          </a:xfrm>
        </p:spPr>
        <p:txBody>
          <a:bodyPr/>
          <a:lstStyle/>
          <a:p>
            <a:r>
              <a:rPr kumimoji="1" lang="zh-CN" altLang="en-US" b="1" dirty="0"/>
              <a:t>数据清洗</a:t>
            </a:r>
            <a:r>
              <a:rPr kumimoji="1" lang="en-US" altLang="zh-CN" b="1" dirty="0"/>
              <a:t>——</a:t>
            </a:r>
            <a:r>
              <a:rPr kumimoji="1" lang="zh-CN" altLang="en-US" b="1" dirty="0"/>
              <a:t>异常值处理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468630" y="1690370"/>
          <a:ext cx="8174355" cy="339598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2724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4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4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89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方法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原理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金融举例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89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箱线图法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超出上下四分位范围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识别极端</a:t>
                      </a:r>
                      <a:r>
                        <a:rPr lang="en-GB" sz="1800" dirty="0"/>
                        <a:t>ROE、</a:t>
                      </a:r>
                      <a:r>
                        <a:rPr lang="zh-CN" altLang="en-US" sz="1800" dirty="0"/>
                        <a:t>收益率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9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3σ</a:t>
                      </a:r>
                      <a:r>
                        <a:rPr lang="zh-CN" altLang="en-US" sz="1800"/>
                        <a:t>原则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超出均值</a:t>
                      </a:r>
                      <a:r>
                        <a:rPr lang="en-US" altLang="zh-CN" sz="1800" dirty="0"/>
                        <a:t>±3</a:t>
                      </a:r>
                      <a:r>
                        <a:rPr lang="zh-CN" altLang="en-US" sz="1800" dirty="0"/>
                        <a:t>倍标准差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识别异常回报或亏损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89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Winsorize</a:t>
                      </a:r>
                      <a:r>
                        <a:rPr lang="zh-CN" altLang="en-US" sz="1800"/>
                        <a:t>法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/>
                        <a:t>将极端值截断为分位点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缓解极端收益对均值的影响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1795" y="612299"/>
            <a:ext cx="7886700" cy="411956"/>
          </a:xfrm>
        </p:spPr>
        <p:txBody>
          <a:bodyPr>
            <a:normAutofit fontScale="90000"/>
          </a:bodyPr>
          <a:lstStyle/>
          <a:p>
            <a:r>
              <a:rPr kumimoji="1" lang="zh-CN" altLang="en-US" b="1" dirty="0"/>
              <a:t>例子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835" y="1083310"/>
            <a:ext cx="7886700" cy="1981835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66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zh-CN" altLang="en-US" sz="6600" dirty="0"/>
              <a:t>例：基金月度收益率如下：</a:t>
            </a:r>
            <a:endParaRPr lang="en-US" altLang="zh-CN" sz="6600" dirty="0"/>
          </a:p>
          <a:p>
            <a:pPr>
              <a:lnSpc>
                <a:spcPct val="150000"/>
              </a:lnSpc>
            </a:pPr>
            <a:endParaRPr lang="en-US" altLang="zh-CN" sz="6600" dirty="0"/>
          </a:p>
          <a:p>
            <a:pPr>
              <a:lnSpc>
                <a:spcPct val="150000"/>
              </a:lnSpc>
            </a:pPr>
            <a:endParaRPr lang="en-US" altLang="zh-CN" sz="6600" dirty="0"/>
          </a:p>
          <a:p>
            <a:pPr marL="0" indent="0">
              <a:lnSpc>
                <a:spcPct val="150000"/>
              </a:lnSpc>
              <a:buNone/>
            </a:pPr>
            <a:endParaRPr kumimoji="1" lang="en-US" altLang="zh-CN" sz="66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6600" dirty="0"/>
              <a:t>  </a:t>
            </a:r>
            <a:r>
              <a:rPr lang="en-US" altLang="zh-CN" sz="5600" dirty="0"/>
              <a:t>350%</a:t>
            </a:r>
            <a:r>
              <a:rPr lang="zh-CN" altLang="en-US" sz="5600" dirty="0"/>
              <a:t>为异常值，多半因复权或录入错误。</a:t>
            </a:r>
          </a:p>
          <a:p>
            <a:pPr marL="0" indent="0">
              <a:lnSpc>
                <a:spcPct val="150000"/>
              </a:lnSpc>
              <a:buNone/>
            </a:pPr>
            <a:r>
              <a:rPr sz="66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zh-CN" altLang="en-US" sz="6600" dirty="0"/>
              <a:t>判断方法：</a:t>
            </a:r>
          </a:p>
          <a:p>
            <a:pPr>
              <a:lnSpc>
                <a:spcPct val="150000"/>
              </a:lnSpc>
            </a:pPr>
            <a:r>
              <a:rPr lang="zh-CN" altLang="en-US" sz="6600" b="1" dirty="0"/>
              <a:t>箱线图法</a:t>
            </a:r>
            <a:r>
              <a:rPr lang="zh-CN" altLang="en-US" sz="6600" dirty="0"/>
              <a:t>：是否超出上、下限；</a:t>
            </a:r>
          </a:p>
          <a:p>
            <a:pPr>
              <a:lnSpc>
                <a:spcPct val="150000"/>
              </a:lnSpc>
            </a:pPr>
            <a:r>
              <a:rPr lang="en-US" altLang="zh-CN" sz="6600" b="1" dirty="0"/>
              <a:t>3</a:t>
            </a:r>
            <a:r>
              <a:rPr lang="el-GR" altLang="zh-CN" sz="6600" b="1" dirty="0"/>
              <a:t>σ</a:t>
            </a:r>
            <a:r>
              <a:rPr lang="zh-CN" altLang="en-US" sz="6600" b="1" dirty="0"/>
              <a:t>原则</a:t>
            </a:r>
            <a:r>
              <a:rPr lang="zh-CN" altLang="en-US" sz="6600" dirty="0"/>
              <a:t>：超过均值</a:t>
            </a:r>
            <a:r>
              <a:rPr lang="en-US" altLang="zh-CN" sz="6600" dirty="0"/>
              <a:t>±3</a:t>
            </a:r>
            <a:r>
              <a:rPr lang="zh-CN" altLang="en-US" sz="6600" dirty="0"/>
              <a:t>倍标准差。</a:t>
            </a:r>
          </a:p>
          <a:p>
            <a:pPr marL="0" indent="0">
              <a:lnSpc>
                <a:spcPct val="150000"/>
              </a:lnSpc>
              <a:buNone/>
            </a:pPr>
            <a:r>
              <a:rPr sz="66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66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6600" dirty="0"/>
              <a:t>处理方式：</a:t>
            </a:r>
          </a:p>
          <a:p>
            <a:pPr>
              <a:lnSpc>
                <a:spcPct val="150000"/>
              </a:lnSpc>
            </a:pPr>
            <a:r>
              <a:rPr lang="zh-CN" altLang="en-US" sz="6600" dirty="0"/>
              <a:t>错误数据</a:t>
            </a:r>
            <a:r>
              <a:rPr lang="en-US" altLang="zh-CN" sz="6600" dirty="0"/>
              <a:t> </a:t>
            </a:r>
            <a:r>
              <a:rPr lang="zh-CN" altLang="en-US" sz="6600" dirty="0"/>
              <a:t>→</a:t>
            </a:r>
            <a:r>
              <a:rPr lang="en-US" altLang="zh-CN" sz="6600" dirty="0"/>
              <a:t> </a:t>
            </a:r>
            <a:r>
              <a:rPr lang="zh-CN" altLang="en-US" sz="6600" dirty="0"/>
              <a:t>删除；</a:t>
            </a:r>
          </a:p>
          <a:p>
            <a:pPr>
              <a:lnSpc>
                <a:spcPct val="150000"/>
              </a:lnSpc>
            </a:pPr>
            <a:r>
              <a:rPr lang="zh-CN" altLang="en-US" sz="6600" dirty="0"/>
              <a:t>极端真实值</a:t>
            </a:r>
            <a:r>
              <a:rPr lang="en-US" altLang="zh-CN" sz="6600" dirty="0"/>
              <a:t> </a:t>
            </a:r>
            <a:r>
              <a:rPr lang="zh-CN" altLang="en-US" sz="6600" dirty="0"/>
              <a:t>→</a:t>
            </a:r>
            <a:r>
              <a:rPr lang="en-US" altLang="zh-CN" sz="6600" dirty="0"/>
              <a:t> </a:t>
            </a:r>
            <a:r>
              <a:rPr lang="zh-CN" altLang="en-US" sz="6600" dirty="0"/>
              <a:t>截尾法，将</a:t>
            </a:r>
            <a:r>
              <a:rPr lang="en-US" altLang="zh-CN" sz="6600" dirty="0"/>
              <a:t>350%</a:t>
            </a:r>
            <a:r>
              <a:rPr lang="zh-CN" altLang="en-US" sz="6600" dirty="0"/>
              <a:t>替换为上限分位值。</a:t>
            </a:r>
            <a:br>
              <a:rPr lang="zh-CN" altLang="en-US" sz="6600" dirty="0"/>
            </a:br>
            <a:r>
              <a:rPr lang="zh-CN" altLang="en-US" sz="6600" dirty="0"/>
              <a:t>防止个别异常拉高平均收益</a:t>
            </a:r>
            <a:r>
              <a:rPr lang="zh-CN" altLang="en-US" sz="5100" dirty="0"/>
              <a:t>。</a:t>
            </a:r>
          </a:p>
          <a:p>
            <a:endParaRPr kumimoji="1"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50240" y="1562100"/>
          <a:ext cx="7766050" cy="138747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88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50" dirty="0"/>
                        <a:t>月份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350"/>
                        <a:t>收益率</a:t>
                      </a:r>
                      <a:r>
                        <a:rPr lang="en-US" altLang="zh-CN" sz="1350"/>
                        <a:t>(%)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50" dirty="0"/>
                        <a:t>1</a:t>
                      </a:r>
                      <a:r>
                        <a:rPr lang="zh-CN" altLang="en-US" sz="1350" dirty="0"/>
                        <a:t>月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50"/>
                        <a:t>2.3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50" dirty="0"/>
                        <a:t>2</a:t>
                      </a:r>
                      <a:r>
                        <a:rPr lang="zh-CN" altLang="en-US" sz="1350" dirty="0"/>
                        <a:t>月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50"/>
                        <a:t>3.1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50" dirty="0"/>
                        <a:t>3</a:t>
                      </a:r>
                      <a:r>
                        <a:rPr lang="zh-CN" altLang="en-US" sz="1350" dirty="0"/>
                        <a:t>月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50"/>
                        <a:t>350.2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50"/>
                        <a:t>4</a:t>
                      </a:r>
                      <a:r>
                        <a:rPr lang="zh-CN" altLang="en-US" sz="1350"/>
                        <a:t>月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350" dirty="0"/>
                        <a:t>1.8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9875" y="365125"/>
            <a:ext cx="7886700" cy="1325563"/>
          </a:xfrm>
        </p:spPr>
        <p:txBody>
          <a:bodyPr/>
          <a:lstStyle/>
          <a:p>
            <a:r>
              <a:rPr kumimoji="1" lang="zh-CN" altLang="en-US" b="1" dirty="0"/>
              <a:t>数据筛选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436245" y="1544955"/>
          <a:ext cx="8211820" cy="2276475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2240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70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5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筛选维度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示例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时间维度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选择</a:t>
                      </a:r>
                      <a:r>
                        <a:rPr lang="en-US" altLang="zh-CN" sz="1650"/>
                        <a:t>2010–2024</a:t>
                      </a:r>
                      <a:r>
                        <a:rPr lang="zh-CN" altLang="en-US" sz="1650"/>
                        <a:t>年内连续样本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行业维度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仅保留非金融类上市公司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变量维度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剔除非分析指标（如公司简称）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观测维度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剔除极端或明显错误样本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36244" y="3865633"/>
            <a:ext cx="7886700" cy="2168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dirty="0">
                <a:cs typeface="华文楷体" panose="02010600040101010101" charset="-122"/>
              </a:rPr>
              <a:t>例如：</a:t>
            </a:r>
          </a:p>
          <a:p>
            <a:pPr indent="0">
              <a:lnSpc>
                <a:spcPct val="150000"/>
              </a:lnSpc>
              <a:buFont typeface="华文楷体" panose="02010600040101010101" charset="-122"/>
              <a:buNone/>
            </a:pPr>
            <a:r>
              <a:rPr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zh-CN" altLang="en-US" dirty="0">
                <a:cs typeface="华文楷体" panose="02010600040101010101" charset="-122"/>
              </a:rPr>
              <a:t>研究银行盈利性 → 只保留国有、股份制银行，剔除农信社；</a:t>
            </a:r>
          </a:p>
          <a:p>
            <a:pPr indent="0">
              <a:lnSpc>
                <a:spcPct val="150000"/>
              </a:lnSpc>
              <a:buFont typeface="华文楷体" panose="02010600040101010101" charset="-122"/>
              <a:buNone/>
            </a:pPr>
            <a:r>
              <a:rPr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zh-CN" altLang="en-US" dirty="0">
                <a:cs typeface="华文楷体" panose="02010600040101010101" charset="-122"/>
              </a:rPr>
              <a:t>研究债券市场 → 保留企业债、公司债、金融债，剔除地方债；</a:t>
            </a:r>
          </a:p>
          <a:p>
            <a:pPr indent="0">
              <a:lnSpc>
                <a:spcPct val="150000"/>
              </a:lnSpc>
              <a:buFont typeface="华文楷体" panose="02010600040101010101" charset="-122"/>
              <a:buNone/>
            </a:pPr>
            <a:r>
              <a:rPr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zh-CN" altLang="en-US" dirty="0">
                <a:cs typeface="华文楷体" panose="02010600040101010101" charset="-122"/>
              </a:rPr>
              <a:t>研究宏观指标 → 选取</a:t>
            </a:r>
            <a:r>
              <a:rPr lang="en-US" altLang="zh-CN" dirty="0">
                <a:cs typeface="华文楷体" panose="02010600040101010101" charset="-122"/>
              </a:rPr>
              <a:t>2010–2024</a:t>
            </a:r>
            <a:r>
              <a:rPr lang="zh-CN" altLang="en-US" dirty="0">
                <a:cs typeface="华文楷体" panose="02010600040101010101" charset="-122"/>
              </a:rPr>
              <a:t>年连续数据。</a:t>
            </a:r>
            <a:br>
              <a:rPr lang="zh-CN" altLang="en-US" dirty="0">
                <a:cs typeface="华文楷体" panose="02010600040101010101" charset="-122"/>
              </a:rPr>
            </a:br>
            <a:endParaRPr lang="zh-CN" altLang="en-US" dirty="0">
              <a:cs typeface="华文楷体" panose="02010600040101010101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7020" y="365125"/>
            <a:ext cx="7886700" cy="1325563"/>
          </a:xfrm>
        </p:spPr>
        <p:txBody>
          <a:bodyPr/>
          <a:lstStyle/>
          <a:p>
            <a:r>
              <a:rPr kumimoji="1" lang="zh-CN" altLang="en-US" b="1" dirty="0"/>
              <a:t>数据筛选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3060" y="1450340"/>
            <a:ext cx="8310245" cy="4726940"/>
          </a:xfrm>
        </p:spPr>
        <p:txBody>
          <a:bodyPr>
            <a:normAutofit fontScale="77500" lnSpcReduction="20000"/>
          </a:bodyPr>
          <a:lstStyle/>
          <a:p>
            <a:pPr marL="0" indent="0" fontAlgn="base">
              <a:lnSpc>
                <a:spcPct val="150000"/>
              </a:lnSpc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dirty="0"/>
              <a:t>筛选的目的不是减少样本，而是剔除无关“噪音”，让分析更聚焦、</a:t>
            </a:r>
          </a:p>
          <a:p>
            <a:pPr marL="0" indent="0" fontAlgn="base">
              <a:lnSpc>
                <a:spcPct val="150000"/>
              </a:lnSpc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</a:t>
            </a:r>
            <a:r>
              <a:rPr lang="en-US" altLang="zh-CN" dirty="0"/>
              <a:t>   </a:t>
            </a:r>
            <a:r>
              <a:rPr lang="zh-CN" altLang="en-US" dirty="0"/>
              <a:t>更准确。</a:t>
            </a:r>
            <a:endParaRPr kumimoji="1" lang="en-US" altLang="zh-CN" dirty="0"/>
          </a:p>
          <a:p>
            <a:pPr marL="0" indent="0" fontAlgn="base">
              <a:lnSpc>
                <a:spcPct val="150000"/>
              </a:lnSpc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dirty="0"/>
              <a:t>对审核过程中发现的错误应尽可能予以纠正。</a:t>
            </a:r>
          </a:p>
          <a:p>
            <a:pPr marL="0" indent="0" fontAlgn="base">
              <a:lnSpc>
                <a:spcPct val="150000"/>
              </a:lnSpc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dirty="0"/>
              <a:t>当发现数据中的错误不能予以纠正，或者有些数据不符合调查</a:t>
            </a:r>
          </a:p>
          <a:p>
            <a:pPr marL="0" indent="0" fontAlgn="base">
              <a:lnSpc>
                <a:spcPct val="150000"/>
              </a:lnSpc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1" lang="zh-CN" altLang="en-US" dirty="0"/>
              <a:t> </a:t>
            </a:r>
            <a:r>
              <a:rPr kumimoji="1" lang="en-US" altLang="zh-CN" dirty="0"/>
              <a:t>    </a:t>
            </a:r>
            <a:r>
              <a:rPr kumimoji="1" lang="zh-CN" altLang="en-US" dirty="0"/>
              <a:t>的要求而又无法弥补时，需要对数据进行筛选。</a:t>
            </a:r>
          </a:p>
          <a:p>
            <a:pPr marL="0" indent="0" fontAlgn="base">
              <a:lnSpc>
                <a:spcPct val="150000"/>
              </a:lnSpc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dirty="0"/>
              <a:t>数据筛选的内容包括：</a:t>
            </a:r>
          </a:p>
          <a:p>
            <a:pPr marL="228600" lvl="1" fontAlgn="base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/>
            </a:pPr>
            <a:r>
              <a:rPr kumimoji="1" lang="zh-CN" altLang="en-US" sz="2100" dirty="0"/>
              <a:t>将某些不符合要求的数据或有明显错误的数据予以剔除。</a:t>
            </a:r>
          </a:p>
          <a:p>
            <a:pPr marL="228600" lvl="1" fontAlgn="base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§"/>
              <a:defRPr/>
            </a:pPr>
            <a:r>
              <a:rPr kumimoji="1" lang="zh-CN" altLang="en-US" sz="2100" dirty="0"/>
              <a:t>将符合某种特定条件的数据筛选出来，而不符合特定条件的数据予以剔出。</a:t>
            </a:r>
          </a:p>
          <a:p>
            <a:endParaRPr kumimoji="1"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7345" y="365125"/>
            <a:ext cx="7886700" cy="1325563"/>
          </a:xfrm>
        </p:spPr>
        <p:txBody>
          <a:bodyPr/>
          <a:lstStyle/>
          <a:p>
            <a:r>
              <a:rPr kumimoji="1" lang="zh-CN" altLang="en-US" b="1" dirty="0"/>
              <a:t>数据转换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2100" y="1576070"/>
            <a:ext cx="8642985" cy="549592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umimoji="1" lang="zh-CN" altLang="en-US" sz="2000" b="1" dirty="0"/>
              <a:t>不同金融变量往往量纲不同：</a:t>
            </a:r>
            <a:br>
              <a:rPr kumimoji="1" lang="zh-CN" altLang="en-US" sz="2000" b="1" dirty="0"/>
            </a:br>
            <a:r>
              <a:rPr kumimoji="1" lang="en-US" altLang="zh-CN" sz="2000" dirty="0"/>
              <a:t>     </a:t>
            </a:r>
            <a:r>
              <a:rPr kumimoji="1" lang="zh-CN" altLang="en-US" sz="2000" dirty="0"/>
              <a:t>例：资产规模（亿元）与资本充足率（</a:t>
            </a:r>
            <a:r>
              <a:rPr kumimoji="1" lang="en-US" altLang="zh-CN" sz="2000" dirty="0"/>
              <a:t>%</a:t>
            </a:r>
            <a:r>
              <a:rPr kumimoji="1" lang="zh-CN" altLang="en-US" sz="2000" dirty="0"/>
              <a:t>）需标准化后才能比较。</a:t>
            </a:r>
            <a:br>
              <a:rPr kumimoji="1" lang="zh-CN" altLang="en-US" sz="2000" dirty="0"/>
            </a:br>
            <a:r>
              <a:rPr kumimoji="1" lang="zh-CN" altLang="en-US" sz="2000" b="1" dirty="0"/>
              <a:t>常见处理：</a:t>
            </a:r>
            <a:endParaRPr kumimoji="1" lang="zh-CN" alt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2000" dirty="0"/>
              <a:t>标准化：</a:t>
            </a:r>
            <a:r>
              <a:rPr kumimoji="1" lang="en-GB" altLang="zh-CN" sz="2000" dirty="0"/>
              <a:t>Z = (X−</a:t>
            </a:r>
            <a:r>
              <a:rPr kumimoji="1" lang="zh-CN" altLang="en-US" sz="2000" dirty="0"/>
              <a:t>均值</a:t>
            </a:r>
            <a:r>
              <a:rPr kumimoji="1" lang="en-US" altLang="zh-CN" sz="2000" dirty="0"/>
              <a:t>)/</a:t>
            </a:r>
            <a:r>
              <a:rPr kumimoji="1" lang="zh-CN" altLang="en-US" sz="2000" dirty="0"/>
              <a:t>标准差，用于多指标分析。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2000" dirty="0"/>
              <a:t>归一化：把数据压缩到</a:t>
            </a:r>
            <a:r>
              <a:rPr kumimoji="1" lang="en-US" altLang="zh-CN" sz="2000" dirty="0"/>
              <a:t>0–1</a:t>
            </a:r>
            <a:r>
              <a:rPr kumimoji="1" lang="zh-CN" altLang="en-US" sz="2000" dirty="0"/>
              <a:t>之间，适合可视化展示。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2000" dirty="0"/>
              <a:t>对数化：对极端差异取</a:t>
            </a:r>
            <a:r>
              <a:rPr kumimoji="1" lang="en-GB" altLang="zh-CN" sz="2000" dirty="0"/>
              <a:t>ln</a:t>
            </a:r>
            <a:r>
              <a:rPr kumimoji="1" lang="zh-CN" altLang="en-GB" sz="2000" dirty="0"/>
              <a:t>，</a:t>
            </a:r>
            <a:r>
              <a:rPr kumimoji="1" lang="zh-CN" altLang="en-US" sz="2000" dirty="0"/>
              <a:t>如</a:t>
            </a:r>
            <a:r>
              <a:rPr kumimoji="1" lang="en-GB" altLang="zh-CN" sz="2000" dirty="0"/>
              <a:t>ln(</a:t>
            </a:r>
            <a:r>
              <a:rPr kumimoji="1" lang="zh-CN" altLang="en-US" sz="2000" dirty="0"/>
              <a:t>资产规模</a:t>
            </a:r>
            <a:r>
              <a:rPr kumimoji="1" lang="en-US" altLang="zh-CN" sz="2000" dirty="0"/>
              <a:t>)</a:t>
            </a:r>
            <a:r>
              <a:rPr kumimoji="1" lang="zh-CN" altLang="en-US" sz="2000" dirty="0"/>
              <a:t>，减少偏态。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2000" dirty="0"/>
              <a:t>货币与时间统一：不同币种折算同一货币，不同频率对齐（月度或季度）。</a:t>
            </a:r>
          </a:p>
          <a:p>
            <a:pPr>
              <a:lnSpc>
                <a:spcPct val="150000"/>
              </a:lnSpc>
            </a:pPr>
            <a:endParaRPr kumimoji="1" lang="zh-CN" alt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2425" y="398145"/>
            <a:ext cx="7886700" cy="1325563"/>
          </a:xfrm>
        </p:spPr>
        <p:txBody>
          <a:bodyPr/>
          <a:lstStyle/>
          <a:p>
            <a:r>
              <a:rPr kumimoji="1" lang="zh-CN" altLang="en-US" b="1" dirty="0"/>
              <a:t>数据整合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440055" y="1768475"/>
          <a:ext cx="8075295" cy="319786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2151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7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6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操作类型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工具举例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金融应用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0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 dirty="0"/>
                        <a:t>按键合并</a:t>
                      </a:r>
                    </a:p>
                    <a:p>
                      <a:pPr>
                        <a:buNone/>
                      </a:pPr>
                      <a:r>
                        <a:rPr lang="zh-CN" altLang="en-US" sz="1875" dirty="0"/>
                        <a:t>（</a:t>
                      </a:r>
                      <a:r>
                        <a:rPr lang="en-GB" sz="1875" dirty="0"/>
                        <a:t>Join）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 dirty="0"/>
                        <a:t>公司代码、年份匹配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75"/>
                        <a:t>ESG</a:t>
                      </a:r>
                      <a:r>
                        <a:rPr lang="zh-CN" altLang="en-US" sz="1875"/>
                        <a:t>数据 </a:t>
                      </a:r>
                      <a:r>
                        <a:rPr lang="en-US" altLang="zh-CN" sz="1875"/>
                        <a:t>+ </a:t>
                      </a:r>
                      <a:r>
                        <a:rPr lang="zh-CN" altLang="en-US" sz="1875"/>
                        <a:t>债券利率数据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0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 dirty="0"/>
                        <a:t>按时间合并</a:t>
                      </a:r>
                    </a:p>
                    <a:p>
                      <a:pPr>
                        <a:buNone/>
                      </a:pPr>
                      <a:r>
                        <a:rPr lang="zh-CN" altLang="en-US" sz="1875" dirty="0"/>
                        <a:t>（</a:t>
                      </a:r>
                      <a:r>
                        <a:rPr lang="en-GB" sz="1875" dirty="0"/>
                        <a:t>Merge by Date）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 dirty="0"/>
                        <a:t>按月份</a:t>
                      </a:r>
                      <a:r>
                        <a:rPr lang="en-US" altLang="zh-CN" sz="1875" dirty="0"/>
                        <a:t>/</a:t>
                      </a:r>
                      <a:r>
                        <a:rPr lang="zh-CN" altLang="en-US" sz="1875" dirty="0"/>
                        <a:t>季度对齐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 dirty="0"/>
                        <a:t>宏观变量 </a:t>
                      </a:r>
                      <a:r>
                        <a:rPr lang="en-US" altLang="zh-CN" sz="1875" dirty="0"/>
                        <a:t>+ </a:t>
                      </a:r>
                      <a:r>
                        <a:rPr lang="zh-CN" altLang="en-US" sz="1875" dirty="0"/>
                        <a:t>企业财务数据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/>
                        <a:t>宽表转长表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 dirty="0"/>
                        <a:t>数据透视、</a:t>
                      </a:r>
                      <a:r>
                        <a:rPr lang="en-GB" sz="1875" dirty="0"/>
                        <a:t>unpivot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 dirty="0"/>
                        <a:t>面板数据结构转换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6405" y="365125"/>
            <a:ext cx="7886700" cy="1325563"/>
          </a:xfrm>
        </p:spPr>
        <p:txBody>
          <a:bodyPr/>
          <a:lstStyle/>
          <a:p>
            <a:r>
              <a:rPr kumimoji="1" lang="zh-CN" altLang="en-US" b="1" dirty="0"/>
              <a:t>思考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1180" y="1500505"/>
            <a:ext cx="7886700" cy="4351338"/>
          </a:xfrm>
        </p:spPr>
        <p:txBody>
          <a:bodyPr>
            <a:normAutofit fontScale="90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zh-CN" altLang="en-US" sz="2700" dirty="0"/>
              <a:t>“如果你要研究上市公司‘财务杠杆率与违约风险’的关系，请写出数据预处理思路。”</a:t>
            </a:r>
            <a:endParaRPr lang="en-US" altLang="zh-CN" sz="2700" dirty="0"/>
          </a:p>
          <a:p>
            <a:pPr marL="0" indent="0">
              <a:lnSpc>
                <a:spcPct val="150000"/>
              </a:lnSpc>
              <a:buNone/>
            </a:pPr>
            <a:r>
              <a:rPr sz="27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zh-CN" altLang="en-US" sz="2700" dirty="0"/>
              <a:t> </a:t>
            </a:r>
            <a:r>
              <a:rPr lang="zh-CN" altLang="en-US" sz="2700" b="1" dirty="0"/>
              <a:t>参考答案：</a:t>
            </a:r>
            <a:br>
              <a:rPr lang="zh-CN" altLang="en-US" sz="2700" dirty="0"/>
            </a:br>
            <a:r>
              <a:rPr lang="en-US" altLang="zh-CN" sz="2700" dirty="0"/>
              <a:t>1️⃣ </a:t>
            </a:r>
            <a:r>
              <a:rPr lang="zh-CN" altLang="en-US" sz="2700" dirty="0"/>
              <a:t>删除缺失负债率的公司；</a:t>
            </a:r>
            <a:br>
              <a:rPr lang="zh-CN" altLang="en-US" sz="2700" dirty="0"/>
            </a:br>
            <a:r>
              <a:rPr lang="en-US" altLang="zh-CN" sz="2700" dirty="0"/>
              <a:t>2️⃣ </a:t>
            </a:r>
            <a:r>
              <a:rPr lang="zh-CN" altLang="en-US" sz="2700" dirty="0"/>
              <a:t>对杠杆率取对数或标准化；</a:t>
            </a:r>
            <a:br>
              <a:rPr lang="zh-CN" altLang="en-US" sz="2700" dirty="0"/>
            </a:br>
            <a:r>
              <a:rPr lang="en-US" altLang="zh-CN" sz="2700" dirty="0"/>
              <a:t>3️⃣ </a:t>
            </a:r>
            <a:r>
              <a:rPr lang="zh-CN" altLang="en-US" sz="2700" dirty="0"/>
              <a:t>剔除异常样本（杠杆率</a:t>
            </a:r>
            <a:r>
              <a:rPr lang="en-US" altLang="zh-CN" sz="2700" dirty="0"/>
              <a:t>&gt;10</a:t>
            </a:r>
            <a:r>
              <a:rPr lang="zh-CN" altLang="en-US" sz="2700" dirty="0"/>
              <a:t>）；</a:t>
            </a:r>
            <a:br>
              <a:rPr lang="zh-CN" altLang="en-US" sz="2700" dirty="0"/>
            </a:br>
            <a:r>
              <a:rPr lang="en-US" altLang="zh-CN" sz="2700" dirty="0"/>
              <a:t>4️⃣ </a:t>
            </a:r>
            <a:r>
              <a:rPr lang="zh-CN" altLang="en-US" sz="2700" dirty="0"/>
              <a:t>对违约变量进行二元编码（违约</a:t>
            </a:r>
            <a:r>
              <a:rPr lang="en-US" altLang="zh-CN" sz="2700" dirty="0"/>
              <a:t>=1</a:t>
            </a:r>
            <a:r>
              <a:rPr lang="zh-CN" altLang="en-US" sz="2700" dirty="0"/>
              <a:t>，正常</a:t>
            </a:r>
            <a:r>
              <a:rPr lang="en-US" altLang="zh-CN" sz="2700" dirty="0"/>
              <a:t>=0</a:t>
            </a:r>
            <a:r>
              <a:rPr lang="zh-CN" altLang="en-US" sz="2700" dirty="0"/>
              <a:t>）；</a:t>
            </a:r>
            <a:br>
              <a:rPr lang="zh-CN" altLang="en-US" sz="2700" dirty="0"/>
            </a:br>
            <a:r>
              <a:rPr lang="en-US" altLang="zh-CN" sz="2700" dirty="0"/>
              <a:t>5️⃣ </a:t>
            </a:r>
            <a:r>
              <a:rPr lang="zh-CN" altLang="en-US" sz="2700" dirty="0"/>
              <a:t>合并公司财务与债券信用数据。</a:t>
            </a:r>
            <a:endParaRPr kumimoji="1" lang="zh-CN" altLang="en-US" sz="2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12110" y="171450"/>
            <a:ext cx="7886700" cy="1325563"/>
          </a:xfrm>
        </p:spPr>
        <p:txBody>
          <a:bodyPr/>
          <a:lstStyle/>
          <a:p>
            <a:r>
              <a:rPr lang="zh-CN" sz="3100" b="1" kern="0" spc="40" dirty="0">
                <a:solidFill>
                  <a:srgbClr val="000000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五、数据的可视化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9425" y="1060450"/>
            <a:ext cx="8134350" cy="4351655"/>
          </a:xfrm>
        </p:spPr>
        <p:txBody>
          <a:bodyPr>
            <a:no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dirty="0"/>
              <a:t>数据可视化是把抽象的数据“</a:t>
            </a:r>
            <a:r>
              <a:rPr lang="zh-CN" altLang="en-US" sz="2000" b="1" dirty="0">
                <a:solidFill>
                  <a:srgbClr val="C00000"/>
                </a:solidFill>
              </a:rPr>
              <a:t>变成能一眼看懂的图</a:t>
            </a:r>
            <a:r>
              <a:rPr lang="zh-CN" altLang="en-US" sz="2000" dirty="0"/>
              <a:t>”。它不仅是展示结果，更是“</a:t>
            </a:r>
            <a:r>
              <a:rPr lang="zh-CN" altLang="en-US" sz="2000" b="1" dirty="0">
                <a:solidFill>
                  <a:srgbClr val="C00000"/>
                </a:solidFill>
              </a:rPr>
              <a:t>让数据自己说话</a:t>
            </a:r>
            <a:r>
              <a:rPr lang="zh-CN" altLang="en-US" sz="2000" dirty="0"/>
              <a:t>”的过程。好的图形能让趋势、差异、关系变得直观，帮助我们发现潜在规律。</a:t>
            </a:r>
            <a:br>
              <a:rPr lang="zh-CN" altLang="en-US" sz="2000" dirty="0"/>
            </a:b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b="1" dirty="0"/>
              <a:t>在金融领域，可视化常用于：</a:t>
            </a:r>
          </a:p>
          <a:p>
            <a:pPr>
              <a:lnSpc>
                <a:spcPct val="130000"/>
              </a:lnSpc>
            </a:pPr>
            <a:r>
              <a:rPr lang="zh-CN" altLang="en-US" sz="1600" dirty="0"/>
              <a:t>观察股价或收益率走势；</a:t>
            </a:r>
          </a:p>
          <a:p>
            <a:pPr>
              <a:lnSpc>
                <a:spcPct val="130000"/>
              </a:lnSpc>
            </a:pPr>
            <a:r>
              <a:rPr lang="zh-CN" altLang="en-US" sz="1600" dirty="0"/>
              <a:t>比较不同资产的收益差异；</a:t>
            </a:r>
          </a:p>
          <a:p>
            <a:pPr>
              <a:lnSpc>
                <a:spcPct val="130000"/>
              </a:lnSpc>
            </a:pPr>
            <a:r>
              <a:rPr lang="zh-CN" altLang="en-US" sz="1600" dirty="0"/>
              <a:t>展示风险分布、行业占比、基金业绩等。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b="1" dirty="0"/>
              <a:t>可视化的三条原则：</a:t>
            </a:r>
          </a:p>
          <a:p>
            <a:pPr>
              <a:lnSpc>
                <a:spcPct val="120000"/>
              </a:lnSpc>
            </a:pPr>
            <a:r>
              <a:rPr lang="zh-CN" altLang="en-US" sz="1600" b="1" dirty="0"/>
              <a:t>简洁性</a:t>
            </a:r>
            <a:r>
              <a:rPr lang="en-US" altLang="zh-CN" sz="1600" dirty="0"/>
              <a:t>——</a:t>
            </a:r>
            <a:r>
              <a:rPr lang="zh-CN" altLang="en-US" sz="1600" dirty="0"/>
              <a:t>只展示最关键信息；</a:t>
            </a:r>
          </a:p>
          <a:p>
            <a:pPr>
              <a:lnSpc>
                <a:spcPct val="120000"/>
              </a:lnSpc>
            </a:pPr>
            <a:r>
              <a:rPr lang="zh-CN" altLang="en-US" sz="1600" b="1" dirty="0"/>
              <a:t>对比性</a:t>
            </a:r>
            <a:r>
              <a:rPr lang="en-US" altLang="zh-CN" sz="1600" dirty="0"/>
              <a:t>——</a:t>
            </a:r>
            <a:r>
              <a:rPr lang="zh-CN" altLang="en-US" sz="1600" dirty="0"/>
              <a:t>能看出差异；</a:t>
            </a:r>
          </a:p>
          <a:p>
            <a:pPr>
              <a:lnSpc>
                <a:spcPct val="120000"/>
              </a:lnSpc>
            </a:pPr>
            <a:r>
              <a:rPr lang="zh-CN" altLang="en-US" sz="1600" b="1" dirty="0"/>
              <a:t>逻辑性</a:t>
            </a:r>
            <a:r>
              <a:rPr lang="en-US" altLang="zh-CN" sz="1600" dirty="0"/>
              <a:t>——</a:t>
            </a:r>
            <a:r>
              <a:rPr lang="zh-CN" altLang="en-US" sz="1600" dirty="0"/>
              <a:t>图表结构要服务于结论。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5285" y="321310"/>
            <a:ext cx="7886700" cy="1325563"/>
          </a:xfrm>
        </p:spPr>
        <p:txBody>
          <a:bodyPr/>
          <a:lstStyle/>
          <a:p>
            <a:r>
              <a:rPr kumimoji="1" lang="zh-CN" altLang="en-US" b="1" dirty="0"/>
              <a:t>常见图形类型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512445" y="1322705"/>
          <a:ext cx="7935595" cy="368046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1932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7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5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4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图形类型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主要用途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数据特征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600" dirty="0"/>
                        <a:t>折线图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600" dirty="0"/>
                        <a:t>展示趋势变化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600"/>
                        <a:t>时间序列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79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600"/>
                        <a:t>柱状图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600" dirty="0"/>
                        <a:t>比较不同类别指标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600"/>
                        <a:t>截面数据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425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600" dirty="0"/>
                        <a:t>饼图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600"/>
                        <a:t>表示组成比例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600" dirty="0"/>
                        <a:t>定类数据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79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600" dirty="0"/>
                        <a:t>散点图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600"/>
                        <a:t>展示变量间关系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600" dirty="0"/>
                        <a:t>连续变量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695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600"/>
                        <a:t>箱线图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600"/>
                        <a:t>展示分布与异常值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600" dirty="0"/>
                        <a:t>风险或收益率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155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600"/>
                        <a:t>热力图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600"/>
                        <a:t>展示相关性或密度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lang="zh-CN" altLang="en-US" sz="1600" dirty="0"/>
                        <a:t>面板或矩阵数据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12445" y="5074920"/>
            <a:ext cx="8237220" cy="900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875" b="1" dirty="0">
                <a:cs typeface="华文楷体" panose="02010600040101010101" charset="-122"/>
              </a:rPr>
              <a:t>思考题</a:t>
            </a:r>
            <a:br>
              <a:rPr lang="zh-CN" altLang="en-US" sz="1875" dirty="0">
                <a:cs typeface="华文楷体" panose="02010600040101010101" charset="-122"/>
              </a:rPr>
            </a:br>
            <a:r>
              <a:rPr lang="zh-CN" altLang="en-US" sz="1875" dirty="0">
                <a:cs typeface="华文楷体" panose="02010600040101010101" charset="-122"/>
              </a:rPr>
              <a:t>如果你要展示“</a:t>
            </a:r>
            <a:r>
              <a:rPr lang="zh-CN" altLang="en-US" sz="1875" b="1" dirty="0">
                <a:solidFill>
                  <a:srgbClr val="C00000"/>
                </a:solidFill>
                <a:cs typeface="华文楷体" panose="02010600040101010101" charset="-122"/>
              </a:rPr>
              <a:t>不同评级债券的收益差异</a:t>
            </a:r>
            <a:r>
              <a:rPr lang="zh-CN" altLang="en-US" sz="1875" dirty="0">
                <a:cs typeface="华文楷体" panose="02010600040101010101" charset="-122"/>
              </a:rPr>
              <a:t>”，你会选哪种图？为什么？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5290"/>
            <a:ext cx="8575675" cy="1325880"/>
          </a:xfrm>
        </p:spPr>
        <p:txBody>
          <a:bodyPr/>
          <a:lstStyle/>
          <a:p>
            <a:r>
              <a:rPr lang="zh-CN" altLang="en-US" b="1" dirty="0"/>
              <a:t>折线图</a:t>
            </a:r>
            <a:r>
              <a:rPr lang="en-US" altLang="zh-CN" b="1" dirty="0"/>
              <a:t>——</a:t>
            </a:r>
            <a:r>
              <a:rPr lang="zh-CN" altLang="en-US" b="1" dirty="0"/>
              <a:t>时间序列分析的利器</a:t>
            </a:r>
            <a:endParaRPr kumimoji="1"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9735" y="1619885"/>
            <a:ext cx="8484870" cy="423926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sz="24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220" dirty="0"/>
              <a:t>折线图最适合展示“</a:t>
            </a:r>
            <a:r>
              <a:rPr lang="zh-CN" altLang="en-US" sz="2220" b="1" dirty="0">
                <a:solidFill>
                  <a:srgbClr val="C00000"/>
                </a:solidFill>
              </a:rPr>
              <a:t>时间序列</a:t>
            </a:r>
            <a:r>
              <a:rPr lang="zh-CN" altLang="en-US" sz="2220" dirty="0"/>
              <a:t>”数据。</a:t>
            </a:r>
            <a:br>
              <a:rPr lang="zh-CN" altLang="en-US" sz="2220" dirty="0"/>
            </a:br>
            <a:r>
              <a:rPr lang="en-US" altLang="zh-CN" sz="2220" dirty="0"/>
              <a:t>     </a:t>
            </a:r>
            <a:r>
              <a:rPr lang="zh-CN" altLang="en-US" sz="2220" dirty="0"/>
              <a:t>它能反映随时间变化的趋势、波动、周期性。</a:t>
            </a:r>
            <a:br>
              <a:rPr lang="zh-CN" altLang="en-US" sz="2220" dirty="0"/>
            </a:br>
            <a:r>
              <a:rPr lang="en-US" altLang="zh-CN" sz="2220" dirty="0"/>
              <a:t>     </a:t>
            </a:r>
            <a:r>
              <a:rPr lang="zh-CN" altLang="en-US" sz="2220" dirty="0"/>
              <a:t>在金融分析中，几乎所有的市场走势都可用折线图展示。</a:t>
            </a:r>
            <a:endParaRPr kumimoji="1" lang="en-US" altLang="zh-CN" sz="2220" dirty="0"/>
          </a:p>
          <a:p>
            <a:pPr marL="0" indent="0">
              <a:lnSpc>
                <a:spcPct val="170000"/>
              </a:lnSpc>
              <a:buNone/>
            </a:pPr>
            <a:r>
              <a:rPr sz="222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22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220" dirty="0"/>
              <a:t>例</a:t>
            </a:r>
            <a:r>
              <a:rPr lang="en-US" altLang="zh-CN" sz="2220" dirty="0"/>
              <a:t>1</a:t>
            </a:r>
            <a:r>
              <a:rPr lang="zh-CN" altLang="en-US" sz="2220" dirty="0"/>
              <a:t>：展示上证指数近</a:t>
            </a:r>
            <a:r>
              <a:rPr lang="en-US" altLang="zh-CN" sz="2220" dirty="0"/>
              <a:t>10</a:t>
            </a:r>
            <a:r>
              <a:rPr lang="zh-CN" altLang="en-US" sz="2220" dirty="0"/>
              <a:t>年的收盘价变化，可观察到牛熊转换区间。</a:t>
            </a:r>
            <a:br>
              <a:rPr lang="zh-CN" altLang="en-US" sz="2220" dirty="0"/>
            </a:br>
            <a:r>
              <a:rPr lang="en-US" altLang="zh-CN" sz="2220" dirty="0"/>
              <a:t>    </a:t>
            </a:r>
            <a:r>
              <a:rPr lang="zh-CN" altLang="en-US" sz="2220" dirty="0"/>
              <a:t>例</a:t>
            </a:r>
            <a:r>
              <a:rPr lang="en-US" altLang="zh-CN" sz="2220" dirty="0"/>
              <a:t>2</a:t>
            </a:r>
            <a:r>
              <a:rPr lang="zh-CN" altLang="en-US" sz="2220" dirty="0"/>
              <a:t>：展示人民币汇率走势，帮助分析政策与汇率联动。</a:t>
            </a:r>
            <a:br>
              <a:rPr lang="zh-CN" altLang="en-US" sz="2220" dirty="0"/>
            </a:br>
            <a:r>
              <a:rPr lang="en-US" altLang="zh-CN" sz="2220" dirty="0"/>
              <a:t>    </a:t>
            </a:r>
            <a:r>
              <a:rPr lang="zh-CN" altLang="en-US" sz="2220" dirty="0"/>
              <a:t>例</a:t>
            </a:r>
            <a:r>
              <a:rPr lang="en-US" altLang="zh-CN" sz="2220" dirty="0"/>
              <a:t>3</a:t>
            </a:r>
            <a:r>
              <a:rPr lang="zh-CN" altLang="en-US" sz="2220" dirty="0"/>
              <a:t>：绘制三支基金月度收益率折线图，可看出哪支更稳定。</a:t>
            </a:r>
            <a:endParaRPr kumimoji="1" lang="zh-CN" altLang="en-US" sz="222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8140" y="365125"/>
            <a:ext cx="7886700" cy="1325563"/>
          </a:xfrm>
        </p:spPr>
        <p:txBody>
          <a:bodyPr/>
          <a:lstStyle/>
          <a:p>
            <a:r>
              <a:rPr lang="zh-CN" altLang="en-US" b="1" dirty="0"/>
              <a:t>柱状图与饼图</a:t>
            </a:r>
            <a:r>
              <a:rPr lang="en-US" altLang="zh-CN" b="1" dirty="0"/>
              <a:t>——</a:t>
            </a:r>
            <a:r>
              <a:rPr lang="zh-CN" altLang="en-US" b="1" dirty="0"/>
              <a:t>结构与比较</a:t>
            </a:r>
            <a:endParaRPr kumimoji="1"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4635" y="1487805"/>
            <a:ext cx="9666605" cy="4409440"/>
          </a:xfrm>
        </p:spPr>
        <p:txBody>
          <a:bodyPr>
            <a:no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dirty="0"/>
              <a:t>柱状图适合展示</a:t>
            </a:r>
            <a:r>
              <a:rPr lang="zh-CN" altLang="en-US" sz="2000" b="1" dirty="0">
                <a:solidFill>
                  <a:srgbClr val="C00000"/>
                </a:solidFill>
              </a:rPr>
              <a:t>不同类别指标</a:t>
            </a:r>
            <a:r>
              <a:rPr lang="zh-CN" altLang="en-US" sz="2000" dirty="0"/>
              <a:t>的大小比较；</a:t>
            </a:r>
            <a:br>
              <a:rPr lang="zh-CN" altLang="en-US" sz="2000" dirty="0"/>
            </a:br>
            <a:r>
              <a:rPr lang="en-US" altLang="zh-CN" sz="2000" dirty="0"/>
              <a:t>     </a:t>
            </a:r>
            <a:r>
              <a:rPr lang="zh-CN" altLang="en-US" sz="2000" dirty="0"/>
              <a:t>饼图则展示</a:t>
            </a:r>
            <a:r>
              <a:rPr lang="zh-CN" altLang="en-US" sz="2000" b="1" dirty="0">
                <a:solidFill>
                  <a:srgbClr val="C00000"/>
                </a:solidFill>
              </a:rPr>
              <a:t>各部分在总体中的比例</a:t>
            </a:r>
            <a:r>
              <a:rPr lang="zh-CN" altLang="en-US" sz="2000" dirty="0"/>
              <a:t>。</a:t>
            </a:r>
            <a:br>
              <a:rPr lang="zh-CN" altLang="en-US" sz="2000" dirty="0"/>
            </a:br>
            <a:r>
              <a:rPr lang="en-US" altLang="zh-CN" sz="2000" dirty="0"/>
              <a:t>     </a:t>
            </a:r>
            <a:r>
              <a:rPr lang="zh-CN" altLang="en-US" sz="2000" dirty="0"/>
              <a:t>这两种图形都属于“结构型可视化”，常用于金融报告或投资说明书。</a:t>
            </a:r>
            <a:endParaRPr kumimoji="1" lang="en-US" altLang="zh-CN" sz="2000" dirty="0"/>
          </a:p>
          <a:p>
            <a:pPr marL="0" indent="0">
              <a:lnSpc>
                <a:spcPct val="16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b="1" dirty="0"/>
              <a:t>金融案例举例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柱状图</a:t>
            </a:r>
            <a:r>
              <a:rPr lang="zh-CN" altLang="en-US" sz="2000" dirty="0"/>
              <a:t>：比较五家银行的资本充足率、</a:t>
            </a:r>
            <a:r>
              <a:rPr lang="en-GB" altLang="zh-CN" sz="2000" dirty="0"/>
              <a:t>ROE</a:t>
            </a:r>
            <a:r>
              <a:rPr lang="zh-CN" altLang="en-GB" sz="2000" dirty="0"/>
              <a:t>。</a:t>
            </a:r>
            <a:br>
              <a:rPr lang="zh-CN" altLang="en-GB" sz="2000" dirty="0"/>
            </a:br>
            <a:r>
              <a:rPr lang="en-US" altLang="zh-CN" sz="2000" dirty="0"/>
              <a:t>                  </a:t>
            </a:r>
            <a:r>
              <a:rPr lang="zh-CN" altLang="en-US" sz="2000" dirty="0"/>
              <a:t>若想显示年度变化，可用分组柱状图。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饼图</a:t>
            </a:r>
            <a:r>
              <a:rPr lang="zh-CN" altLang="en-US" sz="2000" dirty="0"/>
              <a:t>：展示基金的行业分布，如制造业</a:t>
            </a:r>
            <a:r>
              <a:rPr lang="en-US" altLang="zh-CN" sz="2000" dirty="0"/>
              <a:t>30%</a:t>
            </a:r>
            <a:r>
              <a:rPr lang="zh-CN" altLang="en-US" sz="2000" dirty="0"/>
              <a:t>、信息技术</a:t>
            </a:r>
            <a:r>
              <a:rPr lang="en-US" altLang="zh-CN" sz="2000" dirty="0"/>
              <a:t>25%</a:t>
            </a:r>
            <a:r>
              <a:rPr lang="zh-CN" altLang="en-US" sz="2000" dirty="0"/>
              <a:t>、金融业</a:t>
            </a:r>
            <a:r>
              <a:rPr lang="en-US" altLang="zh-CN" sz="2000" dirty="0"/>
              <a:t>20%</a:t>
            </a:r>
            <a:r>
              <a:rPr lang="zh-CN" altLang="en-US" sz="2000" dirty="0"/>
              <a:t>等。</a:t>
            </a:r>
            <a:br>
              <a:rPr lang="zh-CN" altLang="en-US" sz="2000" dirty="0"/>
            </a:br>
            <a:r>
              <a:rPr lang="en-US" altLang="zh-CN" sz="2000" dirty="0"/>
              <a:t>             </a:t>
            </a:r>
            <a:r>
              <a:rPr lang="zh-CN" altLang="en-US" sz="2000" dirty="0"/>
              <a:t>若想比较不同年份的变化，可用多个饼图并列。</a:t>
            </a:r>
          </a:p>
          <a:p>
            <a:pPr>
              <a:lnSpc>
                <a:spcPct val="150000"/>
              </a:lnSpc>
            </a:pPr>
            <a:endParaRPr kumimoji="1" lang="zh-CN" alt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160" y="365125"/>
            <a:ext cx="9739630" cy="1325880"/>
          </a:xfrm>
        </p:spPr>
        <p:txBody>
          <a:bodyPr/>
          <a:lstStyle/>
          <a:p>
            <a:r>
              <a:rPr lang="zh-CN" altLang="en-US" b="1" dirty="0"/>
              <a:t>散点图与箱线图</a:t>
            </a:r>
            <a:r>
              <a:rPr lang="en-US" altLang="zh-CN" b="1" dirty="0"/>
              <a:t>——</a:t>
            </a:r>
            <a:r>
              <a:rPr lang="zh-CN" altLang="en-US" b="1" dirty="0"/>
              <a:t>风险与关系分析</a:t>
            </a:r>
            <a:endParaRPr kumimoji="1"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0385" y="1471930"/>
            <a:ext cx="78867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dirty="0"/>
              <a:t>散点图用于展示</a:t>
            </a:r>
            <a:r>
              <a:rPr lang="zh-CN" altLang="en-US" sz="2000" b="1" dirty="0">
                <a:solidFill>
                  <a:srgbClr val="C00000"/>
                </a:solidFill>
              </a:rPr>
              <a:t>两个变量之间</a:t>
            </a:r>
            <a:r>
              <a:rPr lang="zh-CN" altLang="en-US" sz="2000" dirty="0"/>
              <a:t>的关系；</a:t>
            </a:r>
            <a:br>
              <a:rPr lang="zh-CN" altLang="en-US" sz="2000" dirty="0"/>
            </a:br>
            <a:r>
              <a:rPr lang="en-US" altLang="zh-CN" sz="2000" dirty="0"/>
              <a:t>    </a:t>
            </a:r>
            <a:r>
              <a:rPr lang="zh-CN" altLang="en-US" sz="2000" dirty="0"/>
              <a:t>箱线图用于显示</a:t>
            </a:r>
            <a:r>
              <a:rPr lang="zh-CN" altLang="en-US" sz="2000" b="1" dirty="0">
                <a:solidFill>
                  <a:srgbClr val="C00000"/>
                </a:solidFill>
              </a:rPr>
              <a:t>数据的分布特征及异常值</a:t>
            </a:r>
            <a:r>
              <a:rPr lang="zh-CN" altLang="en-US" sz="2000" dirty="0">
                <a:sym typeface="+mn-ea"/>
              </a:rPr>
              <a:t>；</a:t>
            </a:r>
            <a:endParaRPr lang="zh-CN" alt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zh-CN" altLang="en-US" sz="2000" dirty="0"/>
              <a:t> </a:t>
            </a:r>
            <a:r>
              <a:rPr lang="en-US" altLang="zh-CN" sz="2000" dirty="0"/>
              <a:t>  </a:t>
            </a:r>
            <a:r>
              <a:rPr lang="zh-CN" altLang="en-US" sz="2000" i="1" u="sng" dirty="0"/>
              <a:t>在金融中，它们是风险分析与关系研究的主要工具。</a:t>
            </a:r>
            <a:endParaRPr kumimoji="1" lang="en-US" altLang="zh-CN" sz="2000" i="1" u="sng" dirty="0"/>
          </a:p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zh-CN" altLang="en-US" sz="2000" dirty="0"/>
              <a:t> </a:t>
            </a:r>
            <a:r>
              <a:rPr lang="zh-CN" altLang="en-US" sz="2000" b="1" dirty="0"/>
              <a:t>金融案例举例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散点图</a:t>
            </a:r>
            <a:r>
              <a:rPr lang="zh-CN" altLang="en-US" sz="2000" dirty="0"/>
              <a:t>：以收益率为纵轴、波动率为横轴，观察投资组合的风险收益关系。点越集中在右上方，说明高风险高收益。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箱线图</a:t>
            </a:r>
            <a:r>
              <a:rPr lang="zh-CN" altLang="en-US" sz="2000" dirty="0"/>
              <a:t>：展示不同行业股票的收益率分布，</a:t>
            </a:r>
            <a:br>
              <a:rPr lang="zh-CN" altLang="en-US" sz="2000" dirty="0"/>
            </a:br>
            <a:r>
              <a:rPr lang="zh-CN" altLang="en-US" sz="2000" dirty="0"/>
              <a:t>箱体高度表示波动范围，点状部分表示极端收益。</a:t>
            </a:r>
            <a:br>
              <a:rPr lang="zh-CN" altLang="en-US" sz="2000" dirty="0"/>
            </a:br>
            <a:r>
              <a:rPr lang="zh-CN" altLang="en-US" sz="2000" dirty="0"/>
              <a:t>银行业箱体窄、异常点少，说明波动较小。</a:t>
            </a:r>
          </a:p>
          <a:p>
            <a:endParaRPr kumimoji="1" lang="zh-CN" alt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243330" y="698500"/>
            <a:ext cx="7379335" cy="800100"/>
          </a:xfrm>
        </p:spPr>
        <p:txBody>
          <a:bodyPr vert="horz" wrap="square" lIns="67866" tIns="33337" rIns="67866" bIns="33337" numCol="1" rtlCol="0" anchor="ctr" anchorCtr="1" compatLnSpc="1">
            <a:normAutofit fontScale="90000"/>
          </a:bodyPr>
          <a:lstStyle/>
          <a:p>
            <a:pPr algn="ctr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lang="zh-CN" altLang="en-US" sz="4400" b="1" dirty="0"/>
              <a:t>未分组数据—箱线图(Box plot)</a:t>
            </a:r>
            <a:br>
              <a:rPr lang="zh-CN" altLang="en-US" sz="4400" b="1" dirty="0"/>
            </a:br>
            <a:r>
              <a:rPr lang="zh-CN" altLang="en-US" sz="4400" b="1" dirty="0"/>
              <a:t>（箱线图的制作）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idx="1"/>
          </p:nvPr>
        </p:nvSpPr>
        <p:spPr>
          <a:xfrm>
            <a:off x="664210" y="2004695"/>
            <a:ext cx="7807325" cy="3538855"/>
          </a:xfrm>
        </p:spPr>
        <p:txBody>
          <a:bodyPr vert="horz" wrap="square" lIns="67866" tIns="33337" rIns="67866" bIns="33337" numCol="1" rtlCol="0" anchor="t" anchorCtr="0" compatLnSpc="1">
            <a:noAutofit/>
          </a:bodyPr>
          <a:lstStyle/>
          <a:p>
            <a:pPr marL="0" indent="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Tx/>
              <a:buNone/>
              <a:defRPr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2000" dirty="0"/>
              <a:t>用于显示未分组的原始数据或分组数据的分布。</a:t>
            </a:r>
          </a:p>
          <a:p>
            <a:pPr marL="0" indent="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Tx/>
              <a:buNone/>
              <a:defRPr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2000" dirty="0"/>
              <a:t>箱线图由一组数据的</a:t>
            </a:r>
            <a:r>
              <a:rPr kumimoji="1" lang="en-US" altLang="zh-CN" sz="2000" dirty="0"/>
              <a:t>5</a:t>
            </a:r>
            <a:r>
              <a:rPr kumimoji="1" lang="zh-CN" altLang="en-US" sz="2000" dirty="0"/>
              <a:t>个特征值绘制而成，它由一个箱子和两条线段组成。</a:t>
            </a:r>
          </a:p>
          <a:p>
            <a:pPr marL="0" indent="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Tx/>
              <a:buNone/>
              <a:defRPr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2000" dirty="0"/>
              <a:t>其绘制方法是：</a:t>
            </a:r>
          </a:p>
          <a:p>
            <a:pPr marL="0" indent="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Tx/>
              <a:buNone/>
              <a:defRPr/>
            </a:pPr>
            <a:r>
              <a:rPr kumimoji="1" lang="zh-CN" altLang="en-US" sz="2000" dirty="0"/>
              <a:t> </a:t>
            </a:r>
            <a:r>
              <a:rPr kumimoji="1" lang="en-US" altLang="zh-CN" sz="2000" dirty="0"/>
              <a:t>   </a:t>
            </a:r>
            <a:r>
              <a:rPr kumimoji="1" lang="en-US" altLang="zh-CN" sz="1800" dirty="0"/>
              <a:t> </a:t>
            </a:r>
            <a:r>
              <a:rPr kumimoji="1" lang="zh-CN" altLang="en-US" sz="1800" dirty="0"/>
              <a:t>首先找出一组数据的</a:t>
            </a:r>
            <a:r>
              <a:rPr kumimoji="1" lang="en-US" altLang="zh-CN" sz="1800" dirty="0"/>
              <a:t>5</a:t>
            </a:r>
            <a:r>
              <a:rPr kumimoji="1" lang="zh-CN" altLang="en-US" sz="1800" dirty="0"/>
              <a:t>个特征值，即</a:t>
            </a:r>
            <a:r>
              <a:rPr kumimoji="1" lang="zh-CN" altLang="en-US" sz="1800" b="1" dirty="0">
                <a:solidFill>
                  <a:srgbClr val="C00000"/>
                </a:solidFill>
              </a:rPr>
              <a:t>最大值、最小值、中位数和两个四分</a:t>
            </a:r>
            <a:r>
              <a:rPr kumimoji="1" lang="en-US" altLang="zh-CN" sz="1800" b="1" dirty="0">
                <a:solidFill>
                  <a:srgbClr val="C00000"/>
                </a:solidFill>
              </a:rPr>
              <a:t>  </a:t>
            </a:r>
          </a:p>
          <a:p>
            <a:pPr marL="0" indent="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Tx/>
              <a:buNone/>
              <a:defRPr/>
            </a:pPr>
            <a:r>
              <a:rPr kumimoji="1" lang="en-US" altLang="zh-CN" sz="1800" b="1" dirty="0">
                <a:solidFill>
                  <a:srgbClr val="C00000"/>
                </a:solidFill>
              </a:rPr>
              <a:t>     </a:t>
            </a:r>
            <a:r>
              <a:rPr kumimoji="1" lang="zh-CN" altLang="en-US" sz="1800" b="1" dirty="0">
                <a:solidFill>
                  <a:srgbClr val="C00000"/>
                </a:solidFill>
              </a:rPr>
              <a:t>位数</a:t>
            </a:r>
            <a:r>
              <a:rPr kumimoji="1" lang="en-US" altLang="zh-CN" sz="1800" dirty="0"/>
              <a:t>(</a:t>
            </a:r>
            <a:r>
              <a:rPr kumimoji="1" lang="zh-CN" altLang="en-US" sz="1800" dirty="0"/>
              <a:t>下四分位数</a:t>
            </a:r>
            <a:r>
              <a:rPr kumimoji="1" lang="en-US" altLang="zh-CN" sz="1800" dirty="0"/>
              <a:t>Q</a:t>
            </a:r>
            <a:r>
              <a:rPr kumimoji="1" lang="en-US" altLang="zh-CN" sz="1800" baseline="-25000" dirty="0"/>
              <a:t>L</a:t>
            </a:r>
            <a:r>
              <a:rPr kumimoji="1" lang="zh-CN" altLang="en-US" sz="1800" dirty="0"/>
              <a:t>和上四分位数</a:t>
            </a:r>
            <a:r>
              <a:rPr kumimoji="1" lang="en-US" altLang="zh-CN" sz="1800" dirty="0"/>
              <a:t>Q</a:t>
            </a:r>
            <a:r>
              <a:rPr kumimoji="1" lang="en-US" altLang="zh-CN" sz="1800" baseline="-25000" dirty="0"/>
              <a:t>U</a:t>
            </a:r>
            <a:r>
              <a:rPr kumimoji="1" lang="zh-CN" altLang="en-US" sz="1800" dirty="0"/>
              <a:t>）。</a:t>
            </a:r>
          </a:p>
          <a:p>
            <a:pPr marL="0" indent="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Tx/>
              <a:buNone/>
              <a:defRPr/>
            </a:pPr>
            <a:r>
              <a:rPr kumimoji="1" lang="zh-CN" altLang="en-US" sz="1800" dirty="0"/>
              <a:t> </a:t>
            </a:r>
            <a:r>
              <a:rPr kumimoji="1" lang="en-US" altLang="zh-CN" sz="1800" dirty="0"/>
              <a:t>    </a:t>
            </a:r>
            <a:r>
              <a:rPr kumimoji="1" lang="zh-CN" altLang="en-US" sz="1800" dirty="0"/>
              <a:t>连接两个四分（位）数画出箱子，再将两个极值点与箱子相连接 。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1153795" y="813435"/>
            <a:ext cx="7352030" cy="742950"/>
          </a:xfrm>
        </p:spPr>
        <p:txBody>
          <a:bodyPr vert="horz" wrap="square" lIns="67866" tIns="33337" rIns="67866" bIns="33337" numCol="1" rtlCol="0" anchor="ctr" anchorCtr="1" compatLnSpc="1">
            <a:normAutofit fontScale="90000"/>
          </a:bodyPr>
          <a:lstStyle/>
          <a:p>
            <a:pPr algn="ctr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lang="zh-CN" altLang="en-US" sz="4400" b="1" dirty="0"/>
              <a:t>未分组数据—单批数据箱线图</a:t>
            </a:r>
            <a:br>
              <a:rPr lang="zh-CN" altLang="en-US" sz="4400" b="1" dirty="0"/>
            </a:br>
            <a:r>
              <a:rPr lang="zh-CN" altLang="en-US" sz="4400" b="1" dirty="0"/>
              <a:t>（箱线图的构成）</a:t>
            </a:r>
          </a:p>
        </p:txBody>
      </p:sp>
      <p:grpSp>
        <p:nvGrpSpPr>
          <p:cNvPr id="57347" name="Group 3"/>
          <p:cNvGrpSpPr/>
          <p:nvPr/>
        </p:nvGrpSpPr>
        <p:grpSpPr>
          <a:xfrm>
            <a:off x="2286001" y="2800350"/>
            <a:ext cx="4822031" cy="2311003"/>
            <a:chOff x="960" y="1632"/>
            <a:chExt cx="4050" cy="1941"/>
          </a:xfrm>
        </p:grpSpPr>
        <p:sp>
          <p:nvSpPr>
            <p:cNvPr id="57348" name="Line 4"/>
            <p:cNvSpPr/>
            <p:nvPr/>
          </p:nvSpPr>
          <p:spPr>
            <a:xfrm flipV="1">
              <a:off x="1056" y="2734"/>
              <a:ext cx="3691" cy="2"/>
            </a:xfrm>
            <a:prstGeom prst="line">
              <a:avLst/>
            </a:prstGeom>
            <a:ln w="25400" cap="flat" cmpd="sng">
              <a:solidFill>
                <a:srgbClr val="CDCDCD"/>
              </a:solidFill>
              <a:prstDash val="solid"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</p:sp>
        <p:sp>
          <p:nvSpPr>
            <p:cNvPr id="57349" name="Freeform 5"/>
            <p:cNvSpPr/>
            <p:nvPr/>
          </p:nvSpPr>
          <p:spPr>
            <a:xfrm>
              <a:off x="4755" y="2694"/>
              <a:ext cx="78" cy="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7" y="37"/>
                </a:cxn>
                <a:cxn ang="0">
                  <a:pos x="0" y="76"/>
                </a:cxn>
                <a:cxn ang="0">
                  <a:pos x="0" y="0"/>
                </a:cxn>
              </a:cxnLst>
              <a:rect l="0" t="0" r="0" b="0"/>
              <a:pathLst>
                <a:path w="78" h="77">
                  <a:moveTo>
                    <a:pt x="0" y="0"/>
                  </a:moveTo>
                  <a:lnTo>
                    <a:pt x="77" y="37"/>
                  </a:lnTo>
                  <a:lnTo>
                    <a:pt x="0" y="76"/>
                  </a:lnTo>
                  <a:lnTo>
                    <a:pt x="0" y="0"/>
                  </a:lnTo>
                </a:path>
              </a:pathLst>
            </a:custGeom>
            <a:solidFill>
              <a:srgbClr val="CDCDCD">
                <a:alpha val="100000"/>
              </a:srgbClr>
            </a:solidFill>
            <a:ln w="12700">
              <a:noFill/>
            </a:ln>
            <a:effectLst>
              <a:outerShdw dist="35921" dir="2699999" algn="ctr" rotWithShape="0">
                <a:schemeClr val="bg2">
                  <a:alpha val="100000"/>
                </a:schemeClr>
              </a:outerShdw>
            </a:effectLst>
          </p:spPr>
          <p:txBody>
            <a:bodyPr/>
            <a:lstStyle/>
            <a:p>
              <a:endParaRPr lang="zh-CN" altLang="en-US" sz="1350">
                <a:cs typeface="华文楷体" panose="02010600040101010101" charset="-122"/>
              </a:endParaRPr>
            </a:p>
          </p:txBody>
        </p:sp>
        <p:sp>
          <p:nvSpPr>
            <p:cNvPr id="57350" name="Rectangle 6"/>
            <p:cNvSpPr/>
            <p:nvPr/>
          </p:nvSpPr>
          <p:spPr>
            <a:xfrm>
              <a:off x="2839" y="2817"/>
              <a:ext cx="116" cy="58"/>
            </a:xfrm>
            <a:prstGeom prst="rect">
              <a:avLst/>
            </a:prstGeom>
            <a:noFill/>
            <a:ln w="12700">
              <a:noFill/>
            </a:ln>
            <a:effectLst>
              <a:outerShdw dist="17961" dir="2699999" algn="ctr" rotWithShape="0">
                <a:schemeClr val="bg2"/>
              </a:outerShdw>
            </a:effectLst>
          </p:spPr>
          <p:txBody>
            <a:bodyPr wrap="none" anchor="ctr" anchorCtr="0"/>
            <a:lstStyle/>
            <a:p>
              <a:pPr>
                <a:buNone/>
              </a:pPr>
              <a:endParaRPr lang="zh-CN" altLang="en-US" sz="1350" dirty="0">
                <a:latin typeface="Garamond" panose="02020404030301010803" pitchFamily="18" charset="0"/>
                <a:cs typeface="华文楷体" panose="02010600040101010101" charset="-122"/>
              </a:endParaRPr>
            </a:p>
          </p:txBody>
        </p:sp>
        <p:sp>
          <p:nvSpPr>
            <p:cNvPr id="104455" name="Rectangle 7"/>
            <p:cNvSpPr>
              <a:spLocks noChangeArrowheads="1"/>
            </p:cNvSpPr>
            <p:nvPr/>
          </p:nvSpPr>
          <p:spPr bwMode="auto">
            <a:xfrm>
              <a:off x="2363" y="1632"/>
              <a:ext cx="881" cy="365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67866" tIns="33337" rIns="67866" bIns="33337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sz="240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中位数</a:t>
              </a:r>
            </a:p>
          </p:txBody>
        </p:sp>
        <p:sp>
          <p:nvSpPr>
            <p:cNvPr id="104456" name="Rectangle 8"/>
            <p:cNvSpPr>
              <a:spLocks noChangeArrowheads="1"/>
            </p:cNvSpPr>
            <p:nvPr/>
          </p:nvSpPr>
          <p:spPr bwMode="auto">
            <a:xfrm>
              <a:off x="1091" y="2781"/>
              <a:ext cx="260" cy="375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67866" tIns="33337" rIns="67866" bIns="33337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475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4</a:t>
              </a:r>
            </a:p>
          </p:txBody>
        </p:sp>
        <p:sp>
          <p:nvSpPr>
            <p:cNvPr id="104457" name="Rectangle 9"/>
            <p:cNvSpPr>
              <a:spLocks noChangeArrowheads="1"/>
            </p:cNvSpPr>
            <p:nvPr/>
          </p:nvSpPr>
          <p:spPr bwMode="auto">
            <a:xfrm>
              <a:off x="1807" y="2781"/>
              <a:ext cx="260" cy="375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67866" tIns="33337" rIns="67866" bIns="33337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475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6</a:t>
              </a:r>
            </a:p>
          </p:txBody>
        </p:sp>
        <p:sp>
          <p:nvSpPr>
            <p:cNvPr id="104458" name="Rectangle 10"/>
            <p:cNvSpPr>
              <a:spLocks noChangeArrowheads="1"/>
            </p:cNvSpPr>
            <p:nvPr/>
          </p:nvSpPr>
          <p:spPr bwMode="auto">
            <a:xfrm>
              <a:off x="2599" y="2781"/>
              <a:ext cx="260" cy="375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67866" tIns="33337" rIns="67866" bIns="33337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475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8</a:t>
              </a:r>
            </a:p>
          </p:txBody>
        </p:sp>
        <p:sp>
          <p:nvSpPr>
            <p:cNvPr id="104459" name="Rectangle 11"/>
            <p:cNvSpPr>
              <a:spLocks noChangeArrowheads="1"/>
            </p:cNvSpPr>
            <p:nvPr/>
          </p:nvSpPr>
          <p:spPr bwMode="auto">
            <a:xfrm>
              <a:off x="3317" y="2781"/>
              <a:ext cx="407" cy="375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67866" tIns="33337" rIns="67866" bIns="33337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475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10</a:t>
              </a:r>
            </a:p>
          </p:txBody>
        </p:sp>
        <p:sp>
          <p:nvSpPr>
            <p:cNvPr id="104460" name="Rectangle 12"/>
            <p:cNvSpPr>
              <a:spLocks noChangeArrowheads="1"/>
            </p:cNvSpPr>
            <p:nvPr/>
          </p:nvSpPr>
          <p:spPr bwMode="auto">
            <a:xfrm>
              <a:off x="4176" y="2784"/>
              <a:ext cx="407" cy="375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lIns="67866" tIns="33337" rIns="67866" bIns="33337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475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12</a:t>
              </a:r>
            </a:p>
          </p:txBody>
        </p:sp>
        <p:sp>
          <p:nvSpPr>
            <p:cNvPr id="57357" name="Freeform 13"/>
            <p:cNvSpPr/>
            <p:nvPr/>
          </p:nvSpPr>
          <p:spPr>
            <a:xfrm>
              <a:off x="2067" y="2101"/>
              <a:ext cx="1585" cy="318"/>
            </a:xfrm>
            <a:custGeom>
              <a:avLst/>
              <a:gdLst/>
              <a:ahLst/>
              <a:cxnLst>
                <a:cxn ang="0">
                  <a:pos x="0" y="317"/>
                </a:cxn>
                <a:cxn ang="0">
                  <a:pos x="1584" y="317"/>
                </a:cxn>
                <a:cxn ang="0">
                  <a:pos x="1584" y="0"/>
                </a:cxn>
                <a:cxn ang="0">
                  <a:pos x="0" y="0"/>
                </a:cxn>
                <a:cxn ang="0">
                  <a:pos x="0" y="317"/>
                </a:cxn>
              </a:cxnLst>
              <a:rect l="0" t="0" r="0" b="0"/>
              <a:pathLst>
                <a:path w="1585" h="318">
                  <a:moveTo>
                    <a:pt x="0" y="317"/>
                  </a:moveTo>
                  <a:lnTo>
                    <a:pt x="1584" y="317"/>
                  </a:lnTo>
                  <a:lnTo>
                    <a:pt x="1584" y="0"/>
                  </a:lnTo>
                  <a:lnTo>
                    <a:pt x="0" y="0"/>
                  </a:lnTo>
                  <a:lnTo>
                    <a:pt x="0" y="317"/>
                  </a:lnTo>
                </a:path>
              </a:pathLst>
            </a:custGeom>
            <a:solidFill>
              <a:schemeClr val="accent1">
                <a:alpha val="100000"/>
              </a:schemeClr>
            </a:solidFill>
            <a:ln w="38100" cap="rnd" cmpd="sng">
              <a:solidFill>
                <a:srgbClr val="11F6F1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>
                  <a:alpha val="100000"/>
                </a:schemeClr>
              </a:outerShdw>
            </a:effectLst>
          </p:spPr>
          <p:txBody>
            <a:bodyPr/>
            <a:lstStyle/>
            <a:p>
              <a:endParaRPr lang="zh-CN" altLang="en-US" sz="1350">
                <a:cs typeface="华文楷体" panose="02010600040101010101" charset="-122"/>
              </a:endParaRPr>
            </a:p>
          </p:txBody>
        </p:sp>
        <p:sp>
          <p:nvSpPr>
            <p:cNvPr id="57358" name="Line 14"/>
            <p:cNvSpPr/>
            <p:nvPr/>
          </p:nvSpPr>
          <p:spPr>
            <a:xfrm>
              <a:off x="3655" y="2259"/>
              <a:ext cx="585" cy="0"/>
            </a:xfrm>
            <a:prstGeom prst="line">
              <a:avLst/>
            </a:prstGeom>
            <a:ln w="38100" cap="flat" cmpd="sng">
              <a:solidFill>
                <a:srgbClr val="11F6F1"/>
              </a:solidFill>
              <a:prstDash val="solid"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</p:sp>
        <p:sp>
          <p:nvSpPr>
            <p:cNvPr id="57359" name="Line 15"/>
            <p:cNvSpPr/>
            <p:nvPr/>
          </p:nvSpPr>
          <p:spPr>
            <a:xfrm>
              <a:off x="1437" y="2259"/>
              <a:ext cx="626" cy="0"/>
            </a:xfrm>
            <a:prstGeom prst="line">
              <a:avLst/>
            </a:prstGeom>
            <a:ln w="38100" cap="flat" cmpd="sng">
              <a:solidFill>
                <a:srgbClr val="11F6F1"/>
              </a:solidFill>
              <a:prstDash val="solid"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</p:sp>
        <p:sp>
          <p:nvSpPr>
            <p:cNvPr id="57360" name="Line 16"/>
            <p:cNvSpPr/>
            <p:nvPr/>
          </p:nvSpPr>
          <p:spPr>
            <a:xfrm flipV="1">
              <a:off x="4234" y="2087"/>
              <a:ext cx="0" cy="325"/>
            </a:xfrm>
            <a:prstGeom prst="line">
              <a:avLst/>
            </a:prstGeom>
            <a:ln w="38100" cap="flat" cmpd="sng">
              <a:solidFill>
                <a:srgbClr val="11F6F1"/>
              </a:solidFill>
              <a:prstDash val="solid"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</p:sp>
        <p:sp>
          <p:nvSpPr>
            <p:cNvPr id="57361" name="Line 17"/>
            <p:cNvSpPr/>
            <p:nvPr/>
          </p:nvSpPr>
          <p:spPr>
            <a:xfrm flipV="1">
              <a:off x="1433" y="2097"/>
              <a:ext cx="0" cy="325"/>
            </a:xfrm>
            <a:prstGeom prst="line">
              <a:avLst/>
            </a:prstGeom>
            <a:ln w="38100" cap="flat" cmpd="sng">
              <a:solidFill>
                <a:srgbClr val="11F6F1"/>
              </a:solidFill>
              <a:prstDash val="solid"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</p:sp>
        <p:grpSp>
          <p:nvGrpSpPr>
            <p:cNvPr id="57362" name="Group 18"/>
            <p:cNvGrpSpPr/>
            <p:nvPr/>
          </p:nvGrpSpPr>
          <p:grpSpPr>
            <a:xfrm>
              <a:off x="3438" y="1632"/>
              <a:ext cx="434" cy="418"/>
              <a:chOff x="3236" y="2185"/>
              <a:chExt cx="434" cy="418"/>
            </a:xfrm>
          </p:grpSpPr>
          <p:sp>
            <p:nvSpPr>
              <p:cNvPr id="104467" name="Rectangle 19"/>
              <p:cNvSpPr>
                <a:spLocks noChangeArrowheads="1"/>
              </p:cNvSpPr>
              <p:nvPr/>
            </p:nvSpPr>
            <p:spPr bwMode="auto">
              <a:xfrm>
                <a:off x="3236" y="2185"/>
                <a:ext cx="312" cy="365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lIns="67866" tIns="33337" rIns="67866" bIns="33337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2400" i="1">
                    <a:solidFill>
                      <a:schemeClr val="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Q</a:t>
                </a:r>
              </a:p>
            </p:txBody>
          </p:sp>
          <p:sp>
            <p:nvSpPr>
              <p:cNvPr id="104468" name="Rectangle 20"/>
              <p:cNvSpPr>
                <a:spLocks noChangeArrowheads="1"/>
              </p:cNvSpPr>
              <p:nvPr/>
            </p:nvSpPr>
            <p:spPr bwMode="auto">
              <a:xfrm>
                <a:off x="3441" y="2354"/>
                <a:ext cx="229" cy="249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lIns="67866" tIns="33337" rIns="67866" bIns="33337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1500">
                    <a:solidFill>
                      <a:schemeClr val="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U</a:t>
                </a:r>
              </a:p>
            </p:txBody>
          </p:sp>
        </p:grpSp>
        <p:grpSp>
          <p:nvGrpSpPr>
            <p:cNvPr id="57363" name="Group 21"/>
            <p:cNvGrpSpPr/>
            <p:nvPr/>
          </p:nvGrpSpPr>
          <p:grpSpPr>
            <a:xfrm>
              <a:off x="1854" y="1632"/>
              <a:ext cx="407" cy="418"/>
              <a:chOff x="1652" y="2185"/>
              <a:chExt cx="407" cy="418"/>
            </a:xfrm>
          </p:grpSpPr>
          <p:sp>
            <p:nvSpPr>
              <p:cNvPr id="104470" name="Rectangle 22"/>
              <p:cNvSpPr>
                <a:spLocks noChangeArrowheads="1"/>
              </p:cNvSpPr>
              <p:nvPr/>
            </p:nvSpPr>
            <p:spPr bwMode="auto">
              <a:xfrm>
                <a:off x="1652" y="2185"/>
                <a:ext cx="312" cy="365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lIns="67866" tIns="33337" rIns="67866" bIns="33337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2400" i="1">
                    <a:solidFill>
                      <a:schemeClr val="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Q</a:t>
                </a:r>
                <a:endParaRPr kumimoji="1" lang="en-US" altLang="zh-CN" sz="2475" i="1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endParaRPr>
              </a:p>
            </p:txBody>
          </p:sp>
          <p:sp>
            <p:nvSpPr>
              <p:cNvPr id="104471" name="Rectangle 23"/>
              <p:cNvSpPr>
                <a:spLocks noChangeArrowheads="1"/>
              </p:cNvSpPr>
              <p:nvPr/>
            </p:nvSpPr>
            <p:spPr bwMode="auto">
              <a:xfrm>
                <a:off x="1857" y="2354"/>
                <a:ext cx="202" cy="249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lIns="67866" tIns="33337" rIns="67866" bIns="33337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1500">
                    <a:solidFill>
                      <a:schemeClr val="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L</a:t>
                </a:r>
              </a:p>
            </p:txBody>
          </p:sp>
        </p:grpSp>
        <p:grpSp>
          <p:nvGrpSpPr>
            <p:cNvPr id="57364" name="Group 24"/>
            <p:cNvGrpSpPr/>
            <p:nvPr/>
          </p:nvGrpSpPr>
          <p:grpSpPr>
            <a:xfrm>
              <a:off x="4190" y="1632"/>
              <a:ext cx="820" cy="418"/>
              <a:chOff x="3988" y="2185"/>
              <a:chExt cx="820" cy="418"/>
            </a:xfrm>
          </p:grpSpPr>
          <p:sp>
            <p:nvSpPr>
              <p:cNvPr id="104473" name="Rectangle 25"/>
              <p:cNvSpPr>
                <a:spLocks noChangeArrowheads="1"/>
              </p:cNvSpPr>
              <p:nvPr/>
            </p:nvSpPr>
            <p:spPr bwMode="auto">
              <a:xfrm>
                <a:off x="3988" y="2185"/>
                <a:ext cx="269" cy="365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lIns="67866" tIns="33337" rIns="67866" bIns="33337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2400" i="1">
                    <a:solidFill>
                      <a:schemeClr val="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华文楷体" panose="02010600040101010101" charset="-122"/>
                  </a:rPr>
                  <a:t>X</a:t>
                </a:r>
              </a:p>
            </p:txBody>
          </p:sp>
          <p:sp>
            <p:nvSpPr>
              <p:cNvPr id="104474" name="Rectangle 26"/>
              <p:cNvSpPr>
                <a:spLocks noChangeArrowheads="1"/>
              </p:cNvSpPr>
              <p:nvPr/>
            </p:nvSpPr>
            <p:spPr bwMode="auto">
              <a:xfrm>
                <a:off x="4163" y="2354"/>
                <a:ext cx="593" cy="249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lIns="67866" tIns="33337" rIns="67866" bIns="33337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1500">
                    <a:solidFill>
                      <a:schemeClr val="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最大值</a:t>
                </a:r>
              </a:p>
            </p:txBody>
          </p:sp>
          <p:sp>
            <p:nvSpPr>
              <p:cNvPr id="57378" name="Rectangle 27"/>
              <p:cNvSpPr/>
              <p:nvPr/>
            </p:nvSpPr>
            <p:spPr>
              <a:xfrm>
                <a:off x="4692" y="2515"/>
                <a:ext cx="116" cy="58"/>
              </a:xfrm>
              <a:prstGeom prst="rect">
                <a:avLst/>
              </a:prstGeom>
              <a:noFill/>
              <a:ln w="12700">
                <a:noFill/>
              </a:ln>
              <a:effectLst>
                <a:outerShdw dist="17961" dir="2699999" algn="ctr" rotWithShape="0">
                  <a:schemeClr val="bg2"/>
                </a:outerShdw>
              </a:effectLst>
            </p:spPr>
            <p:txBody>
              <a:bodyPr wrap="none" anchor="ctr" anchorCtr="0"/>
              <a:lstStyle/>
              <a:p>
                <a:pPr>
                  <a:buNone/>
                </a:pPr>
                <a:endParaRPr lang="zh-CN" altLang="en-US" sz="1350" dirty="0">
                  <a:latin typeface="Garamond" panose="02020404030301010803" pitchFamily="18" charset="0"/>
                  <a:cs typeface="华文楷体" panose="02010600040101010101" charset="-122"/>
                </a:endParaRPr>
              </a:p>
            </p:txBody>
          </p:sp>
        </p:grpSp>
        <p:grpSp>
          <p:nvGrpSpPr>
            <p:cNvPr id="57365" name="Group 28"/>
            <p:cNvGrpSpPr/>
            <p:nvPr/>
          </p:nvGrpSpPr>
          <p:grpSpPr>
            <a:xfrm>
              <a:off x="960" y="1632"/>
              <a:ext cx="769" cy="418"/>
              <a:chOff x="758" y="2185"/>
              <a:chExt cx="769" cy="418"/>
            </a:xfrm>
          </p:grpSpPr>
          <p:sp>
            <p:nvSpPr>
              <p:cNvPr id="104477" name="Rectangle 29"/>
              <p:cNvSpPr>
                <a:spLocks noChangeArrowheads="1"/>
              </p:cNvSpPr>
              <p:nvPr/>
            </p:nvSpPr>
            <p:spPr bwMode="auto">
              <a:xfrm>
                <a:off x="758" y="2185"/>
                <a:ext cx="269" cy="365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lIns="67866" tIns="33337" rIns="67866" bIns="33337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2400" i="1">
                    <a:solidFill>
                      <a:schemeClr val="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imes New Roman" panose="02020603050405020304" pitchFamily="18" charset="0"/>
                    <a:ea typeface="宋体" panose="02010600030101010101" pitchFamily="2" charset="-122"/>
                    <a:cs typeface="华文楷体" panose="02010600040101010101" charset="-122"/>
                  </a:rPr>
                  <a:t>X</a:t>
                </a:r>
              </a:p>
            </p:txBody>
          </p:sp>
          <p:sp>
            <p:nvSpPr>
              <p:cNvPr id="104478" name="Rectangle 30"/>
              <p:cNvSpPr>
                <a:spLocks noChangeArrowheads="1"/>
              </p:cNvSpPr>
              <p:nvPr/>
            </p:nvSpPr>
            <p:spPr bwMode="auto">
              <a:xfrm>
                <a:off x="934" y="2354"/>
                <a:ext cx="593" cy="249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lIns="67866" tIns="33337" rIns="67866" bIns="33337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1500" dirty="0">
                    <a:solidFill>
                      <a:schemeClr val="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最小值</a:t>
                </a:r>
              </a:p>
            </p:txBody>
          </p:sp>
        </p:grpSp>
        <p:sp>
          <p:nvSpPr>
            <p:cNvPr id="57366" name="Rectangle 31"/>
            <p:cNvSpPr/>
            <p:nvPr/>
          </p:nvSpPr>
          <p:spPr>
            <a:xfrm>
              <a:off x="1785" y="1962"/>
              <a:ext cx="116" cy="58"/>
            </a:xfrm>
            <a:prstGeom prst="rect">
              <a:avLst/>
            </a:prstGeom>
            <a:noFill/>
            <a:ln w="12700">
              <a:noFill/>
            </a:ln>
            <a:effectLst>
              <a:outerShdw dist="17961" dir="2699999" algn="ctr" rotWithShape="0">
                <a:schemeClr val="bg2"/>
              </a:outerShdw>
            </a:effectLst>
          </p:spPr>
          <p:txBody>
            <a:bodyPr wrap="none" anchor="ctr" anchorCtr="0"/>
            <a:lstStyle/>
            <a:p>
              <a:pPr>
                <a:buNone/>
              </a:pPr>
              <a:endParaRPr lang="zh-CN" altLang="en-US" sz="1350" dirty="0">
                <a:latin typeface="Garamond" panose="02020404030301010803" pitchFamily="18" charset="0"/>
                <a:cs typeface="华文楷体" panose="02010600040101010101" charset="-122"/>
              </a:endParaRPr>
            </a:p>
          </p:txBody>
        </p:sp>
        <p:sp>
          <p:nvSpPr>
            <p:cNvPr id="57367" name="Line 32"/>
            <p:cNvSpPr/>
            <p:nvPr/>
          </p:nvSpPr>
          <p:spPr>
            <a:xfrm>
              <a:off x="2842" y="2087"/>
              <a:ext cx="0" cy="336"/>
            </a:xfrm>
            <a:prstGeom prst="line">
              <a:avLst/>
            </a:prstGeom>
            <a:ln w="38100" cap="flat" cmpd="sng">
              <a:solidFill>
                <a:srgbClr val="00F0D9"/>
              </a:solidFill>
              <a:prstDash val="solid"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</p:sp>
        <p:sp>
          <p:nvSpPr>
            <p:cNvPr id="57368" name="Line 33"/>
            <p:cNvSpPr/>
            <p:nvPr/>
          </p:nvSpPr>
          <p:spPr>
            <a:xfrm>
              <a:off x="1200" y="2688"/>
              <a:ext cx="0" cy="4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</p:sp>
        <p:sp>
          <p:nvSpPr>
            <p:cNvPr id="57369" name="Line 34"/>
            <p:cNvSpPr/>
            <p:nvPr/>
          </p:nvSpPr>
          <p:spPr>
            <a:xfrm>
              <a:off x="1920" y="2688"/>
              <a:ext cx="0" cy="4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</p:sp>
        <p:sp>
          <p:nvSpPr>
            <p:cNvPr id="57370" name="Line 35"/>
            <p:cNvSpPr/>
            <p:nvPr/>
          </p:nvSpPr>
          <p:spPr>
            <a:xfrm>
              <a:off x="2736" y="2688"/>
              <a:ext cx="0" cy="4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</p:sp>
        <p:sp>
          <p:nvSpPr>
            <p:cNvPr id="57371" name="Line 36"/>
            <p:cNvSpPr/>
            <p:nvPr/>
          </p:nvSpPr>
          <p:spPr>
            <a:xfrm>
              <a:off x="3504" y="2688"/>
              <a:ext cx="0" cy="4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</p:sp>
        <p:sp>
          <p:nvSpPr>
            <p:cNvPr id="57372" name="Line 37"/>
            <p:cNvSpPr/>
            <p:nvPr/>
          </p:nvSpPr>
          <p:spPr>
            <a:xfrm>
              <a:off x="4368" y="2688"/>
              <a:ext cx="0" cy="48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</p:sp>
        <p:sp>
          <p:nvSpPr>
            <p:cNvPr id="104486" name="Text Box 38"/>
            <p:cNvSpPr txBox="1">
              <a:spLocks noChangeArrowheads="1"/>
            </p:cNvSpPr>
            <p:nvPr/>
          </p:nvSpPr>
          <p:spPr bwMode="auto">
            <a:xfrm>
              <a:off x="1728" y="3264"/>
              <a:ext cx="2352" cy="309"/>
            </a:xfrm>
            <a:prstGeom prst="rect">
              <a:avLst/>
            </a:prstGeom>
            <a:solidFill>
              <a:srgbClr val="C545AD"/>
            </a:solidFill>
            <a:ln>
              <a:noFill/>
            </a:ln>
            <a:effectLst>
              <a:outerShdw dist="63500" dir="2212194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kumimoji="1"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等线" panose="02010600030101010101" charset="-122"/>
                  <a:ea typeface="等线" panose="02010600030101010101" charset="-122"/>
                  <a:cs typeface="华文楷体" panose="02010600040101010101" charset="-122"/>
                </a:rPr>
                <a:t>图</a:t>
              </a:r>
              <a:r>
                <a:rPr kumimoji="1"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等线" panose="02010600030101010101" charset="-122"/>
                  <a:ea typeface="等线" panose="02010600030101010101" charset="-122"/>
                  <a:cs typeface="华文楷体" panose="02010600040101010101" charset="-122"/>
                </a:rPr>
                <a:t>   </a:t>
              </a:r>
              <a:r>
                <a:rPr kumimoji="1"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等线" panose="02010600030101010101" charset="-122"/>
                  <a:ea typeface="等线" panose="02010600030101010101" charset="-122"/>
                  <a:cs typeface="华文楷体" panose="02010600040101010101" charset="-122"/>
                </a:rPr>
                <a:t>简单箱线图</a:t>
              </a:r>
            </a:p>
          </p:txBody>
        </p:sp>
      </p:grpSp>
    </p:spTree>
  </p:cSld>
  <p:clrMapOvr>
    <a:masterClrMapping/>
  </p:clrMapOvr>
  <p:transition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>
          <a:xfrm>
            <a:off x="915670" y="701675"/>
            <a:ext cx="7656195" cy="742950"/>
          </a:xfrm>
        </p:spPr>
        <p:txBody>
          <a:bodyPr vert="horz" wrap="square" lIns="67866" tIns="33337" rIns="67866" bIns="33337" numCol="1" rtlCol="0" anchor="ctr" anchorCtr="1" compatLnSpc="1">
            <a:normAutofit fontScale="90000"/>
          </a:bodyPr>
          <a:lstStyle/>
          <a:p>
            <a:pPr algn="ctr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lang="zh-CN" altLang="en-US" sz="4400" b="1" dirty="0"/>
              <a:t>未分组数据—单批数据箱线图</a:t>
            </a:r>
            <a:br>
              <a:rPr lang="zh-CN" altLang="en-US" sz="4400" b="1" dirty="0"/>
            </a:br>
            <a:r>
              <a:rPr lang="zh-CN" altLang="en-US" sz="4400" b="1" dirty="0"/>
              <a:t>（实例）</a:t>
            </a:r>
          </a:p>
        </p:txBody>
      </p:sp>
      <p:grpSp>
        <p:nvGrpSpPr>
          <p:cNvPr id="58371" name="Group 3"/>
          <p:cNvGrpSpPr/>
          <p:nvPr/>
        </p:nvGrpSpPr>
        <p:grpSpPr>
          <a:xfrm>
            <a:off x="1714500" y="2400301"/>
            <a:ext cx="5943600" cy="2939654"/>
            <a:chOff x="480" y="1296"/>
            <a:chExt cx="4992" cy="2469"/>
          </a:xfrm>
        </p:grpSpPr>
        <p:sp>
          <p:nvSpPr>
            <p:cNvPr id="58372" name="Rectangle 4"/>
            <p:cNvSpPr/>
            <p:nvPr/>
          </p:nvSpPr>
          <p:spPr>
            <a:xfrm>
              <a:off x="1638" y="1756"/>
              <a:ext cx="120" cy="71"/>
            </a:xfrm>
            <a:prstGeom prst="rect">
              <a:avLst/>
            </a:prstGeom>
            <a:noFill/>
            <a:ln w="12700">
              <a:noFill/>
            </a:ln>
            <a:effectLst>
              <a:outerShdw algn="ctr" rotWithShape="0">
                <a:schemeClr val="bg2"/>
              </a:outerShdw>
            </a:effectLst>
          </p:spPr>
          <p:txBody>
            <a:bodyPr wrap="none" anchor="ctr" anchorCtr="0"/>
            <a:lstStyle/>
            <a:p>
              <a:pPr>
                <a:buNone/>
              </a:pPr>
              <a:endParaRPr lang="zh-CN" altLang="en-US" sz="1350" dirty="0">
                <a:latin typeface="Garamond" panose="02020404030301010803" pitchFamily="18" charset="0"/>
                <a:cs typeface="华文楷体" panose="02010600040101010101" charset="-122"/>
              </a:endParaRPr>
            </a:p>
          </p:txBody>
        </p:sp>
        <p:sp>
          <p:nvSpPr>
            <p:cNvPr id="106501" name="Text Box 5"/>
            <p:cNvSpPr txBox="1">
              <a:spLocks noChangeArrowheads="1"/>
            </p:cNvSpPr>
            <p:nvPr/>
          </p:nvSpPr>
          <p:spPr bwMode="auto">
            <a:xfrm>
              <a:off x="879" y="1354"/>
              <a:ext cx="699" cy="561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kumimoji="1" lang="zh-CN" altLang="en-US" sz="150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最小值</a:t>
              </a:r>
            </a:p>
            <a:p>
              <a:pPr algn="ctr" eaLnBrk="0" hangingPunct="0">
                <a:spcBef>
                  <a:spcPct val="50000"/>
                </a:spcBef>
                <a:defRPr/>
              </a:pPr>
              <a:r>
                <a:rPr kumimoji="1" lang="en-US" altLang="zh-CN" sz="150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107</a:t>
              </a:r>
            </a:p>
          </p:txBody>
        </p:sp>
        <p:sp>
          <p:nvSpPr>
            <p:cNvPr id="106502" name="Text Box 6"/>
            <p:cNvSpPr txBox="1">
              <a:spLocks noChangeArrowheads="1"/>
            </p:cNvSpPr>
            <p:nvPr/>
          </p:nvSpPr>
          <p:spPr bwMode="auto">
            <a:xfrm>
              <a:off x="4474" y="1354"/>
              <a:ext cx="698" cy="561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kumimoji="1" lang="zh-CN" altLang="en-US" sz="150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最大值</a:t>
              </a:r>
            </a:p>
            <a:p>
              <a:pPr algn="ctr" eaLnBrk="0" hangingPunct="0">
                <a:spcBef>
                  <a:spcPct val="50000"/>
                </a:spcBef>
                <a:defRPr/>
              </a:pPr>
              <a:r>
                <a:rPr kumimoji="1" lang="en-US" altLang="zh-CN" sz="150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139</a:t>
              </a:r>
            </a:p>
          </p:txBody>
        </p:sp>
        <p:sp>
          <p:nvSpPr>
            <p:cNvPr id="106503" name="Text Box 7"/>
            <p:cNvSpPr txBox="1">
              <a:spLocks noChangeArrowheads="1"/>
            </p:cNvSpPr>
            <p:nvPr/>
          </p:nvSpPr>
          <p:spPr bwMode="auto">
            <a:xfrm>
              <a:off x="2577" y="1296"/>
              <a:ext cx="699" cy="561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kumimoji="1" lang="zh-CN" altLang="en-US" sz="150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中位数</a:t>
              </a:r>
            </a:p>
            <a:p>
              <a:pPr algn="ctr" eaLnBrk="0" hangingPunct="0">
                <a:spcBef>
                  <a:spcPct val="50000"/>
                </a:spcBef>
                <a:defRPr/>
              </a:pPr>
              <a:r>
                <a:rPr kumimoji="1" lang="en-US" altLang="zh-CN" sz="150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123</a:t>
              </a:r>
            </a:p>
          </p:txBody>
        </p:sp>
        <p:sp>
          <p:nvSpPr>
            <p:cNvPr id="106504" name="Text Box 8"/>
            <p:cNvSpPr txBox="1">
              <a:spLocks noChangeArrowheads="1"/>
            </p:cNvSpPr>
            <p:nvPr/>
          </p:nvSpPr>
          <p:spPr bwMode="auto">
            <a:xfrm>
              <a:off x="1528" y="1296"/>
              <a:ext cx="1049" cy="561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kumimoji="1" lang="zh-CN" altLang="en-US" sz="150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下四分位数</a:t>
              </a:r>
            </a:p>
            <a:p>
              <a:pPr algn="ctr" eaLnBrk="0" hangingPunct="0">
                <a:spcBef>
                  <a:spcPct val="50000"/>
                </a:spcBef>
                <a:defRPr/>
              </a:pPr>
              <a:r>
                <a:rPr kumimoji="1" lang="en-US" altLang="zh-CN" sz="150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117.75</a:t>
              </a:r>
            </a:p>
          </p:txBody>
        </p:sp>
        <p:sp>
          <p:nvSpPr>
            <p:cNvPr id="106505" name="Text Box 9"/>
            <p:cNvSpPr txBox="1">
              <a:spLocks noChangeArrowheads="1"/>
            </p:cNvSpPr>
            <p:nvPr/>
          </p:nvSpPr>
          <p:spPr bwMode="auto">
            <a:xfrm>
              <a:off x="3176" y="1296"/>
              <a:ext cx="1048" cy="561"/>
            </a:xfrm>
            <a:prstGeom prst="rect">
              <a:avLst/>
            </a:prstGeom>
            <a:noFill/>
            <a:ln>
              <a:noFill/>
            </a:ln>
            <a:effectLst>
              <a:outerShdw dist="1796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kumimoji="1" lang="zh-CN" altLang="en-US" sz="150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上四分位数</a:t>
              </a:r>
            </a:p>
            <a:p>
              <a:pPr algn="ctr" eaLnBrk="0" hangingPunct="0">
                <a:spcBef>
                  <a:spcPct val="50000"/>
                </a:spcBef>
                <a:defRPr/>
              </a:pPr>
              <a:r>
                <a:rPr kumimoji="1" lang="en-US" altLang="zh-CN" sz="150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128</a:t>
              </a:r>
            </a:p>
          </p:txBody>
        </p:sp>
        <p:grpSp>
          <p:nvGrpSpPr>
            <p:cNvPr id="58378" name="Group 10"/>
            <p:cNvGrpSpPr/>
            <p:nvPr/>
          </p:nvGrpSpPr>
          <p:grpSpPr>
            <a:xfrm>
              <a:off x="480" y="2797"/>
              <a:ext cx="4992" cy="500"/>
              <a:chOff x="480" y="2797"/>
              <a:chExt cx="4992" cy="500"/>
            </a:xfrm>
          </p:grpSpPr>
          <p:sp>
            <p:nvSpPr>
              <p:cNvPr id="58387" name="Rectangle 11"/>
              <p:cNvSpPr/>
              <p:nvPr/>
            </p:nvSpPr>
            <p:spPr>
              <a:xfrm>
                <a:off x="2734" y="2797"/>
                <a:ext cx="120" cy="71"/>
              </a:xfrm>
              <a:prstGeom prst="rect">
                <a:avLst/>
              </a:prstGeom>
              <a:noFill/>
              <a:ln w="12700">
                <a:noFill/>
              </a:ln>
              <a:effectLst>
                <a:outerShdw algn="ctr" rotWithShape="0">
                  <a:schemeClr val="bg2"/>
                </a:outerShdw>
              </a:effectLst>
            </p:spPr>
            <p:txBody>
              <a:bodyPr wrap="none" anchor="ctr" anchorCtr="0"/>
              <a:lstStyle/>
              <a:p>
                <a:pPr>
                  <a:buNone/>
                </a:pPr>
                <a:endParaRPr lang="zh-CN" altLang="en-US" sz="1350" dirty="0">
                  <a:latin typeface="Garamond" panose="02020404030301010803" pitchFamily="18" charset="0"/>
                  <a:cs typeface="华文楷体" panose="02010600040101010101" charset="-122"/>
                </a:endParaRPr>
              </a:p>
            </p:txBody>
          </p:sp>
          <p:sp>
            <p:nvSpPr>
              <p:cNvPr id="106508" name="Rectangle 12"/>
              <p:cNvSpPr>
                <a:spLocks noChangeArrowheads="1"/>
              </p:cNvSpPr>
              <p:nvPr/>
            </p:nvSpPr>
            <p:spPr bwMode="auto">
              <a:xfrm>
                <a:off x="580" y="2990"/>
                <a:ext cx="4300" cy="307"/>
              </a:xfrm>
              <a:prstGeom prst="rect">
                <a:avLst/>
              </a:prstGeom>
              <a:noFill/>
              <a:ln>
                <a:noFill/>
              </a:ln>
              <a:effectLst>
                <a:outerShdw dist="17961" dir="2700000" algn="ctr" rotWithShape="0">
                  <a:schemeClr val="bg2"/>
                </a:outerShdw>
              </a:effectLst>
            </p:spPr>
            <p:txBody>
              <a:bodyPr wrap="none" lIns="67866" tIns="33337" rIns="67866" bIns="33337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195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105    110    115   120    125    130   135   140</a:t>
                </a:r>
                <a:endParaRPr kumimoji="1" lang="en-US" altLang="zh-CN" sz="195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endParaRPr>
              </a:p>
            </p:txBody>
          </p:sp>
          <p:sp>
            <p:nvSpPr>
              <p:cNvPr id="58389" name="Line 13"/>
              <p:cNvSpPr/>
              <p:nvPr/>
            </p:nvSpPr>
            <p:spPr>
              <a:xfrm>
                <a:off x="480" y="2932"/>
                <a:ext cx="499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  <a:effectLst>
                <a:outerShdw dist="17961" dir="2699999" algn="ctr" rotWithShape="0">
                  <a:schemeClr val="bg2"/>
                </a:outerShdw>
              </a:effectLst>
            </p:spPr>
          </p:sp>
          <p:sp>
            <p:nvSpPr>
              <p:cNvPr id="58390" name="Line 14"/>
              <p:cNvSpPr/>
              <p:nvPr/>
            </p:nvSpPr>
            <p:spPr>
              <a:xfrm>
                <a:off x="829" y="2815"/>
                <a:ext cx="0" cy="117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  <a:effectLst>
                <a:outerShdw dist="17961" dir="2699999" algn="ctr" rotWithShape="0">
                  <a:schemeClr val="bg2"/>
                </a:outerShdw>
              </a:effectLst>
            </p:spPr>
          </p:sp>
          <p:sp>
            <p:nvSpPr>
              <p:cNvPr id="58391" name="Line 15"/>
              <p:cNvSpPr/>
              <p:nvPr/>
            </p:nvSpPr>
            <p:spPr>
              <a:xfrm>
                <a:off x="1428" y="2815"/>
                <a:ext cx="0" cy="117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  <a:effectLst>
                <a:outerShdw dist="17961" dir="2699999" algn="ctr" rotWithShape="0">
                  <a:schemeClr val="bg2"/>
                </a:outerShdw>
              </a:effectLst>
            </p:spPr>
          </p:sp>
          <p:sp>
            <p:nvSpPr>
              <p:cNvPr id="58392" name="Line 16"/>
              <p:cNvSpPr/>
              <p:nvPr/>
            </p:nvSpPr>
            <p:spPr>
              <a:xfrm>
                <a:off x="2028" y="2815"/>
                <a:ext cx="0" cy="117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  <a:effectLst>
                <a:outerShdw dist="17961" dir="2699999" algn="ctr" rotWithShape="0">
                  <a:schemeClr val="bg2"/>
                </a:outerShdw>
              </a:effectLst>
            </p:spPr>
          </p:sp>
          <p:sp>
            <p:nvSpPr>
              <p:cNvPr id="58393" name="Line 17"/>
              <p:cNvSpPr/>
              <p:nvPr/>
            </p:nvSpPr>
            <p:spPr>
              <a:xfrm>
                <a:off x="2577" y="2815"/>
                <a:ext cx="0" cy="117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  <a:effectLst>
                <a:outerShdw dist="17961" dir="2699999" algn="ctr" rotWithShape="0">
                  <a:schemeClr val="bg2"/>
                </a:outerShdw>
              </a:effectLst>
            </p:spPr>
          </p:sp>
          <p:sp>
            <p:nvSpPr>
              <p:cNvPr id="58394" name="Line 18"/>
              <p:cNvSpPr/>
              <p:nvPr/>
            </p:nvSpPr>
            <p:spPr>
              <a:xfrm>
                <a:off x="3176" y="2815"/>
                <a:ext cx="0" cy="117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  <a:effectLst>
                <a:outerShdw dist="17961" dir="2699999" algn="ctr" rotWithShape="0">
                  <a:schemeClr val="bg2"/>
                </a:outerShdw>
              </a:effectLst>
            </p:spPr>
          </p:sp>
          <p:sp>
            <p:nvSpPr>
              <p:cNvPr id="58395" name="Line 19"/>
              <p:cNvSpPr/>
              <p:nvPr/>
            </p:nvSpPr>
            <p:spPr>
              <a:xfrm>
                <a:off x="3775" y="2815"/>
                <a:ext cx="0" cy="117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  <a:effectLst>
                <a:outerShdw dist="17961" dir="2699999" algn="ctr" rotWithShape="0">
                  <a:schemeClr val="bg2"/>
                </a:outerShdw>
              </a:effectLst>
            </p:spPr>
          </p:sp>
          <p:sp>
            <p:nvSpPr>
              <p:cNvPr id="58396" name="Line 20"/>
              <p:cNvSpPr/>
              <p:nvPr/>
            </p:nvSpPr>
            <p:spPr>
              <a:xfrm>
                <a:off x="4374" y="2815"/>
                <a:ext cx="0" cy="117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  <a:effectLst>
                <a:outerShdw dist="17961" dir="2699999" algn="ctr" rotWithShape="0">
                  <a:schemeClr val="bg2"/>
                </a:outerShdw>
              </a:effectLst>
            </p:spPr>
          </p:sp>
          <p:sp>
            <p:nvSpPr>
              <p:cNvPr id="58397" name="Line 21"/>
              <p:cNvSpPr/>
              <p:nvPr/>
            </p:nvSpPr>
            <p:spPr>
              <a:xfrm>
                <a:off x="4923" y="2815"/>
                <a:ext cx="0" cy="117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  <a:effectLst>
                <a:outerShdw dist="17961" dir="2699999" algn="ctr" rotWithShape="0">
                  <a:schemeClr val="bg2"/>
                </a:outerShdw>
              </a:effectLst>
            </p:spPr>
          </p:sp>
        </p:grpSp>
        <p:grpSp>
          <p:nvGrpSpPr>
            <p:cNvPr id="58379" name="Group 22"/>
            <p:cNvGrpSpPr/>
            <p:nvPr/>
          </p:nvGrpSpPr>
          <p:grpSpPr>
            <a:xfrm>
              <a:off x="1248" y="2016"/>
              <a:ext cx="3575" cy="494"/>
              <a:chOff x="1248" y="2016"/>
              <a:chExt cx="3575" cy="494"/>
            </a:xfrm>
          </p:grpSpPr>
          <p:sp>
            <p:nvSpPr>
              <p:cNvPr id="58381" name="Freeform 23"/>
              <p:cNvSpPr/>
              <p:nvPr/>
            </p:nvSpPr>
            <p:spPr>
              <a:xfrm>
                <a:off x="2160" y="2016"/>
                <a:ext cx="1409" cy="462"/>
              </a:xfrm>
              <a:custGeom>
                <a:avLst/>
                <a:gdLst/>
                <a:ahLst/>
                <a:cxnLst>
                  <a:cxn ang="0">
                    <a:pos x="0" y="1414"/>
                  </a:cxn>
                  <a:cxn ang="0">
                    <a:pos x="989" y="1414"/>
                  </a:cxn>
                  <a:cxn ang="0">
                    <a:pos x="989" y="0"/>
                  </a:cxn>
                  <a:cxn ang="0">
                    <a:pos x="0" y="0"/>
                  </a:cxn>
                  <a:cxn ang="0">
                    <a:pos x="0" y="1414"/>
                  </a:cxn>
                </a:cxnLst>
                <a:rect l="0" t="0" r="0" b="0"/>
                <a:pathLst>
                  <a:path w="1585" h="318">
                    <a:moveTo>
                      <a:pt x="0" y="317"/>
                    </a:moveTo>
                    <a:lnTo>
                      <a:pt x="1584" y="317"/>
                    </a:lnTo>
                    <a:lnTo>
                      <a:pt x="1584" y="0"/>
                    </a:lnTo>
                    <a:lnTo>
                      <a:pt x="0" y="0"/>
                    </a:lnTo>
                    <a:lnTo>
                      <a:pt x="0" y="317"/>
                    </a:lnTo>
                  </a:path>
                </a:pathLst>
              </a:custGeom>
              <a:solidFill>
                <a:schemeClr val="accent1">
                  <a:alpha val="100000"/>
                </a:schemeClr>
              </a:solidFill>
              <a:ln w="38100" cap="rnd" cmpd="sng">
                <a:solidFill>
                  <a:srgbClr val="11F6F1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2699999" algn="ctr" rotWithShape="0">
                  <a:schemeClr val="bg2">
                    <a:alpha val="100000"/>
                  </a:schemeClr>
                </a:outerShdw>
              </a:effectLst>
            </p:spPr>
            <p:txBody>
              <a:bodyPr/>
              <a:lstStyle/>
              <a:p>
                <a:endParaRPr lang="zh-CN" altLang="en-US" sz="1350">
                  <a:cs typeface="华文楷体" panose="02010600040101010101" charset="-122"/>
                </a:endParaRPr>
              </a:p>
            </p:txBody>
          </p:sp>
          <p:sp>
            <p:nvSpPr>
              <p:cNvPr id="58382" name="Line 24"/>
              <p:cNvSpPr/>
              <p:nvPr/>
            </p:nvSpPr>
            <p:spPr>
              <a:xfrm flipV="1">
                <a:off x="4823" y="2114"/>
                <a:ext cx="0" cy="396"/>
              </a:xfrm>
              <a:prstGeom prst="line">
                <a:avLst/>
              </a:prstGeom>
              <a:ln w="38100" cap="flat" cmpd="sng">
                <a:solidFill>
                  <a:srgbClr val="11F6F1"/>
                </a:solidFill>
                <a:prstDash val="solid"/>
                <a:headEnd type="none" w="med" len="med"/>
                <a:tailEnd type="none" w="med" len="med"/>
              </a:ln>
              <a:effectLst>
                <a:outerShdw dist="17961" dir="2699999" algn="ctr" rotWithShape="0">
                  <a:schemeClr val="bg2"/>
                </a:outerShdw>
              </a:effectLst>
            </p:spPr>
          </p:sp>
          <p:sp>
            <p:nvSpPr>
              <p:cNvPr id="58383" name="Line 25"/>
              <p:cNvSpPr/>
              <p:nvPr/>
            </p:nvSpPr>
            <p:spPr>
              <a:xfrm flipV="1">
                <a:off x="1248" y="2064"/>
                <a:ext cx="0" cy="396"/>
              </a:xfrm>
              <a:prstGeom prst="line">
                <a:avLst/>
              </a:prstGeom>
              <a:ln w="38100" cap="flat" cmpd="sng">
                <a:solidFill>
                  <a:srgbClr val="11F6F1"/>
                </a:solidFill>
                <a:prstDash val="solid"/>
                <a:headEnd type="none" w="med" len="med"/>
                <a:tailEnd type="none" w="med" len="med"/>
              </a:ln>
              <a:effectLst>
                <a:outerShdw dist="17961" dir="2699999" algn="ctr" rotWithShape="0">
                  <a:schemeClr val="bg2"/>
                </a:outerShdw>
              </a:effectLst>
            </p:spPr>
          </p:sp>
          <p:sp>
            <p:nvSpPr>
              <p:cNvPr id="58384" name="Line 26"/>
              <p:cNvSpPr/>
              <p:nvPr/>
            </p:nvSpPr>
            <p:spPr>
              <a:xfrm flipV="1">
                <a:off x="1248" y="2256"/>
                <a:ext cx="912" cy="0"/>
              </a:xfrm>
              <a:prstGeom prst="line">
                <a:avLst/>
              </a:prstGeom>
              <a:ln w="38100" cap="flat" cmpd="sng">
                <a:solidFill>
                  <a:srgbClr val="11F6F1"/>
                </a:solidFill>
                <a:prstDash val="solid"/>
                <a:headEnd type="none" w="med" len="med"/>
                <a:tailEnd type="none" w="med" len="med"/>
              </a:ln>
              <a:effectLst>
                <a:outerShdw dist="17961" dir="2699999" algn="ctr" rotWithShape="0">
                  <a:schemeClr val="bg2"/>
                </a:outerShdw>
              </a:effectLst>
            </p:spPr>
          </p:sp>
          <p:sp>
            <p:nvSpPr>
              <p:cNvPr id="58385" name="Line 27"/>
              <p:cNvSpPr/>
              <p:nvPr/>
            </p:nvSpPr>
            <p:spPr>
              <a:xfrm>
                <a:off x="3575" y="2289"/>
                <a:ext cx="1248" cy="0"/>
              </a:xfrm>
              <a:prstGeom prst="line">
                <a:avLst/>
              </a:prstGeom>
              <a:ln w="38100" cap="flat" cmpd="sng">
                <a:solidFill>
                  <a:srgbClr val="11F6F1"/>
                </a:solidFill>
                <a:prstDash val="solid"/>
                <a:headEnd type="none" w="med" len="med"/>
                <a:tailEnd type="none" w="med" len="med"/>
              </a:ln>
              <a:effectLst>
                <a:outerShdw dist="17961" dir="2699999" algn="ctr" rotWithShape="0">
                  <a:schemeClr val="bg2"/>
                </a:outerShdw>
              </a:effectLst>
            </p:spPr>
          </p:sp>
          <p:sp>
            <p:nvSpPr>
              <p:cNvPr id="58386" name="Line 28"/>
              <p:cNvSpPr/>
              <p:nvPr/>
            </p:nvSpPr>
            <p:spPr>
              <a:xfrm>
                <a:off x="3024" y="2016"/>
                <a:ext cx="0" cy="480"/>
              </a:xfrm>
              <a:prstGeom prst="line">
                <a:avLst/>
              </a:prstGeom>
              <a:ln w="38100" cap="flat" cmpd="sng">
                <a:solidFill>
                  <a:srgbClr val="00F0D9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06525" name="Text Box 29"/>
            <p:cNvSpPr txBox="1">
              <a:spLocks noChangeArrowheads="1"/>
            </p:cNvSpPr>
            <p:nvPr/>
          </p:nvSpPr>
          <p:spPr bwMode="auto">
            <a:xfrm>
              <a:off x="1392" y="3456"/>
              <a:ext cx="3536" cy="309"/>
            </a:xfrm>
            <a:prstGeom prst="rect">
              <a:avLst/>
            </a:prstGeom>
            <a:solidFill>
              <a:srgbClr val="C545AD"/>
            </a:solidFill>
            <a:ln>
              <a:noFill/>
            </a:ln>
            <a:effectLst>
              <a:outerShdw dist="81320" dir="2319588" algn="ctr" rotWithShape="0">
                <a:schemeClr val="bg2"/>
              </a:outerShdw>
            </a:effectLst>
          </p:spPr>
          <p:txBody>
            <a:bodyPr wrap="square">
              <a:spAutoFit/>
            </a:bodyPr>
            <a:lstStyle/>
            <a:p>
              <a:pPr algn="ctr" eaLnBrk="0" hangingPunct="0">
                <a:spcBef>
                  <a:spcPct val="50000"/>
                </a:spcBef>
                <a:defRPr/>
              </a:pPr>
              <a:r>
                <a:rPr kumimoji="1"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cs typeface="华文楷体" panose="02010600040101010101" charset="-122"/>
                </a:rPr>
                <a:t>图</a:t>
              </a:r>
              <a:r>
                <a:rPr kumimoji="1"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cs typeface="华文楷体" panose="02010600040101010101" charset="-122"/>
                </a:rPr>
                <a:t>   50</a:t>
              </a:r>
              <a:r>
                <a:rPr kumimoji="1" lang="zh-CN" altLang="en-US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+mn-ea"/>
                  <a:cs typeface="华文楷体" panose="02010600040101010101" charset="-122"/>
                </a:rPr>
                <a:t>名工人日加工零件数的箱线图</a:t>
              </a:r>
            </a:p>
          </p:txBody>
        </p:sp>
      </p:grpSp>
    </p:spTree>
  </p:cSld>
  <p:clrMapOvr>
    <a:masterClrMapping/>
  </p:clrMapOvr>
  <p:transition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392966" y="596741"/>
            <a:ext cx="6172200" cy="800100"/>
          </a:xfrm>
        </p:spPr>
        <p:txBody>
          <a:bodyPr vert="horz" wrap="square" lIns="67866" tIns="33337" rIns="67866" bIns="33337" numCol="1" rtlCol="0" anchor="ctr" anchorCtr="1" compatLnSpc="1">
            <a:normAutofit fontScale="90000"/>
          </a:bodyPr>
          <a:lstStyle/>
          <a:p>
            <a:pPr fontAlgn="base">
              <a:spcAft>
                <a:spcPct val="0"/>
              </a:spcAft>
              <a:defRPr/>
            </a:pPr>
            <a:r>
              <a:rPr kumimoji="1" lang="zh-CN" altLang="en-US" b="1" dirty="0"/>
              <a:t>频数分布表例</a:t>
            </a:r>
            <a:br>
              <a:rPr kumimoji="1" lang="zh-CN" altLang="en-US" b="1" dirty="0"/>
            </a:br>
            <a:endParaRPr kumimoji="1" lang="zh-CN" altLang="en-US" b="1" dirty="0"/>
          </a:p>
        </p:txBody>
      </p:sp>
      <p:sp>
        <p:nvSpPr>
          <p:cNvPr id="19459" name="Rectangle 3"/>
          <p:cNvSpPr/>
          <p:nvPr/>
        </p:nvSpPr>
        <p:spPr>
          <a:xfrm>
            <a:off x="3429001" y="2511029"/>
            <a:ext cx="1416844" cy="2381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/>
          <a:lstStyle/>
          <a:p>
            <a:endParaRPr lang="zh-CN" altLang="en-US" sz="1350" dirty="0">
              <a:latin typeface="Garamond" panose="02020404030301010803" pitchFamily="18" charset="0"/>
              <a:cs typeface="华文楷体" panose="02010600040101010101" charset="-122"/>
            </a:endParaRPr>
          </a:p>
        </p:txBody>
      </p:sp>
      <p:sp>
        <p:nvSpPr>
          <p:cNvPr id="19460" name="Rectangle 4"/>
          <p:cNvSpPr/>
          <p:nvPr/>
        </p:nvSpPr>
        <p:spPr>
          <a:xfrm>
            <a:off x="4855370" y="2511029"/>
            <a:ext cx="8335" cy="2381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/>
          <a:lstStyle/>
          <a:p>
            <a:endParaRPr lang="zh-CN" altLang="en-US" sz="1350" dirty="0">
              <a:latin typeface="Garamond" panose="02020404030301010803" pitchFamily="18" charset="0"/>
              <a:cs typeface="华文楷体" panose="02010600040101010101" charset="-122"/>
            </a:endParaRPr>
          </a:p>
        </p:txBody>
      </p:sp>
      <p:sp>
        <p:nvSpPr>
          <p:cNvPr id="19461" name="Rectangle 5"/>
          <p:cNvSpPr/>
          <p:nvPr/>
        </p:nvSpPr>
        <p:spPr>
          <a:xfrm>
            <a:off x="4845844" y="2511029"/>
            <a:ext cx="9525" cy="2381"/>
          </a:xfrm>
          <a:prstGeom prst="rect">
            <a:avLst/>
          </a:prstGeom>
          <a:solidFill>
            <a:srgbClr val="000000"/>
          </a:solidFill>
          <a:ln w="9525">
            <a:noFill/>
          </a:ln>
        </p:spPr>
        <p:txBody>
          <a:bodyPr/>
          <a:lstStyle/>
          <a:p>
            <a:endParaRPr lang="zh-CN" altLang="en-US" sz="1350" dirty="0">
              <a:latin typeface="Garamond" panose="02020404030301010803" pitchFamily="18" charset="0"/>
              <a:cs typeface="华文楷体" panose="02010600040101010101" charset="-122"/>
            </a:endParaRPr>
          </a:p>
        </p:txBody>
      </p:sp>
      <p:sp>
        <p:nvSpPr>
          <p:cNvPr id="19462" name="Rectangle 6"/>
          <p:cNvSpPr/>
          <p:nvPr/>
        </p:nvSpPr>
        <p:spPr>
          <a:xfrm>
            <a:off x="4863704" y="2511029"/>
            <a:ext cx="975122" cy="2381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/>
          <a:lstStyle/>
          <a:p>
            <a:endParaRPr lang="zh-CN" altLang="en-US" sz="1350" dirty="0">
              <a:latin typeface="Garamond" panose="02020404030301010803" pitchFamily="18" charset="0"/>
              <a:cs typeface="华文楷体" panose="02010600040101010101" charset="-122"/>
            </a:endParaRPr>
          </a:p>
        </p:txBody>
      </p:sp>
      <p:sp>
        <p:nvSpPr>
          <p:cNvPr id="19463" name="Rectangle 7"/>
          <p:cNvSpPr/>
          <p:nvPr/>
        </p:nvSpPr>
        <p:spPr>
          <a:xfrm>
            <a:off x="5847160" y="2511029"/>
            <a:ext cx="8334" cy="2381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/>
          <a:lstStyle/>
          <a:p>
            <a:endParaRPr lang="zh-CN" altLang="en-US" sz="1350" dirty="0">
              <a:latin typeface="Garamond" panose="02020404030301010803" pitchFamily="18" charset="0"/>
              <a:cs typeface="华文楷体" panose="02010600040101010101" charset="-122"/>
            </a:endParaRPr>
          </a:p>
        </p:txBody>
      </p:sp>
      <p:sp>
        <p:nvSpPr>
          <p:cNvPr id="19464" name="Rectangle 8"/>
          <p:cNvSpPr/>
          <p:nvPr/>
        </p:nvSpPr>
        <p:spPr>
          <a:xfrm>
            <a:off x="5838826" y="2511029"/>
            <a:ext cx="8335" cy="2381"/>
          </a:xfrm>
          <a:prstGeom prst="rect">
            <a:avLst/>
          </a:prstGeom>
          <a:solidFill>
            <a:srgbClr val="000000"/>
          </a:solidFill>
          <a:ln w="9525">
            <a:noFill/>
          </a:ln>
        </p:spPr>
        <p:txBody>
          <a:bodyPr/>
          <a:lstStyle/>
          <a:p>
            <a:endParaRPr lang="zh-CN" altLang="en-US" sz="1350" dirty="0">
              <a:latin typeface="Garamond" panose="02020404030301010803" pitchFamily="18" charset="0"/>
              <a:cs typeface="华文楷体" panose="02010600040101010101" charset="-122"/>
            </a:endParaRPr>
          </a:p>
        </p:txBody>
      </p:sp>
      <p:sp>
        <p:nvSpPr>
          <p:cNvPr id="19465" name="Rectangle 9"/>
          <p:cNvSpPr/>
          <p:nvPr/>
        </p:nvSpPr>
        <p:spPr>
          <a:xfrm>
            <a:off x="5855495" y="2511029"/>
            <a:ext cx="975122" cy="2381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/>
          <a:lstStyle/>
          <a:p>
            <a:endParaRPr lang="zh-CN" altLang="en-US" sz="1350" dirty="0">
              <a:latin typeface="Garamond" panose="02020404030301010803" pitchFamily="18" charset="0"/>
              <a:cs typeface="华文楷体" panose="02010600040101010101" charset="-122"/>
            </a:endParaRPr>
          </a:p>
        </p:txBody>
      </p:sp>
      <p:sp>
        <p:nvSpPr>
          <p:cNvPr id="19466" name="Rectangle 10"/>
          <p:cNvSpPr/>
          <p:nvPr/>
        </p:nvSpPr>
        <p:spPr>
          <a:xfrm>
            <a:off x="6838950" y="2511029"/>
            <a:ext cx="9525" cy="2381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/>
          <a:lstStyle/>
          <a:p>
            <a:endParaRPr lang="zh-CN" altLang="en-US" sz="1350" dirty="0">
              <a:latin typeface="Garamond" panose="02020404030301010803" pitchFamily="18" charset="0"/>
              <a:cs typeface="华文楷体" panose="02010600040101010101" charset="-122"/>
            </a:endParaRPr>
          </a:p>
        </p:txBody>
      </p:sp>
      <p:sp>
        <p:nvSpPr>
          <p:cNvPr id="19467" name="Rectangle 11"/>
          <p:cNvSpPr/>
          <p:nvPr/>
        </p:nvSpPr>
        <p:spPr>
          <a:xfrm>
            <a:off x="6830616" y="2511029"/>
            <a:ext cx="8334" cy="2381"/>
          </a:xfrm>
          <a:prstGeom prst="rect">
            <a:avLst/>
          </a:prstGeom>
          <a:solidFill>
            <a:srgbClr val="000000"/>
          </a:solidFill>
          <a:ln w="9525">
            <a:noFill/>
          </a:ln>
        </p:spPr>
        <p:txBody>
          <a:bodyPr/>
          <a:lstStyle/>
          <a:p>
            <a:endParaRPr lang="zh-CN" altLang="en-US" sz="1350" dirty="0">
              <a:latin typeface="Garamond" panose="02020404030301010803" pitchFamily="18" charset="0"/>
              <a:cs typeface="华文楷体" panose="02010600040101010101" charset="-122"/>
            </a:endParaRPr>
          </a:p>
        </p:txBody>
      </p:sp>
      <p:sp>
        <p:nvSpPr>
          <p:cNvPr id="19468" name="Rectangle 12"/>
          <p:cNvSpPr/>
          <p:nvPr/>
        </p:nvSpPr>
        <p:spPr>
          <a:xfrm>
            <a:off x="6848476" y="2511029"/>
            <a:ext cx="973931" cy="2381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/>
          <a:lstStyle/>
          <a:p>
            <a:endParaRPr lang="zh-CN" altLang="en-US" sz="1350" dirty="0">
              <a:latin typeface="Garamond" panose="02020404030301010803" pitchFamily="18" charset="0"/>
              <a:cs typeface="华文楷体" panose="02010600040101010101" charset="-122"/>
            </a:endParaRPr>
          </a:p>
        </p:txBody>
      </p:sp>
      <p:sp>
        <p:nvSpPr>
          <p:cNvPr id="37901" name="Text Box 13"/>
          <p:cNvSpPr txBox="1">
            <a:spLocks noChangeArrowheads="1"/>
          </p:cNvSpPr>
          <p:nvPr/>
        </p:nvSpPr>
        <p:spPr bwMode="auto">
          <a:xfrm>
            <a:off x="512445" y="1311910"/>
            <a:ext cx="3267710" cy="4392930"/>
          </a:xfrm>
          <a:prstGeom prst="roundRect">
            <a:avLst>
              <a:gd name="adj" fmla="val 8021"/>
            </a:avLst>
          </a:prstGeom>
          <a:solidFill>
            <a:schemeClr val="bg1"/>
          </a:solidFill>
          <a:ln w="12700">
            <a:solidFill>
              <a:srgbClr val="C945B3"/>
            </a:solidFill>
            <a:miter lim="800000"/>
          </a:ln>
          <a:effectLst/>
        </p:spPr>
        <p:txBody>
          <a:bodyPr wrap="square">
            <a:noAutofit/>
          </a:bodyPr>
          <a:lstStyle/>
          <a:p>
            <a:pPr algn="just" eaLnBrk="0" hangingPunct="0">
              <a:spcBef>
                <a:spcPct val="50000"/>
              </a:spcBef>
              <a:defRPr/>
            </a:pPr>
            <a:r>
              <a:rPr kumimoji="1" lang="zh-CN" altLang="en-US" b="1" i="1" dirty="0">
                <a:cs typeface="华文楷体" panose="02010600040101010101" charset="-122"/>
              </a:rPr>
              <a:t>例子：为研究广告市场的状况，一家广告公司在某城市随机抽取</a:t>
            </a:r>
            <a:r>
              <a:rPr kumimoji="1" lang="en-US" altLang="zh-CN" b="1" i="1" dirty="0">
                <a:cs typeface="华文楷体" panose="02010600040101010101" charset="-122"/>
              </a:rPr>
              <a:t>200</a:t>
            </a:r>
            <a:r>
              <a:rPr kumimoji="1" lang="zh-CN" altLang="en-US" b="1" i="1" dirty="0">
                <a:cs typeface="华文楷体" panose="02010600040101010101" charset="-122"/>
              </a:rPr>
              <a:t>人就广告问题做了邮寄问卷调查，其中的一个问题是“您比较关心下列哪一类广告？</a:t>
            </a:r>
            <a:r>
              <a:rPr kumimoji="1" lang="zh-CN" altLang="en-US" b="1" dirty="0">
                <a:cs typeface="华文楷体" panose="02010600040101010101" charset="-122"/>
              </a:rPr>
              <a:t>”</a:t>
            </a:r>
          </a:p>
          <a:p>
            <a:pPr algn="just" eaLnBrk="0" hangingPunct="0">
              <a:spcBef>
                <a:spcPct val="50000"/>
              </a:spcBef>
              <a:defRPr/>
            </a:pPr>
            <a:r>
              <a:rPr kumimoji="1" lang="en-US" altLang="zh-CN" sz="1600" dirty="0">
                <a:cs typeface="华文楷体" panose="02010600040101010101" charset="-122"/>
              </a:rPr>
              <a:t>1</a:t>
            </a:r>
            <a:r>
              <a:rPr kumimoji="1" lang="zh-CN" altLang="en-US" sz="1600" dirty="0">
                <a:cs typeface="华文楷体" panose="02010600040101010101" charset="-122"/>
              </a:rPr>
              <a:t>．商品广告；</a:t>
            </a:r>
          </a:p>
          <a:p>
            <a:pPr algn="just" eaLnBrk="0" hangingPunct="0">
              <a:spcBef>
                <a:spcPct val="50000"/>
              </a:spcBef>
              <a:defRPr/>
            </a:pPr>
            <a:r>
              <a:rPr kumimoji="1" lang="en-US" altLang="zh-CN" sz="1600" dirty="0">
                <a:cs typeface="华文楷体" panose="02010600040101010101" charset="-122"/>
              </a:rPr>
              <a:t>2</a:t>
            </a:r>
            <a:r>
              <a:rPr kumimoji="1" lang="zh-CN" altLang="en-US" sz="1600" dirty="0">
                <a:cs typeface="华文楷体" panose="02010600040101010101" charset="-122"/>
              </a:rPr>
              <a:t>．服务广告；</a:t>
            </a:r>
          </a:p>
          <a:p>
            <a:pPr algn="just" eaLnBrk="0" hangingPunct="0">
              <a:spcBef>
                <a:spcPct val="50000"/>
              </a:spcBef>
              <a:defRPr/>
            </a:pPr>
            <a:r>
              <a:rPr kumimoji="1" lang="en-US" altLang="zh-CN" sz="1600" dirty="0">
                <a:cs typeface="华文楷体" panose="02010600040101010101" charset="-122"/>
              </a:rPr>
              <a:t>3</a:t>
            </a:r>
            <a:r>
              <a:rPr kumimoji="1" lang="zh-CN" altLang="en-US" sz="1600" dirty="0">
                <a:cs typeface="华文楷体" panose="02010600040101010101" charset="-122"/>
              </a:rPr>
              <a:t>．金融广告；</a:t>
            </a:r>
          </a:p>
          <a:p>
            <a:pPr algn="just" eaLnBrk="0" hangingPunct="0">
              <a:spcBef>
                <a:spcPct val="50000"/>
              </a:spcBef>
              <a:defRPr/>
            </a:pPr>
            <a:r>
              <a:rPr kumimoji="1" lang="en-US" altLang="zh-CN" sz="1600" dirty="0">
                <a:cs typeface="华文楷体" panose="02010600040101010101" charset="-122"/>
              </a:rPr>
              <a:t>4</a:t>
            </a:r>
            <a:r>
              <a:rPr kumimoji="1" lang="zh-CN" altLang="en-US" sz="1600" dirty="0">
                <a:cs typeface="华文楷体" panose="02010600040101010101" charset="-122"/>
              </a:rPr>
              <a:t>．房地产广告；</a:t>
            </a:r>
          </a:p>
          <a:p>
            <a:pPr algn="just" eaLnBrk="0" hangingPunct="0">
              <a:spcBef>
                <a:spcPct val="50000"/>
              </a:spcBef>
              <a:defRPr/>
            </a:pPr>
            <a:r>
              <a:rPr kumimoji="1" lang="en-US" altLang="zh-CN" sz="1600" dirty="0">
                <a:cs typeface="华文楷体" panose="02010600040101010101" charset="-122"/>
              </a:rPr>
              <a:t>5</a:t>
            </a:r>
            <a:r>
              <a:rPr kumimoji="1" lang="zh-CN" altLang="en-US" sz="1600" dirty="0">
                <a:cs typeface="华文楷体" panose="02010600040101010101" charset="-122"/>
              </a:rPr>
              <a:t>．招生招聘广告；</a:t>
            </a:r>
          </a:p>
          <a:p>
            <a:pPr algn="just" eaLnBrk="0" hangingPunct="0">
              <a:spcBef>
                <a:spcPct val="50000"/>
              </a:spcBef>
              <a:defRPr/>
            </a:pPr>
            <a:r>
              <a:rPr kumimoji="1" lang="en-US" altLang="zh-CN" sz="1600" dirty="0">
                <a:cs typeface="华文楷体" panose="02010600040101010101" charset="-122"/>
              </a:rPr>
              <a:t>6</a:t>
            </a:r>
            <a:r>
              <a:rPr kumimoji="1" lang="zh-CN" altLang="en-US" sz="1600" dirty="0">
                <a:cs typeface="华文楷体" panose="02010600040101010101" charset="-122"/>
              </a:rPr>
              <a:t>．其他广告。</a:t>
            </a:r>
          </a:p>
          <a:p>
            <a:pPr algn="just" eaLnBrk="0" hangingPunct="0">
              <a:spcBef>
                <a:spcPct val="50000"/>
              </a:spcBef>
              <a:defRPr/>
            </a:pPr>
            <a:endParaRPr kumimoji="1" lang="zh-CN" altLang="en-US" sz="120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华文楷体" panose="02010600040101010101" charset="-122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kumimoji="1" lang="zh-CN" altLang="en-US" sz="135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华文楷体" panose="02010600040101010101" charset="-122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kumimoji="1" lang="zh-CN" altLang="en-US" sz="105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华文楷体" panose="02010600040101010101" charset="-122"/>
            </a:endParaRPr>
          </a:p>
          <a:p>
            <a:pPr algn="just" eaLnBrk="0" hangingPunct="0">
              <a:spcBef>
                <a:spcPct val="50000"/>
              </a:spcBef>
              <a:defRPr/>
            </a:pPr>
            <a:endParaRPr kumimoji="1" lang="zh-CN" altLang="en-US" sz="1050" dirty="0">
              <a:effectLst>
                <a:outerShdw blurRad="38100" dist="38100" dir="2700000" algn="tl">
                  <a:srgbClr val="000000"/>
                </a:outerShdw>
              </a:effectLst>
              <a:latin typeface="华文楷体" panose="02010600040101010101" charset="-122"/>
              <a:ea typeface="宋体" panose="02010600030101010101" pitchFamily="2" charset="-122"/>
              <a:cs typeface="华文楷体" panose="02010600040101010101" charset="-122"/>
            </a:endParaRPr>
          </a:p>
        </p:txBody>
      </p:sp>
      <p:graphicFrame>
        <p:nvGraphicFramePr>
          <p:cNvPr id="37903" name="Group 1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183380" y="1312545"/>
          <a:ext cx="4655820" cy="4350385"/>
        </p:xfrm>
        <a:graphic>
          <a:graphicData uri="http://schemas.openxmlformats.org/drawingml/2006/table">
            <a:tbl>
              <a:tblPr/>
              <a:tblGrid>
                <a:gridCol w="1616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3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31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831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表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   </a:t>
                      </a:r>
                      <a:r>
                        <a:rPr kumimoji="0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某城市居民关注广告类型的频数分布 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0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广告类型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人数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(</a:t>
                      </a:r>
                      <a:r>
                        <a:rPr kumimoji="0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人</a:t>
                      </a: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)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比例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频率</a:t>
                      </a: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(%)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30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  商品广告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  服务广告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  金融广告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  房地产广告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  招生招聘广告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  其他广告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C87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112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51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16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2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BFF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0.560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0.255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0.045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0.080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0.050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0.010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BFF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56.0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25.5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1.0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BFF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96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合计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200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5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华文楷体" panose="02010600040101010101" charset="-122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en-US" altLang="zh-CN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华文楷体" panose="02010600040101010101" charset="-122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986790" y="542925"/>
            <a:ext cx="7412990" cy="800100"/>
          </a:xfrm>
        </p:spPr>
        <p:txBody>
          <a:bodyPr vert="horz" wrap="square" lIns="67866" tIns="33337" rIns="67866" bIns="33337" numCol="1" rtlCol="0" anchor="ctr" anchorCtr="1" compatLnSpc="1">
            <a:normAutofit fontScale="90000"/>
          </a:bodyPr>
          <a:lstStyle/>
          <a:p>
            <a:pPr algn="ctr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lang="zh-CN" altLang="en-US" sz="4400" b="1" dirty="0"/>
              <a:t>分组数据—直方图(Histogram) </a:t>
            </a:r>
            <a:br>
              <a:rPr lang="zh-CN" altLang="en-US" sz="4400" b="1" dirty="0"/>
            </a:br>
            <a:endParaRPr kumimoji="1" lang="zh-CN" altLang="en-US" sz="3000" dirty="0"/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>
          <a:xfrm>
            <a:off x="601980" y="1489710"/>
            <a:ext cx="7854950" cy="4053205"/>
          </a:xfrm>
        </p:spPr>
        <p:txBody>
          <a:bodyPr vert="horz" wrap="square" lIns="67866" tIns="33337" rIns="67866" bIns="33337" numCol="1" rtlCol="0" anchor="t" anchorCtr="0" compatLnSpc="1">
            <a:normAutofit/>
          </a:bodyPr>
          <a:lstStyle/>
          <a:p>
            <a:pPr marL="0" indent="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Tx/>
              <a:buNone/>
              <a:defRPr/>
            </a:pPr>
            <a:r>
              <a:rPr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2000" dirty="0"/>
              <a:t>用矩形的宽度和高度来表示频数分布的图形，实际上是用矩形的</a:t>
            </a:r>
            <a:r>
              <a:rPr kumimoji="1" lang="en-US" altLang="zh-CN" sz="2000" dirty="0"/>
              <a:t>               </a:t>
            </a:r>
          </a:p>
          <a:p>
            <a:pPr marL="0" indent="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Tx/>
              <a:buNone/>
              <a:defRPr/>
            </a:pPr>
            <a:r>
              <a:rPr kumimoji="1" lang="en-US" altLang="zh-CN" sz="2000" dirty="0"/>
              <a:t>      </a:t>
            </a:r>
            <a:r>
              <a:rPr kumimoji="1" lang="zh-CN" altLang="en-US" sz="2000" b="1" dirty="0">
                <a:solidFill>
                  <a:srgbClr val="C00000"/>
                </a:solidFill>
              </a:rPr>
              <a:t>面积来表示各组的频数分布</a:t>
            </a:r>
            <a:r>
              <a:rPr kumimoji="1" lang="zh-CN" altLang="en-US" sz="2000" dirty="0"/>
              <a:t>。</a:t>
            </a:r>
          </a:p>
          <a:p>
            <a:pPr marL="0" indent="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Tx/>
              <a:buNone/>
              <a:defRPr/>
            </a:pPr>
            <a:r>
              <a:rPr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2000" dirty="0"/>
              <a:t>在直角坐标中，用横轴表示数据分组，纵轴表示频数或频率，各</a:t>
            </a:r>
          </a:p>
          <a:p>
            <a:pPr marL="0" indent="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Tx/>
              <a:buNone/>
              <a:defRPr/>
            </a:pPr>
            <a:r>
              <a:rPr kumimoji="1" lang="zh-CN" altLang="en-US" sz="2000" dirty="0"/>
              <a:t> </a:t>
            </a:r>
            <a:r>
              <a:rPr kumimoji="1" lang="en-US" altLang="zh-CN" sz="2000" dirty="0"/>
              <a:t>     </a:t>
            </a:r>
            <a:r>
              <a:rPr kumimoji="1" lang="zh-CN" altLang="en-US" sz="2000" dirty="0"/>
              <a:t>组与相应的频数就形成了一个矩形，即直方图</a:t>
            </a:r>
            <a:r>
              <a:rPr kumimoji="1" lang="en-US" altLang="zh-CN" sz="2000" dirty="0"/>
              <a:t>(Histogram)</a:t>
            </a:r>
            <a:r>
              <a:rPr kumimoji="1" lang="zh-CN" altLang="en-US" sz="2000" dirty="0"/>
              <a:t>。</a:t>
            </a:r>
            <a:endParaRPr kumimoji="1" lang="en-US" altLang="zh-CN" sz="2000" dirty="0"/>
          </a:p>
          <a:p>
            <a:pPr marL="0" indent="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Tx/>
              <a:buNone/>
              <a:defRPr/>
            </a:pPr>
            <a:r>
              <a:rPr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2000" b="1" dirty="0">
                <a:solidFill>
                  <a:srgbClr val="C00000"/>
                </a:solidFill>
              </a:rPr>
              <a:t>直方图下的总面积等于</a:t>
            </a:r>
            <a:r>
              <a:rPr kumimoji="1" lang="en-US" altLang="zh-CN" sz="2000" b="1" dirty="0">
                <a:solidFill>
                  <a:srgbClr val="C00000"/>
                </a:solidFill>
              </a:rPr>
              <a:t>1</a:t>
            </a:r>
            <a:r>
              <a:rPr kumimoji="1" lang="zh-CN" altLang="en-US" sz="2000" dirty="0"/>
              <a:t>。</a:t>
            </a:r>
            <a:endParaRPr kumimoji="1" lang="en-US" altLang="zh-CN" sz="2000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07390" y="521970"/>
            <a:ext cx="8108950" cy="742950"/>
          </a:xfrm>
        </p:spPr>
        <p:txBody>
          <a:bodyPr vert="horz" wrap="square" lIns="67866" tIns="33337" rIns="67866" bIns="33337" numCol="1" rtlCol="0" anchor="ctr" anchorCtr="1" compatLnSpc="1">
            <a:normAutofit fontScale="90000"/>
          </a:bodyPr>
          <a:lstStyle/>
          <a:p>
            <a:pPr algn="ctr" fontAlgn="base">
              <a:lnSpc>
                <a:spcPct val="100000"/>
              </a:lnSpc>
              <a:buClrTx/>
              <a:buSzTx/>
              <a:buFontTx/>
              <a:defRPr/>
            </a:pPr>
            <a:r>
              <a:rPr lang="zh-CN" altLang="en-US" sz="4400" b="1" dirty="0"/>
              <a:t>分组数据—直方图（直方图的绘制）</a:t>
            </a:r>
          </a:p>
        </p:txBody>
      </p:sp>
      <p:sp>
        <p:nvSpPr>
          <p:cNvPr id="49155" name="Line 3"/>
          <p:cNvSpPr/>
          <p:nvPr/>
        </p:nvSpPr>
        <p:spPr>
          <a:xfrm>
            <a:off x="4000500" y="2286000"/>
            <a:ext cx="0" cy="240030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  <a:effectLst>
            <a:outerShdw dist="45791" dir="2021404" algn="ctr" rotWithShape="0">
              <a:schemeClr val="bg2"/>
            </a:outerShdw>
          </a:effectLst>
        </p:spPr>
      </p:sp>
      <p:sp>
        <p:nvSpPr>
          <p:cNvPr id="90116" name="Text Box 4"/>
          <p:cNvSpPr txBox="1">
            <a:spLocks noChangeArrowheads="1"/>
          </p:cNvSpPr>
          <p:nvPr/>
        </p:nvSpPr>
        <p:spPr bwMode="auto">
          <a:xfrm>
            <a:off x="3200400" y="2800350"/>
            <a:ext cx="536575" cy="1807845"/>
          </a:xfrm>
          <a:prstGeom prst="rect">
            <a:avLst/>
          </a:prstGeom>
          <a:noFill/>
          <a:ln>
            <a:noFill/>
          </a:ln>
          <a:effectLst>
            <a:outerShdw dist="45791" dir="2021404" algn="ctr" rotWithShape="0">
              <a:schemeClr val="bg2"/>
            </a:outerShdw>
          </a:effectLst>
        </p:spPr>
        <p:txBody>
          <a:bodyPr>
            <a:no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kumimoji="1" lang="zh-CN" altLang="en-US" sz="165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频</a:t>
            </a:r>
          </a:p>
          <a:p>
            <a:pPr algn="ctr" eaLnBrk="0" hangingPunct="0">
              <a:spcBef>
                <a:spcPct val="50000"/>
              </a:spcBef>
              <a:defRPr/>
            </a:pPr>
            <a:r>
              <a:rPr kumimoji="1" lang="zh-CN" altLang="en-US" sz="165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数</a:t>
            </a:r>
          </a:p>
          <a:p>
            <a:pPr algn="ctr" eaLnBrk="0" hangingPunct="0">
              <a:spcBef>
                <a:spcPct val="50000"/>
              </a:spcBef>
              <a:defRPr/>
            </a:pPr>
            <a:r>
              <a:rPr kumimoji="1" lang="en-US" altLang="zh-CN" sz="165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(</a:t>
            </a:r>
            <a:r>
              <a:rPr kumimoji="1" lang="zh-CN" altLang="en-US" sz="165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人</a:t>
            </a:r>
            <a:r>
              <a:rPr kumimoji="1" lang="en-US" altLang="zh-CN" sz="165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)</a:t>
            </a:r>
            <a:endParaRPr kumimoji="1" lang="en-US" altLang="zh-CN" sz="1650">
              <a:effectLst>
                <a:outerShdw blurRad="38100" dist="38100" dir="2700000" algn="tl">
                  <a:srgbClr val="000000"/>
                </a:outerShdw>
              </a:effectLst>
              <a:latin typeface="华文楷体" panose="02010600040101010101" charset="-122"/>
              <a:ea typeface="宋体" panose="02010600030101010101" pitchFamily="2" charset="-122"/>
              <a:cs typeface="华文楷体" panose="02010600040101010101" charset="-122"/>
            </a:endParaRPr>
          </a:p>
        </p:txBody>
      </p:sp>
      <p:sp>
        <p:nvSpPr>
          <p:cNvPr id="49157" name="Line 5"/>
          <p:cNvSpPr/>
          <p:nvPr/>
        </p:nvSpPr>
        <p:spPr>
          <a:xfrm>
            <a:off x="3943350" y="4400550"/>
            <a:ext cx="57150" cy="0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</p:sp>
      <p:sp>
        <p:nvSpPr>
          <p:cNvPr id="49158" name="Line 6"/>
          <p:cNvSpPr/>
          <p:nvPr/>
        </p:nvSpPr>
        <p:spPr>
          <a:xfrm>
            <a:off x="3943350" y="4000500"/>
            <a:ext cx="57150" cy="0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</p:sp>
      <p:sp>
        <p:nvSpPr>
          <p:cNvPr id="49159" name="Line 7"/>
          <p:cNvSpPr/>
          <p:nvPr/>
        </p:nvSpPr>
        <p:spPr>
          <a:xfrm>
            <a:off x="3943350" y="3600450"/>
            <a:ext cx="57150" cy="0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</p:sp>
      <p:sp>
        <p:nvSpPr>
          <p:cNvPr id="49160" name="Line 8"/>
          <p:cNvSpPr/>
          <p:nvPr/>
        </p:nvSpPr>
        <p:spPr>
          <a:xfrm>
            <a:off x="3943350" y="3200400"/>
            <a:ext cx="57150" cy="0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</p:sp>
      <p:sp>
        <p:nvSpPr>
          <p:cNvPr id="49161" name="Line 9"/>
          <p:cNvSpPr/>
          <p:nvPr/>
        </p:nvSpPr>
        <p:spPr>
          <a:xfrm>
            <a:off x="3943350" y="2857500"/>
            <a:ext cx="57150" cy="0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</p:sp>
      <p:sp>
        <p:nvSpPr>
          <p:cNvPr id="90122" name="Text Box 10"/>
          <p:cNvSpPr txBox="1">
            <a:spLocks noChangeArrowheads="1"/>
          </p:cNvSpPr>
          <p:nvPr/>
        </p:nvSpPr>
        <p:spPr bwMode="auto">
          <a:xfrm>
            <a:off x="3600450" y="2743201"/>
            <a:ext cx="400050" cy="32194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1" lang="en-US" altLang="zh-CN" sz="150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15</a:t>
            </a:r>
            <a:endParaRPr kumimoji="1" lang="en-US" altLang="zh-CN" sz="4500">
              <a:latin typeface="华文楷体" panose="02010600040101010101" charset="-122"/>
              <a:ea typeface="宋体" panose="02010600030101010101" pitchFamily="2" charset="-122"/>
              <a:cs typeface="华文楷体" panose="02010600040101010101" charset="-122"/>
            </a:endParaRPr>
          </a:p>
        </p:txBody>
      </p:sp>
      <p:sp>
        <p:nvSpPr>
          <p:cNvPr id="90123" name="Text Box 11"/>
          <p:cNvSpPr txBox="1">
            <a:spLocks noChangeArrowheads="1"/>
          </p:cNvSpPr>
          <p:nvPr/>
        </p:nvSpPr>
        <p:spPr bwMode="auto">
          <a:xfrm>
            <a:off x="3600450" y="3086101"/>
            <a:ext cx="400050" cy="32194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1" lang="en-US" altLang="zh-CN" sz="150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12</a:t>
            </a:r>
            <a:endParaRPr kumimoji="1" lang="en-US" altLang="zh-CN" sz="1200">
              <a:effectLst>
                <a:outerShdw blurRad="38100" dist="38100" dir="2700000" algn="tl">
                  <a:srgbClr val="000000"/>
                </a:outerShdw>
              </a:effectLst>
              <a:latin typeface="华文楷体" panose="02010600040101010101" charset="-122"/>
              <a:ea typeface="宋体" panose="02010600030101010101" pitchFamily="2" charset="-122"/>
              <a:cs typeface="华文楷体" panose="02010600040101010101" charset="-122"/>
            </a:endParaRPr>
          </a:p>
        </p:txBody>
      </p:sp>
      <p:sp>
        <p:nvSpPr>
          <p:cNvPr id="90124" name="Text Box 12"/>
          <p:cNvSpPr txBox="1">
            <a:spLocks noChangeArrowheads="1"/>
          </p:cNvSpPr>
          <p:nvPr/>
        </p:nvSpPr>
        <p:spPr bwMode="auto">
          <a:xfrm>
            <a:off x="3657600" y="3486151"/>
            <a:ext cx="285750" cy="32194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1" lang="en-US" altLang="zh-CN" sz="150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9</a:t>
            </a:r>
            <a:endParaRPr kumimoji="1" lang="en-US" altLang="zh-CN" sz="1200">
              <a:effectLst>
                <a:outerShdw blurRad="38100" dist="38100" dir="2700000" algn="tl">
                  <a:srgbClr val="000000"/>
                </a:outerShdw>
              </a:effectLst>
              <a:latin typeface="华文楷体" panose="02010600040101010101" charset="-122"/>
              <a:ea typeface="宋体" panose="02010600030101010101" pitchFamily="2" charset="-122"/>
              <a:cs typeface="华文楷体" panose="02010600040101010101" charset="-122"/>
            </a:endParaRPr>
          </a:p>
        </p:txBody>
      </p:sp>
      <p:sp>
        <p:nvSpPr>
          <p:cNvPr id="90125" name="Text Box 13"/>
          <p:cNvSpPr txBox="1">
            <a:spLocks noChangeArrowheads="1"/>
          </p:cNvSpPr>
          <p:nvPr/>
        </p:nvSpPr>
        <p:spPr bwMode="auto">
          <a:xfrm>
            <a:off x="3657600" y="3886201"/>
            <a:ext cx="285750" cy="32194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1" lang="en-US" altLang="zh-CN" sz="150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6</a:t>
            </a:r>
            <a:endParaRPr kumimoji="1" lang="en-US" altLang="zh-CN" sz="1200" b="1">
              <a:effectLst>
                <a:outerShdw blurRad="38100" dist="38100" dir="2700000" algn="tl">
                  <a:srgbClr val="000000"/>
                </a:outerShdw>
              </a:effectLst>
              <a:latin typeface="华文楷体" panose="02010600040101010101" charset="-122"/>
              <a:ea typeface="宋体" panose="02010600030101010101" pitchFamily="2" charset="-122"/>
              <a:cs typeface="华文楷体" panose="02010600040101010101" charset="-122"/>
            </a:endParaRPr>
          </a:p>
        </p:txBody>
      </p:sp>
      <p:sp>
        <p:nvSpPr>
          <p:cNvPr id="90126" name="Text Box 14"/>
          <p:cNvSpPr txBox="1">
            <a:spLocks noChangeArrowheads="1"/>
          </p:cNvSpPr>
          <p:nvPr/>
        </p:nvSpPr>
        <p:spPr bwMode="auto">
          <a:xfrm>
            <a:off x="3657600" y="4286251"/>
            <a:ext cx="228600" cy="32194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1" lang="en-US" altLang="zh-CN" sz="150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3</a:t>
            </a:r>
            <a:endParaRPr kumimoji="1" lang="en-US" altLang="zh-CN" sz="1200" b="1">
              <a:effectLst>
                <a:outerShdw blurRad="38100" dist="38100" dir="2700000" algn="tl">
                  <a:srgbClr val="000000"/>
                </a:outerShdw>
              </a:effectLst>
              <a:latin typeface="华文楷体" panose="02010600040101010101" charset="-122"/>
              <a:ea typeface="宋体" panose="02010600030101010101" pitchFamily="2" charset="-122"/>
              <a:cs typeface="华文楷体" panose="02010600040101010101" charset="-122"/>
            </a:endParaRPr>
          </a:p>
        </p:txBody>
      </p:sp>
      <p:grpSp>
        <p:nvGrpSpPr>
          <p:cNvPr id="2" name="Group 15"/>
          <p:cNvGrpSpPr/>
          <p:nvPr/>
        </p:nvGrpSpPr>
        <p:grpSpPr>
          <a:xfrm>
            <a:off x="4114800" y="4400551"/>
            <a:ext cx="914400" cy="896541"/>
            <a:chOff x="2496" y="2976"/>
            <a:chExt cx="768" cy="753"/>
          </a:xfrm>
        </p:grpSpPr>
        <p:sp>
          <p:nvSpPr>
            <p:cNvPr id="49199" name="Rectangle 16"/>
            <p:cNvSpPr/>
            <p:nvPr/>
          </p:nvSpPr>
          <p:spPr>
            <a:xfrm>
              <a:off x="2736" y="2976"/>
              <a:ext cx="336" cy="240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1350" dirty="0">
                <a:latin typeface="Garamond" panose="02020404030301010803" pitchFamily="18" charset="0"/>
                <a:cs typeface="华文楷体" panose="02010600040101010101" charset="-122"/>
              </a:endParaRPr>
            </a:p>
          </p:txBody>
        </p:sp>
        <p:sp>
          <p:nvSpPr>
            <p:cNvPr id="90129" name="Text Box 17"/>
            <p:cNvSpPr txBox="1">
              <a:spLocks noChangeArrowheads="1"/>
            </p:cNvSpPr>
            <p:nvPr/>
          </p:nvSpPr>
          <p:spPr bwMode="auto">
            <a:xfrm>
              <a:off x="2496" y="3264"/>
              <a:ext cx="384" cy="4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kumimoji="1" lang="en-US" altLang="zh-CN" sz="15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105</a:t>
              </a:r>
              <a:endParaRPr kumimoji="1" lang="en-US" altLang="zh-CN" sz="120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endParaRPr>
            </a:p>
          </p:txBody>
        </p:sp>
        <p:sp>
          <p:nvSpPr>
            <p:cNvPr id="90130" name="Text Box 18"/>
            <p:cNvSpPr txBox="1">
              <a:spLocks noChangeArrowheads="1"/>
            </p:cNvSpPr>
            <p:nvPr/>
          </p:nvSpPr>
          <p:spPr bwMode="auto">
            <a:xfrm>
              <a:off x="2880" y="3264"/>
              <a:ext cx="384" cy="4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kumimoji="1" lang="en-US" altLang="zh-CN" sz="15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110</a:t>
              </a:r>
              <a:endParaRPr kumimoji="1" lang="en-US" altLang="zh-CN" sz="1200" b="1"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endParaRPr>
            </a:p>
          </p:txBody>
        </p:sp>
      </p:grpSp>
      <p:grpSp>
        <p:nvGrpSpPr>
          <p:cNvPr id="3" name="Group 19"/>
          <p:cNvGrpSpPr/>
          <p:nvPr/>
        </p:nvGrpSpPr>
        <p:grpSpPr>
          <a:xfrm>
            <a:off x="4800600" y="4171951"/>
            <a:ext cx="685800" cy="892969"/>
            <a:chOff x="3072" y="2784"/>
            <a:chExt cx="576" cy="750"/>
          </a:xfrm>
        </p:grpSpPr>
        <p:sp>
          <p:nvSpPr>
            <p:cNvPr id="49197" name="Rectangle 20"/>
            <p:cNvSpPr/>
            <p:nvPr/>
          </p:nvSpPr>
          <p:spPr>
            <a:xfrm>
              <a:off x="3072" y="2784"/>
              <a:ext cx="336" cy="432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1350" dirty="0">
                <a:latin typeface="Garamond" panose="02020404030301010803" pitchFamily="18" charset="0"/>
                <a:cs typeface="华文楷体" panose="02010600040101010101" charset="-122"/>
              </a:endParaRPr>
            </a:p>
          </p:txBody>
        </p:sp>
        <p:sp>
          <p:nvSpPr>
            <p:cNvPr id="90133" name="Text Box 21"/>
            <p:cNvSpPr txBox="1">
              <a:spLocks noChangeArrowheads="1"/>
            </p:cNvSpPr>
            <p:nvPr/>
          </p:nvSpPr>
          <p:spPr bwMode="auto">
            <a:xfrm>
              <a:off x="3216" y="3264"/>
              <a:ext cx="432" cy="27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kumimoji="1" lang="en-US" altLang="zh-CN" sz="15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115</a:t>
              </a:r>
              <a:endParaRPr kumimoji="1" lang="en-US" altLang="zh-CN" sz="1200" b="1"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endParaRPr>
            </a:p>
          </p:txBody>
        </p:sp>
      </p:grpSp>
      <p:grpSp>
        <p:nvGrpSpPr>
          <p:cNvPr id="4" name="Group 22"/>
          <p:cNvGrpSpPr/>
          <p:nvPr/>
        </p:nvGrpSpPr>
        <p:grpSpPr>
          <a:xfrm>
            <a:off x="5200650" y="3771901"/>
            <a:ext cx="628650" cy="1525191"/>
            <a:chOff x="3408" y="2448"/>
            <a:chExt cx="528" cy="1281"/>
          </a:xfrm>
        </p:grpSpPr>
        <p:sp>
          <p:nvSpPr>
            <p:cNvPr id="49195" name="Rectangle 23"/>
            <p:cNvSpPr/>
            <p:nvPr/>
          </p:nvSpPr>
          <p:spPr>
            <a:xfrm>
              <a:off x="3408" y="2448"/>
              <a:ext cx="336" cy="768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1350" dirty="0">
                <a:latin typeface="Garamond" panose="02020404030301010803" pitchFamily="18" charset="0"/>
                <a:cs typeface="华文楷体" panose="02010600040101010101" charset="-122"/>
              </a:endParaRPr>
            </a:p>
          </p:txBody>
        </p:sp>
        <p:sp>
          <p:nvSpPr>
            <p:cNvPr id="90136" name="Text Box 24"/>
            <p:cNvSpPr txBox="1">
              <a:spLocks noChangeArrowheads="1"/>
            </p:cNvSpPr>
            <p:nvPr/>
          </p:nvSpPr>
          <p:spPr bwMode="auto">
            <a:xfrm>
              <a:off x="3552" y="3264"/>
              <a:ext cx="384" cy="4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kumimoji="1" lang="en-US" altLang="zh-CN" sz="15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120</a:t>
              </a:r>
              <a:endParaRPr kumimoji="1" lang="en-US" altLang="zh-CN" sz="1200" b="1"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endParaRPr>
            </a:p>
          </p:txBody>
        </p:sp>
      </p:grpSp>
      <p:grpSp>
        <p:nvGrpSpPr>
          <p:cNvPr id="5" name="Group 25"/>
          <p:cNvGrpSpPr/>
          <p:nvPr/>
        </p:nvGrpSpPr>
        <p:grpSpPr>
          <a:xfrm>
            <a:off x="5600700" y="2914651"/>
            <a:ext cx="628650" cy="2382441"/>
            <a:chOff x="3744" y="1728"/>
            <a:chExt cx="528" cy="2001"/>
          </a:xfrm>
        </p:grpSpPr>
        <p:sp>
          <p:nvSpPr>
            <p:cNvPr id="49193" name="Rectangle 26"/>
            <p:cNvSpPr/>
            <p:nvPr/>
          </p:nvSpPr>
          <p:spPr>
            <a:xfrm>
              <a:off x="3744" y="1728"/>
              <a:ext cx="336" cy="1488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1350" dirty="0">
                <a:latin typeface="Garamond" panose="02020404030301010803" pitchFamily="18" charset="0"/>
                <a:cs typeface="华文楷体" panose="02010600040101010101" charset="-122"/>
              </a:endParaRPr>
            </a:p>
          </p:txBody>
        </p:sp>
        <p:sp>
          <p:nvSpPr>
            <p:cNvPr id="90139" name="Text Box 27"/>
            <p:cNvSpPr txBox="1">
              <a:spLocks noChangeArrowheads="1"/>
            </p:cNvSpPr>
            <p:nvPr/>
          </p:nvSpPr>
          <p:spPr bwMode="auto">
            <a:xfrm>
              <a:off x="3888" y="3264"/>
              <a:ext cx="384" cy="4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kumimoji="1" lang="en-US" altLang="zh-CN" sz="15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125</a:t>
              </a:r>
              <a:endParaRPr kumimoji="1" lang="en-US" altLang="zh-CN" sz="120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endParaRPr>
            </a:p>
          </p:txBody>
        </p:sp>
      </p:grpSp>
      <p:grpSp>
        <p:nvGrpSpPr>
          <p:cNvPr id="6" name="Group 28"/>
          <p:cNvGrpSpPr/>
          <p:nvPr/>
        </p:nvGrpSpPr>
        <p:grpSpPr>
          <a:xfrm>
            <a:off x="6000750" y="3486151"/>
            <a:ext cx="628650" cy="1810941"/>
            <a:chOff x="4080" y="2208"/>
            <a:chExt cx="528" cy="1521"/>
          </a:xfrm>
        </p:grpSpPr>
        <p:sp>
          <p:nvSpPr>
            <p:cNvPr id="49191" name="Rectangle 29"/>
            <p:cNvSpPr/>
            <p:nvPr/>
          </p:nvSpPr>
          <p:spPr>
            <a:xfrm>
              <a:off x="4080" y="2208"/>
              <a:ext cx="336" cy="1008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1350" dirty="0">
                <a:latin typeface="Garamond" panose="02020404030301010803" pitchFamily="18" charset="0"/>
                <a:cs typeface="华文楷体" panose="02010600040101010101" charset="-122"/>
              </a:endParaRPr>
            </a:p>
          </p:txBody>
        </p:sp>
        <p:sp>
          <p:nvSpPr>
            <p:cNvPr id="90142" name="Text Box 30"/>
            <p:cNvSpPr txBox="1">
              <a:spLocks noChangeArrowheads="1"/>
            </p:cNvSpPr>
            <p:nvPr/>
          </p:nvSpPr>
          <p:spPr bwMode="auto">
            <a:xfrm>
              <a:off x="4224" y="3264"/>
              <a:ext cx="384" cy="4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kumimoji="1" lang="en-US" altLang="zh-CN" sz="15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130</a:t>
              </a:r>
              <a:endParaRPr kumimoji="1" lang="en-US" altLang="zh-CN" sz="120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endParaRPr>
            </a:p>
          </p:txBody>
        </p:sp>
      </p:grpSp>
      <p:grpSp>
        <p:nvGrpSpPr>
          <p:cNvPr id="7" name="Group 31"/>
          <p:cNvGrpSpPr/>
          <p:nvPr/>
        </p:nvGrpSpPr>
        <p:grpSpPr>
          <a:xfrm>
            <a:off x="6400800" y="4057651"/>
            <a:ext cx="628650" cy="1239441"/>
            <a:chOff x="4416" y="2688"/>
            <a:chExt cx="528" cy="1041"/>
          </a:xfrm>
        </p:grpSpPr>
        <p:sp>
          <p:nvSpPr>
            <p:cNvPr id="49189" name="Rectangle 32"/>
            <p:cNvSpPr/>
            <p:nvPr/>
          </p:nvSpPr>
          <p:spPr>
            <a:xfrm>
              <a:off x="4416" y="2688"/>
              <a:ext cx="336" cy="528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1350" dirty="0">
                <a:latin typeface="Garamond" panose="02020404030301010803" pitchFamily="18" charset="0"/>
                <a:cs typeface="华文楷体" panose="02010600040101010101" charset="-122"/>
              </a:endParaRPr>
            </a:p>
          </p:txBody>
        </p:sp>
        <p:sp>
          <p:nvSpPr>
            <p:cNvPr id="90145" name="Text Box 33"/>
            <p:cNvSpPr txBox="1">
              <a:spLocks noChangeArrowheads="1"/>
            </p:cNvSpPr>
            <p:nvPr/>
          </p:nvSpPr>
          <p:spPr bwMode="auto">
            <a:xfrm>
              <a:off x="4560" y="3264"/>
              <a:ext cx="384" cy="4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kumimoji="1" lang="en-US" altLang="zh-CN" sz="15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135</a:t>
              </a:r>
              <a:endParaRPr kumimoji="1" lang="en-US" altLang="zh-CN" sz="120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endParaRPr>
            </a:p>
          </p:txBody>
        </p:sp>
      </p:grpSp>
      <p:grpSp>
        <p:nvGrpSpPr>
          <p:cNvPr id="8" name="Group 34"/>
          <p:cNvGrpSpPr/>
          <p:nvPr/>
        </p:nvGrpSpPr>
        <p:grpSpPr>
          <a:xfrm>
            <a:off x="6800850" y="4400551"/>
            <a:ext cx="628650" cy="896541"/>
            <a:chOff x="4752" y="2976"/>
            <a:chExt cx="528" cy="753"/>
          </a:xfrm>
        </p:grpSpPr>
        <p:sp>
          <p:nvSpPr>
            <p:cNvPr id="49187" name="Rectangle 35"/>
            <p:cNvSpPr/>
            <p:nvPr/>
          </p:nvSpPr>
          <p:spPr>
            <a:xfrm>
              <a:off x="4752" y="2976"/>
              <a:ext cx="336" cy="240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sz="1350" dirty="0">
                <a:latin typeface="Garamond" panose="02020404030301010803" pitchFamily="18" charset="0"/>
                <a:cs typeface="华文楷体" panose="02010600040101010101" charset="-122"/>
              </a:endParaRPr>
            </a:p>
          </p:txBody>
        </p:sp>
        <p:sp>
          <p:nvSpPr>
            <p:cNvPr id="90148" name="Text Box 36"/>
            <p:cNvSpPr txBox="1">
              <a:spLocks noChangeArrowheads="1"/>
            </p:cNvSpPr>
            <p:nvPr/>
          </p:nvSpPr>
          <p:spPr bwMode="auto">
            <a:xfrm>
              <a:off x="4896" y="3264"/>
              <a:ext cx="384" cy="4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kumimoji="1" lang="en-US" altLang="zh-CN" sz="15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140</a:t>
              </a:r>
              <a:endParaRPr kumimoji="1" lang="en-US" altLang="zh-CN" sz="120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endParaRPr>
            </a:p>
          </p:txBody>
        </p:sp>
      </p:grpSp>
      <p:sp>
        <p:nvSpPr>
          <p:cNvPr id="90149" name="Text Box 37"/>
          <p:cNvSpPr txBox="1">
            <a:spLocks noChangeArrowheads="1"/>
          </p:cNvSpPr>
          <p:nvPr/>
        </p:nvSpPr>
        <p:spPr bwMode="auto">
          <a:xfrm>
            <a:off x="6629400" y="4972050"/>
            <a:ext cx="1371600" cy="275590"/>
          </a:xfrm>
          <a:prstGeom prst="rect">
            <a:avLst/>
          </a:prstGeom>
          <a:noFill/>
          <a:ln>
            <a:noFill/>
          </a:ln>
          <a:effectLst>
            <a:outerShdw dist="45791" dir="2021404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1" lang="zh-CN" altLang="en-US" sz="120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日加工零件数</a:t>
            </a:r>
            <a:r>
              <a:rPr kumimoji="1" lang="en-US" altLang="zh-CN" sz="120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(</a:t>
            </a:r>
            <a:r>
              <a:rPr kumimoji="1" lang="zh-CN" altLang="en-US" sz="120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个</a:t>
            </a:r>
            <a:r>
              <a:rPr kumimoji="1" lang="en-US" altLang="zh-CN" sz="120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)</a:t>
            </a:r>
          </a:p>
        </p:txBody>
      </p:sp>
      <p:grpSp>
        <p:nvGrpSpPr>
          <p:cNvPr id="9" name="Group 38"/>
          <p:cNvGrpSpPr/>
          <p:nvPr/>
        </p:nvGrpSpPr>
        <p:grpSpPr>
          <a:xfrm>
            <a:off x="6286500" y="2286000"/>
            <a:ext cx="1485900" cy="800100"/>
            <a:chOff x="4320" y="1200"/>
            <a:chExt cx="1248" cy="672"/>
          </a:xfrm>
        </p:grpSpPr>
        <p:sp>
          <p:nvSpPr>
            <p:cNvPr id="49185" name="AutoShape 39"/>
            <p:cNvSpPr/>
            <p:nvPr/>
          </p:nvSpPr>
          <p:spPr>
            <a:xfrm>
              <a:off x="4320" y="1200"/>
              <a:ext cx="1248" cy="672"/>
            </a:xfrm>
            <a:prstGeom prst="cloudCallout">
              <a:avLst>
                <a:gd name="adj1" fmla="val -43750"/>
                <a:gd name="adj2" fmla="val 78569"/>
              </a:avLst>
            </a:prstGeom>
            <a:noFill/>
            <a:ln w="127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  <p:txBody>
            <a:bodyPr wrap="none" anchor="ctr" anchorCtr="0"/>
            <a:lstStyle/>
            <a:p>
              <a:pPr algn="ctr" eaLnBrk="0" hangingPunct="0">
                <a:buNone/>
              </a:pPr>
              <a:endParaRPr lang="zh-CN" altLang="en-US" sz="4500" dirty="0">
                <a:latin typeface="华文楷体" panose="02010600040101010101" charset="-122"/>
                <a:cs typeface="华文楷体" panose="02010600040101010101" charset="-122"/>
              </a:endParaRPr>
            </a:p>
          </p:txBody>
        </p:sp>
        <p:sp>
          <p:nvSpPr>
            <p:cNvPr id="49186" name="Text Box 40"/>
            <p:cNvSpPr txBox="1"/>
            <p:nvPr/>
          </p:nvSpPr>
          <p:spPr>
            <a:xfrm>
              <a:off x="4416" y="1344"/>
              <a:ext cx="1152" cy="465"/>
            </a:xfrm>
            <a:prstGeom prst="rect">
              <a:avLst/>
            </a:prstGeom>
            <a:noFill/>
            <a:ln w="12700">
              <a:noFill/>
            </a:ln>
            <a:effectLst>
              <a:outerShdw dist="35921" dir="2699999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buNone/>
              </a:pPr>
              <a:r>
                <a:rPr lang="zh-CN" altLang="en-US" sz="1500" dirty="0">
                  <a:latin typeface="华文楷体" panose="02010600040101010101" charset="-122"/>
                  <a:cs typeface="华文楷体" panose="02010600040101010101" charset="-122"/>
                </a:rPr>
                <a:t>直方图下的面积之和等于</a:t>
              </a:r>
              <a:r>
                <a:rPr lang="en-US" altLang="zh-CN" sz="1500" dirty="0">
                  <a:latin typeface="华文楷体" panose="02010600040101010101" charset="-122"/>
                  <a:cs typeface="华文楷体" panose="02010600040101010101" charset="-122"/>
                </a:rPr>
                <a:t>1</a:t>
              </a:r>
            </a:p>
          </p:txBody>
        </p:sp>
      </p:grpSp>
      <p:sp>
        <p:nvSpPr>
          <p:cNvPr id="90153" name="Text Box 41"/>
          <p:cNvSpPr txBox="1">
            <a:spLocks noChangeArrowheads="1"/>
          </p:cNvSpPr>
          <p:nvPr/>
        </p:nvSpPr>
        <p:spPr bwMode="auto">
          <a:xfrm>
            <a:off x="4400550" y="5302292"/>
            <a:ext cx="3028950" cy="275590"/>
          </a:xfrm>
          <a:prstGeom prst="rect">
            <a:avLst/>
          </a:prstGeom>
          <a:solidFill>
            <a:srgbClr val="C545AD"/>
          </a:solidFill>
          <a:ln>
            <a:noFill/>
          </a:ln>
          <a:effectLst>
            <a:outerShdw dist="81320" dir="2319588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kumimoji="1" lang="zh-CN" altLang="en-US" sz="12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楷体" panose="02010600040101010101" charset="-122"/>
              </a:rPr>
              <a:t>图</a:t>
            </a:r>
            <a:r>
              <a:rPr kumimoji="1" lang="en-US" altLang="zh-CN" sz="12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楷体" panose="02010600040101010101" charset="-122"/>
              </a:rPr>
              <a:t>  </a:t>
            </a:r>
            <a:r>
              <a:rPr kumimoji="1" lang="zh-CN" altLang="en-US" sz="12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楷体" panose="02010600040101010101" charset="-122"/>
              </a:rPr>
              <a:t>某车间工人日加工零件数的直方图</a:t>
            </a:r>
          </a:p>
        </p:txBody>
      </p:sp>
      <p:grpSp>
        <p:nvGrpSpPr>
          <p:cNvPr id="10" name="Group 42"/>
          <p:cNvGrpSpPr/>
          <p:nvPr/>
        </p:nvGrpSpPr>
        <p:grpSpPr>
          <a:xfrm>
            <a:off x="4171950" y="3086100"/>
            <a:ext cx="3257550" cy="1543050"/>
            <a:chOff x="847" y="2352"/>
            <a:chExt cx="1725" cy="575"/>
          </a:xfrm>
        </p:grpSpPr>
        <p:sp>
          <p:nvSpPr>
            <p:cNvPr id="49183" name="Freeform 43"/>
            <p:cNvSpPr/>
            <p:nvPr/>
          </p:nvSpPr>
          <p:spPr>
            <a:xfrm>
              <a:off x="1709" y="2352"/>
              <a:ext cx="863" cy="575"/>
            </a:xfrm>
            <a:custGeom>
              <a:avLst/>
              <a:gdLst/>
              <a:ahLst/>
              <a:cxnLst>
                <a:cxn ang="0">
                  <a:pos x="862" y="574"/>
                </a:cxn>
                <a:cxn ang="0">
                  <a:pos x="770" y="566"/>
                </a:cxn>
                <a:cxn ang="0">
                  <a:pos x="726" y="561"/>
                </a:cxn>
                <a:cxn ang="0">
                  <a:pos x="680" y="551"/>
                </a:cxn>
                <a:cxn ang="0">
                  <a:pos x="634" y="538"/>
                </a:cxn>
                <a:cxn ang="0">
                  <a:pos x="590" y="520"/>
                </a:cxn>
                <a:cxn ang="0">
                  <a:pos x="544" y="496"/>
                </a:cxn>
                <a:cxn ang="0">
                  <a:pos x="452" y="429"/>
                </a:cxn>
                <a:cxn ang="0">
                  <a:pos x="362" y="335"/>
                </a:cxn>
                <a:cxn ang="0">
                  <a:pos x="272" y="224"/>
                </a:cxn>
                <a:cxn ang="0">
                  <a:pos x="226" y="167"/>
                </a:cxn>
                <a:cxn ang="0">
                  <a:pos x="180" y="113"/>
                </a:cxn>
                <a:cxn ang="0">
                  <a:pos x="136" y="67"/>
                </a:cxn>
                <a:cxn ang="0">
                  <a:pos x="90" y="31"/>
                </a:cxn>
                <a:cxn ang="0">
                  <a:pos x="44" y="8"/>
                </a:cxn>
                <a:cxn ang="0">
                  <a:pos x="0" y="0"/>
                </a:cxn>
              </a:cxnLst>
              <a:rect l="0" t="0" r="0" b="0"/>
              <a:pathLst>
                <a:path w="863" h="575">
                  <a:moveTo>
                    <a:pt x="862" y="574"/>
                  </a:moveTo>
                  <a:lnTo>
                    <a:pt x="770" y="566"/>
                  </a:lnTo>
                  <a:lnTo>
                    <a:pt x="726" y="561"/>
                  </a:lnTo>
                  <a:lnTo>
                    <a:pt x="680" y="551"/>
                  </a:lnTo>
                  <a:lnTo>
                    <a:pt x="634" y="538"/>
                  </a:lnTo>
                  <a:lnTo>
                    <a:pt x="590" y="520"/>
                  </a:lnTo>
                  <a:lnTo>
                    <a:pt x="544" y="496"/>
                  </a:lnTo>
                  <a:lnTo>
                    <a:pt x="452" y="429"/>
                  </a:lnTo>
                  <a:lnTo>
                    <a:pt x="362" y="335"/>
                  </a:lnTo>
                  <a:lnTo>
                    <a:pt x="272" y="224"/>
                  </a:lnTo>
                  <a:lnTo>
                    <a:pt x="226" y="167"/>
                  </a:lnTo>
                  <a:lnTo>
                    <a:pt x="180" y="113"/>
                  </a:lnTo>
                  <a:lnTo>
                    <a:pt x="136" y="67"/>
                  </a:lnTo>
                  <a:lnTo>
                    <a:pt x="90" y="31"/>
                  </a:lnTo>
                  <a:lnTo>
                    <a:pt x="44" y="8"/>
                  </a:lnTo>
                  <a:lnTo>
                    <a:pt x="0" y="0"/>
                  </a:lnTo>
                </a:path>
              </a:pathLst>
            </a:custGeom>
            <a:noFill/>
            <a:ln w="28575" cap="rnd" cmpd="sng">
              <a:solidFill>
                <a:schemeClr val="hlink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>
                  <a:alpha val="100000"/>
                </a:schemeClr>
              </a:outerShdw>
            </a:effectLst>
          </p:spPr>
          <p:txBody>
            <a:bodyPr/>
            <a:lstStyle/>
            <a:p>
              <a:endParaRPr lang="zh-CN" altLang="en-US" sz="1350">
                <a:cs typeface="华文楷体" panose="02010600040101010101" charset="-122"/>
              </a:endParaRPr>
            </a:p>
          </p:txBody>
        </p:sp>
        <p:sp>
          <p:nvSpPr>
            <p:cNvPr id="49184" name="Freeform 44"/>
            <p:cNvSpPr/>
            <p:nvPr/>
          </p:nvSpPr>
          <p:spPr>
            <a:xfrm>
              <a:off x="847" y="2352"/>
              <a:ext cx="863" cy="575"/>
            </a:xfrm>
            <a:custGeom>
              <a:avLst/>
              <a:gdLst/>
              <a:ahLst/>
              <a:cxnLst>
                <a:cxn ang="0">
                  <a:pos x="0" y="574"/>
                </a:cxn>
                <a:cxn ang="0">
                  <a:pos x="90" y="566"/>
                </a:cxn>
                <a:cxn ang="0">
                  <a:pos x="136" y="561"/>
                </a:cxn>
                <a:cxn ang="0">
                  <a:pos x="180" y="551"/>
                </a:cxn>
                <a:cxn ang="0">
                  <a:pos x="226" y="538"/>
                </a:cxn>
                <a:cxn ang="0">
                  <a:pos x="272" y="520"/>
                </a:cxn>
                <a:cxn ang="0">
                  <a:pos x="316" y="496"/>
                </a:cxn>
                <a:cxn ang="0">
                  <a:pos x="408" y="429"/>
                </a:cxn>
                <a:cxn ang="0">
                  <a:pos x="498" y="335"/>
                </a:cxn>
                <a:cxn ang="0">
                  <a:pos x="590" y="224"/>
                </a:cxn>
                <a:cxn ang="0">
                  <a:pos x="634" y="167"/>
                </a:cxn>
                <a:cxn ang="0">
                  <a:pos x="680" y="113"/>
                </a:cxn>
                <a:cxn ang="0">
                  <a:pos x="726" y="67"/>
                </a:cxn>
                <a:cxn ang="0">
                  <a:pos x="770" y="31"/>
                </a:cxn>
                <a:cxn ang="0">
                  <a:pos x="816" y="8"/>
                </a:cxn>
                <a:cxn ang="0">
                  <a:pos x="862" y="0"/>
                </a:cxn>
              </a:cxnLst>
              <a:rect l="0" t="0" r="0" b="0"/>
              <a:pathLst>
                <a:path w="863" h="575">
                  <a:moveTo>
                    <a:pt x="0" y="574"/>
                  </a:moveTo>
                  <a:lnTo>
                    <a:pt x="90" y="566"/>
                  </a:lnTo>
                  <a:lnTo>
                    <a:pt x="136" y="561"/>
                  </a:lnTo>
                  <a:lnTo>
                    <a:pt x="180" y="551"/>
                  </a:lnTo>
                  <a:lnTo>
                    <a:pt x="226" y="538"/>
                  </a:lnTo>
                  <a:lnTo>
                    <a:pt x="272" y="520"/>
                  </a:lnTo>
                  <a:lnTo>
                    <a:pt x="316" y="496"/>
                  </a:lnTo>
                  <a:lnTo>
                    <a:pt x="408" y="429"/>
                  </a:lnTo>
                  <a:lnTo>
                    <a:pt x="498" y="335"/>
                  </a:lnTo>
                  <a:lnTo>
                    <a:pt x="590" y="224"/>
                  </a:lnTo>
                  <a:lnTo>
                    <a:pt x="634" y="167"/>
                  </a:lnTo>
                  <a:lnTo>
                    <a:pt x="680" y="113"/>
                  </a:lnTo>
                  <a:lnTo>
                    <a:pt x="726" y="67"/>
                  </a:lnTo>
                  <a:lnTo>
                    <a:pt x="770" y="31"/>
                  </a:lnTo>
                  <a:lnTo>
                    <a:pt x="816" y="8"/>
                  </a:lnTo>
                  <a:lnTo>
                    <a:pt x="862" y="0"/>
                  </a:lnTo>
                </a:path>
              </a:pathLst>
            </a:custGeom>
            <a:noFill/>
            <a:ln w="28575" cap="rnd" cmpd="sng">
              <a:solidFill>
                <a:schemeClr val="hlink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>
                  <a:alpha val="100000"/>
                </a:schemeClr>
              </a:outerShdw>
            </a:effectLst>
          </p:spPr>
          <p:txBody>
            <a:bodyPr/>
            <a:lstStyle/>
            <a:p>
              <a:endParaRPr lang="zh-CN" altLang="en-US" sz="1350">
                <a:cs typeface="华文楷体" panose="02010600040101010101" charset="-122"/>
              </a:endParaRPr>
            </a:p>
          </p:txBody>
        </p:sp>
      </p:grpSp>
      <p:sp>
        <p:nvSpPr>
          <p:cNvPr id="49178" name="Line 45"/>
          <p:cNvSpPr/>
          <p:nvPr/>
        </p:nvSpPr>
        <p:spPr>
          <a:xfrm>
            <a:off x="2282429" y="3086100"/>
            <a:ext cx="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</p:sp>
      <p:grpSp>
        <p:nvGrpSpPr>
          <p:cNvPr id="11" name="Group 46"/>
          <p:cNvGrpSpPr/>
          <p:nvPr/>
        </p:nvGrpSpPr>
        <p:grpSpPr>
          <a:xfrm>
            <a:off x="890905" y="1490345"/>
            <a:ext cx="2138045" cy="3845560"/>
            <a:chOff x="179" y="1295"/>
            <a:chExt cx="1453" cy="2674"/>
          </a:xfrm>
        </p:grpSpPr>
        <p:graphicFrame>
          <p:nvGraphicFramePr>
            <p:cNvPr id="49181" name="Object 47"/>
            <p:cNvGraphicFramePr>
              <a:graphicFrameLocks noChangeAspect="1"/>
            </p:cNvGraphicFramePr>
            <p:nvPr/>
          </p:nvGraphicFramePr>
          <p:xfrm>
            <a:off x="179" y="2112"/>
            <a:ext cx="1453" cy="18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3025775" imgH="3253105" progId="MS_ClipArt_Gallery.2">
                    <p:embed/>
                  </p:oleObj>
                </mc:Choice>
                <mc:Fallback>
                  <p:oleObj r:id="rId3" imgW="3025775" imgH="3253105" progId="MS_ClipArt_Gallery.2">
                    <p:embed/>
                    <p:pic>
                      <p:nvPicPr>
                        <p:cNvPr id="0" name="Object 4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79" y="2112"/>
                          <a:ext cx="1453" cy="1857"/>
                        </a:xfrm>
                        <a:prstGeom prst="rect">
                          <a:avLst/>
                        </a:prstGeom>
                        <a:gradFill rotWithShape="0">
                          <a:gsLst>
                            <a:gs pos="0">
                              <a:srgbClr val="FFFFFF"/>
                            </a:gs>
                            <a:gs pos="100000">
                              <a:srgbClr val="FFFF9B"/>
                            </a:gs>
                          </a:gsLst>
                          <a:lin ang="5400000" scaled="1"/>
                          <a:tileRect/>
                        </a:gradFill>
                        <a:ln w="38100">
                          <a:noFill/>
                          <a:miter/>
                        </a:ln>
                        <a:effectLst>
                          <a:outerShdw dist="92457" dir="956723" algn="ctr" rotWithShape="0">
                            <a:srgbClr val="808080"/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0160" name="AutoShape 48"/>
            <p:cNvSpPr>
              <a:spLocks noChangeArrowheads="1"/>
            </p:cNvSpPr>
            <p:nvPr/>
          </p:nvSpPr>
          <p:spPr bwMode="auto">
            <a:xfrm>
              <a:off x="368" y="1295"/>
              <a:ext cx="950" cy="474"/>
            </a:xfrm>
            <a:prstGeom prst="wedgeRectCallout">
              <a:avLst>
                <a:gd name="adj1" fmla="val 42843"/>
                <a:gd name="adj2" fmla="val 90676"/>
              </a:avLst>
            </a:prstGeom>
            <a:noFill/>
            <a:ln w="12700">
              <a:solidFill>
                <a:schemeClr val="tx2"/>
              </a:solidFill>
              <a:miter lim="800000"/>
            </a:ln>
            <a:effectLst/>
          </p:spPr>
          <p:txBody>
            <a:bodyPr>
              <a:spAutoFit/>
            </a:bodyPr>
            <a:lstStyle/>
            <a:p>
              <a:pPr algn="ctr" eaLnBrk="0" fontAlgn="base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zh-CN" altLang="en-US" sz="12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等线" panose="02010600030101010101" charset="-122"/>
                  <a:ea typeface="等线" panose="02010600030101010101" charset="-122"/>
                  <a:cs typeface="华文楷体" panose="02010600040101010101" charset="-122"/>
                </a:rPr>
                <a:t>我一眼就看出来了，大多数人的日加工零件数在</a:t>
              </a:r>
              <a:r>
                <a:rPr kumimoji="1" lang="en-US" altLang="zh-CN" sz="12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等线" panose="02010600030101010101" charset="-122"/>
                  <a:ea typeface="等线" panose="02010600030101010101" charset="-122"/>
                  <a:cs typeface="华文楷体" panose="02010600040101010101" charset="-122"/>
                </a:rPr>
                <a:t>120</a:t>
              </a:r>
              <a:r>
                <a:rPr kumimoji="1" lang="zh-CN" altLang="en-US" sz="12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等线" panose="02010600030101010101" charset="-122"/>
                  <a:ea typeface="等线" panose="02010600030101010101" charset="-122"/>
                  <a:cs typeface="华文楷体" panose="02010600040101010101" charset="-122"/>
                </a:rPr>
                <a:t>～</a:t>
              </a:r>
              <a:r>
                <a:rPr kumimoji="1" lang="en-US" altLang="zh-CN" sz="12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等线" panose="02010600030101010101" charset="-122"/>
                  <a:ea typeface="等线" panose="02010600030101010101" charset="-122"/>
                  <a:cs typeface="华文楷体" panose="02010600040101010101" charset="-122"/>
                </a:rPr>
                <a:t>125</a:t>
              </a:r>
              <a:r>
                <a:rPr kumimoji="1" lang="zh-CN" altLang="en-US" sz="12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等线" panose="02010600030101010101" charset="-122"/>
                  <a:ea typeface="等线" panose="02010600030101010101" charset="-122"/>
                  <a:cs typeface="华文楷体" panose="02010600040101010101" charset="-122"/>
                </a:rPr>
                <a:t>之间</a:t>
              </a:r>
              <a:r>
                <a:rPr kumimoji="1" lang="en-US" altLang="zh-CN" sz="12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等线" panose="02010600030101010101" charset="-122"/>
                  <a:ea typeface="等线" panose="02010600030101010101" charset="-122"/>
                  <a:cs typeface="华文楷体" panose="02010600040101010101" charset="-122"/>
                </a:rPr>
                <a:t>!</a:t>
              </a:r>
            </a:p>
          </p:txBody>
        </p:sp>
      </p:grpSp>
      <p:sp>
        <p:nvSpPr>
          <p:cNvPr id="49180" name="Line 49"/>
          <p:cNvSpPr/>
          <p:nvPr/>
        </p:nvSpPr>
        <p:spPr>
          <a:xfrm>
            <a:off x="4000500" y="4686300"/>
            <a:ext cx="360045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  <a:effectLst>
            <a:outerShdw dist="45791" dir="3378595" algn="ctr" rotWithShape="0">
              <a:schemeClr val="bg2"/>
            </a:outerShdw>
          </a:effectLst>
        </p:spPr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485788" y="646430"/>
            <a:ext cx="6172200" cy="800100"/>
          </a:xfrm>
        </p:spPr>
        <p:txBody>
          <a:bodyPr vert="horz" wrap="square" lIns="67866" tIns="33337" rIns="67866" bIns="33337" numCol="1" rtlCol="0" anchor="ctr" anchorCtr="1" compatLnSpc="1">
            <a:normAutofit fontScale="90000"/>
          </a:bodyPr>
          <a:lstStyle/>
          <a:p>
            <a:pPr algn="ctr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lang="zh-CN" altLang="en-US" sz="4400" b="1" dirty="0"/>
              <a:t>分组数据—折线图</a:t>
            </a:r>
            <a:br>
              <a:rPr lang="zh-CN" altLang="en-US" sz="4400" b="1" dirty="0"/>
            </a:br>
            <a:endParaRPr kumimoji="1" lang="zh-CN" altLang="en-US" sz="2700" dirty="0"/>
          </a:p>
        </p:txBody>
      </p:sp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>
          <a:xfrm>
            <a:off x="921385" y="1558290"/>
            <a:ext cx="7635240" cy="3985260"/>
          </a:xfrm>
        </p:spPr>
        <p:txBody>
          <a:bodyPr vert="horz" wrap="square" lIns="67866" tIns="33337" rIns="67866" bIns="33337" numCol="1" rtlCol="0" anchor="t" anchorCtr="0" compatLnSpc="1">
            <a:normAutofit fontScale="87500"/>
          </a:bodyPr>
          <a:lstStyle/>
          <a:p>
            <a:pPr marL="0" indent="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Tx/>
              <a:buNone/>
              <a:defRPr/>
            </a:pPr>
            <a:r>
              <a:rPr sz="25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2220" dirty="0"/>
              <a:t>折线图也称频数多边形图。</a:t>
            </a:r>
            <a:endParaRPr kumimoji="1" lang="en-US" altLang="zh-CN" sz="2220" dirty="0"/>
          </a:p>
          <a:p>
            <a:pPr marL="0" indent="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Tx/>
              <a:buNone/>
              <a:defRPr/>
            </a:pPr>
            <a:r>
              <a:rPr sz="222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22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2220" dirty="0"/>
              <a:t>在直方图的基础上，把直方图顶部的中点</a:t>
            </a:r>
            <a:r>
              <a:rPr kumimoji="1" lang="en-US" altLang="zh-CN" sz="2220" dirty="0"/>
              <a:t>(</a:t>
            </a:r>
            <a:r>
              <a:rPr kumimoji="1" lang="zh-CN" altLang="en-US" sz="2220" dirty="0"/>
              <a:t>组中值</a:t>
            </a:r>
            <a:r>
              <a:rPr kumimoji="1" lang="en-US" altLang="zh-CN" sz="2220" dirty="0"/>
              <a:t>)</a:t>
            </a:r>
            <a:r>
              <a:rPr kumimoji="1" lang="zh-CN" altLang="en-US" sz="2220" dirty="0"/>
              <a:t>用直线连接起来，再把原来的直方图抹掉。</a:t>
            </a:r>
          </a:p>
          <a:p>
            <a:pPr marL="0" indent="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Tx/>
              <a:buNone/>
              <a:defRPr/>
            </a:pPr>
            <a:r>
              <a:rPr sz="222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22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kumimoji="1" lang="zh-CN" altLang="en-US" sz="2220" dirty="0"/>
              <a:t>折线图的两个终点要与横轴相交，具体的做法是：</a:t>
            </a:r>
          </a:p>
          <a:p>
            <a:pPr lvl="1" indent="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1" lang="zh-CN" altLang="en-US" sz="2220" dirty="0"/>
              <a:t>第一个矩形的顶部中点通过竖边中点（即该组频数一半的位置）连接到横轴，最后一个矩形顶部中点与其竖边中点连接到横轴</a:t>
            </a:r>
          </a:p>
          <a:p>
            <a:pPr lvl="1" indent="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kumimoji="1" lang="zh-CN" altLang="en-US" sz="2220" dirty="0"/>
              <a:t>折线图下所围成的面积与直方图的面积相等，二者所表示的频数分布是一致的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42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4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1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/>
          <p:nvPr/>
        </p:nvSpPr>
        <p:spPr>
          <a:xfrm>
            <a:off x="2914650" y="4343400"/>
            <a:ext cx="342900" cy="285750"/>
          </a:xfrm>
          <a:prstGeom prst="rect">
            <a:avLst/>
          </a:prstGeom>
          <a:noFill/>
          <a:ln w="12700" cap="flat" cmpd="sng">
            <a:solidFill>
              <a:schemeClr val="accent2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sz="1350" dirty="0">
              <a:latin typeface="Garamond" panose="02020404030301010803" pitchFamily="18" charset="0"/>
              <a:cs typeface="华文楷体" panose="02010600040101010101" charset="-122"/>
            </a:endParaRPr>
          </a:p>
        </p:txBody>
      </p:sp>
      <p:sp>
        <p:nvSpPr>
          <p:cNvPr id="52227" name="Rectangle 3"/>
          <p:cNvSpPr/>
          <p:nvPr/>
        </p:nvSpPr>
        <p:spPr>
          <a:xfrm>
            <a:off x="3257550" y="4114800"/>
            <a:ext cx="342900" cy="514350"/>
          </a:xfrm>
          <a:prstGeom prst="rect">
            <a:avLst/>
          </a:prstGeom>
          <a:noFill/>
          <a:ln w="12700" cap="flat" cmpd="sng">
            <a:solidFill>
              <a:schemeClr val="accent2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sz="1350" dirty="0">
              <a:latin typeface="Garamond" panose="02020404030301010803" pitchFamily="18" charset="0"/>
              <a:cs typeface="华文楷体" panose="02010600040101010101" charset="-122"/>
            </a:endParaRPr>
          </a:p>
        </p:txBody>
      </p:sp>
      <p:sp>
        <p:nvSpPr>
          <p:cNvPr id="52228" name="Line 4"/>
          <p:cNvSpPr/>
          <p:nvPr/>
        </p:nvSpPr>
        <p:spPr>
          <a:xfrm>
            <a:off x="2457450" y="2286000"/>
            <a:ext cx="0" cy="234315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  <a:effectLst>
            <a:outerShdw dist="45791" dir="2021404" algn="ctr" rotWithShape="0">
              <a:schemeClr val="bg2"/>
            </a:outerShdw>
          </a:effectLst>
        </p:spPr>
      </p:sp>
      <p:sp>
        <p:nvSpPr>
          <p:cNvPr id="52229" name="Line 5"/>
          <p:cNvSpPr/>
          <p:nvPr/>
        </p:nvSpPr>
        <p:spPr>
          <a:xfrm>
            <a:off x="2400300" y="4343400"/>
            <a:ext cx="57150" cy="0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</p:sp>
      <p:sp>
        <p:nvSpPr>
          <p:cNvPr id="52230" name="Line 6"/>
          <p:cNvSpPr/>
          <p:nvPr/>
        </p:nvSpPr>
        <p:spPr>
          <a:xfrm>
            <a:off x="2400300" y="3943350"/>
            <a:ext cx="57150" cy="0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</p:sp>
      <p:sp>
        <p:nvSpPr>
          <p:cNvPr id="52231" name="Line 7"/>
          <p:cNvSpPr/>
          <p:nvPr/>
        </p:nvSpPr>
        <p:spPr>
          <a:xfrm>
            <a:off x="2400300" y="3543300"/>
            <a:ext cx="57150" cy="0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</p:sp>
      <p:sp>
        <p:nvSpPr>
          <p:cNvPr id="52232" name="Line 8"/>
          <p:cNvSpPr/>
          <p:nvPr/>
        </p:nvSpPr>
        <p:spPr>
          <a:xfrm>
            <a:off x="2400300" y="3143250"/>
            <a:ext cx="57150" cy="0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</p:sp>
      <p:sp>
        <p:nvSpPr>
          <p:cNvPr id="52233" name="Line 9"/>
          <p:cNvSpPr/>
          <p:nvPr/>
        </p:nvSpPr>
        <p:spPr>
          <a:xfrm>
            <a:off x="2400300" y="3086100"/>
            <a:ext cx="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2234" name="Line 10"/>
          <p:cNvSpPr/>
          <p:nvPr/>
        </p:nvSpPr>
        <p:spPr>
          <a:xfrm>
            <a:off x="2400300" y="2686050"/>
            <a:ext cx="57150" cy="0"/>
          </a:xfrm>
          <a:prstGeom prst="line">
            <a:avLst/>
          </a:prstGeom>
          <a:ln w="317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</p:sp>
      <p:sp>
        <p:nvSpPr>
          <p:cNvPr id="96267" name="Text Box 11"/>
          <p:cNvSpPr txBox="1">
            <a:spLocks noChangeArrowheads="1"/>
          </p:cNvSpPr>
          <p:nvPr/>
        </p:nvSpPr>
        <p:spPr bwMode="auto">
          <a:xfrm>
            <a:off x="2057400" y="2571751"/>
            <a:ext cx="400050" cy="32194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1" lang="en-US" altLang="zh-CN" sz="150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15</a:t>
            </a:r>
            <a:endParaRPr kumimoji="1" lang="en-US" altLang="zh-CN" sz="4500">
              <a:latin typeface="华文楷体" panose="02010600040101010101" charset="-122"/>
              <a:ea typeface="宋体" panose="02010600030101010101" pitchFamily="2" charset="-122"/>
              <a:cs typeface="华文楷体" panose="02010600040101010101" charset="-122"/>
            </a:endParaRPr>
          </a:p>
        </p:txBody>
      </p:sp>
      <p:sp>
        <p:nvSpPr>
          <p:cNvPr id="96268" name="Text Box 12"/>
          <p:cNvSpPr txBox="1">
            <a:spLocks noChangeArrowheads="1"/>
          </p:cNvSpPr>
          <p:nvPr/>
        </p:nvSpPr>
        <p:spPr bwMode="auto">
          <a:xfrm>
            <a:off x="2057400" y="3028951"/>
            <a:ext cx="400050" cy="32194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1" lang="en-US" altLang="zh-CN" sz="150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12</a:t>
            </a:r>
            <a:endParaRPr kumimoji="1" lang="en-US" altLang="zh-CN" sz="1200">
              <a:effectLst>
                <a:outerShdw blurRad="38100" dist="38100" dir="2700000" algn="tl">
                  <a:srgbClr val="000000"/>
                </a:outerShdw>
              </a:effectLst>
              <a:latin typeface="华文楷体" panose="02010600040101010101" charset="-122"/>
              <a:ea typeface="宋体" panose="02010600030101010101" pitchFamily="2" charset="-122"/>
              <a:cs typeface="华文楷体" panose="02010600040101010101" charset="-122"/>
            </a:endParaRPr>
          </a:p>
        </p:txBody>
      </p:sp>
      <p:sp>
        <p:nvSpPr>
          <p:cNvPr id="96269" name="Text Box 13"/>
          <p:cNvSpPr txBox="1">
            <a:spLocks noChangeArrowheads="1"/>
          </p:cNvSpPr>
          <p:nvPr/>
        </p:nvSpPr>
        <p:spPr bwMode="auto">
          <a:xfrm>
            <a:off x="2114550" y="3429001"/>
            <a:ext cx="285750" cy="32194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1" lang="en-US" altLang="zh-CN" sz="150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9</a:t>
            </a:r>
            <a:endParaRPr kumimoji="1" lang="en-US" altLang="zh-CN" sz="1200">
              <a:effectLst>
                <a:outerShdw blurRad="38100" dist="38100" dir="2700000" algn="tl">
                  <a:srgbClr val="000000"/>
                </a:outerShdw>
              </a:effectLst>
              <a:latin typeface="华文楷体" panose="02010600040101010101" charset="-122"/>
              <a:ea typeface="宋体" panose="02010600030101010101" pitchFamily="2" charset="-122"/>
              <a:cs typeface="华文楷体" panose="02010600040101010101" charset="-122"/>
            </a:endParaRPr>
          </a:p>
        </p:txBody>
      </p:sp>
      <p:sp>
        <p:nvSpPr>
          <p:cNvPr id="96270" name="Text Box 14"/>
          <p:cNvSpPr txBox="1">
            <a:spLocks noChangeArrowheads="1"/>
          </p:cNvSpPr>
          <p:nvPr/>
        </p:nvSpPr>
        <p:spPr bwMode="auto">
          <a:xfrm>
            <a:off x="2114550" y="3829051"/>
            <a:ext cx="285750" cy="32194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1" lang="en-US" altLang="zh-CN" sz="150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6</a:t>
            </a:r>
            <a:endParaRPr kumimoji="1" lang="en-US" altLang="zh-CN" sz="1500" b="1">
              <a:latin typeface="华文楷体" panose="02010600040101010101" charset="-122"/>
              <a:ea typeface="宋体" panose="02010600030101010101" pitchFamily="2" charset="-122"/>
              <a:cs typeface="华文楷体" panose="02010600040101010101" charset="-122"/>
            </a:endParaRPr>
          </a:p>
        </p:txBody>
      </p:sp>
      <p:sp>
        <p:nvSpPr>
          <p:cNvPr id="96271" name="Text Box 15"/>
          <p:cNvSpPr txBox="1">
            <a:spLocks noChangeArrowheads="1"/>
          </p:cNvSpPr>
          <p:nvPr/>
        </p:nvSpPr>
        <p:spPr bwMode="auto">
          <a:xfrm>
            <a:off x="2114550" y="4229101"/>
            <a:ext cx="228600" cy="32194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1" lang="en-US" altLang="zh-CN" sz="150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3</a:t>
            </a:r>
            <a:endParaRPr kumimoji="1" lang="en-US" altLang="zh-CN" sz="1200" b="1">
              <a:latin typeface="华文楷体" panose="02010600040101010101" charset="-122"/>
              <a:ea typeface="宋体" panose="02010600030101010101" pitchFamily="2" charset="-122"/>
              <a:cs typeface="华文楷体" panose="02010600040101010101" charset="-122"/>
            </a:endParaRPr>
          </a:p>
        </p:txBody>
      </p:sp>
      <p:sp>
        <p:nvSpPr>
          <p:cNvPr id="52240" name="Rectangle 16"/>
          <p:cNvSpPr/>
          <p:nvPr/>
        </p:nvSpPr>
        <p:spPr>
          <a:xfrm>
            <a:off x="3600450" y="3714750"/>
            <a:ext cx="342900" cy="914400"/>
          </a:xfrm>
          <a:prstGeom prst="rect">
            <a:avLst/>
          </a:prstGeom>
          <a:noFill/>
          <a:ln w="12700" cap="flat" cmpd="sng">
            <a:solidFill>
              <a:schemeClr val="accent2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sz="1350" dirty="0">
              <a:latin typeface="Garamond" panose="02020404030301010803" pitchFamily="18" charset="0"/>
              <a:cs typeface="华文楷体" panose="02010600040101010101" charset="-122"/>
            </a:endParaRPr>
          </a:p>
        </p:txBody>
      </p:sp>
      <p:sp>
        <p:nvSpPr>
          <p:cNvPr id="52241" name="Rectangle 17"/>
          <p:cNvSpPr/>
          <p:nvPr/>
        </p:nvSpPr>
        <p:spPr>
          <a:xfrm>
            <a:off x="3943350" y="2857500"/>
            <a:ext cx="400050" cy="1771650"/>
          </a:xfrm>
          <a:prstGeom prst="rect">
            <a:avLst/>
          </a:prstGeom>
          <a:noFill/>
          <a:ln w="12700" cap="flat" cmpd="sng">
            <a:solidFill>
              <a:schemeClr val="accent2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sz="1350" dirty="0">
              <a:latin typeface="Garamond" panose="02020404030301010803" pitchFamily="18" charset="0"/>
              <a:cs typeface="华文楷体" panose="02010600040101010101" charset="-122"/>
            </a:endParaRPr>
          </a:p>
        </p:txBody>
      </p:sp>
      <p:sp>
        <p:nvSpPr>
          <p:cNvPr id="52242" name="Rectangle 18"/>
          <p:cNvSpPr/>
          <p:nvPr/>
        </p:nvSpPr>
        <p:spPr>
          <a:xfrm>
            <a:off x="4343400" y="3429000"/>
            <a:ext cx="400050" cy="1200150"/>
          </a:xfrm>
          <a:prstGeom prst="rect">
            <a:avLst/>
          </a:prstGeom>
          <a:noFill/>
          <a:ln w="12700" cap="flat" cmpd="sng">
            <a:solidFill>
              <a:schemeClr val="accent2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sz="1350" dirty="0">
              <a:latin typeface="Garamond" panose="02020404030301010803" pitchFamily="18" charset="0"/>
              <a:cs typeface="华文楷体" panose="02010600040101010101" charset="-122"/>
            </a:endParaRPr>
          </a:p>
        </p:txBody>
      </p:sp>
      <p:sp>
        <p:nvSpPr>
          <p:cNvPr id="52243" name="Rectangle 19"/>
          <p:cNvSpPr/>
          <p:nvPr/>
        </p:nvSpPr>
        <p:spPr>
          <a:xfrm>
            <a:off x="4743450" y="4000500"/>
            <a:ext cx="400050" cy="628650"/>
          </a:xfrm>
          <a:prstGeom prst="rect">
            <a:avLst/>
          </a:prstGeom>
          <a:noFill/>
          <a:ln w="12700" cap="flat" cmpd="sng">
            <a:solidFill>
              <a:schemeClr val="accent2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sz="1350" dirty="0">
              <a:latin typeface="Garamond" panose="02020404030301010803" pitchFamily="18" charset="0"/>
              <a:cs typeface="华文楷体" panose="02010600040101010101" charset="-122"/>
            </a:endParaRPr>
          </a:p>
        </p:txBody>
      </p:sp>
      <p:sp>
        <p:nvSpPr>
          <p:cNvPr id="52244" name="Rectangle 20"/>
          <p:cNvSpPr/>
          <p:nvPr/>
        </p:nvSpPr>
        <p:spPr>
          <a:xfrm>
            <a:off x="5143500" y="4343400"/>
            <a:ext cx="342900" cy="285750"/>
          </a:xfrm>
          <a:prstGeom prst="rect">
            <a:avLst/>
          </a:prstGeom>
          <a:noFill/>
          <a:ln w="12700" cap="flat" cmpd="sng">
            <a:solidFill>
              <a:schemeClr val="accent2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sz="1350" dirty="0">
              <a:latin typeface="Garamond" panose="02020404030301010803" pitchFamily="18" charset="0"/>
              <a:cs typeface="华文楷体" panose="02010600040101010101" charset="-122"/>
            </a:endParaRPr>
          </a:p>
        </p:txBody>
      </p:sp>
      <p:sp>
        <p:nvSpPr>
          <p:cNvPr id="96277" name="Text Box 21"/>
          <p:cNvSpPr txBox="1">
            <a:spLocks noChangeArrowheads="1"/>
          </p:cNvSpPr>
          <p:nvPr/>
        </p:nvSpPr>
        <p:spPr bwMode="auto">
          <a:xfrm>
            <a:off x="2628900" y="4629151"/>
            <a:ext cx="457200" cy="55308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1" lang="en-US" altLang="zh-CN" sz="150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105</a:t>
            </a:r>
          </a:p>
        </p:txBody>
      </p:sp>
      <p:sp>
        <p:nvSpPr>
          <p:cNvPr id="96278" name="Text Box 22"/>
          <p:cNvSpPr txBox="1">
            <a:spLocks noChangeArrowheads="1"/>
          </p:cNvSpPr>
          <p:nvPr/>
        </p:nvSpPr>
        <p:spPr bwMode="auto">
          <a:xfrm>
            <a:off x="3028950" y="4629151"/>
            <a:ext cx="457200" cy="55308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1" lang="en-US" altLang="zh-CN" sz="150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110</a:t>
            </a:r>
            <a:endParaRPr kumimoji="1" lang="en-US" altLang="zh-CN" sz="1200" b="1">
              <a:effectLst>
                <a:outerShdw blurRad="38100" dist="38100" dir="2700000" algn="tl">
                  <a:srgbClr val="000000"/>
                </a:outerShdw>
              </a:effectLst>
              <a:latin typeface="华文楷体" panose="02010600040101010101" charset="-122"/>
              <a:ea typeface="宋体" panose="02010600030101010101" pitchFamily="2" charset="-122"/>
              <a:cs typeface="华文楷体" panose="02010600040101010101" charset="-122"/>
            </a:endParaRPr>
          </a:p>
        </p:txBody>
      </p:sp>
      <p:sp>
        <p:nvSpPr>
          <p:cNvPr id="96279" name="Text Box 23"/>
          <p:cNvSpPr txBox="1">
            <a:spLocks noChangeArrowheads="1"/>
          </p:cNvSpPr>
          <p:nvPr/>
        </p:nvSpPr>
        <p:spPr bwMode="auto">
          <a:xfrm>
            <a:off x="3371850" y="4629151"/>
            <a:ext cx="514350" cy="32194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1" lang="en-US" altLang="zh-CN" sz="150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115</a:t>
            </a:r>
            <a:endParaRPr kumimoji="1" lang="en-US" altLang="zh-CN" sz="1200" b="1">
              <a:effectLst>
                <a:outerShdw blurRad="38100" dist="38100" dir="2700000" algn="tl">
                  <a:srgbClr val="000000"/>
                </a:outerShdw>
              </a:effectLst>
              <a:latin typeface="华文楷体" panose="02010600040101010101" charset="-122"/>
              <a:ea typeface="宋体" panose="02010600030101010101" pitchFamily="2" charset="-122"/>
              <a:cs typeface="华文楷体" panose="02010600040101010101" charset="-122"/>
            </a:endParaRPr>
          </a:p>
        </p:txBody>
      </p:sp>
      <p:sp>
        <p:nvSpPr>
          <p:cNvPr id="96280" name="Text Box 24"/>
          <p:cNvSpPr txBox="1">
            <a:spLocks noChangeArrowheads="1"/>
          </p:cNvSpPr>
          <p:nvPr/>
        </p:nvSpPr>
        <p:spPr bwMode="auto">
          <a:xfrm>
            <a:off x="3714750" y="4629151"/>
            <a:ext cx="457200" cy="55308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1" lang="en-US" altLang="zh-CN" sz="150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120</a:t>
            </a:r>
            <a:endParaRPr kumimoji="1" lang="en-US" altLang="zh-CN" sz="1200" b="1">
              <a:latin typeface="华文楷体" panose="02010600040101010101" charset="-122"/>
              <a:ea typeface="宋体" panose="02010600030101010101" pitchFamily="2" charset="-122"/>
              <a:cs typeface="华文楷体" panose="02010600040101010101" charset="-122"/>
            </a:endParaRPr>
          </a:p>
        </p:txBody>
      </p:sp>
      <p:sp>
        <p:nvSpPr>
          <p:cNvPr id="96281" name="Text Box 25"/>
          <p:cNvSpPr txBox="1">
            <a:spLocks noChangeArrowheads="1"/>
          </p:cNvSpPr>
          <p:nvPr/>
        </p:nvSpPr>
        <p:spPr bwMode="auto">
          <a:xfrm>
            <a:off x="4114800" y="4629151"/>
            <a:ext cx="457200" cy="55308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1" lang="en-US" altLang="zh-CN" sz="150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125</a:t>
            </a:r>
          </a:p>
        </p:txBody>
      </p:sp>
      <p:sp>
        <p:nvSpPr>
          <p:cNvPr id="96282" name="Text Box 26"/>
          <p:cNvSpPr txBox="1">
            <a:spLocks noChangeArrowheads="1"/>
          </p:cNvSpPr>
          <p:nvPr/>
        </p:nvSpPr>
        <p:spPr bwMode="auto">
          <a:xfrm>
            <a:off x="4514850" y="4629151"/>
            <a:ext cx="457200" cy="55308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1" lang="en-US" altLang="zh-CN" sz="150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130</a:t>
            </a:r>
          </a:p>
        </p:txBody>
      </p:sp>
      <p:sp>
        <p:nvSpPr>
          <p:cNvPr id="96283" name="Text Box 27"/>
          <p:cNvSpPr txBox="1">
            <a:spLocks noChangeArrowheads="1"/>
          </p:cNvSpPr>
          <p:nvPr/>
        </p:nvSpPr>
        <p:spPr bwMode="auto">
          <a:xfrm>
            <a:off x="4914900" y="4629151"/>
            <a:ext cx="457200" cy="55308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1" lang="en-US" altLang="zh-CN" sz="150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135</a:t>
            </a:r>
            <a:endParaRPr kumimoji="1" lang="en-US" altLang="zh-CN" sz="1200" b="1">
              <a:effectLst>
                <a:outerShdw blurRad="38100" dist="38100" dir="2700000" algn="tl">
                  <a:srgbClr val="000000"/>
                </a:outerShdw>
              </a:effectLst>
              <a:latin typeface="华文楷体" panose="02010600040101010101" charset="-122"/>
              <a:ea typeface="宋体" panose="02010600030101010101" pitchFamily="2" charset="-122"/>
              <a:cs typeface="华文楷体" panose="02010600040101010101" charset="-122"/>
            </a:endParaRPr>
          </a:p>
        </p:txBody>
      </p:sp>
      <p:sp>
        <p:nvSpPr>
          <p:cNvPr id="96284" name="Text Box 28"/>
          <p:cNvSpPr txBox="1">
            <a:spLocks noChangeArrowheads="1"/>
          </p:cNvSpPr>
          <p:nvPr/>
        </p:nvSpPr>
        <p:spPr bwMode="auto">
          <a:xfrm>
            <a:off x="5314950" y="4629151"/>
            <a:ext cx="457200" cy="55308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1" lang="en-US" altLang="zh-CN" sz="150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140</a:t>
            </a:r>
            <a:endParaRPr kumimoji="1" lang="en-US" altLang="zh-CN" sz="1200" b="1">
              <a:effectLst>
                <a:outerShdw blurRad="38100" dist="38100" dir="2700000" algn="tl">
                  <a:srgbClr val="000000"/>
                </a:outerShdw>
              </a:effectLst>
              <a:latin typeface="华文楷体" panose="02010600040101010101" charset="-122"/>
              <a:ea typeface="宋体" panose="02010600030101010101" pitchFamily="2" charset="-122"/>
              <a:cs typeface="华文楷体" panose="02010600040101010101" charset="-122"/>
            </a:endParaRPr>
          </a:p>
        </p:txBody>
      </p:sp>
      <p:sp>
        <p:nvSpPr>
          <p:cNvPr id="96285" name="Text Box 29"/>
          <p:cNvSpPr txBox="1">
            <a:spLocks noChangeArrowheads="1"/>
          </p:cNvSpPr>
          <p:nvPr/>
        </p:nvSpPr>
        <p:spPr bwMode="auto">
          <a:xfrm>
            <a:off x="4972050" y="4857751"/>
            <a:ext cx="1657350" cy="299085"/>
          </a:xfrm>
          <a:prstGeom prst="rect">
            <a:avLst/>
          </a:prstGeom>
          <a:noFill/>
          <a:ln>
            <a:noFill/>
          </a:ln>
          <a:effectLst>
            <a:outerShdw dist="45791" dir="2021404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1" lang="zh-CN" altLang="en-US" sz="135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日加工零件数</a:t>
            </a:r>
            <a:r>
              <a:rPr kumimoji="1" lang="en-US" altLang="zh-CN" sz="135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(</a:t>
            </a:r>
            <a:r>
              <a:rPr kumimoji="1" lang="zh-CN" altLang="en-US" sz="135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个</a:t>
            </a:r>
            <a:r>
              <a:rPr kumimoji="1" lang="en-US" altLang="zh-CN" sz="135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)</a:t>
            </a:r>
            <a:endParaRPr kumimoji="1" lang="en-US" altLang="zh-CN" sz="1350" b="1">
              <a:latin typeface="华文楷体" panose="02010600040101010101" charset="-122"/>
              <a:ea typeface="宋体" panose="02010600030101010101" pitchFamily="2" charset="-122"/>
              <a:cs typeface="华文楷体" panose="02010600040101010101" charset="-122"/>
            </a:endParaRPr>
          </a:p>
        </p:txBody>
      </p:sp>
      <p:sp>
        <p:nvSpPr>
          <p:cNvPr id="96286" name="Line 30"/>
          <p:cNvSpPr/>
          <p:nvPr/>
        </p:nvSpPr>
        <p:spPr>
          <a:xfrm flipH="1">
            <a:off x="3086100" y="4114800"/>
            <a:ext cx="342900" cy="228600"/>
          </a:xfrm>
          <a:prstGeom prst="line">
            <a:avLst/>
          </a:prstGeom>
          <a:ln w="38100" cap="flat" cmpd="sng">
            <a:solidFill>
              <a:srgbClr val="FF6600"/>
            </a:solidFill>
            <a:prstDash val="solid"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</p:sp>
      <p:sp>
        <p:nvSpPr>
          <p:cNvPr id="96287" name="Line 31"/>
          <p:cNvSpPr/>
          <p:nvPr/>
        </p:nvSpPr>
        <p:spPr>
          <a:xfrm flipV="1">
            <a:off x="3429000" y="3714750"/>
            <a:ext cx="342900" cy="400050"/>
          </a:xfrm>
          <a:prstGeom prst="line">
            <a:avLst/>
          </a:prstGeom>
          <a:ln w="38100" cap="flat" cmpd="sng">
            <a:solidFill>
              <a:srgbClr val="FF6600"/>
            </a:solidFill>
            <a:prstDash val="solid"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</p:sp>
      <p:sp>
        <p:nvSpPr>
          <p:cNvPr id="96288" name="Line 32"/>
          <p:cNvSpPr/>
          <p:nvPr/>
        </p:nvSpPr>
        <p:spPr>
          <a:xfrm flipV="1">
            <a:off x="3771900" y="2857500"/>
            <a:ext cx="342900" cy="857250"/>
          </a:xfrm>
          <a:prstGeom prst="line">
            <a:avLst/>
          </a:prstGeom>
          <a:ln w="38100" cap="flat" cmpd="sng">
            <a:solidFill>
              <a:srgbClr val="FF6600"/>
            </a:solidFill>
            <a:prstDash val="solid"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</p:sp>
      <p:sp>
        <p:nvSpPr>
          <p:cNvPr id="96289" name="Line 33"/>
          <p:cNvSpPr/>
          <p:nvPr/>
        </p:nvSpPr>
        <p:spPr>
          <a:xfrm>
            <a:off x="4114800" y="2857500"/>
            <a:ext cx="457200" cy="571500"/>
          </a:xfrm>
          <a:prstGeom prst="line">
            <a:avLst/>
          </a:prstGeom>
          <a:ln w="38100" cap="flat" cmpd="sng">
            <a:solidFill>
              <a:srgbClr val="FF6600"/>
            </a:solidFill>
            <a:prstDash val="solid"/>
            <a:headEnd type="none" w="med" len="med"/>
            <a:tailEnd type="none" w="med" len="med"/>
          </a:ln>
          <a:effectLst>
            <a:outerShdw dist="45791" dir="2021404" algn="ctr" rotWithShape="0">
              <a:schemeClr val="bg2"/>
            </a:outerShdw>
          </a:effectLst>
        </p:spPr>
      </p:sp>
      <p:sp>
        <p:nvSpPr>
          <p:cNvPr id="96290" name="Line 34"/>
          <p:cNvSpPr/>
          <p:nvPr/>
        </p:nvSpPr>
        <p:spPr>
          <a:xfrm>
            <a:off x="5314950" y="4343400"/>
            <a:ext cx="342900" cy="285750"/>
          </a:xfrm>
          <a:prstGeom prst="line">
            <a:avLst/>
          </a:prstGeom>
          <a:ln w="38100" cap="flat" cmpd="sng">
            <a:solidFill>
              <a:srgbClr val="FF6600"/>
            </a:solidFill>
            <a:prstDash val="solid"/>
            <a:headEnd type="none" w="med" len="med"/>
            <a:tailEnd type="none" w="med" len="med"/>
          </a:ln>
          <a:effectLst>
            <a:outerShdw dist="45791" dir="2021404" algn="ctr" rotWithShape="0">
              <a:schemeClr val="bg2"/>
            </a:outerShdw>
          </a:effectLst>
        </p:spPr>
      </p:sp>
      <p:sp>
        <p:nvSpPr>
          <p:cNvPr id="96291" name="Line 35"/>
          <p:cNvSpPr/>
          <p:nvPr/>
        </p:nvSpPr>
        <p:spPr>
          <a:xfrm flipH="1">
            <a:off x="2743200" y="4343400"/>
            <a:ext cx="342900" cy="285750"/>
          </a:xfrm>
          <a:prstGeom prst="line">
            <a:avLst/>
          </a:prstGeom>
          <a:ln w="38100" cap="flat" cmpd="sng">
            <a:solidFill>
              <a:srgbClr val="FF6600"/>
            </a:solidFill>
            <a:prstDash val="solid"/>
            <a:headEnd type="none" w="med" len="med"/>
            <a:tailEnd type="none" w="med" len="med"/>
          </a:ln>
          <a:effectLst>
            <a:outerShdw dist="35921" dir="2699999" algn="ctr" rotWithShape="0">
              <a:schemeClr val="bg2"/>
            </a:outerShdw>
          </a:effectLst>
        </p:spPr>
      </p:sp>
      <p:sp>
        <p:nvSpPr>
          <p:cNvPr id="96292" name="Text Box 36"/>
          <p:cNvSpPr txBox="1">
            <a:spLocks noChangeArrowheads="1"/>
          </p:cNvSpPr>
          <p:nvPr/>
        </p:nvSpPr>
        <p:spPr bwMode="auto">
          <a:xfrm>
            <a:off x="1657350" y="2857500"/>
            <a:ext cx="457200" cy="1245235"/>
          </a:xfrm>
          <a:prstGeom prst="rect">
            <a:avLst/>
          </a:prstGeom>
          <a:noFill/>
          <a:ln>
            <a:noFill/>
          </a:ln>
          <a:effectLst>
            <a:outerShdw dist="45791" dir="2021404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kumimoji="1" lang="zh-CN" altLang="en-US" sz="150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频</a:t>
            </a:r>
          </a:p>
          <a:p>
            <a:pPr algn="ctr" eaLnBrk="0" hangingPunct="0">
              <a:spcBef>
                <a:spcPct val="50000"/>
              </a:spcBef>
              <a:defRPr/>
            </a:pPr>
            <a:r>
              <a:rPr kumimoji="1" lang="zh-CN" altLang="en-US" sz="150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数</a:t>
            </a:r>
          </a:p>
          <a:p>
            <a:pPr algn="ctr" eaLnBrk="0" hangingPunct="0">
              <a:spcBef>
                <a:spcPct val="50000"/>
              </a:spcBef>
              <a:defRPr/>
            </a:pPr>
            <a:r>
              <a:rPr kumimoji="1" lang="en-US" altLang="zh-CN" sz="150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(</a:t>
            </a:r>
            <a:r>
              <a:rPr kumimoji="1" lang="zh-CN" altLang="en-US" sz="150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人</a:t>
            </a:r>
            <a:r>
              <a:rPr kumimoji="1" lang="en-US" altLang="zh-CN" sz="1500" b="1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)</a:t>
            </a:r>
            <a:endParaRPr kumimoji="1" lang="en-US" altLang="zh-CN" sz="1500">
              <a:effectLst>
                <a:outerShdw blurRad="38100" dist="38100" dir="2700000" algn="tl">
                  <a:srgbClr val="000000"/>
                </a:outerShdw>
              </a:effectLst>
              <a:latin typeface="华文楷体" panose="02010600040101010101" charset="-122"/>
              <a:ea typeface="宋体" panose="02010600030101010101" pitchFamily="2" charset="-122"/>
              <a:cs typeface="华文楷体" panose="02010600040101010101" charset="-122"/>
            </a:endParaRPr>
          </a:p>
        </p:txBody>
      </p:sp>
      <p:sp>
        <p:nvSpPr>
          <p:cNvPr id="96293" name="Line 37"/>
          <p:cNvSpPr/>
          <p:nvPr/>
        </p:nvSpPr>
        <p:spPr>
          <a:xfrm>
            <a:off x="4572000" y="3429000"/>
            <a:ext cx="400050" cy="571500"/>
          </a:xfrm>
          <a:prstGeom prst="line">
            <a:avLst/>
          </a:prstGeom>
          <a:ln w="38100" cap="flat" cmpd="sng">
            <a:solidFill>
              <a:srgbClr val="FF6600"/>
            </a:solidFill>
            <a:prstDash val="solid"/>
            <a:headEnd type="none" w="med" len="med"/>
            <a:tailEnd type="none" w="med" len="med"/>
          </a:ln>
          <a:effectLst>
            <a:outerShdw dist="45791" dir="2021404" algn="ctr" rotWithShape="0">
              <a:schemeClr val="bg2"/>
            </a:outerShdw>
          </a:effectLst>
        </p:spPr>
      </p:sp>
      <p:sp>
        <p:nvSpPr>
          <p:cNvPr id="96294" name="Line 38"/>
          <p:cNvSpPr/>
          <p:nvPr/>
        </p:nvSpPr>
        <p:spPr>
          <a:xfrm>
            <a:off x="4972050" y="4000500"/>
            <a:ext cx="342900" cy="342900"/>
          </a:xfrm>
          <a:prstGeom prst="line">
            <a:avLst/>
          </a:prstGeom>
          <a:ln w="38100" cap="flat" cmpd="sng">
            <a:solidFill>
              <a:srgbClr val="FF6600"/>
            </a:solidFill>
            <a:prstDash val="solid"/>
            <a:headEnd type="none" w="med" len="med"/>
            <a:tailEnd type="none" w="med" len="med"/>
          </a:ln>
          <a:effectLst>
            <a:outerShdw dist="45791" dir="2021404" algn="ctr" rotWithShape="0">
              <a:schemeClr val="bg2"/>
            </a:outerShdw>
          </a:effectLst>
        </p:spPr>
      </p:sp>
      <p:grpSp>
        <p:nvGrpSpPr>
          <p:cNvPr id="2" name="Group 39"/>
          <p:cNvGrpSpPr/>
          <p:nvPr/>
        </p:nvGrpSpPr>
        <p:grpSpPr>
          <a:xfrm>
            <a:off x="5543550" y="2457450"/>
            <a:ext cx="2000250" cy="1143000"/>
            <a:chOff x="3696" y="1344"/>
            <a:chExt cx="1680" cy="960"/>
          </a:xfrm>
        </p:grpSpPr>
        <p:sp>
          <p:nvSpPr>
            <p:cNvPr id="52267" name="Text Box 40"/>
            <p:cNvSpPr txBox="1"/>
            <p:nvPr/>
          </p:nvSpPr>
          <p:spPr>
            <a:xfrm>
              <a:off x="3984" y="1536"/>
              <a:ext cx="1248" cy="658"/>
            </a:xfrm>
            <a:prstGeom prst="rect">
              <a:avLst/>
            </a:prstGeom>
            <a:noFill/>
            <a:ln w="12700">
              <a:noFill/>
            </a:ln>
            <a:effectLst>
              <a:outerShdw dist="35921" dir="2699999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buNone/>
              </a:pPr>
              <a:r>
                <a:rPr lang="zh-CN" altLang="en-US" sz="1500" dirty="0">
                  <a:latin typeface="华文楷体" panose="02010600040101010101" charset="-122"/>
                  <a:cs typeface="华文楷体" panose="02010600040101010101" charset="-122"/>
                </a:rPr>
                <a:t>折线图下的面积与直方图的面积相等！</a:t>
              </a:r>
            </a:p>
          </p:txBody>
        </p:sp>
        <p:sp>
          <p:nvSpPr>
            <p:cNvPr id="52268" name="AutoShape 41"/>
            <p:cNvSpPr/>
            <p:nvPr/>
          </p:nvSpPr>
          <p:spPr>
            <a:xfrm>
              <a:off x="3696" y="1344"/>
              <a:ext cx="1680" cy="960"/>
            </a:xfrm>
            <a:prstGeom prst="cloudCallout">
              <a:avLst>
                <a:gd name="adj1" fmla="val -43750"/>
                <a:gd name="adj2" fmla="val 70000"/>
              </a:avLst>
            </a:prstGeom>
            <a:noFill/>
            <a:ln w="127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  <p:txBody>
            <a:bodyPr wrap="none" anchor="ctr" anchorCtr="0"/>
            <a:lstStyle/>
            <a:p>
              <a:pPr algn="ctr" eaLnBrk="0" hangingPunct="0">
                <a:buNone/>
              </a:pPr>
              <a:endParaRPr lang="zh-CN" altLang="en-US" sz="4500" dirty="0">
                <a:latin typeface="华文楷体" panose="02010600040101010101" charset="-122"/>
                <a:cs typeface="华文楷体" panose="02010600040101010101" charset="-122"/>
              </a:endParaRPr>
            </a:p>
          </p:txBody>
        </p:sp>
      </p:grpSp>
      <p:sp>
        <p:nvSpPr>
          <p:cNvPr id="96298" name="Rectangle 42"/>
          <p:cNvSpPr>
            <a:spLocks noGrp="1" noChangeArrowheads="1"/>
          </p:cNvSpPr>
          <p:nvPr>
            <p:ph type="title"/>
          </p:nvPr>
        </p:nvSpPr>
        <p:spPr>
          <a:xfrm>
            <a:off x="485140" y="533400"/>
            <a:ext cx="8697595" cy="742950"/>
          </a:xfrm>
        </p:spPr>
        <p:txBody>
          <a:bodyPr vert="horz" wrap="square" lIns="67866" tIns="33337" rIns="67866" bIns="33337" numCol="1" rtlCol="0" anchor="ctr" anchorCtr="1" compatLnSpc="1">
            <a:normAutofit/>
          </a:bodyPr>
          <a:lstStyle/>
          <a:p>
            <a:pPr algn="ctr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lang="zh-CN" altLang="en-US" sz="4400" b="1" dirty="0"/>
              <a:t>分组数据—折线图（折线图的绘制）</a:t>
            </a:r>
          </a:p>
        </p:txBody>
      </p:sp>
      <p:sp>
        <p:nvSpPr>
          <p:cNvPr id="96299" name="Text Box 43"/>
          <p:cNvSpPr txBox="1">
            <a:spLocks noChangeArrowheads="1"/>
          </p:cNvSpPr>
          <p:nvPr/>
        </p:nvSpPr>
        <p:spPr bwMode="auto">
          <a:xfrm>
            <a:off x="2628900" y="5200651"/>
            <a:ext cx="3028950" cy="275590"/>
          </a:xfrm>
          <a:prstGeom prst="rect">
            <a:avLst/>
          </a:prstGeom>
          <a:solidFill>
            <a:srgbClr val="C545AD"/>
          </a:solidFill>
          <a:ln>
            <a:noFill/>
          </a:ln>
          <a:effectLst>
            <a:outerShdw dist="81320" dir="2319588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kumimoji="1" lang="zh-CN" altLang="en-US" sz="1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图</a:t>
            </a:r>
            <a:r>
              <a:rPr kumimoji="1" lang="en-US" altLang="zh-CN" sz="1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  </a:t>
            </a:r>
            <a:r>
              <a:rPr kumimoji="1" lang="zh-CN" altLang="en-US" sz="12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某车间工人日加工零件数的折线图</a:t>
            </a:r>
          </a:p>
        </p:txBody>
      </p:sp>
      <p:sp>
        <p:nvSpPr>
          <p:cNvPr id="52266" name="Line 44"/>
          <p:cNvSpPr/>
          <p:nvPr/>
        </p:nvSpPr>
        <p:spPr>
          <a:xfrm>
            <a:off x="2457450" y="4629150"/>
            <a:ext cx="394335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  <a:effectLst>
            <a:outerShdw dist="45791" dir="3378595" algn="ctr" rotWithShape="0">
              <a:schemeClr val="bg2"/>
            </a:outerShdw>
          </a:effectLst>
        </p:spPr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6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6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6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6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6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6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6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6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标注 4"/>
          <p:cNvSpPr/>
          <p:nvPr/>
        </p:nvSpPr>
        <p:spPr>
          <a:xfrm>
            <a:off x="5028565" y="4021455"/>
            <a:ext cx="3658235" cy="568325"/>
          </a:xfrm>
          <a:prstGeom prst="wedgeRectCallout">
            <a:avLst>
              <a:gd name="adj1" fmla="val -39394"/>
              <a:gd name="adj2" fmla="val 74134"/>
            </a:avLst>
          </a:prstGeom>
          <a:solidFill>
            <a:srgbClr val="D3481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6875" y="365125"/>
            <a:ext cx="7886700" cy="1325563"/>
          </a:xfrm>
        </p:spPr>
        <p:txBody>
          <a:bodyPr/>
          <a:lstStyle/>
          <a:p>
            <a:r>
              <a:rPr lang="zh-CN" altLang="en-US" b="1" dirty="0"/>
              <a:t>思考</a:t>
            </a:r>
            <a:endParaRPr kumimoji="1"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9875" y="1491615"/>
            <a:ext cx="9043035" cy="3875405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8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8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8000" dirty="0"/>
              <a:t>在</a:t>
            </a:r>
            <a:r>
              <a:rPr lang="zh-CN" altLang="en-US" sz="8000" b="1" dirty="0"/>
              <a:t>金融实务</a:t>
            </a:r>
            <a:r>
              <a:rPr lang="zh-CN" altLang="en-US" sz="8000" dirty="0"/>
              <a:t>中，一张图往往不够。研究报告和投研简报通常结合多种可视化：</a:t>
            </a:r>
          </a:p>
          <a:p>
            <a:pPr lvl="1">
              <a:lnSpc>
                <a:spcPct val="120000"/>
              </a:lnSpc>
            </a:pPr>
            <a:r>
              <a:rPr lang="zh-CN" altLang="en-US" sz="5600" dirty="0"/>
              <a:t>折线图显示市场趋势；</a:t>
            </a:r>
          </a:p>
          <a:p>
            <a:pPr lvl="1">
              <a:lnSpc>
                <a:spcPct val="120000"/>
              </a:lnSpc>
            </a:pPr>
            <a:r>
              <a:rPr lang="zh-CN" altLang="en-US" sz="5600" dirty="0"/>
              <a:t>柱状图展示结构；</a:t>
            </a:r>
          </a:p>
          <a:p>
            <a:pPr lvl="1">
              <a:lnSpc>
                <a:spcPct val="120000"/>
              </a:lnSpc>
            </a:pPr>
            <a:r>
              <a:rPr lang="zh-CN" altLang="en-US" sz="5600" dirty="0"/>
              <a:t>散点图说明关系；</a:t>
            </a:r>
          </a:p>
          <a:p>
            <a:pPr lvl="1">
              <a:lnSpc>
                <a:spcPct val="120000"/>
              </a:lnSpc>
            </a:pPr>
            <a:r>
              <a:rPr lang="zh-CN" altLang="en-US" sz="5600" dirty="0"/>
              <a:t>箱线图揭示风险分布。</a:t>
            </a:r>
          </a:p>
          <a:p>
            <a:pPr marL="0" indent="0">
              <a:lnSpc>
                <a:spcPct val="150000"/>
              </a:lnSpc>
              <a:buNone/>
            </a:pPr>
            <a:r>
              <a:rPr sz="8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8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8000" b="1" dirty="0"/>
              <a:t>金融案例举例：</a:t>
            </a:r>
            <a:r>
              <a:rPr lang="zh-CN" altLang="en-US" sz="8000" dirty="0"/>
              <a:t>一位分析师研究“</a:t>
            </a:r>
            <a:r>
              <a:rPr lang="en-GB" altLang="zh-CN" sz="8000" dirty="0"/>
              <a:t>ESG</a:t>
            </a:r>
            <a:r>
              <a:rPr lang="zh-CN" altLang="en-US" sz="8000" dirty="0"/>
              <a:t>表现与企业融资成本”：</a:t>
            </a:r>
          </a:p>
          <a:p>
            <a:pPr lvl="1">
              <a:lnSpc>
                <a:spcPct val="130000"/>
              </a:lnSpc>
            </a:pPr>
            <a:r>
              <a:rPr lang="zh-CN" altLang="en-US" sz="5600" dirty="0"/>
              <a:t>用箱线图比较不同</a:t>
            </a:r>
            <a:r>
              <a:rPr lang="en-GB" altLang="zh-CN" sz="5600" dirty="0"/>
              <a:t>ESG</a:t>
            </a:r>
            <a:r>
              <a:rPr lang="zh-CN" altLang="en-US" sz="5600" dirty="0"/>
              <a:t>评分组的融资成本；</a:t>
            </a:r>
          </a:p>
          <a:p>
            <a:pPr lvl="1">
              <a:lnSpc>
                <a:spcPct val="130000"/>
              </a:lnSpc>
            </a:pPr>
            <a:r>
              <a:rPr lang="zh-CN" altLang="en-US" sz="5600" dirty="0"/>
              <a:t>用散点图展示</a:t>
            </a:r>
            <a:r>
              <a:rPr lang="en-GB" altLang="zh-CN" sz="5600" dirty="0"/>
              <a:t>ESG</a:t>
            </a:r>
            <a:r>
              <a:rPr lang="zh-CN" altLang="en-US" sz="5600" dirty="0"/>
              <a:t>得分与债券利差的关系；</a:t>
            </a:r>
          </a:p>
          <a:p>
            <a:pPr lvl="1">
              <a:lnSpc>
                <a:spcPct val="130000"/>
              </a:lnSpc>
            </a:pPr>
            <a:r>
              <a:rPr lang="zh-CN" altLang="en-US" sz="5600" dirty="0"/>
              <a:t>用折线图观察</a:t>
            </a:r>
            <a:r>
              <a:rPr lang="en-GB" altLang="zh-CN" sz="5600" dirty="0"/>
              <a:t>ESG</a:t>
            </a:r>
            <a:r>
              <a:rPr lang="zh-CN" altLang="en-US" sz="5600" dirty="0"/>
              <a:t>平均得分的年度趋势。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7200" b="1" dirty="0"/>
              <a:t>请思考</a:t>
            </a:r>
            <a:r>
              <a:rPr lang="zh-CN" altLang="en-US" sz="7200" dirty="0"/>
              <a:t>：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6400" dirty="0"/>
              <a:t>如果你要做一份“宏观经济与股市关系”报告，你会使用哪几种图？每种图用来展示什么？</a:t>
            </a:r>
          </a:p>
          <a:p>
            <a:endParaRPr kumimoji="1" lang="zh-CN" altLang="en-US" sz="6400" dirty="0"/>
          </a:p>
        </p:txBody>
      </p:sp>
      <p:sp>
        <p:nvSpPr>
          <p:cNvPr id="4" name="文本框 3"/>
          <p:cNvSpPr txBox="1"/>
          <p:nvPr/>
        </p:nvSpPr>
        <p:spPr>
          <a:xfrm>
            <a:off x="5099685" y="4106545"/>
            <a:ext cx="3720465" cy="64516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/>
            <a:r>
              <a:rPr lang="zh-CN" altLang="en-US" b="1" dirty="0">
                <a:solidFill>
                  <a:schemeClr val="bg1"/>
                </a:solidFill>
                <a:sym typeface="+mn-ea"/>
              </a:rPr>
              <a:t>多图结合，清晰呈现研究结论！！</a:t>
            </a:r>
            <a:endParaRPr lang="zh-CN" altLang="en-US" dirty="0">
              <a:solidFill>
                <a:schemeClr val="bg1"/>
              </a:solidFill>
            </a:endParaRPr>
          </a:p>
          <a:p>
            <a:pPr algn="l"/>
            <a:endParaRPr lang="zh-CN" altLang="en-US" sz="1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183130" y="563245"/>
            <a:ext cx="5083810" cy="742950"/>
          </a:xfrm>
        </p:spPr>
        <p:txBody>
          <a:bodyPr vert="horz" wrap="square" lIns="68580" tIns="34290" rIns="68580" bIns="34290" numCol="1" rtlCol="0" anchor="ctr" anchorCtr="0" compatLnSpc="1">
            <a:normAutofit/>
          </a:bodyPr>
          <a:lstStyle/>
          <a:p>
            <a:pPr algn="ctr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lang="zh-CN" sz="3100" b="1" kern="0" spc="40" dirty="0">
                <a:solidFill>
                  <a:srgbClr val="000000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六、数据的统计特征</a:t>
            </a:r>
          </a:p>
        </p:txBody>
      </p:sp>
      <p:grpSp>
        <p:nvGrpSpPr>
          <p:cNvPr id="65538" name="Group 3"/>
          <p:cNvGrpSpPr/>
          <p:nvPr/>
        </p:nvGrpSpPr>
        <p:grpSpPr>
          <a:xfrm>
            <a:off x="1400175" y="1668780"/>
            <a:ext cx="6327775" cy="3501282"/>
            <a:chOff x="624" y="1200"/>
            <a:chExt cx="4656" cy="2468"/>
          </a:xfrm>
        </p:grpSpPr>
        <p:sp>
          <p:nvSpPr>
            <p:cNvPr id="65539" name="Text Box 4"/>
            <p:cNvSpPr txBox="1"/>
            <p:nvPr/>
          </p:nvSpPr>
          <p:spPr>
            <a:xfrm>
              <a:off x="1920" y="1200"/>
              <a:ext cx="2112" cy="308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2250" b="1" dirty="0">
                  <a:solidFill>
                    <a:schemeClr val="bg2"/>
                  </a:solidFill>
                  <a:latin typeface="华文楷体" panose="02010600040101010101" charset="-122"/>
                  <a:cs typeface="华文楷体" panose="02010600040101010101" charset="-122"/>
                </a:rPr>
                <a:t>数据的特征和测度</a:t>
              </a:r>
              <a:endParaRPr lang="zh-CN" altLang="en-US" sz="2400" dirty="0">
                <a:solidFill>
                  <a:schemeClr val="bg2"/>
                </a:solidFill>
                <a:latin typeface="华文楷体" panose="02010600040101010101" charset="-122"/>
                <a:cs typeface="华文楷体" panose="02010600040101010101" charset="-122"/>
              </a:endParaRPr>
            </a:p>
          </p:txBody>
        </p:sp>
        <p:sp>
          <p:nvSpPr>
            <p:cNvPr id="65540" name="Text Box 5"/>
            <p:cNvSpPr txBox="1"/>
            <p:nvPr/>
          </p:nvSpPr>
          <p:spPr>
            <a:xfrm>
              <a:off x="3792" y="2112"/>
              <a:ext cx="1440" cy="29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2100" b="1" dirty="0">
                  <a:solidFill>
                    <a:schemeClr val="bg2"/>
                  </a:solidFill>
                  <a:latin typeface="华文楷体" panose="02010600040101010101" charset="-122"/>
                  <a:cs typeface="华文楷体" panose="02010600040101010101" charset="-122"/>
                </a:rPr>
                <a:t>分布的形状</a:t>
              </a:r>
              <a:endParaRPr lang="zh-CN" altLang="en-US" sz="2400" dirty="0">
                <a:solidFill>
                  <a:schemeClr val="hlink"/>
                </a:solidFill>
                <a:latin typeface="华文楷体" panose="02010600040101010101" charset="-122"/>
                <a:cs typeface="华文楷体" panose="02010600040101010101" charset="-122"/>
              </a:endParaRPr>
            </a:p>
          </p:txBody>
        </p:sp>
        <p:sp>
          <p:nvSpPr>
            <p:cNvPr id="65541" name="Text Box 6"/>
            <p:cNvSpPr txBox="1"/>
            <p:nvPr/>
          </p:nvSpPr>
          <p:spPr>
            <a:xfrm>
              <a:off x="624" y="2112"/>
              <a:ext cx="1248" cy="292"/>
            </a:xfrm>
            <a:prstGeom prst="rect">
              <a:avLst/>
            </a:prstGeom>
            <a:solidFill>
              <a:srgbClr val="FFFF7F"/>
            </a:solidFill>
            <a:ln w="1270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2100" b="1" dirty="0">
                  <a:latin typeface="华文楷体" panose="02010600040101010101" charset="-122"/>
                  <a:cs typeface="华文楷体" panose="02010600040101010101" charset="-122"/>
                </a:rPr>
                <a:t>集中趋势</a:t>
              </a:r>
              <a:endParaRPr lang="zh-CN" altLang="en-US" sz="2700" dirty="0">
                <a:latin typeface="华文楷体" panose="02010600040101010101" charset="-122"/>
                <a:cs typeface="华文楷体" panose="02010600040101010101" charset="-122"/>
              </a:endParaRPr>
            </a:p>
          </p:txBody>
        </p:sp>
        <p:sp>
          <p:nvSpPr>
            <p:cNvPr id="65542" name="Line 7"/>
            <p:cNvSpPr/>
            <p:nvPr/>
          </p:nvSpPr>
          <p:spPr>
            <a:xfrm>
              <a:off x="1248" y="1872"/>
              <a:ext cx="326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</p:sp>
        <p:sp>
          <p:nvSpPr>
            <p:cNvPr id="65543" name="Line 8"/>
            <p:cNvSpPr/>
            <p:nvPr/>
          </p:nvSpPr>
          <p:spPr>
            <a:xfrm>
              <a:off x="912" y="2784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</p:sp>
        <p:sp>
          <p:nvSpPr>
            <p:cNvPr id="65544" name="Line 9"/>
            <p:cNvSpPr/>
            <p:nvPr/>
          </p:nvSpPr>
          <p:spPr>
            <a:xfrm>
              <a:off x="1248" y="1872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>
              <a:outerShdw dist="35921" dir="2699999" algn="ctr" rotWithShape="0">
                <a:schemeClr val="bg2"/>
              </a:outerShdw>
            </a:effectLst>
          </p:spPr>
        </p:sp>
        <p:sp>
          <p:nvSpPr>
            <p:cNvPr id="65545" name="Line 10"/>
            <p:cNvSpPr/>
            <p:nvPr/>
          </p:nvSpPr>
          <p:spPr>
            <a:xfrm>
              <a:off x="2976" y="1584"/>
              <a:ext cx="0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</p:sp>
        <p:sp>
          <p:nvSpPr>
            <p:cNvPr id="65546" name="Line 11"/>
            <p:cNvSpPr/>
            <p:nvPr/>
          </p:nvSpPr>
          <p:spPr>
            <a:xfrm>
              <a:off x="4512" y="1872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>
              <a:outerShdw dist="35921" dir="2699999" algn="ctr" rotWithShape="0">
                <a:schemeClr val="bg2"/>
              </a:outerShdw>
            </a:effectLst>
          </p:spPr>
        </p:sp>
        <p:sp>
          <p:nvSpPr>
            <p:cNvPr id="65547" name="Line 12"/>
            <p:cNvSpPr/>
            <p:nvPr/>
          </p:nvSpPr>
          <p:spPr>
            <a:xfrm>
              <a:off x="912" y="2496"/>
              <a:ext cx="0" cy="91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</p:sp>
        <p:sp>
          <p:nvSpPr>
            <p:cNvPr id="65548" name="Text Box 13"/>
            <p:cNvSpPr txBox="1"/>
            <p:nvPr/>
          </p:nvSpPr>
          <p:spPr>
            <a:xfrm>
              <a:off x="2304" y="2112"/>
              <a:ext cx="1248" cy="292"/>
            </a:xfrm>
            <a:prstGeom prst="rect">
              <a:avLst/>
            </a:prstGeom>
            <a:solidFill>
              <a:schemeClr val="tx2"/>
            </a:solidFill>
            <a:ln w="12700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  <p:txBody>
            <a:bodyPr anchor="t" anchorCtr="0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zh-CN" altLang="en-US" sz="2100" b="1" dirty="0">
                  <a:solidFill>
                    <a:schemeClr val="bg2"/>
                  </a:solidFill>
                  <a:latin typeface="华文楷体" panose="02010600040101010101" charset="-122"/>
                  <a:cs typeface="华文楷体" panose="02010600040101010101" charset="-122"/>
                </a:rPr>
                <a:t>离散程度</a:t>
              </a:r>
              <a:endParaRPr lang="zh-CN" altLang="en-US" sz="2100" dirty="0">
                <a:solidFill>
                  <a:schemeClr val="hlink"/>
                </a:solidFill>
                <a:latin typeface="华文楷体" panose="02010600040101010101" charset="-122"/>
                <a:cs typeface="华文楷体" panose="02010600040101010101" charset="-122"/>
              </a:endParaRPr>
            </a:p>
          </p:txBody>
        </p:sp>
        <p:sp>
          <p:nvSpPr>
            <p:cNvPr id="65549" name="Line 14"/>
            <p:cNvSpPr/>
            <p:nvPr/>
          </p:nvSpPr>
          <p:spPr>
            <a:xfrm>
              <a:off x="2976" y="1872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>
              <a:outerShdw dist="35921" dir="2699999" algn="ctr" rotWithShape="0">
                <a:schemeClr val="bg2"/>
              </a:outerShdw>
            </a:effectLst>
          </p:spPr>
        </p:sp>
        <p:sp>
          <p:nvSpPr>
            <p:cNvPr id="215055" name="Text Box 15"/>
            <p:cNvSpPr txBox="1">
              <a:spLocks noChangeArrowheads="1"/>
            </p:cNvSpPr>
            <p:nvPr/>
          </p:nvSpPr>
          <p:spPr bwMode="auto">
            <a:xfrm>
              <a:off x="1152" y="2640"/>
              <a:ext cx="720" cy="260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kumimoji="1" lang="zh-CN" altLang="en-US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众   数</a:t>
              </a:r>
              <a:endParaRPr kumimoji="1"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endParaRPr>
            </a:p>
          </p:txBody>
        </p:sp>
        <p:sp>
          <p:nvSpPr>
            <p:cNvPr id="215056" name="Text Box 16"/>
            <p:cNvSpPr txBox="1">
              <a:spLocks noChangeArrowheads="1"/>
            </p:cNvSpPr>
            <p:nvPr/>
          </p:nvSpPr>
          <p:spPr bwMode="auto">
            <a:xfrm>
              <a:off x="1152" y="2928"/>
              <a:ext cx="768" cy="260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kumimoji="1" lang="zh-CN" altLang="en-US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中位数</a:t>
              </a:r>
              <a:endPara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endParaRPr>
            </a:p>
          </p:txBody>
        </p:sp>
        <p:sp>
          <p:nvSpPr>
            <p:cNvPr id="215057" name="Text Box 17"/>
            <p:cNvSpPr txBox="1">
              <a:spLocks noChangeArrowheads="1"/>
            </p:cNvSpPr>
            <p:nvPr/>
          </p:nvSpPr>
          <p:spPr bwMode="auto">
            <a:xfrm>
              <a:off x="1152" y="3264"/>
              <a:ext cx="672" cy="260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kumimoji="1" lang="zh-CN" altLang="en-US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均   值</a:t>
              </a:r>
              <a:endPara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endParaRPr>
            </a:p>
          </p:txBody>
        </p:sp>
        <p:sp>
          <p:nvSpPr>
            <p:cNvPr id="215058" name="Text Box 18"/>
            <p:cNvSpPr txBox="1">
              <a:spLocks noChangeArrowheads="1"/>
            </p:cNvSpPr>
            <p:nvPr/>
          </p:nvSpPr>
          <p:spPr bwMode="auto">
            <a:xfrm>
              <a:off x="2832" y="3408"/>
              <a:ext cx="912" cy="260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kumimoji="1" lang="zh-CN" altLang="en-US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离散系数</a:t>
              </a:r>
              <a:endPara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endParaRPr>
            </a:p>
          </p:txBody>
        </p:sp>
        <p:sp>
          <p:nvSpPr>
            <p:cNvPr id="215059" name="Text Box 19"/>
            <p:cNvSpPr txBox="1">
              <a:spLocks noChangeArrowheads="1"/>
            </p:cNvSpPr>
            <p:nvPr/>
          </p:nvSpPr>
          <p:spPr bwMode="auto">
            <a:xfrm>
              <a:off x="2832" y="3120"/>
              <a:ext cx="1344" cy="260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kumimoji="1" lang="zh-CN" altLang="en-US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方差和标准差</a:t>
              </a:r>
              <a:endPara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endParaRPr>
            </a:p>
          </p:txBody>
        </p:sp>
        <p:sp>
          <p:nvSpPr>
            <p:cNvPr id="215060" name="Text Box 20"/>
            <p:cNvSpPr txBox="1">
              <a:spLocks noChangeArrowheads="1"/>
            </p:cNvSpPr>
            <p:nvPr/>
          </p:nvSpPr>
          <p:spPr bwMode="auto">
            <a:xfrm>
              <a:off x="4512" y="3264"/>
              <a:ext cx="768" cy="260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kumimoji="1" lang="zh-CN" altLang="en-US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峰   度</a:t>
              </a:r>
              <a:endPara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endParaRPr>
            </a:p>
          </p:txBody>
        </p:sp>
        <p:sp>
          <p:nvSpPr>
            <p:cNvPr id="215061" name="Text Box 21"/>
            <p:cNvSpPr txBox="1">
              <a:spLocks noChangeArrowheads="1"/>
            </p:cNvSpPr>
            <p:nvPr/>
          </p:nvSpPr>
          <p:spPr bwMode="auto">
            <a:xfrm>
              <a:off x="2832" y="2832"/>
              <a:ext cx="1152" cy="260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kumimoji="1" lang="zh-CN" altLang="en-US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四分位差</a:t>
              </a:r>
              <a:endPara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endParaRPr>
            </a:p>
          </p:txBody>
        </p:sp>
        <p:sp>
          <p:nvSpPr>
            <p:cNvPr id="215062" name="Text Box 22"/>
            <p:cNvSpPr txBox="1">
              <a:spLocks noChangeArrowheads="1"/>
            </p:cNvSpPr>
            <p:nvPr/>
          </p:nvSpPr>
          <p:spPr bwMode="auto">
            <a:xfrm>
              <a:off x="2832" y="2544"/>
              <a:ext cx="960" cy="260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kumimoji="1" lang="zh-CN" altLang="en-US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异众比率</a:t>
              </a:r>
              <a:endParaRPr kumimoji="1" lang="zh-CN" altLang="en-US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endParaRPr>
            </a:p>
          </p:txBody>
        </p:sp>
        <p:sp>
          <p:nvSpPr>
            <p:cNvPr id="215063" name="Text Box 23"/>
            <p:cNvSpPr txBox="1">
              <a:spLocks noChangeArrowheads="1"/>
            </p:cNvSpPr>
            <p:nvPr/>
          </p:nvSpPr>
          <p:spPr bwMode="auto">
            <a:xfrm>
              <a:off x="4512" y="2592"/>
              <a:ext cx="768" cy="260"/>
            </a:xfrm>
            <a:prstGeom prst="rect">
              <a:avLst/>
            </a:prstGeom>
            <a:noFill/>
            <a:ln>
              <a:noFill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  <a:defRPr/>
              </a:pPr>
              <a:r>
                <a:rPr kumimoji="1" lang="zh-CN" altLang="en-US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偏   态</a:t>
              </a:r>
              <a:endParaRPr kumimoji="1"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endParaRPr>
            </a:p>
          </p:txBody>
        </p:sp>
        <p:sp>
          <p:nvSpPr>
            <p:cNvPr id="65559" name="Line 24"/>
            <p:cNvSpPr/>
            <p:nvPr/>
          </p:nvSpPr>
          <p:spPr>
            <a:xfrm>
              <a:off x="912" y="3072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</p:sp>
        <p:sp>
          <p:nvSpPr>
            <p:cNvPr id="65560" name="Line 25"/>
            <p:cNvSpPr/>
            <p:nvPr/>
          </p:nvSpPr>
          <p:spPr>
            <a:xfrm>
              <a:off x="2592" y="3552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</p:sp>
        <p:sp>
          <p:nvSpPr>
            <p:cNvPr id="65561" name="Line 26"/>
            <p:cNvSpPr/>
            <p:nvPr/>
          </p:nvSpPr>
          <p:spPr>
            <a:xfrm>
              <a:off x="2592" y="3264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</p:sp>
        <p:sp>
          <p:nvSpPr>
            <p:cNvPr id="65562" name="Line 27"/>
            <p:cNvSpPr/>
            <p:nvPr/>
          </p:nvSpPr>
          <p:spPr>
            <a:xfrm>
              <a:off x="2592" y="2688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</p:sp>
        <p:sp>
          <p:nvSpPr>
            <p:cNvPr id="65563" name="Line 28"/>
            <p:cNvSpPr/>
            <p:nvPr/>
          </p:nvSpPr>
          <p:spPr>
            <a:xfrm>
              <a:off x="2592" y="2976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</p:sp>
        <p:sp>
          <p:nvSpPr>
            <p:cNvPr id="65564" name="Line 29"/>
            <p:cNvSpPr/>
            <p:nvPr/>
          </p:nvSpPr>
          <p:spPr>
            <a:xfrm>
              <a:off x="4272" y="3408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</p:sp>
        <p:sp>
          <p:nvSpPr>
            <p:cNvPr id="65565" name="Line 30"/>
            <p:cNvSpPr/>
            <p:nvPr/>
          </p:nvSpPr>
          <p:spPr>
            <a:xfrm>
              <a:off x="4272" y="2736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</p:sp>
        <p:sp>
          <p:nvSpPr>
            <p:cNvPr id="65566" name="Line 31"/>
            <p:cNvSpPr/>
            <p:nvPr/>
          </p:nvSpPr>
          <p:spPr>
            <a:xfrm>
              <a:off x="912" y="3408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</p:sp>
        <p:sp>
          <p:nvSpPr>
            <p:cNvPr id="65567" name="Line 32"/>
            <p:cNvSpPr/>
            <p:nvPr/>
          </p:nvSpPr>
          <p:spPr>
            <a:xfrm>
              <a:off x="4272" y="2496"/>
              <a:ext cx="0" cy="91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</p:sp>
        <p:sp>
          <p:nvSpPr>
            <p:cNvPr id="65568" name="Line 33"/>
            <p:cNvSpPr/>
            <p:nvPr/>
          </p:nvSpPr>
          <p:spPr>
            <a:xfrm>
              <a:off x="2592" y="2496"/>
              <a:ext cx="0" cy="105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</p:sp>
      </p:grpSp>
    </p:spTree>
  </p:cSld>
  <p:clrMapOvr>
    <a:masterClrMapping/>
  </p:clrMapOvr>
  <p:transition>
    <p:wipe dir="d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61577" y="802780"/>
            <a:ext cx="5086350" cy="800100"/>
          </a:xfrm>
        </p:spPr>
        <p:txBody>
          <a:bodyPr vert="horz" wrap="square" lIns="67866" tIns="33337" rIns="67866" bIns="33337" numCol="1" rtlCol="0" anchor="ctr" anchorCtr="1" compatLnSpc="1">
            <a:normAutofit fontScale="90000"/>
          </a:bodyPr>
          <a:lstStyle/>
          <a:p>
            <a:pPr algn="ctr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lang="zh-CN" altLang="en-US" b="1" dirty="0"/>
              <a:t>均值</a:t>
            </a:r>
            <a:br>
              <a:rPr lang="zh-CN" altLang="en-US" sz="4400" b="1" dirty="0"/>
            </a:br>
            <a:endParaRPr lang="en-US" altLang="zh-CN" sz="2700" b="1" kern="0" dirty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92515" name="Rectangle 3"/>
          <p:cNvSpPr>
            <a:spLocks noGrp="1" noChangeArrowheads="1"/>
          </p:cNvSpPr>
          <p:nvPr>
            <p:ph idx="1"/>
          </p:nvPr>
        </p:nvSpPr>
        <p:spPr>
          <a:xfrm>
            <a:off x="399394" y="1867535"/>
            <a:ext cx="7725432" cy="3275965"/>
          </a:xfrm>
        </p:spPr>
        <p:txBody>
          <a:bodyPr vert="horz" wrap="square" lIns="67866" tIns="33337" rIns="67866" bIns="33337" numCol="1" rtlCol="0" anchor="t" anchorCtr="0" compatLnSpc="1">
            <a:noAutofit/>
          </a:bodyPr>
          <a:lstStyle/>
          <a:p>
            <a:pPr marL="0" indent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2400" dirty="0">
                <a:latin typeface="+mj-lt"/>
                <a:ea typeface="+mj-ea"/>
              </a:rPr>
              <a:t>集中趋势的测度值之一</a:t>
            </a:r>
          </a:p>
          <a:p>
            <a:pPr marL="0" indent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sz="24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4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2400" dirty="0">
                <a:latin typeface="+mj-lt"/>
                <a:ea typeface="+mj-ea"/>
              </a:rPr>
              <a:t>最常用的测度值</a:t>
            </a:r>
          </a:p>
          <a:p>
            <a:pPr marL="0" indent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sz="24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4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2400" dirty="0">
                <a:latin typeface="+mj-lt"/>
                <a:ea typeface="+mj-ea"/>
              </a:rPr>
              <a:t>一组数据的均衡点所在</a:t>
            </a:r>
          </a:p>
          <a:p>
            <a:pPr marL="0" indent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sz="24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4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2400" dirty="0">
                <a:latin typeface="+mj-lt"/>
                <a:ea typeface="+mj-ea"/>
              </a:rPr>
              <a:t>易受极端值的影响</a:t>
            </a:r>
          </a:p>
          <a:p>
            <a:pPr marL="0" indent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defRPr/>
            </a:pPr>
            <a:r>
              <a:rPr sz="24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4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2400" dirty="0">
                <a:latin typeface="+mj-lt"/>
                <a:ea typeface="+mj-ea"/>
              </a:rPr>
              <a:t>用于数值型数据，不能用于定类数据和定序数据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2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2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2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2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2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2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2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2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2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2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15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948629" y="750346"/>
            <a:ext cx="5086350" cy="857250"/>
          </a:xfrm>
        </p:spPr>
        <p:txBody>
          <a:bodyPr vert="horz" wrap="square" lIns="67866" tIns="33337" rIns="67866" bIns="33337" numCol="1" rtlCol="0" anchor="ctr" anchorCtr="1" compatLnSpc="1">
            <a:normAutofit fontScale="90000"/>
          </a:bodyPr>
          <a:lstStyle/>
          <a:p>
            <a:pPr algn="ctr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kumimoji="1" lang="zh-CN" altLang="en-US" b="1" dirty="0"/>
              <a:t>众数</a:t>
            </a:r>
            <a:br>
              <a:rPr lang="zh-CN" altLang="en-US" sz="30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endParaRPr lang="en-US" altLang="zh-CN" sz="2700" b="1" kern="0" dirty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851338" y="2131060"/>
            <a:ext cx="7735614" cy="3086100"/>
          </a:xfrm>
        </p:spPr>
        <p:txBody>
          <a:bodyPr vert="horz" wrap="square" lIns="67866" tIns="33337" rIns="67866" bIns="33337" numCol="1" rtlCol="0" anchor="t" anchorCtr="0" compatLnSpc="1">
            <a:noAutofit/>
          </a:bodyPr>
          <a:lstStyle/>
          <a:p>
            <a:pPr marL="0" indent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Tx/>
              <a:buNone/>
              <a:defRPr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kumimoji="1" lang="zh-CN" altLang="en-US" sz="2400" dirty="0">
                <a:latin typeface="+mj-lt"/>
                <a:ea typeface="+mj-ea"/>
              </a:rPr>
              <a:t>集中趋势的测度值之一</a:t>
            </a:r>
          </a:p>
          <a:p>
            <a:pPr marL="0" indent="0" fontAlgn="base">
              <a:lnSpc>
                <a:spcPct val="150000"/>
              </a:lnSpc>
              <a:spcBef>
                <a:spcPct val="33000"/>
              </a:spcBef>
              <a:spcAft>
                <a:spcPct val="0"/>
              </a:spcAft>
              <a:buClr>
                <a:schemeClr val="hlink"/>
              </a:buClr>
              <a:buSzPct val="70000"/>
              <a:buFontTx/>
              <a:buNone/>
              <a:defRPr/>
            </a:pPr>
            <a:r>
              <a:rPr sz="24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kumimoji="1" lang="zh-CN" altLang="en-US" sz="2400" dirty="0">
                <a:latin typeface="+mj-lt"/>
                <a:ea typeface="+mj-ea"/>
              </a:rPr>
              <a:t>出现次数最多的变量值</a:t>
            </a:r>
          </a:p>
          <a:p>
            <a:pPr marL="0" indent="0" fontAlgn="base">
              <a:lnSpc>
                <a:spcPct val="150000"/>
              </a:lnSpc>
              <a:spcBef>
                <a:spcPct val="33000"/>
              </a:spcBef>
              <a:spcAft>
                <a:spcPct val="0"/>
              </a:spcAft>
              <a:buClr>
                <a:schemeClr val="hlink"/>
              </a:buClr>
              <a:buSzPct val="70000"/>
              <a:buFontTx/>
              <a:buNone/>
              <a:defRPr/>
            </a:pPr>
            <a:r>
              <a:rPr sz="24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kumimoji="1" lang="zh-CN" altLang="en-US" sz="2400" dirty="0">
                <a:latin typeface="+mj-lt"/>
                <a:ea typeface="+mj-ea"/>
              </a:rPr>
              <a:t>不受极端值的影响</a:t>
            </a:r>
          </a:p>
          <a:p>
            <a:pPr marL="0" indent="0" fontAlgn="base">
              <a:lnSpc>
                <a:spcPct val="150000"/>
              </a:lnSpc>
              <a:spcBef>
                <a:spcPct val="33000"/>
              </a:spcBef>
              <a:spcAft>
                <a:spcPct val="0"/>
              </a:spcAft>
              <a:buClr>
                <a:schemeClr val="hlink"/>
              </a:buClr>
              <a:buSzPct val="70000"/>
              <a:buFontTx/>
              <a:buNone/>
              <a:defRPr/>
            </a:pPr>
            <a:r>
              <a:rPr sz="24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kumimoji="1" lang="zh-CN" altLang="en-US" sz="2400" dirty="0">
                <a:latin typeface="+mj-lt"/>
                <a:ea typeface="+mj-ea"/>
              </a:rPr>
              <a:t>可能没有众数或有几个众数</a:t>
            </a:r>
          </a:p>
          <a:p>
            <a:pPr marL="0" indent="0" fontAlgn="base">
              <a:lnSpc>
                <a:spcPct val="150000"/>
              </a:lnSpc>
              <a:spcBef>
                <a:spcPct val="33000"/>
              </a:spcBef>
              <a:spcAft>
                <a:spcPct val="0"/>
              </a:spcAft>
              <a:buClr>
                <a:schemeClr val="hlink"/>
              </a:buClr>
              <a:buSzPct val="70000"/>
              <a:buFontTx/>
              <a:buNone/>
              <a:defRPr/>
            </a:pPr>
            <a:r>
              <a:rPr sz="24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kumimoji="1" lang="zh-CN" altLang="en-US" sz="2400" dirty="0">
                <a:latin typeface="+mj-lt"/>
                <a:ea typeface="+mj-ea"/>
              </a:rPr>
              <a:t>主要用于定类数据，也可用于定序数据和数值型数据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994535" y="681355"/>
            <a:ext cx="5086350" cy="800100"/>
          </a:xfrm>
        </p:spPr>
        <p:txBody>
          <a:bodyPr vert="horz" wrap="square" lIns="67866" tIns="33337" rIns="67866" bIns="33337" numCol="1" rtlCol="0" anchor="ctr" anchorCtr="1" compatLnSpc="1">
            <a:normAutofit fontScale="90000"/>
          </a:bodyPr>
          <a:lstStyle/>
          <a:p>
            <a:pPr algn="ctr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kumimoji="1" lang="zh-CN" altLang="en-US" sz="4400" b="1" dirty="0"/>
              <a:t>众数</a:t>
            </a:r>
            <a:br>
              <a:rPr kumimoji="1" lang="zh-CN" altLang="en-US" sz="4400" b="1" dirty="0"/>
            </a:br>
            <a:r>
              <a:rPr kumimoji="1" lang="zh-CN" altLang="en-US" sz="4400" b="1" dirty="0"/>
              <a:t>(众数的不唯一性)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890270" y="1842135"/>
            <a:ext cx="5748655" cy="1041400"/>
          </a:xfrm>
        </p:spPr>
        <p:txBody>
          <a:bodyPr vert="horz" wrap="square" lIns="67866" tIns="33337" rIns="67866" bIns="33337" numCol="1" rtlCol="0" anchor="t" anchorCtr="0" compatLnSpc="1">
            <a:normAutofit fontScale="90000" lnSpcReduction="10000"/>
          </a:bodyPr>
          <a:lstStyle/>
          <a:p>
            <a:pPr marL="0" indent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tabLst>
                <a:tab pos="2514600" algn="ctr"/>
                <a:tab pos="3429000" algn="ctr"/>
                <a:tab pos="4343400" algn="ctr"/>
                <a:tab pos="5257800" algn="ctr"/>
                <a:tab pos="6172200" algn="ctr"/>
                <a:tab pos="7086600" algn="ctr"/>
              </a:tabLst>
              <a:defRPr/>
            </a:pPr>
            <a:r>
              <a:rPr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zh-CN" altLang="en-US" sz="2500" b="1" kern="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无众数</a:t>
            </a:r>
            <a:br>
              <a:rPr lang="zh-CN" altLang="en-US" kern="0" dirty="0"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kumimoji="1" lang="zh-CN" altLang="en-US" sz="2335" dirty="0">
                <a:latin typeface="+mj-lt"/>
                <a:ea typeface="+mj-ea"/>
              </a:rPr>
              <a:t>原始数据</a:t>
            </a:r>
            <a:r>
              <a:rPr kumimoji="1" lang="en-US" altLang="zh-CN" sz="2335" dirty="0">
                <a:latin typeface="+mj-lt"/>
                <a:ea typeface="+mj-ea"/>
              </a:rPr>
              <a:t>:        </a:t>
            </a:r>
            <a:r>
              <a:rPr kumimoji="1" lang="en-US" altLang="zh-CN" sz="2250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</a:rPr>
              <a:t>10   5    9   12    6    8</a:t>
            </a:r>
          </a:p>
        </p:txBody>
      </p:sp>
      <p:grpSp>
        <p:nvGrpSpPr>
          <p:cNvPr id="2" name="Group 4"/>
          <p:cNvGrpSpPr/>
          <p:nvPr>
            <p:custDataLst>
              <p:tags r:id="rId1"/>
            </p:custDataLst>
          </p:nvPr>
        </p:nvGrpSpPr>
        <p:grpSpPr>
          <a:xfrm>
            <a:off x="6581775" y="4413885"/>
            <a:ext cx="1162050" cy="787400"/>
            <a:chOff x="4656" y="1200"/>
            <a:chExt cx="912" cy="624"/>
          </a:xfrm>
        </p:grpSpPr>
        <p:grpSp>
          <p:nvGrpSpPr>
            <p:cNvPr id="99332" name="Group 5"/>
            <p:cNvGrpSpPr/>
            <p:nvPr/>
          </p:nvGrpSpPr>
          <p:grpSpPr>
            <a:xfrm>
              <a:off x="4656" y="1200"/>
              <a:ext cx="912" cy="624"/>
              <a:chOff x="4656" y="1200"/>
              <a:chExt cx="912" cy="624"/>
            </a:xfrm>
          </p:grpSpPr>
          <p:sp>
            <p:nvSpPr>
              <p:cNvPr id="99333" name="Line 6"/>
              <p:cNvSpPr/>
              <p:nvPr>
                <p:custDataLst>
                  <p:tags r:id="rId9"/>
                </p:custDataLst>
              </p:nvPr>
            </p:nvSpPr>
            <p:spPr>
              <a:xfrm>
                <a:off x="4656" y="1200"/>
                <a:ext cx="0" cy="62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triangle" w="med" len="med"/>
                <a:tailEnd type="none" w="med" len="med"/>
              </a:ln>
              <a:effectLst>
                <a:outerShdw dist="35921" dir="2699999" algn="ctr" rotWithShape="0">
                  <a:schemeClr val="bg2"/>
                </a:outerShdw>
              </a:effectLst>
            </p:spPr>
          </p:sp>
          <p:sp>
            <p:nvSpPr>
              <p:cNvPr id="99334" name="Line 7"/>
              <p:cNvSpPr/>
              <p:nvPr>
                <p:custDataLst>
                  <p:tags r:id="rId10"/>
                </p:custDataLst>
              </p:nvPr>
            </p:nvSpPr>
            <p:spPr>
              <a:xfrm>
                <a:off x="4656" y="1824"/>
                <a:ext cx="91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>
                <a:outerShdw dist="35921" dir="2699999" algn="ctr" rotWithShape="0">
                  <a:schemeClr val="bg2"/>
                </a:outerShdw>
              </a:effectLst>
            </p:spPr>
          </p:sp>
        </p:grpSp>
        <p:sp>
          <p:nvSpPr>
            <p:cNvPr id="99335" name="Freeform 8"/>
            <p:cNvSpPr/>
            <p:nvPr>
              <p:custDataLst>
                <p:tags r:id="rId8"/>
              </p:custDataLst>
            </p:nvPr>
          </p:nvSpPr>
          <p:spPr>
            <a:xfrm>
              <a:off x="4704" y="1256"/>
              <a:ext cx="672" cy="520"/>
            </a:xfrm>
            <a:custGeom>
              <a:avLst/>
              <a:gdLst/>
              <a:ahLst/>
              <a:cxnLst>
                <a:cxn ang="0">
                  <a:pos x="0" y="520"/>
                </a:cxn>
                <a:cxn ang="0">
                  <a:pos x="96" y="136"/>
                </a:cxn>
                <a:cxn ang="0">
                  <a:pos x="240" y="280"/>
                </a:cxn>
                <a:cxn ang="0">
                  <a:pos x="384" y="40"/>
                </a:cxn>
                <a:cxn ang="0">
                  <a:pos x="672" y="520"/>
                </a:cxn>
              </a:cxnLst>
              <a:rect l="0" t="0" r="0" b="0"/>
              <a:pathLst>
                <a:path w="672" h="520">
                  <a:moveTo>
                    <a:pt x="0" y="520"/>
                  </a:moveTo>
                  <a:cubicBezTo>
                    <a:pt x="28" y="348"/>
                    <a:pt x="56" y="176"/>
                    <a:pt x="96" y="136"/>
                  </a:cubicBezTo>
                  <a:cubicBezTo>
                    <a:pt x="136" y="96"/>
                    <a:pt x="192" y="296"/>
                    <a:pt x="240" y="280"/>
                  </a:cubicBezTo>
                  <a:cubicBezTo>
                    <a:pt x="288" y="264"/>
                    <a:pt x="312" y="0"/>
                    <a:pt x="384" y="40"/>
                  </a:cubicBezTo>
                  <a:cubicBezTo>
                    <a:pt x="456" y="80"/>
                    <a:pt x="616" y="432"/>
                    <a:pt x="672" y="520"/>
                  </a:cubicBezTo>
                </a:path>
              </a:pathLst>
            </a:custGeom>
            <a:noFill/>
            <a:ln w="381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 sz="1350">
                <a:cs typeface="华文楷体" panose="02010600040101010101" charset="-122"/>
              </a:endParaRPr>
            </a:p>
          </p:txBody>
        </p:sp>
      </p:grpSp>
      <p:grpSp>
        <p:nvGrpSpPr>
          <p:cNvPr id="4" name="Group 9"/>
          <p:cNvGrpSpPr/>
          <p:nvPr/>
        </p:nvGrpSpPr>
        <p:grpSpPr>
          <a:xfrm>
            <a:off x="6581775" y="2114550"/>
            <a:ext cx="1085850" cy="742950"/>
            <a:chOff x="4560" y="1248"/>
            <a:chExt cx="912" cy="624"/>
          </a:xfrm>
        </p:grpSpPr>
        <p:grpSp>
          <p:nvGrpSpPr>
            <p:cNvPr id="99337" name="Group 10"/>
            <p:cNvGrpSpPr/>
            <p:nvPr/>
          </p:nvGrpSpPr>
          <p:grpSpPr>
            <a:xfrm>
              <a:off x="4560" y="1248"/>
              <a:ext cx="912" cy="624"/>
              <a:chOff x="4656" y="1200"/>
              <a:chExt cx="912" cy="624"/>
            </a:xfrm>
          </p:grpSpPr>
          <p:sp>
            <p:nvSpPr>
              <p:cNvPr id="99338" name="Line 11"/>
              <p:cNvSpPr/>
              <p:nvPr/>
            </p:nvSpPr>
            <p:spPr>
              <a:xfrm>
                <a:off x="4656" y="1200"/>
                <a:ext cx="0" cy="62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triangle" w="med" len="med"/>
                <a:tailEnd type="none" w="med" len="med"/>
              </a:ln>
              <a:effectLst>
                <a:outerShdw dist="35921" dir="2699999" algn="ctr" rotWithShape="0">
                  <a:schemeClr val="bg2"/>
                </a:outerShdw>
              </a:effectLst>
            </p:spPr>
          </p:sp>
          <p:sp>
            <p:nvSpPr>
              <p:cNvPr id="99339" name="Line 12"/>
              <p:cNvSpPr/>
              <p:nvPr/>
            </p:nvSpPr>
            <p:spPr>
              <a:xfrm>
                <a:off x="4656" y="1824"/>
                <a:ext cx="91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>
                <a:outerShdw dist="35921" dir="2699999" algn="ctr" rotWithShape="0">
                  <a:schemeClr val="bg2"/>
                </a:outerShdw>
              </a:effectLst>
            </p:spPr>
          </p:sp>
        </p:grpSp>
        <p:sp>
          <p:nvSpPr>
            <p:cNvPr id="99340" name="Freeform 13"/>
            <p:cNvSpPr/>
            <p:nvPr/>
          </p:nvSpPr>
          <p:spPr>
            <a:xfrm>
              <a:off x="4608" y="1632"/>
              <a:ext cx="768" cy="144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212" y="0"/>
                </a:cxn>
                <a:cxn ang="0">
                  <a:pos x="427" y="144"/>
                </a:cxn>
              </a:cxnLst>
              <a:rect l="0" t="0" r="0" b="0"/>
              <a:pathLst>
                <a:path w="864" h="144">
                  <a:moveTo>
                    <a:pt x="0" y="144"/>
                  </a:moveTo>
                  <a:cubicBezTo>
                    <a:pt x="144" y="72"/>
                    <a:pt x="288" y="0"/>
                    <a:pt x="432" y="0"/>
                  </a:cubicBezTo>
                  <a:cubicBezTo>
                    <a:pt x="576" y="0"/>
                    <a:pt x="720" y="72"/>
                    <a:pt x="864" y="144"/>
                  </a:cubicBezTo>
                </a:path>
              </a:pathLst>
            </a:custGeom>
            <a:noFill/>
            <a:ln w="381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 sz="1350">
                <a:cs typeface="华文楷体" panose="02010600040101010101" charset="-122"/>
              </a:endParaRPr>
            </a:p>
          </p:txBody>
        </p:sp>
      </p:grpSp>
      <p:grpSp>
        <p:nvGrpSpPr>
          <p:cNvPr id="6" name="Group 14"/>
          <p:cNvGrpSpPr/>
          <p:nvPr>
            <p:custDataLst>
              <p:tags r:id="rId2"/>
            </p:custDataLst>
          </p:nvPr>
        </p:nvGrpSpPr>
        <p:grpSpPr>
          <a:xfrm>
            <a:off x="6600825" y="3244215"/>
            <a:ext cx="1085850" cy="742950"/>
            <a:chOff x="4560" y="2112"/>
            <a:chExt cx="912" cy="624"/>
          </a:xfrm>
        </p:grpSpPr>
        <p:grpSp>
          <p:nvGrpSpPr>
            <p:cNvPr id="99342" name="Group 15"/>
            <p:cNvGrpSpPr/>
            <p:nvPr/>
          </p:nvGrpSpPr>
          <p:grpSpPr>
            <a:xfrm>
              <a:off x="4560" y="2112"/>
              <a:ext cx="912" cy="624"/>
              <a:chOff x="4656" y="1200"/>
              <a:chExt cx="912" cy="624"/>
            </a:xfrm>
          </p:grpSpPr>
          <p:sp>
            <p:nvSpPr>
              <p:cNvPr id="99343" name="Line 16"/>
              <p:cNvSpPr/>
              <p:nvPr>
                <p:custDataLst>
                  <p:tags r:id="rId6"/>
                </p:custDataLst>
              </p:nvPr>
            </p:nvSpPr>
            <p:spPr>
              <a:xfrm>
                <a:off x="4656" y="1200"/>
                <a:ext cx="0" cy="624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triangle" w="med" len="med"/>
                <a:tailEnd type="none" w="med" len="med"/>
              </a:ln>
              <a:effectLst>
                <a:outerShdw dist="35921" dir="2699999" algn="ctr" rotWithShape="0">
                  <a:schemeClr val="bg2"/>
                </a:outerShdw>
              </a:effectLst>
            </p:spPr>
          </p:sp>
          <p:sp>
            <p:nvSpPr>
              <p:cNvPr id="99344" name="Line 17"/>
              <p:cNvSpPr/>
              <p:nvPr>
                <p:custDataLst>
                  <p:tags r:id="rId7"/>
                </p:custDataLst>
              </p:nvPr>
            </p:nvSpPr>
            <p:spPr>
              <a:xfrm>
                <a:off x="4656" y="1824"/>
                <a:ext cx="91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  <a:effectLst>
                <a:outerShdw dist="35921" dir="2699999" algn="ctr" rotWithShape="0">
                  <a:schemeClr val="bg2"/>
                </a:outerShdw>
              </a:effectLst>
            </p:spPr>
          </p:sp>
        </p:grpSp>
        <p:sp>
          <p:nvSpPr>
            <p:cNvPr id="99345" name="Freeform 18"/>
            <p:cNvSpPr/>
            <p:nvPr>
              <p:custDataLst>
                <p:tags r:id="rId5"/>
              </p:custDataLst>
            </p:nvPr>
          </p:nvSpPr>
          <p:spPr>
            <a:xfrm>
              <a:off x="4656" y="2208"/>
              <a:ext cx="672" cy="432"/>
            </a:xfrm>
            <a:custGeom>
              <a:avLst/>
              <a:gdLst/>
              <a:ahLst/>
              <a:cxnLst>
                <a:cxn ang="0">
                  <a:pos x="0" y="3281"/>
                </a:cxn>
                <a:cxn ang="0">
                  <a:pos x="336" y="0"/>
                </a:cxn>
                <a:cxn ang="0">
                  <a:pos x="672" y="3281"/>
                </a:cxn>
              </a:cxnLst>
              <a:rect l="0" t="0" r="0" b="0"/>
              <a:pathLst>
                <a:path w="672" h="288">
                  <a:moveTo>
                    <a:pt x="0" y="288"/>
                  </a:moveTo>
                  <a:cubicBezTo>
                    <a:pt x="112" y="144"/>
                    <a:pt x="224" y="0"/>
                    <a:pt x="336" y="0"/>
                  </a:cubicBezTo>
                  <a:cubicBezTo>
                    <a:pt x="448" y="0"/>
                    <a:pt x="608" y="240"/>
                    <a:pt x="672" y="288"/>
                  </a:cubicBezTo>
                </a:path>
              </a:pathLst>
            </a:custGeom>
            <a:noFill/>
            <a:ln w="381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  <p:txBody>
            <a:bodyPr/>
            <a:lstStyle/>
            <a:p>
              <a:endParaRPr lang="zh-CN" altLang="en-US" sz="1350">
                <a:cs typeface="华文楷体" panose="02010600040101010101" charset="-122"/>
              </a:endParaRPr>
            </a:p>
          </p:txBody>
        </p:sp>
      </p:grpSp>
      <p:sp>
        <p:nvSpPr>
          <p:cNvPr id="23571" name="Text Box 19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25195" y="2997201"/>
            <a:ext cx="4857750" cy="112966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150000"/>
              </a:lnSpc>
              <a:spcBef>
                <a:spcPct val="50000"/>
              </a:spcBef>
              <a:defRPr/>
            </a:pPr>
            <a:r>
              <a:rPr sz="225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kumimoji="1" lang="zh-CN" altLang="en-US" sz="225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一个众数</a:t>
            </a:r>
            <a:br>
              <a:rPr kumimoji="1" lang="zh-CN" altLang="en-US" sz="2250" dirty="0">
                <a:solidFill>
                  <a:srgbClr val="FCFEB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</a:br>
            <a:r>
              <a:rPr kumimoji="1" lang="zh-CN" altLang="en-US" sz="2100" dirty="0">
                <a:latin typeface="+mj-lt"/>
                <a:ea typeface="+mj-ea"/>
                <a:cs typeface="华文楷体" panose="02010600040101010101" charset="-122"/>
              </a:rPr>
              <a:t>原始数据</a:t>
            </a:r>
            <a:r>
              <a:rPr kumimoji="1" lang="en-US" altLang="zh-CN" sz="2100" dirty="0">
                <a:latin typeface="+mj-lt"/>
                <a:ea typeface="+mj-ea"/>
                <a:cs typeface="华文楷体" panose="02010600040101010101" charset="-122"/>
              </a:rPr>
              <a:t>:</a:t>
            </a:r>
            <a:r>
              <a:rPr kumimoji="1" lang="en-US" altLang="zh-CN" sz="2250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      6    </a:t>
            </a:r>
            <a:r>
              <a:rPr kumimoji="1" lang="en-US" altLang="zh-CN" sz="2250" b="1" dirty="0">
                <a:solidFill>
                  <a:srgbClr val="FFFFB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5</a:t>
            </a:r>
            <a:r>
              <a:rPr kumimoji="1" lang="en-US" altLang="zh-CN" sz="225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    </a:t>
            </a:r>
            <a:r>
              <a:rPr kumimoji="1" lang="en-US" altLang="zh-CN" sz="2250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9    8    </a:t>
            </a:r>
            <a:r>
              <a:rPr kumimoji="1" lang="en-US" altLang="zh-CN" sz="2250" b="1" dirty="0">
                <a:solidFill>
                  <a:srgbClr val="FFFFB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5    5</a:t>
            </a:r>
          </a:p>
        </p:txBody>
      </p:sp>
      <p:sp>
        <p:nvSpPr>
          <p:cNvPr id="23572" name="Rectangle 20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25196" y="4170046"/>
            <a:ext cx="4891405" cy="112966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sz="225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kumimoji="1" lang="zh-CN" altLang="en-US" sz="225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多于一个众数</a:t>
            </a:r>
            <a:br>
              <a:rPr kumimoji="1" lang="zh-CN" altLang="en-US" sz="2250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</a:br>
            <a:r>
              <a:rPr kumimoji="1" lang="zh-CN" altLang="en-US" sz="2100" dirty="0">
                <a:latin typeface="+mj-lt"/>
                <a:ea typeface="+mj-ea"/>
                <a:cs typeface="华文楷体" panose="02010600040101010101" charset="-122"/>
              </a:rPr>
              <a:t>原始数据</a:t>
            </a:r>
            <a:r>
              <a:rPr kumimoji="1" lang="en-US" altLang="zh-CN" sz="2100" dirty="0">
                <a:latin typeface="+mj-lt"/>
                <a:ea typeface="+mj-ea"/>
                <a:cs typeface="华文楷体" panose="02010600040101010101" charset="-122"/>
              </a:rPr>
              <a:t>:</a:t>
            </a:r>
            <a:r>
              <a:rPr kumimoji="1" lang="en-US" altLang="zh-CN" sz="2250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      25   </a:t>
            </a:r>
            <a:r>
              <a:rPr kumimoji="1" lang="en-US" altLang="zh-CN" sz="2250" b="1" dirty="0">
                <a:solidFill>
                  <a:srgbClr val="FFFFB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28   28</a:t>
            </a:r>
            <a:r>
              <a:rPr kumimoji="1" lang="en-US" altLang="zh-CN" sz="225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   </a:t>
            </a:r>
            <a:r>
              <a:rPr kumimoji="1" lang="en-US" altLang="zh-CN" sz="2250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36   </a:t>
            </a:r>
            <a:r>
              <a:rPr kumimoji="1" lang="en-US" altLang="zh-CN" sz="2250" b="1" dirty="0">
                <a:solidFill>
                  <a:srgbClr val="FFFFB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42   42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  <p:bldP spid="23571" grpId="0" bldLvl="0" animBg="1"/>
      <p:bldP spid="23572" grpId="0" bldLvl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485899" y="729543"/>
            <a:ext cx="6172200" cy="742950"/>
          </a:xfrm>
        </p:spPr>
        <p:txBody>
          <a:bodyPr vert="horz" wrap="square" lIns="67866" tIns="33337" rIns="67866" bIns="33337" numCol="1" rtlCol="0" anchor="ctr" anchorCtr="1" compatLnSpc="1">
            <a:normAutofit fontScale="90000"/>
          </a:bodyPr>
          <a:lstStyle/>
          <a:p>
            <a:pPr algn="ctr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kumimoji="1" lang="zh-CN" altLang="en-US" sz="4400" b="1" dirty="0"/>
              <a:t>中位数</a:t>
            </a:r>
            <a:br>
              <a:rPr kumimoji="1" lang="zh-CN" altLang="en-US" sz="4400" b="1" dirty="0"/>
            </a:br>
            <a:endParaRPr kumimoji="1" lang="en-US" altLang="zh-CN" sz="3000" dirty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1008993" y="1813978"/>
            <a:ext cx="7956332" cy="742949"/>
          </a:xfrm>
        </p:spPr>
        <p:txBody>
          <a:bodyPr vert="horz" wrap="square" lIns="67866" tIns="33337" rIns="67866" bIns="33337" numCol="1" rtlCol="0" anchor="t" anchorCtr="0" compatLnSpc="1">
            <a:noAutofit/>
          </a:bodyPr>
          <a:lstStyle/>
          <a:p>
            <a:pPr marL="0" indent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70000"/>
              <a:buNone/>
              <a:defRPr/>
            </a:pPr>
            <a:r>
              <a:rPr sz="24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2400" dirty="0">
                <a:latin typeface="+mj-lt"/>
                <a:ea typeface="+mj-ea"/>
              </a:rPr>
              <a:t>集中趋势的测度值之一，排序后处于中间位置上的值。</a:t>
            </a:r>
          </a:p>
        </p:txBody>
      </p:sp>
      <p:grpSp>
        <p:nvGrpSpPr>
          <p:cNvPr id="2" name="Group 4"/>
          <p:cNvGrpSpPr/>
          <p:nvPr/>
        </p:nvGrpSpPr>
        <p:grpSpPr>
          <a:xfrm>
            <a:off x="2238935" y="2713210"/>
            <a:ext cx="3829050" cy="800100"/>
            <a:chOff x="768" y="1728"/>
            <a:chExt cx="3216" cy="672"/>
          </a:xfrm>
        </p:grpSpPr>
        <p:sp>
          <p:nvSpPr>
            <p:cNvPr id="33797" name="Rectangle 5"/>
            <p:cNvSpPr>
              <a:spLocks noChangeArrowheads="1"/>
            </p:cNvSpPr>
            <p:nvPr/>
          </p:nvSpPr>
          <p:spPr bwMode="auto">
            <a:xfrm>
              <a:off x="2160" y="2112"/>
              <a:ext cx="480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67866" tIns="33337" rIns="67866" bIns="33337">
              <a:spAutoFit/>
            </a:bodyPr>
            <a:lstStyle/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zh-CN" b="1" i="1">
                  <a:solidFill>
                    <a:srgbClr val="FFFF9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M</a:t>
              </a:r>
              <a:r>
                <a:rPr kumimoji="1" lang="en-US" altLang="zh-CN" b="1" i="1" baseline="-25000">
                  <a:solidFill>
                    <a:srgbClr val="FFFF9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e</a:t>
              </a:r>
            </a:p>
          </p:txBody>
        </p:sp>
        <p:grpSp>
          <p:nvGrpSpPr>
            <p:cNvPr id="111621" name="Group 6"/>
            <p:cNvGrpSpPr/>
            <p:nvPr/>
          </p:nvGrpSpPr>
          <p:grpSpPr>
            <a:xfrm>
              <a:off x="768" y="1728"/>
              <a:ext cx="3216" cy="409"/>
              <a:chOff x="1632" y="1536"/>
              <a:chExt cx="1728" cy="345"/>
            </a:xfrm>
          </p:grpSpPr>
          <p:sp>
            <p:nvSpPr>
              <p:cNvPr id="33799" name="Text Box 7"/>
              <p:cNvSpPr txBox="1">
                <a:spLocks noChangeArrowheads="1"/>
              </p:cNvSpPr>
              <p:nvPr/>
            </p:nvSpPr>
            <p:spPr bwMode="auto">
              <a:xfrm>
                <a:off x="1632" y="1536"/>
                <a:ext cx="864" cy="326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dist="53882" dir="2700000" algn="ctr" rotWithShape="0">
                  <a:schemeClr val="bg2"/>
                </a:outerShdw>
              </a:effectLst>
            </p:spPr>
            <p:txBody>
              <a:bodyPr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  <a:defRPr/>
                </a:pPr>
                <a:r>
                  <a:rPr kumimoji="1" lang="en-US" altLang="zh-CN" sz="2400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50%</a:t>
                </a:r>
              </a:p>
            </p:txBody>
          </p:sp>
          <p:sp>
            <p:nvSpPr>
              <p:cNvPr id="33800" name="Text Box 8"/>
              <p:cNvSpPr txBox="1">
                <a:spLocks noChangeArrowheads="1"/>
              </p:cNvSpPr>
              <p:nvPr/>
            </p:nvSpPr>
            <p:spPr bwMode="auto">
              <a:xfrm>
                <a:off x="2496" y="1536"/>
                <a:ext cx="864" cy="345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  <a:effectLst>
                <a:outerShdw dist="53882" dir="2700000" algn="ctr" rotWithShape="0">
                  <a:schemeClr val="bg2"/>
                </a:outerShdw>
              </a:effectLst>
            </p:spPr>
            <p:txBody>
              <a:bodyPr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  <a:defRPr/>
                </a:pPr>
                <a:r>
                  <a:rPr kumimoji="1" lang="en-US" altLang="zh-CN" sz="2400" b="1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50%</a:t>
                </a:r>
              </a:p>
            </p:txBody>
          </p:sp>
        </p:grpSp>
      </p:grpSp>
      <p:sp>
        <p:nvSpPr>
          <p:cNvPr id="33801" name="Text Box 9"/>
          <p:cNvSpPr txBox="1">
            <a:spLocks noChangeArrowheads="1"/>
          </p:cNvSpPr>
          <p:nvPr/>
        </p:nvSpPr>
        <p:spPr bwMode="auto">
          <a:xfrm>
            <a:off x="1008993" y="3657376"/>
            <a:ext cx="6770130" cy="181626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eaLnBrk="0" fontAlgn="base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defRPr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dirty="0">
                <a:latin typeface="+mj-lt"/>
                <a:ea typeface="+mj-ea"/>
                <a:cs typeface="华文楷体" panose="02010600040101010101" charset="-122"/>
              </a:rPr>
              <a:t>不受极端值的影响。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33000"/>
              </a:spcBef>
              <a:spcAft>
                <a:spcPct val="0"/>
              </a:spcAft>
              <a:defRPr/>
            </a:pPr>
            <a:r>
              <a:rPr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dirty="0">
                <a:latin typeface="+mj-lt"/>
                <a:ea typeface="+mj-ea"/>
                <a:cs typeface="华文楷体" panose="02010600040101010101" charset="-122"/>
              </a:rPr>
              <a:t>主要用于定序数据，也可用数值型数据，但不能用于定类数据。</a:t>
            </a:r>
            <a:endParaRPr kumimoji="1" lang="zh-CN" altLang="en-US" dirty="0">
              <a:effectLst>
                <a:outerShdw blurRad="38100" dist="38100" dir="2700000" algn="tl">
                  <a:srgbClr val="000000"/>
                </a:outerShdw>
              </a:effectLst>
              <a:latin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8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/>
      <p:bldP spid="33801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628650" y="1300850"/>
          <a:ext cx="7886700" cy="316800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 dirty="0"/>
                        <a:t>日期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/>
                        <a:t>收益率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 dirty="0"/>
                        <a:t>周一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75"/>
                        <a:t>0.4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 dirty="0"/>
                        <a:t>周二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75"/>
                        <a:t>0.6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 dirty="0"/>
                        <a:t>周三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75"/>
                        <a:t>0.5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 dirty="0"/>
                        <a:t>周四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75" dirty="0"/>
                        <a:t>0.4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/>
                        <a:t>周五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75" dirty="0"/>
                        <a:t>0.5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/>
                        <a:t>周六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75" dirty="0"/>
                        <a:t>2.8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/>
                        <a:t>周日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75" dirty="0"/>
                        <a:t>0.5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28650" y="4727575"/>
            <a:ext cx="8460740" cy="95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75" dirty="0">
                <a:cs typeface="华文楷体" panose="02010600040101010101" charset="-122"/>
              </a:rPr>
              <a:t>平均数</a:t>
            </a:r>
            <a:r>
              <a:rPr lang="en-US" altLang="zh-CN" sz="1875" dirty="0">
                <a:cs typeface="华文楷体" panose="02010600040101010101" charset="-122"/>
              </a:rPr>
              <a:t>=0.81%</a:t>
            </a:r>
            <a:r>
              <a:rPr lang="zh-CN" altLang="en-US" sz="1875" dirty="0">
                <a:cs typeface="华文楷体" panose="02010600040101010101" charset="-122"/>
              </a:rPr>
              <a:t>，中位数</a:t>
            </a:r>
            <a:r>
              <a:rPr lang="en-US" altLang="zh-CN" sz="1875" dirty="0">
                <a:cs typeface="华文楷体" panose="02010600040101010101" charset="-122"/>
              </a:rPr>
              <a:t>=0.5%</a:t>
            </a:r>
            <a:r>
              <a:rPr lang="zh-CN" altLang="en-US" sz="1875" dirty="0">
                <a:cs typeface="华文楷体" panose="02010600040101010101" charset="-122"/>
              </a:rPr>
              <a:t>。</a:t>
            </a:r>
            <a:br>
              <a:rPr lang="zh-CN" altLang="en-US" sz="1875" dirty="0">
                <a:cs typeface="华文楷体" panose="02010600040101010101" charset="-122"/>
              </a:rPr>
            </a:br>
            <a:r>
              <a:rPr lang="zh-CN" altLang="en-US" sz="1875" dirty="0">
                <a:cs typeface="华文楷体" panose="02010600040101010101" charset="-122"/>
              </a:rPr>
              <a:t>因为周六有极端高值</a:t>
            </a:r>
            <a:r>
              <a:rPr lang="en-US" altLang="zh-CN" sz="1875" dirty="0">
                <a:cs typeface="华文楷体" panose="02010600040101010101" charset="-122"/>
              </a:rPr>
              <a:t>2.8%</a:t>
            </a:r>
            <a:r>
              <a:rPr lang="zh-CN" altLang="en-US" sz="1875" dirty="0">
                <a:cs typeface="华文楷体" panose="02010600040101010101" charset="-122"/>
              </a:rPr>
              <a:t>，平均数被拉高，说明中位数更能反映日常水平。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334770" y="844154"/>
            <a:ext cx="6172200" cy="742950"/>
          </a:xfrm>
        </p:spPr>
        <p:txBody>
          <a:bodyPr vert="horz" wrap="square" lIns="67866" tIns="33337" rIns="67866" bIns="33337" numCol="1" rtlCol="0" anchor="ctr" anchorCtr="1" compatLnSpc="1">
            <a:normAutofit fontScale="90000"/>
          </a:bodyPr>
          <a:lstStyle/>
          <a:p>
            <a:pPr algn="ctr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kumimoji="1" lang="zh-CN" altLang="en-US" sz="4400" b="1" dirty="0"/>
              <a:t>四分位数</a:t>
            </a:r>
            <a:br>
              <a:rPr kumimoji="1" lang="zh-CN" altLang="en-US" sz="4400" b="1" dirty="0"/>
            </a:br>
            <a:endParaRPr kumimoji="1" lang="en-US" altLang="zh-CN" sz="2700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904875" y="1778239"/>
            <a:ext cx="6172200" cy="1006079"/>
          </a:xfrm>
        </p:spPr>
        <p:txBody>
          <a:bodyPr vert="horz" wrap="square" lIns="67866" tIns="33337" rIns="67866" bIns="33337" numCol="1" rtlCol="0" anchor="t" anchorCtr="0" compatLnSpc="1">
            <a:normAutofit fontScale="92500" lnSpcReduction="10000"/>
          </a:bodyPr>
          <a:lstStyle/>
          <a:p>
            <a:pPr marL="0" indent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None/>
              <a:defRPr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kumimoji="1" lang="zh-CN" altLang="en-US" sz="2000" dirty="0">
                <a:latin typeface="+mj-lt"/>
                <a:ea typeface="+mj-ea"/>
              </a:rPr>
              <a:t>集中趋势的测度值之一</a:t>
            </a:r>
          </a:p>
          <a:p>
            <a:pPr marL="0" indent="0" fontAlgn="base">
              <a:lnSpc>
                <a:spcPct val="150000"/>
              </a:lnSpc>
              <a:spcBef>
                <a:spcPct val="33000"/>
              </a:spcBef>
              <a:spcAft>
                <a:spcPct val="0"/>
              </a:spcAft>
              <a:buClr>
                <a:schemeClr val="hlink"/>
              </a:buClr>
              <a:buSzPct val="70000"/>
              <a:buNone/>
              <a:defRPr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kumimoji="1" lang="zh-CN" altLang="en-US" sz="2000" dirty="0">
                <a:latin typeface="+mj-lt"/>
                <a:ea typeface="+mj-ea"/>
              </a:rPr>
              <a:t>排序后处于</a:t>
            </a:r>
            <a:r>
              <a:rPr kumimoji="1" lang="en-US" altLang="zh-CN" sz="2000" dirty="0">
                <a:latin typeface="+mj-lt"/>
                <a:ea typeface="+mj-ea"/>
              </a:rPr>
              <a:t>25%</a:t>
            </a:r>
            <a:r>
              <a:rPr kumimoji="1" lang="zh-CN" altLang="en-US" sz="2000" dirty="0">
                <a:latin typeface="+mj-lt"/>
                <a:ea typeface="+mj-ea"/>
              </a:rPr>
              <a:t>和</a:t>
            </a:r>
            <a:r>
              <a:rPr kumimoji="1" lang="en-US" altLang="zh-CN" sz="2000" dirty="0">
                <a:latin typeface="+mj-lt"/>
                <a:ea typeface="+mj-ea"/>
              </a:rPr>
              <a:t>75%</a:t>
            </a:r>
            <a:r>
              <a:rPr kumimoji="1" lang="zh-CN" altLang="en-US" sz="2000" dirty="0">
                <a:latin typeface="+mj-lt"/>
                <a:ea typeface="+mj-ea"/>
              </a:rPr>
              <a:t>位置上的值</a:t>
            </a:r>
            <a:endParaRPr kumimoji="1" lang="zh-CN" altLang="en-US" dirty="0">
              <a:latin typeface="+mj-lt"/>
              <a:ea typeface="+mj-ea"/>
            </a:endParaRPr>
          </a:p>
          <a:p>
            <a:pPr marL="571500" indent="-571500" fontAlgn="base">
              <a:lnSpc>
                <a:spcPct val="100000"/>
              </a:lnSpc>
              <a:spcBef>
                <a:spcPct val="33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endParaRPr lang="zh-CN" altLang="en-US" sz="2250" kern="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7108" name="Text Box 4"/>
          <p:cNvSpPr txBox="1">
            <a:spLocks noChangeArrowheads="1"/>
          </p:cNvSpPr>
          <p:nvPr/>
        </p:nvSpPr>
        <p:spPr bwMode="auto">
          <a:xfrm>
            <a:off x="904875" y="4102735"/>
            <a:ext cx="8183245" cy="122237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defRPr/>
            </a:pPr>
            <a:r>
              <a:rPr sz="21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kumimoji="1" lang="zh-CN" altLang="en-US" sz="2100" dirty="0">
                <a:latin typeface="+mj-lt"/>
                <a:ea typeface="+mj-ea"/>
                <a:cs typeface="华文楷体" panose="02010600040101010101" charset="-122"/>
              </a:rPr>
              <a:t>不受极端值的影响</a:t>
            </a:r>
          </a:p>
          <a:p>
            <a:pPr eaLnBrk="0" fontAlgn="base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defRPr/>
            </a:pPr>
            <a:r>
              <a:rPr sz="21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kumimoji="1" lang="zh-CN" altLang="en-US" sz="2100" dirty="0">
                <a:latin typeface="+mj-lt"/>
                <a:ea typeface="+mj-ea"/>
                <a:cs typeface="华文楷体" panose="02010600040101010101" charset="-122"/>
              </a:rPr>
              <a:t>主要用于定序数据，也可用于数值型数据，但不能用于定类数据</a:t>
            </a:r>
          </a:p>
        </p:txBody>
      </p:sp>
      <p:grpSp>
        <p:nvGrpSpPr>
          <p:cNvPr id="2" name="Group 5"/>
          <p:cNvGrpSpPr/>
          <p:nvPr/>
        </p:nvGrpSpPr>
        <p:grpSpPr>
          <a:xfrm>
            <a:off x="2114550" y="3257550"/>
            <a:ext cx="4114800" cy="845344"/>
            <a:chOff x="912" y="2016"/>
            <a:chExt cx="3456" cy="710"/>
          </a:xfrm>
        </p:grpSpPr>
        <p:sp>
          <p:nvSpPr>
            <p:cNvPr id="47110" name="Rectangle 6"/>
            <p:cNvSpPr>
              <a:spLocks noChangeArrowheads="1"/>
            </p:cNvSpPr>
            <p:nvPr/>
          </p:nvSpPr>
          <p:spPr bwMode="auto">
            <a:xfrm>
              <a:off x="1488" y="2400"/>
              <a:ext cx="534" cy="32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67866" tIns="33337" rIns="67866" bIns="33337">
              <a:spAutoFit/>
            </a:bodyPr>
            <a:lstStyle/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zh-CN" sz="2100" b="1" i="1">
                  <a:solidFill>
                    <a:srgbClr val="FFFF9B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Q</a:t>
              </a:r>
              <a:r>
                <a:rPr kumimoji="1" lang="en-US" altLang="zh-CN" sz="2100" b="1" i="1" baseline="-25000">
                  <a:solidFill>
                    <a:srgbClr val="FFFF9B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L</a:t>
              </a:r>
            </a:p>
          </p:txBody>
        </p:sp>
        <p:sp>
          <p:nvSpPr>
            <p:cNvPr id="47111" name="Rectangle 7"/>
            <p:cNvSpPr>
              <a:spLocks noChangeArrowheads="1"/>
            </p:cNvSpPr>
            <p:nvPr/>
          </p:nvSpPr>
          <p:spPr bwMode="auto">
            <a:xfrm>
              <a:off x="2400" y="2400"/>
              <a:ext cx="534" cy="32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67866" tIns="33337" rIns="67866" bIns="33337">
              <a:spAutoFit/>
            </a:bodyPr>
            <a:lstStyle/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zh-CN" sz="2100" b="1" i="1">
                  <a:solidFill>
                    <a:srgbClr val="FFFF9B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Q</a:t>
              </a:r>
              <a:r>
                <a:rPr kumimoji="1" lang="en-US" altLang="zh-CN" sz="2100" b="1" i="1" baseline="-25000">
                  <a:solidFill>
                    <a:srgbClr val="FFFF9B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M</a:t>
              </a:r>
            </a:p>
          </p:txBody>
        </p:sp>
        <p:sp>
          <p:nvSpPr>
            <p:cNvPr id="47112" name="Rectangle 8"/>
            <p:cNvSpPr>
              <a:spLocks noChangeArrowheads="1"/>
            </p:cNvSpPr>
            <p:nvPr/>
          </p:nvSpPr>
          <p:spPr bwMode="auto">
            <a:xfrm>
              <a:off x="3312" y="2400"/>
              <a:ext cx="534" cy="32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67866" tIns="33337" rIns="67866" bIns="33337">
              <a:spAutoFit/>
            </a:bodyPr>
            <a:lstStyle/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zh-CN" sz="2100" b="1" i="1">
                  <a:solidFill>
                    <a:srgbClr val="FFFF9B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Q</a:t>
              </a:r>
              <a:r>
                <a:rPr kumimoji="1" lang="en-US" altLang="zh-CN" sz="2100" b="1" i="1" baseline="-25000">
                  <a:solidFill>
                    <a:srgbClr val="FFFF9B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U</a:t>
              </a:r>
            </a:p>
          </p:txBody>
        </p:sp>
        <p:grpSp>
          <p:nvGrpSpPr>
            <p:cNvPr id="124936" name="Group 9"/>
            <p:cNvGrpSpPr/>
            <p:nvPr/>
          </p:nvGrpSpPr>
          <p:grpSpPr>
            <a:xfrm>
              <a:off x="912" y="2016"/>
              <a:ext cx="3456" cy="411"/>
              <a:chOff x="912" y="2016"/>
              <a:chExt cx="3456" cy="411"/>
            </a:xfrm>
          </p:grpSpPr>
          <p:sp>
            <p:nvSpPr>
              <p:cNvPr id="47114" name="Text Box 10"/>
              <p:cNvSpPr txBox="1">
                <a:spLocks noChangeArrowheads="1"/>
              </p:cNvSpPr>
              <p:nvPr/>
            </p:nvSpPr>
            <p:spPr bwMode="auto">
              <a:xfrm>
                <a:off x="912" y="2016"/>
                <a:ext cx="864" cy="411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>
                <a:outerShdw dist="53882" dir="2700000" algn="ctr" rotWithShape="0">
                  <a:schemeClr val="bg2"/>
                </a:outerShdw>
              </a:effectLst>
            </p:spPr>
            <p:txBody>
              <a:bodyPr>
                <a:noAutofit/>
              </a:bodyPr>
              <a:lstStyle/>
              <a:p>
                <a:pPr algn="ctr" eaLnBrk="0" hangingPunct="0">
                  <a:spcBef>
                    <a:spcPct val="50000"/>
                  </a:spcBef>
                  <a:defRPr/>
                </a:pPr>
                <a:r>
                  <a:rPr kumimoji="1" lang="en-US" altLang="zh-CN" sz="2400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25%</a:t>
                </a:r>
              </a:p>
            </p:txBody>
          </p:sp>
          <p:sp>
            <p:nvSpPr>
              <p:cNvPr id="47115" name="Text Box 11"/>
              <p:cNvSpPr txBox="1">
                <a:spLocks noChangeArrowheads="1"/>
              </p:cNvSpPr>
              <p:nvPr/>
            </p:nvSpPr>
            <p:spPr bwMode="auto">
              <a:xfrm>
                <a:off x="1776" y="2016"/>
                <a:ext cx="864" cy="410"/>
              </a:xfrm>
              <a:prstGeom prst="rect">
                <a:avLst/>
              </a:prstGeom>
              <a:solidFill>
                <a:srgbClr val="FF33CC"/>
              </a:solidFill>
              <a:ln>
                <a:noFill/>
              </a:ln>
              <a:effectLst>
                <a:outerShdw dist="53882" dir="2700000" algn="ctr" rotWithShape="0">
                  <a:schemeClr val="bg2"/>
                </a:outerShdw>
              </a:effectLst>
            </p:spPr>
            <p:txBody>
              <a:bodyPr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  <a:defRPr/>
                </a:pPr>
                <a:r>
                  <a:rPr kumimoji="1" lang="en-US" altLang="zh-CN" sz="2400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25%</a:t>
                </a:r>
              </a:p>
            </p:txBody>
          </p:sp>
          <p:sp>
            <p:nvSpPr>
              <p:cNvPr id="47116" name="Text Box 12"/>
              <p:cNvSpPr txBox="1">
                <a:spLocks noChangeArrowheads="1"/>
              </p:cNvSpPr>
              <p:nvPr/>
            </p:nvSpPr>
            <p:spPr bwMode="auto">
              <a:xfrm>
                <a:off x="2640" y="2016"/>
                <a:ext cx="864" cy="410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ffectLst>
                <a:outerShdw dist="53882" dir="2700000" algn="ctr" rotWithShape="0">
                  <a:schemeClr val="bg2"/>
                </a:outerShdw>
              </a:effectLst>
            </p:spPr>
            <p:txBody>
              <a:bodyPr>
                <a:noAutofit/>
              </a:bodyPr>
              <a:lstStyle/>
              <a:p>
                <a:pPr algn="ctr" eaLnBrk="0" hangingPunct="0">
                  <a:spcBef>
                    <a:spcPct val="50000"/>
                  </a:spcBef>
                  <a:defRPr/>
                </a:pPr>
                <a:r>
                  <a:rPr kumimoji="1" lang="en-US" altLang="zh-CN" sz="2400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25%</a:t>
                </a:r>
              </a:p>
            </p:txBody>
          </p:sp>
          <p:sp>
            <p:nvSpPr>
              <p:cNvPr id="47117" name="Text Box 13"/>
              <p:cNvSpPr txBox="1">
                <a:spLocks noChangeArrowheads="1"/>
              </p:cNvSpPr>
              <p:nvPr/>
            </p:nvSpPr>
            <p:spPr bwMode="auto">
              <a:xfrm>
                <a:off x="3504" y="2016"/>
                <a:ext cx="864" cy="410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  <a:effectLst>
                <a:outerShdw dist="53882" dir="2700000" algn="ctr" rotWithShape="0">
                  <a:schemeClr val="bg2"/>
                </a:outerShdw>
              </a:effectLst>
            </p:spPr>
            <p:txBody>
              <a:bodyPr>
                <a:noAutofit/>
              </a:bodyPr>
              <a:lstStyle/>
              <a:p>
                <a:pPr algn="ctr" eaLnBrk="0" hangingPunct="0">
                  <a:spcBef>
                    <a:spcPct val="50000"/>
                  </a:spcBef>
                  <a:defRPr/>
                </a:pPr>
                <a:r>
                  <a:rPr kumimoji="1" lang="en-US" altLang="zh-CN" sz="2400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25%</a:t>
                </a:r>
              </a:p>
            </p:txBody>
          </p:sp>
        </p:grp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7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p"/>
      <p:bldP spid="47108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950595" y="927100"/>
            <a:ext cx="7380605" cy="857250"/>
          </a:xfrm>
        </p:spPr>
        <p:txBody>
          <a:bodyPr vert="horz" wrap="square" lIns="67866" tIns="33337" rIns="67866" bIns="33337" numCol="1" rtlCol="0" anchor="ctr" anchorCtr="1" compatLnSpc="1">
            <a:normAutofit fontScale="90000"/>
          </a:bodyPr>
          <a:lstStyle/>
          <a:p>
            <a:pPr algn="ctr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kumimoji="1" lang="zh-CN" altLang="en-US" sz="4400" b="1" dirty="0"/>
              <a:t>数值型未分组数据的四分位数</a:t>
            </a:r>
            <a:br>
              <a:rPr kumimoji="1" lang="zh-CN" altLang="en-US" sz="4400" b="1" dirty="0"/>
            </a:br>
            <a:endParaRPr lang="en-US" altLang="zh-CN" sz="2700" b="1" kern="0" dirty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" name="流程图: 终止 6"/>
          <p:cNvSpPr/>
          <p:nvPr/>
        </p:nvSpPr>
        <p:spPr>
          <a:xfrm>
            <a:off x="3189605" y="5731510"/>
            <a:ext cx="1323975" cy="485140"/>
          </a:xfrm>
          <a:prstGeom prst="flowChartTerminator">
            <a:avLst/>
          </a:prstGeom>
          <a:solidFill>
            <a:srgbClr val="D3481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1360170" y="1620520"/>
            <a:ext cx="6736715" cy="2049145"/>
          </a:xfrm>
        </p:spPr>
        <p:txBody>
          <a:bodyPr vert="horz" wrap="square" lIns="67866" tIns="33337" rIns="67866" bIns="33337" numCol="1" rtlCol="0" anchor="t" anchorCtr="0" compatLnSpc="1">
            <a:normAutofit fontScale="97500"/>
          </a:bodyPr>
          <a:lstStyle/>
          <a:p>
            <a:pPr marL="0" indent="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tabLst>
                <a:tab pos="2514600" algn="ctr"/>
                <a:tab pos="3543300" algn="ctr"/>
                <a:tab pos="4572000" algn="ctr"/>
                <a:tab pos="5600700" algn="ctr"/>
                <a:tab pos="6578600" algn="ctr"/>
                <a:tab pos="7086600" algn="ctr"/>
              </a:tabLst>
              <a:defRPr/>
            </a:pPr>
            <a:r>
              <a:rPr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b="1" kern="0" dirty="0">
                <a:solidFill>
                  <a:srgbClr val="00ECD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原始数据</a:t>
            </a:r>
            <a:r>
              <a:rPr lang="en-US" altLang="zh-CN" b="1" kern="0" dirty="0">
                <a:solidFill>
                  <a:srgbClr val="00ECD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:</a:t>
            </a:r>
            <a:r>
              <a:rPr lang="en-US" altLang="zh-CN" kern="0" dirty="0">
                <a:solidFill>
                  <a:srgbClr val="00ECD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en-US" altLang="zh-CN" kern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23   21	    30     32    	28   25    26</a:t>
            </a:r>
          </a:p>
          <a:p>
            <a:pPr marL="0" indent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tabLst>
                <a:tab pos="2514600" algn="ctr"/>
                <a:tab pos="3543300" algn="ctr"/>
                <a:tab pos="4572000" algn="ctr"/>
                <a:tab pos="5600700" algn="ctr"/>
                <a:tab pos="6578600" algn="ctr"/>
                <a:tab pos="7086600" algn="ctr"/>
              </a:tabLst>
              <a:defRPr/>
            </a:pPr>
            <a:r>
              <a:rPr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b="1" kern="0" dirty="0">
                <a:solidFill>
                  <a:srgbClr val="00ECD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排序</a:t>
            </a:r>
            <a:r>
              <a:rPr lang="en-US" altLang="zh-CN" b="1" kern="0" dirty="0">
                <a:solidFill>
                  <a:srgbClr val="00ECD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:</a:t>
            </a:r>
            <a:r>
              <a:rPr lang="en-US" altLang="zh-CN" kern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21   </a:t>
            </a:r>
            <a:r>
              <a:rPr lang="en-US" altLang="zh-CN" kern="0" dirty="0">
                <a:solidFill>
                  <a:srgbClr val="FFFF9B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23   </a:t>
            </a:r>
            <a:r>
              <a:rPr lang="en-US" altLang="zh-CN" kern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25     26     28   </a:t>
            </a:r>
            <a:r>
              <a:rPr lang="en-US" altLang="zh-CN" kern="0" dirty="0">
                <a:solidFill>
                  <a:srgbClr val="FFFF9B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30</a:t>
            </a:r>
            <a:r>
              <a:rPr lang="en-US" altLang="zh-CN" kern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 32</a:t>
            </a:r>
          </a:p>
          <a:p>
            <a:pPr marL="0" indent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  <a:tabLst>
                <a:tab pos="2514600" algn="ctr"/>
                <a:tab pos="3543300" algn="ctr"/>
                <a:tab pos="4572000" algn="ctr"/>
                <a:tab pos="5600700" algn="ctr"/>
                <a:tab pos="6578600" algn="ctr"/>
                <a:tab pos="7086600" algn="ctr"/>
              </a:tabLst>
              <a:defRPr/>
            </a:pPr>
            <a:r>
              <a:rPr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b="1" kern="0" dirty="0">
                <a:solidFill>
                  <a:srgbClr val="00ECD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位置</a:t>
            </a:r>
            <a:r>
              <a:rPr lang="en-US" altLang="zh-CN" b="1" kern="0" dirty="0">
                <a:solidFill>
                  <a:srgbClr val="00ECD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:</a:t>
            </a:r>
            <a:r>
              <a:rPr lang="en-US" altLang="zh-CN" kern="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 1      2       3	      4       5      6      7 </a:t>
            </a:r>
            <a:endParaRPr lang="en-US" altLang="zh-CN" sz="2400" kern="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53252" name="Rectangle 4"/>
          <p:cNvSpPr>
            <a:spLocks noChangeArrowheads="1"/>
          </p:cNvSpPr>
          <p:nvPr/>
        </p:nvSpPr>
        <p:spPr bwMode="auto">
          <a:xfrm>
            <a:off x="4012804" y="4017805"/>
            <a:ext cx="800100" cy="365760"/>
          </a:xfrm>
          <a:prstGeom prst="rect">
            <a:avLst/>
          </a:prstGeom>
          <a:noFill/>
          <a:ln>
            <a:noFill/>
          </a:ln>
          <a:effectLst/>
        </p:spPr>
        <p:txBody>
          <a:bodyPr lIns="67866" tIns="33337" rIns="67866" bIns="33337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95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N+</a:t>
            </a:r>
            <a:r>
              <a:rPr kumimoji="1" lang="en-US" altLang="zh-CN" sz="1950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1</a:t>
            </a:r>
            <a:endParaRPr kumimoji="1" lang="en-US" altLang="zh-CN" sz="1950" i="1" dirty="0">
              <a:effectLst>
                <a:outerShdw blurRad="38100" dist="38100" dir="2700000" algn="tl">
                  <a:srgbClr val="000000"/>
                </a:outerShdw>
              </a:effectLst>
              <a:latin typeface="华文楷体" panose="02010600040101010101" charset="-122"/>
              <a:ea typeface="宋体" panose="02010600030101010101" pitchFamily="2" charset="-122"/>
              <a:cs typeface="华文楷体" panose="02010600040101010101" charset="-122"/>
            </a:endParaRPr>
          </a:p>
        </p:txBody>
      </p:sp>
      <p:sp>
        <p:nvSpPr>
          <p:cNvPr id="8" name="流程图: 终止 7"/>
          <p:cNvSpPr/>
          <p:nvPr/>
        </p:nvSpPr>
        <p:spPr>
          <a:xfrm>
            <a:off x="5008880" y="5731510"/>
            <a:ext cx="1323975" cy="485140"/>
          </a:xfrm>
          <a:prstGeom prst="flowChartTerminator">
            <a:avLst/>
          </a:prstGeom>
          <a:solidFill>
            <a:srgbClr val="D3481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253" name="Rectangle 5"/>
          <p:cNvSpPr>
            <a:spLocks noChangeArrowheads="1"/>
          </p:cNvSpPr>
          <p:nvPr/>
        </p:nvSpPr>
        <p:spPr bwMode="auto">
          <a:xfrm>
            <a:off x="3340181" y="5776278"/>
            <a:ext cx="1023620" cy="41211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866" tIns="33337" rIns="67866" bIns="33337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25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Q</a:t>
            </a:r>
            <a:r>
              <a:rPr kumimoji="1" lang="en-US" altLang="zh-CN" sz="2250" i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L</a:t>
            </a:r>
            <a:r>
              <a:rPr kumimoji="1" lang="en-US" altLang="zh-CN" sz="225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=</a:t>
            </a:r>
            <a:r>
              <a:rPr kumimoji="1" lang="en-US" altLang="zh-CN" sz="2250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 </a:t>
            </a:r>
            <a:r>
              <a:rPr kumimoji="1" lang="en-US" altLang="zh-CN" sz="2250" dirty="0">
                <a:solidFill>
                  <a:srgbClr val="FFFFB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23</a:t>
            </a:r>
          </a:p>
        </p:txBody>
      </p:sp>
      <p:grpSp>
        <p:nvGrpSpPr>
          <p:cNvPr id="131077" name="Group 6"/>
          <p:cNvGrpSpPr/>
          <p:nvPr/>
        </p:nvGrpSpPr>
        <p:grpSpPr>
          <a:xfrm>
            <a:off x="2829560" y="4017645"/>
            <a:ext cx="4295775" cy="1410636"/>
            <a:chOff x="1776" y="2304"/>
            <a:chExt cx="3312" cy="1166"/>
          </a:xfrm>
        </p:grpSpPr>
        <p:sp>
          <p:nvSpPr>
            <p:cNvPr id="53255" name="Rectangle 7"/>
            <p:cNvSpPr>
              <a:spLocks noChangeArrowheads="1"/>
            </p:cNvSpPr>
            <p:nvPr/>
          </p:nvSpPr>
          <p:spPr bwMode="auto">
            <a:xfrm>
              <a:off x="3312" y="2304"/>
              <a:ext cx="501" cy="30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67866" tIns="33337" rIns="67866" bIns="33337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1950" i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7+</a:t>
              </a:r>
              <a:r>
                <a:rPr kumimoji="1" lang="en-US" altLang="zh-CN" sz="195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1</a:t>
              </a:r>
              <a:endParaRPr kumimoji="1" lang="en-US" altLang="zh-CN" sz="195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endParaRPr>
            </a:p>
          </p:txBody>
        </p:sp>
        <p:grpSp>
          <p:nvGrpSpPr>
            <p:cNvPr id="131079" name="Group 8"/>
            <p:cNvGrpSpPr/>
            <p:nvPr/>
          </p:nvGrpSpPr>
          <p:grpSpPr>
            <a:xfrm>
              <a:off x="1776" y="2448"/>
              <a:ext cx="3312" cy="1022"/>
              <a:chOff x="1776" y="2448"/>
              <a:chExt cx="3312" cy="1022"/>
            </a:xfrm>
          </p:grpSpPr>
          <p:sp>
            <p:nvSpPr>
              <p:cNvPr id="53257" name="Rectangle 9"/>
              <p:cNvSpPr>
                <a:spLocks noChangeArrowheads="1"/>
              </p:cNvSpPr>
              <p:nvPr/>
            </p:nvSpPr>
            <p:spPr bwMode="auto">
              <a:xfrm>
                <a:off x="1776" y="2448"/>
                <a:ext cx="945" cy="3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lIns="67866" tIns="33337" rIns="67866" bIns="33337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1950" i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Q</a:t>
                </a:r>
                <a:r>
                  <a:rPr kumimoji="1" lang="en-US" altLang="zh-CN" sz="1950" i="1" baseline="-250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L</a:t>
                </a:r>
                <a:r>
                  <a:rPr kumimoji="1" lang="zh-CN" altLang="en-US" sz="195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位置 </a:t>
                </a:r>
                <a:r>
                  <a:rPr kumimoji="1" lang="en-US" altLang="zh-CN" sz="195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=</a:t>
                </a:r>
              </a:p>
            </p:txBody>
          </p:sp>
          <p:sp>
            <p:nvSpPr>
              <p:cNvPr id="131081" name="Line 10"/>
              <p:cNvSpPr/>
              <p:nvPr/>
            </p:nvSpPr>
            <p:spPr>
              <a:xfrm>
                <a:off x="2688" y="2592"/>
                <a:ext cx="432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" name="Rectangle 11"/>
              <p:cNvSpPr>
                <a:spLocks noChangeArrowheads="1"/>
              </p:cNvSpPr>
              <p:nvPr/>
            </p:nvSpPr>
            <p:spPr bwMode="auto">
              <a:xfrm>
                <a:off x="2784" y="2592"/>
                <a:ext cx="229" cy="3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lIns="67866" tIns="33337" rIns="67866" bIns="33337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195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4</a:t>
                </a:r>
              </a:p>
            </p:txBody>
          </p:sp>
          <p:sp>
            <p:nvSpPr>
              <p:cNvPr id="53260" name="Text Box 12"/>
              <p:cNvSpPr txBox="1">
                <a:spLocks noChangeArrowheads="1"/>
              </p:cNvSpPr>
              <p:nvPr/>
            </p:nvSpPr>
            <p:spPr bwMode="auto">
              <a:xfrm>
                <a:off x="3120" y="2448"/>
                <a:ext cx="240" cy="32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  <a:defRPr/>
                </a:pPr>
                <a:r>
                  <a:rPr kumimoji="1" lang="en-US" altLang="zh-CN" sz="195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=</a:t>
                </a:r>
                <a:endParaRPr kumimoji="1" lang="en-US" altLang="zh-CN" sz="1950"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endParaRPr>
              </a:p>
            </p:txBody>
          </p:sp>
          <p:sp>
            <p:nvSpPr>
              <p:cNvPr id="131084" name="Line 13"/>
              <p:cNvSpPr/>
              <p:nvPr/>
            </p:nvSpPr>
            <p:spPr>
              <a:xfrm>
                <a:off x="3360" y="2592"/>
                <a:ext cx="432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3262" name="Rectangle 14"/>
              <p:cNvSpPr>
                <a:spLocks noChangeArrowheads="1"/>
              </p:cNvSpPr>
              <p:nvPr/>
            </p:nvSpPr>
            <p:spPr bwMode="auto">
              <a:xfrm>
                <a:off x="3456" y="2592"/>
                <a:ext cx="229" cy="3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lIns="67866" tIns="33337" rIns="67866" bIns="33337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195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4</a:t>
                </a:r>
              </a:p>
            </p:txBody>
          </p:sp>
          <p:sp>
            <p:nvSpPr>
              <p:cNvPr id="53263" name="Text Box 15"/>
              <p:cNvSpPr txBox="1">
                <a:spLocks noChangeArrowheads="1"/>
              </p:cNvSpPr>
              <p:nvPr/>
            </p:nvSpPr>
            <p:spPr bwMode="auto">
              <a:xfrm>
                <a:off x="3792" y="2448"/>
                <a:ext cx="576" cy="32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kumimoji="1" lang="en-US" altLang="zh-CN" sz="195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= 2</a:t>
                </a:r>
                <a:endParaRPr kumimoji="1" lang="en-US" altLang="zh-CN" sz="1950"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endParaRPr>
              </a:p>
            </p:txBody>
          </p:sp>
          <p:sp>
            <p:nvSpPr>
              <p:cNvPr id="3" name="Rectangle 16"/>
              <p:cNvSpPr>
                <a:spLocks noChangeArrowheads="1"/>
              </p:cNvSpPr>
              <p:nvPr/>
            </p:nvSpPr>
            <p:spPr bwMode="auto">
              <a:xfrm>
                <a:off x="1776" y="3024"/>
                <a:ext cx="967" cy="3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lIns="67866" tIns="33337" rIns="67866" bIns="33337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1950" i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Q</a:t>
                </a:r>
                <a:r>
                  <a:rPr kumimoji="1" lang="en-US" altLang="zh-CN" sz="1950" i="1" baseline="-250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U</a:t>
                </a:r>
                <a:r>
                  <a:rPr kumimoji="1" lang="zh-CN" altLang="en-US" sz="195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位置 </a:t>
                </a:r>
                <a:r>
                  <a:rPr kumimoji="1" lang="en-US" altLang="zh-CN" sz="195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=</a:t>
                </a:r>
              </a:p>
            </p:txBody>
          </p:sp>
          <p:sp>
            <p:nvSpPr>
              <p:cNvPr id="131088" name="Line 17"/>
              <p:cNvSpPr/>
              <p:nvPr/>
            </p:nvSpPr>
            <p:spPr>
              <a:xfrm>
                <a:off x="2736" y="3168"/>
                <a:ext cx="768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3266" name="Rectangle 18"/>
              <p:cNvSpPr>
                <a:spLocks noChangeArrowheads="1"/>
              </p:cNvSpPr>
              <p:nvPr/>
            </p:nvSpPr>
            <p:spPr bwMode="auto">
              <a:xfrm>
                <a:off x="2736" y="2832"/>
                <a:ext cx="768" cy="3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67866" tIns="33337" rIns="67866" bIns="33337">
                <a:sp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195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3(</a:t>
                </a:r>
                <a:r>
                  <a:rPr kumimoji="1" lang="en-US" altLang="zh-CN" sz="1950" i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N+</a:t>
                </a:r>
                <a:r>
                  <a:rPr kumimoji="1" lang="en-US" altLang="zh-CN" sz="195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1)</a:t>
                </a:r>
                <a:endParaRPr kumimoji="1" lang="en-US" altLang="zh-CN" sz="195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endParaRPr>
              </a:p>
            </p:txBody>
          </p:sp>
          <p:sp>
            <p:nvSpPr>
              <p:cNvPr id="53267" name="Rectangle 19"/>
              <p:cNvSpPr>
                <a:spLocks noChangeArrowheads="1"/>
              </p:cNvSpPr>
              <p:nvPr/>
            </p:nvSpPr>
            <p:spPr bwMode="auto">
              <a:xfrm>
                <a:off x="3024" y="3168"/>
                <a:ext cx="229" cy="3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lIns="67866" tIns="33337" rIns="67866" bIns="33337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195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4</a:t>
                </a:r>
              </a:p>
            </p:txBody>
          </p:sp>
          <p:sp>
            <p:nvSpPr>
              <p:cNvPr id="131091" name="Line 20"/>
              <p:cNvSpPr/>
              <p:nvPr/>
            </p:nvSpPr>
            <p:spPr>
              <a:xfrm>
                <a:off x="3744" y="3168"/>
                <a:ext cx="768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3269" name="Rectangle 21"/>
              <p:cNvSpPr>
                <a:spLocks noChangeArrowheads="1"/>
              </p:cNvSpPr>
              <p:nvPr/>
            </p:nvSpPr>
            <p:spPr bwMode="auto">
              <a:xfrm>
                <a:off x="3744" y="2832"/>
                <a:ext cx="768" cy="3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67866" tIns="33337" rIns="67866" bIns="33337">
                <a:spAutoFit/>
              </a:bodyPr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195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3(7</a:t>
                </a:r>
                <a:r>
                  <a:rPr kumimoji="1" lang="en-US" altLang="zh-CN" sz="1950" i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+</a:t>
                </a:r>
                <a:r>
                  <a:rPr kumimoji="1" lang="en-US" altLang="zh-CN" sz="195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1)</a:t>
                </a:r>
                <a:endParaRPr kumimoji="1" lang="en-US" altLang="zh-CN" sz="1950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endParaRPr>
              </a:p>
            </p:txBody>
          </p:sp>
          <p:sp>
            <p:nvSpPr>
              <p:cNvPr id="53270" name="Rectangle 22"/>
              <p:cNvSpPr>
                <a:spLocks noChangeArrowheads="1"/>
              </p:cNvSpPr>
              <p:nvPr/>
            </p:nvSpPr>
            <p:spPr bwMode="auto">
              <a:xfrm>
                <a:off x="4032" y="3168"/>
                <a:ext cx="229" cy="3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lIns="67866" tIns="33337" rIns="67866" bIns="33337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195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4</a:t>
                </a:r>
              </a:p>
            </p:txBody>
          </p:sp>
          <p:sp>
            <p:nvSpPr>
              <p:cNvPr id="4" name="Text Box 23"/>
              <p:cNvSpPr txBox="1">
                <a:spLocks noChangeArrowheads="1"/>
              </p:cNvSpPr>
              <p:nvPr/>
            </p:nvSpPr>
            <p:spPr bwMode="auto">
              <a:xfrm>
                <a:off x="3456" y="3024"/>
                <a:ext cx="384" cy="32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algn="just" eaLnBrk="0" hangingPunct="0">
                  <a:spcBef>
                    <a:spcPct val="50000"/>
                  </a:spcBef>
                  <a:defRPr/>
                </a:pPr>
                <a:r>
                  <a:rPr kumimoji="1" lang="zh-CN" altLang="en-US" sz="195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 </a:t>
                </a:r>
                <a:r>
                  <a:rPr kumimoji="1" lang="en-US" altLang="zh-CN" sz="195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=</a:t>
                </a:r>
              </a:p>
            </p:txBody>
          </p:sp>
          <p:sp>
            <p:nvSpPr>
              <p:cNvPr id="53272" name="Text Box 24"/>
              <p:cNvSpPr txBox="1">
                <a:spLocks noChangeArrowheads="1"/>
              </p:cNvSpPr>
              <p:nvPr/>
            </p:nvSpPr>
            <p:spPr bwMode="auto">
              <a:xfrm>
                <a:off x="4512" y="3024"/>
                <a:ext cx="576" cy="32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0" hangingPunct="0">
                  <a:spcBef>
                    <a:spcPct val="50000"/>
                  </a:spcBef>
                  <a:defRPr/>
                </a:pPr>
                <a:r>
                  <a:rPr kumimoji="1" lang="en-US" altLang="zh-CN" sz="195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= 6</a:t>
                </a:r>
              </a:p>
            </p:txBody>
          </p:sp>
        </p:grpSp>
      </p:grpSp>
      <p:sp>
        <p:nvSpPr>
          <p:cNvPr id="53273" name="Rectangle 25"/>
          <p:cNvSpPr>
            <a:spLocks noChangeArrowheads="1"/>
          </p:cNvSpPr>
          <p:nvPr/>
        </p:nvSpPr>
        <p:spPr bwMode="auto">
          <a:xfrm>
            <a:off x="5118021" y="5774691"/>
            <a:ext cx="1106170" cy="41211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866" tIns="33337" rIns="67866" bIns="33337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25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Q</a:t>
            </a:r>
            <a:r>
              <a:rPr kumimoji="1" lang="en-US" altLang="zh-CN" sz="2250" i="1" baseline="-250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U </a:t>
            </a:r>
            <a:r>
              <a:rPr kumimoji="1" lang="en-US" altLang="zh-CN" sz="225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=</a:t>
            </a:r>
            <a:r>
              <a:rPr kumimoji="1" lang="en-US" altLang="zh-CN" sz="2250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 </a:t>
            </a:r>
            <a:r>
              <a:rPr kumimoji="1" lang="en-US" altLang="zh-CN" sz="2250" dirty="0">
                <a:solidFill>
                  <a:srgbClr val="FFFFB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rPr>
              <a:t>30</a:t>
            </a:r>
          </a:p>
        </p:txBody>
      </p:sp>
      <p:sp>
        <p:nvSpPr>
          <p:cNvPr id="53274" name="Text Box 26"/>
          <p:cNvSpPr txBox="1">
            <a:spLocks noChangeArrowheads="1"/>
          </p:cNvSpPr>
          <p:nvPr/>
        </p:nvSpPr>
        <p:spPr bwMode="auto">
          <a:xfrm>
            <a:off x="3242072" y="3502422"/>
            <a:ext cx="400050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1" lang="zh-CN" altLang="en-US" sz="2400" b="1" dirty="0">
                <a:solidFill>
                  <a:srgbClr val="FF1BA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anose="02040602050305030304" pitchFamily="18" charset="0"/>
                <a:ea typeface="宋体" panose="02010600030101010101" pitchFamily="2" charset="-122"/>
                <a:cs typeface="华文楷体" panose="02010600040101010101" charset="-122"/>
                <a:sym typeface="Wingdings 3" panose="05040102010807070707" pitchFamily="18" charset="2"/>
              </a:rPr>
              <a:t></a:t>
            </a:r>
          </a:p>
        </p:txBody>
      </p:sp>
      <p:sp>
        <p:nvSpPr>
          <p:cNvPr id="53275" name="Text Box 27"/>
          <p:cNvSpPr txBox="1">
            <a:spLocks noChangeArrowheads="1"/>
          </p:cNvSpPr>
          <p:nvPr/>
        </p:nvSpPr>
        <p:spPr bwMode="auto">
          <a:xfrm>
            <a:off x="5790010" y="3502898"/>
            <a:ext cx="400050" cy="4603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1" lang="zh-CN" altLang="en-US" sz="2400" b="1" dirty="0">
                <a:solidFill>
                  <a:srgbClr val="FF1BA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anose="02040602050305030304" pitchFamily="18" charset="0"/>
                <a:ea typeface="宋体" panose="02010600030101010101" pitchFamily="2" charset="-122"/>
                <a:cs typeface="华文楷体" panose="02010600040101010101" charset="-122"/>
                <a:sym typeface="Wingdings 3" panose="05040102010807070707" pitchFamily="18" charset="2"/>
              </a:rPr>
              <a:t></a:t>
            </a:r>
          </a:p>
        </p:txBody>
      </p:sp>
    </p:spTree>
  </p:cSld>
  <p:clrMapOvr>
    <a:masterClrMapping/>
  </p:clrMapOvr>
  <p:transition>
    <p:wipe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26670" y="640080"/>
            <a:ext cx="5600700" cy="800100"/>
          </a:xfrm>
        </p:spPr>
        <p:txBody>
          <a:bodyPr vert="horz" wrap="square" lIns="67866" tIns="33337" rIns="67866" bIns="33337" numCol="1" rtlCol="0" anchor="ctr" anchorCtr="0" compatLnSpc="1">
            <a:normAutofit/>
          </a:bodyPr>
          <a:lstStyle/>
          <a:p>
            <a:pPr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kumimoji="1" lang="zh-CN" altLang="en-US" sz="4400" b="1" dirty="0"/>
              <a:t>离散程度的测度</a:t>
            </a:r>
          </a:p>
        </p:txBody>
      </p:sp>
      <p:sp>
        <p:nvSpPr>
          <p:cNvPr id="89091" name="Text Box 3"/>
          <p:cNvSpPr txBox="1">
            <a:spLocks noChangeArrowheads="1"/>
          </p:cNvSpPr>
          <p:nvPr/>
        </p:nvSpPr>
        <p:spPr bwMode="auto">
          <a:xfrm>
            <a:off x="693683" y="1729740"/>
            <a:ext cx="8145517" cy="353776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marL="4572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just" eaLnBrk="0" fontAlgn="base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FontTx/>
              <a:buNone/>
              <a:defRPr/>
            </a:pPr>
            <a:r>
              <a:rPr sz="18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kumimoji="1" lang="zh-CN" altLang="en-US" dirty="0">
                <a:latin typeface="+mj-lt"/>
                <a:ea typeface="+mj-ea"/>
                <a:cs typeface="华文楷体" panose="02010600040101010101" charset="-122"/>
              </a:rPr>
              <a:t>数据分布的另一个重要特征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FontTx/>
              <a:buNone/>
              <a:defRPr/>
            </a:pPr>
            <a:r>
              <a:rPr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kumimoji="1" lang="zh-CN" altLang="en-US" dirty="0">
                <a:latin typeface="+mj-lt"/>
                <a:ea typeface="+mj-ea"/>
                <a:cs typeface="华文楷体" panose="02010600040101010101" charset="-122"/>
              </a:rPr>
              <a:t>离中趋势的各测度值是对数据离散程度所作的描述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FontTx/>
              <a:buNone/>
              <a:defRPr/>
            </a:pPr>
            <a:r>
              <a:rPr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kumimoji="1" lang="zh-CN" altLang="en-US" dirty="0">
                <a:latin typeface="+mj-lt"/>
                <a:ea typeface="+mj-ea"/>
                <a:cs typeface="华文楷体" panose="02010600040101010101" charset="-122"/>
              </a:rPr>
              <a:t>反映各变量值远离其中心值的程度，因此也称为离中趋势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FontTx/>
              <a:buNone/>
              <a:defRPr/>
            </a:pPr>
            <a:r>
              <a:rPr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kumimoji="1" lang="zh-CN" altLang="en-US" dirty="0">
                <a:latin typeface="+mj-lt"/>
                <a:ea typeface="+mj-ea"/>
                <a:cs typeface="华文楷体" panose="02010600040101010101" charset="-122"/>
              </a:rPr>
              <a:t>从另一个侧面说明了集中趋势测度值的代表程度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50000"/>
              </a:spcBef>
              <a:spcAft>
                <a:spcPct val="0"/>
              </a:spcAft>
              <a:buFontTx/>
              <a:buNone/>
              <a:defRPr/>
            </a:pPr>
            <a:r>
              <a:rPr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kumimoji="1" lang="zh-CN" altLang="en-US" dirty="0">
                <a:latin typeface="+mj-lt"/>
                <a:ea typeface="+mj-ea"/>
                <a:cs typeface="华文楷体" panose="02010600040101010101" charset="-122"/>
              </a:rPr>
              <a:t>不同类型的数据有不同的离散程度测度值</a:t>
            </a:r>
          </a:p>
        </p:txBody>
      </p:sp>
      <p:grpSp>
        <p:nvGrpSpPr>
          <p:cNvPr id="2" name="Group 4"/>
          <p:cNvGrpSpPr/>
          <p:nvPr/>
        </p:nvGrpSpPr>
        <p:grpSpPr>
          <a:xfrm>
            <a:off x="2857500" y="5170411"/>
            <a:ext cx="3429000" cy="1314450"/>
            <a:chOff x="1248" y="2400"/>
            <a:chExt cx="2952" cy="1152"/>
          </a:xfrm>
        </p:grpSpPr>
        <p:sp>
          <p:nvSpPr>
            <p:cNvPr id="145412" name="Line 5"/>
            <p:cNvSpPr/>
            <p:nvPr/>
          </p:nvSpPr>
          <p:spPr>
            <a:xfrm flipV="1">
              <a:off x="1248" y="3552"/>
              <a:ext cx="2952" cy="0"/>
            </a:xfrm>
            <a:prstGeom prst="line">
              <a:avLst/>
            </a:prstGeom>
            <a:ln w="57150" cap="flat" cmpd="sng">
              <a:solidFill>
                <a:srgbClr val="E8E8E8"/>
              </a:solidFill>
              <a:prstDash val="solid"/>
              <a:round/>
              <a:headEnd type="none" w="med" len="med"/>
              <a:tailEnd type="triangle" w="med" len="med"/>
            </a:ln>
            <a:effectLst>
              <a:outerShdw dist="28398" dir="3806096" algn="ctr" rotWithShape="0">
                <a:schemeClr val="bg2"/>
              </a:outerShdw>
            </a:effectLst>
          </p:spPr>
        </p:sp>
        <p:sp>
          <p:nvSpPr>
            <p:cNvPr id="145413" name="Line 6"/>
            <p:cNvSpPr/>
            <p:nvPr/>
          </p:nvSpPr>
          <p:spPr>
            <a:xfrm>
              <a:off x="2640" y="2448"/>
              <a:ext cx="0" cy="1104"/>
            </a:xfrm>
            <a:prstGeom prst="line">
              <a:avLst/>
            </a:prstGeom>
            <a:ln w="38100" cap="flat" cmpd="sng">
              <a:solidFill>
                <a:schemeClr val="folHlink"/>
              </a:solidFill>
              <a:prstDash val="dash"/>
              <a:round/>
              <a:headEnd type="none" w="med" len="med"/>
              <a:tailEnd type="none" w="med" len="med"/>
            </a:ln>
            <a:effectLst>
              <a:outerShdw dist="28398" dir="3806096" algn="ctr" rotWithShape="0">
                <a:schemeClr val="bg2"/>
              </a:outerShdw>
            </a:effectLst>
          </p:spPr>
        </p:sp>
        <p:sp>
          <p:nvSpPr>
            <p:cNvPr id="145414" name="Line 7"/>
            <p:cNvSpPr/>
            <p:nvPr/>
          </p:nvSpPr>
          <p:spPr>
            <a:xfrm flipH="1" flipV="1">
              <a:off x="2016" y="3360"/>
              <a:ext cx="1248" cy="0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round/>
              <a:headEnd type="arrow" w="med" len="med"/>
              <a:tailEnd type="arrow" w="med" len="med"/>
            </a:ln>
            <a:effectLst>
              <a:outerShdw dist="35921" dir="2699999" algn="ctr" rotWithShape="0">
                <a:schemeClr val="bg2"/>
              </a:outerShdw>
            </a:effectLst>
          </p:spPr>
        </p:sp>
        <p:grpSp>
          <p:nvGrpSpPr>
            <p:cNvPr id="145415" name="Group 8"/>
            <p:cNvGrpSpPr/>
            <p:nvPr/>
          </p:nvGrpSpPr>
          <p:grpSpPr>
            <a:xfrm>
              <a:off x="1344" y="2400"/>
              <a:ext cx="2613" cy="1056"/>
              <a:chOff x="1152" y="2496"/>
              <a:chExt cx="2613" cy="1056"/>
            </a:xfrm>
          </p:grpSpPr>
          <p:sp>
            <p:nvSpPr>
              <p:cNvPr id="145416" name="Freeform 9"/>
              <p:cNvSpPr/>
              <p:nvPr/>
            </p:nvSpPr>
            <p:spPr>
              <a:xfrm>
                <a:off x="2448" y="2496"/>
                <a:ext cx="1317" cy="1038"/>
              </a:xfrm>
              <a:custGeom>
                <a:avLst/>
                <a:gdLst/>
                <a:ahLst/>
                <a:cxnLst>
                  <a:cxn ang="0">
                    <a:pos x="86580" y="8910"/>
                  </a:cxn>
                  <a:cxn ang="0">
                    <a:pos x="77313" y="8825"/>
                  </a:cxn>
                  <a:cxn ang="0">
                    <a:pos x="72701" y="8715"/>
                  </a:cxn>
                  <a:cxn ang="0">
                    <a:pos x="68285" y="8567"/>
                  </a:cxn>
                  <a:cxn ang="0">
                    <a:pos x="63759" y="8367"/>
                  </a:cxn>
                  <a:cxn ang="0">
                    <a:pos x="59193" y="8092"/>
                  </a:cxn>
                  <a:cxn ang="0">
                    <a:pos x="54459" y="7713"/>
                  </a:cxn>
                  <a:cxn ang="0">
                    <a:pos x="45628" y="6688"/>
                  </a:cxn>
                  <a:cxn ang="0">
                    <a:pos x="36340" y="5241"/>
                  </a:cxn>
                  <a:cxn ang="0">
                    <a:pos x="27077" y="3474"/>
                  </a:cxn>
                  <a:cxn ang="0">
                    <a:pos x="22853" y="2608"/>
                  </a:cxn>
                  <a:cxn ang="0">
                    <a:pos x="18242" y="1759"/>
                  </a:cxn>
                  <a:cxn ang="0">
                    <a:pos x="13570" y="1033"/>
                  </a:cxn>
                  <a:cxn ang="0">
                    <a:pos x="8953" y="475"/>
                  </a:cxn>
                  <a:cxn ang="0">
                    <a:pos x="4415" y="128"/>
                  </a:cxn>
                  <a:cxn ang="0">
                    <a:pos x="0" y="0"/>
                  </a:cxn>
                </a:cxnLst>
                <a:rect l="0" t="0" r="0" b="0"/>
                <a:pathLst>
                  <a:path w="570" h="675">
                    <a:moveTo>
                      <a:pt x="569" y="674"/>
                    </a:moveTo>
                    <a:lnTo>
                      <a:pt x="508" y="667"/>
                    </a:lnTo>
                    <a:lnTo>
                      <a:pt x="478" y="659"/>
                    </a:lnTo>
                    <a:lnTo>
                      <a:pt x="449" y="648"/>
                    </a:lnTo>
                    <a:lnTo>
                      <a:pt x="419" y="633"/>
                    </a:lnTo>
                    <a:lnTo>
                      <a:pt x="389" y="612"/>
                    </a:lnTo>
                    <a:lnTo>
                      <a:pt x="358" y="583"/>
                    </a:lnTo>
                    <a:lnTo>
                      <a:pt x="300" y="506"/>
                    </a:lnTo>
                    <a:lnTo>
                      <a:pt x="239" y="396"/>
                    </a:lnTo>
                    <a:lnTo>
                      <a:pt x="178" y="263"/>
                    </a:lnTo>
                    <a:lnTo>
                      <a:pt x="150" y="197"/>
                    </a:lnTo>
                    <a:lnTo>
                      <a:pt x="120" y="133"/>
                    </a:lnTo>
                    <a:lnTo>
                      <a:pt x="89" y="78"/>
                    </a:lnTo>
                    <a:lnTo>
                      <a:pt x="59" y="36"/>
                    </a:lnTo>
                    <a:lnTo>
                      <a:pt x="29" y="10"/>
                    </a:lnTo>
                    <a:lnTo>
                      <a:pt x="0" y="0"/>
                    </a:lnTo>
                  </a:path>
                </a:pathLst>
              </a:custGeom>
              <a:noFill/>
              <a:ln w="57150" cap="rnd" cmpd="sng">
                <a:solidFill>
                  <a:srgbClr val="FFFF7F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45791" dir="2021404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 sz="1350">
                  <a:cs typeface="华文楷体" panose="02010600040101010101" charset="-122"/>
                </a:endParaRPr>
              </a:p>
            </p:txBody>
          </p:sp>
          <p:sp>
            <p:nvSpPr>
              <p:cNvPr id="145417" name="Freeform 10"/>
              <p:cNvSpPr/>
              <p:nvPr/>
            </p:nvSpPr>
            <p:spPr>
              <a:xfrm>
                <a:off x="1152" y="2496"/>
                <a:ext cx="1294" cy="1056"/>
              </a:xfrm>
              <a:custGeom>
                <a:avLst/>
                <a:gdLst/>
                <a:ahLst/>
                <a:cxnLst>
                  <a:cxn ang="0">
                    <a:pos x="0" y="9878"/>
                  </a:cxn>
                  <a:cxn ang="0">
                    <a:pos x="8162" y="9775"/>
                  </a:cxn>
                  <a:cxn ang="0">
                    <a:pos x="12278" y="9660"/>
                  </a:cxn>
                  <a:cxn ang="0">
                    <a:pos x="16606" y="9499"/>
                  </a:cxn>
                  <a:cxn ang="0">
                    <a:pos x="20724" y="9279"/>
                  </a:cxn>
                  <a:cxn ang="0">
                    <a:pos x="24638" y="8967"/>
                  </a:cxn>
                  <a:cxn ang="0">
                    <a:pos x="28884" y="8547"/>
                  </a:cxn>
                  <a:cxn ang="0">
                    <a:pos x="37237" y="7420"/>
                  </a:cxn>
                  <a:cxn ang="0">
                    <a:pos x="45388" y="5813"/>
                  </a:cxn>
                  <a:cxn ang="0">
                    <a:pos x="53843" y="3852"/>
                  </a:cxn>
                  <a:cxn ang="0">
                    <a:pos x="57962" y="2888"/>
                  </a:cxn>
                  <a:cxn ang="0">
                    <a:pos x="62114" y="1946"/>
                  </a:cxn>
                  <a:cxn ang="0">
                    <a:pos x="66121" y="1145"/>
                  </a:cxn>
                  <a:cxn ang="0">
                    <a:pos x="70265" y="529"/>
                  </a:cxn>
                  <a:cxn ang="0">
                    <a:pos x="74463" y="149"/>
                  </a:cxn>
                  <a:cxn ang="0">
                    <a:pos x="78582" y="0"/>
                  </a:cxn>
                </a:cxnLst>
                <a:rect l="0" t="0" r="0" b="0"/>
                <a:pathLst>
                  <a:path w="569" h="675">
                    <a:moveTo>
                      <a:pt x="0" y="674"/>
                    </a:moveTo>
                    <a:lnTo>
                      <a:pt x="59" y="667"/>
                    </a:lnTo>
                    <a:lnTo>
                      <a:pt x="89" y="659"/>
                    </a:lnTo>
                    <a:lnTo>
                      <a:pt x="120" y="648"/>
                    </a:lnTo>
                    <a:lnTo>
                      <a:pt x="150" y="633"/>
                    </a:lnTo>
                    <a:lnTo>
                      <a:pt x="178" y="612"/>
                    </a:lnTo>
                    <a:lnTo>
                      <a:pt x="209" y="583"/>
                    </a:lnTo>
                    <a:lnTo>
                      <a:pt x="269" y="506"/>
                    </a:lnTo>
                    <a:lnTo>
                      <a:pt x="328" y="396"/>
                    </a:lnTo>
                    <a:lnTo>
                      <a:pt x="389" y="263"/>
                    </a:lnTo>
                    <a:lnTo>
                      <a:pt x="419" y="197"/>
                    </a:lnTo>
                    <a:lnTo>
                      <a:pt x="449" y="133"/>
                    </a:lnTo>
                    <a:lnTo>
                      <a:pt x="478" y="78"/>
                    </a:lnTo>
                    <a:lnTo>
                      <a:pt x="508" y="36"/>
                    </a:lnTo>
                    <a:lnTo>
                      <a:pt x="538" y="10"/>
                    </a:lnTo>
                    <a:lnTo>
                      <a:pt x="568" y="0"/>
                    </a:lnTo>
                  </a:path>
                </a:pathLst>
              </a:custGeom>
              <a:noFill/>
              <a:ln w="57150" cap="rnd" cmpd="sng">
                <a:solidFill>
                  <a:srgbClr val="FFFF7F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28398" dir="6993903" algn="ctr" rotWithShape="0">
                  <a:schemeClr val="bg2"/>
                </a:outerShdw>
              </a:effectLst>
            </p:spPr>
            <p:txBody>
              <a:bodyPr/>
              <a:lstStyle/>
              <a:p>
                <a:endParaRPr lang="zh-CN" altLang="en-US" sz="1350">
                  <a:cs typeface="华文楷体" panose="02010600040101010101" charset="-122"/>
                </a:endParaRPr>
              </a:p>
            </p:txBody>
          </p:sp>
        </p:grp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9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9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476376" y="972900"/>
            <a:ext cx="6226969" cy="800100"/>
          </a:xfrm>
        </p:spPr>
        <p:txBody>
          <a:bodyPr vert="horz" wrap="square" lIns="67866" tIns="33337" rIns="67866" bIns="33337" numCol="1" rtlCol="0" anchor="ctr" anchorCtr="1" compatLnSpc="1">
            <a:normAutofit fontScale="90000"/>
          </a:bodyPr>
          <a:lstStyle/>
          <a:p>
            <a:pPr algn="ctr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kumimoji="1" lang="zh-CN" altLang="en-US" sz="4400" b="1" dirty="0"/>
              <a:t>方差(Variance) </a:t>
            </a:r>
            <a:br>
              <a:rPr kumimoji="1" lang="zh-CN" altLang="en-US" sz="4400" b="1" dirty="0"/>
            </a:br>
            <a:r>
              <a:rPr kumimoji="1" lang="zh-CN" altLang="en-US" sz="4400" b="1" dirty="0"/>
              <a:t>标准差(Standard deviation)</a:t>
            </a:r>
            <a:br>
              <a:rPr kumimoji="1" lang="zh-CN" altLang="en-US" sz="4400" b="1" dirty="0"/>
            </a:br>
            <a:endParaRPr lang="en-US" altLang="zh-CN" sz="2700" b="1" kern="0" dirty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12643" name="Rectangle 3"/>
          <p:cNvSpPr>
            <a:spLocks noGrp="1" noChangeArrowheads="1"/>
          </p:cNvSpPr>
          <p:nvPr>
            <p:ph idx="1"/>
          </p:nvPr>
        </p:nvSpPr>
        <p:spPr>
          <a:xfrm>
            <a:off x="1289050" y="2175510"/>
            <a:ext cx="5928360" cy="3538855"/>
          </a:xfrm>
        </p:spPr>
        <p:txBody>
          <a:bodyPr vert="horz" wrap="square" lIns="67866" tIns="33337" rIns="67866" bIns="33337" numCol="1" rtlCol="0" anchor="t" anchorCtr="0" compatLnSpc="1">
            <a:normAutofit/>
          </a:bodyPr>
          <a:lstStyle/>
          <a:p>
            <a:pPr marL="0" indent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None/>
              <a:defRPr/>
            </a:pPr>
            <a:r>
              <a:rPr sz="18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kumimoji="1" lang="zh-CN" altLang="en-US" sz="1800" dirty="0">
                <a:latin typeface="+mj-lt"/>
                <a:ea typeface="+mj-ea"/>
              </a:rPr>
              <a:t>离散程度的测度值之一</a:t>
            </a:r>
          </a:p>
          <a:p>
            <a:pPr marL="0" indent="0" fontAlgn="base">
              <a:lnSpc>
                <a:spcPct val="150000"/>
              </a:lnSpc>
              <a:spcBef>
                <a:spcPct val="33000"/>
              </a:spcBef>
              <a:spcAft>
                <a:spcPct val="0"/>
              </a:spcAft>
              <a:buClr>
                <a:schemeClr val="hlink"/>
              </a:buClr>
              <a:buSzPct val="70000"/>
              <a:buNone/>
              <a:defRPr/>
            </a:pPr>
            <a:r>
              <a:rPr sz="18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kumimoji="1" lang="zh-CN" altLang="en-US" sz="1800" dirty="0">
                <a:latin typeface="+mj-lt"/>
                <a:ea typeface="+mj-ea"/>
              </a:rPr>
              <a:t>最常用的测度值</a:t>
            </a:r>
          </a:p>
          <a:p>
            <a:pPr marL="0" indent="0" fontAlgn="base">
              <a:lnSpc>
                <a:spcPct val="150000"/>
              </a:lnSpc>
              <a:spcBef>
                <a:spcPct val="33000"/>
              </a:spcBef>
              <a:spcAft>
                <a:spcPct val="0"/>
              </a:spcAft>
              <a:buClr>
                <a:schemeClr val="hlink"/>
              </a:buClr>
              <a:buSzPct val="70000"/>
              <a:buNone/>
              <a:defRPr/>
            </a:pPr>
            <a:r>
              <a:rPr sz="18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kumimoji="1" lang="zh-CN" altLang="en-US" sz="1800" dirty="0">
                <a:latin typeface="+mj-lt"/>
                <a:ea typeface="+mj-ea"/>
              </a:rPr>
              <a:t>反映了数据的分布</a:t>
            </a:r>
            <a:endParaRPr kumimoji="1" lang="en-US" altLang="zh-CN" sz="1800" dirty="0">
              <a:latin typeface="+mj-lt"/>
              <a:ea typeface="+mj-ea"/>
            </a:endParaRPr>
          </a:p>
          <a:p>
            <a:pPr marL="0" indent="0" fontAlgn="base">
              <a:lnSpc>
                <a:spcPct val="150000"/>
              </a:lnSpc>
              <a:spcBef>
                <a:spcPct val="33000"/>
              </a:spcBef>
              <a:spcAft>
                <a:spcPct val="0"/>
              </a:spcAft>
              <a:buClr>
                <a:schemeClr val="hlink"/>
              </a:buClr>
              <a:buSzPct val="70000"/>
              <a:buNone/>
              <a:defRPr/>
            </a:pPr>
            <a:r>
              <a:rPr sz="18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kumimoji="1" lang="zh-CN" altLang="en-US" sz="1800" dirty="0">
                <a:latin typeface="+mj-lt"/>
                <a:ea typeface="+mj-ea"/>
              </a:rPr>
              <a:t>反映了各变量值与均值的平均差异</a:t>
            </a:r>
          </a:p>
          <a:p>
            <a:pPr marL="0" indent="0" fontAlgn="base">
              <a:lnSpc>
                <a:spcPct val="150000"/>
              </a:lnSpc>
              <a:spcBef>
                <a:spcPct val="33000"/>
              </a:spcBef>
              <a:spcAft>
                <a:spcPct val="0"/>
              </a:spcAft>
              <a:buClr>
                <a:schemeClr val="hlink"/>
              </a:buClr>
              <a:buSzPct val="70000"/>
              <a:buNone/>
              <a:defRPr/>
            </a:pPr>
            <a:r>
              <a:rPr sz="18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kumimoji="1" lang="zh-CN" altLang="en-US" sz="1800" dirty="0">
                <a:latin typeface="+mj-lt"/>
                <a:ea typeface="+mj-ea"/>
              </a:rPr>
              <a:t>根据总体数据计算的，称为总体方差或标准差；根据样本数据计算的，称为样本方差或标准差</a:t>
            </a:r>
          </a:p>
        </p:txBody>
      </p:sp>
      <p:grpSp>
        <p:nvGrpSpPr>
          <p:cNvPr id="2" name="Group 4"/>
          <p:cNvGrpSpPr/>
          <p:nvPr/>
        </p:nvGrpSpPr>
        <p:grpSpPr>
          <a:xfrm>
            <a:off x="5314951" y="2457450"/>
            <a:ext cx="1902619" cy="1188244"/>
            <a:chOff x="4057" y="1584"/>
            <a:chExt cx="1463" cy="998"/>
          </a:xfrm>
        </p:grpSpPr>
        <p:sp>
          <p:nvSpPr>
            <p:cNvPr id="168964" name="Line 5"/>
            <p:cNvSpPr/>
            <p:nvPr/>
          </p:nvSpPr>
          <p:spPr>
            <a:xfrm flipV="1">
              <a:off x="4704" y="1824"/>
              <a:ext cx="0" cy="436"/>
            </a:xfrm>
            <a:prstGeom prst="line">
              <a:avLst/>
            </a:prstGeom>
            <a:ln w="254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>
              <a:outerShdw dist="35921" dir="2699999" algn="ctr" rotWithShape="0">
                <a:schemeClr val="bg2"/>
              </a:outerShdw>
            </a:effectLst>
          </p:spPr>
        </p:sp>
        <p:sp>
          <p:nvSpPr>
            <p:cNvPr id="112646" name="Rectangle 6"/>
            <p:cNvSpPr>
              <a:spLocks noChangeArrowheads="1"/>
            </p:cNvSpPr>
            <p:nvPr/>
          </p:nvSpPr>
          <p:spPr bwMode="auto">
            <a:xfrm>
              <a:off x="4128" y="2256"/>
              <a:ext cx="1303" cy="32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7" rIns="67866" bIns="33337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100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4  6  8  10 12</a:t>
              </a:r>
            </a:p>
          </p:txBody>
        </p:sp>
        <p:sp>
          <p:nvSpPr>
            <p:cNvPr id="168966" name="Line 7"/>
            <p:cNvSpPr/>
            <p:nvPr/>
          </p:nvSpPr>
          <p:spPr>
            <a:xfrm>
              <a:off x="4057" y="2255"/>
              <a:ext cx="1410" cy="0"/>
            </a:xfrm>
            <a:prstGeom prst="line">
              <a:avLst/>
            </a:prstGeom>
            <a:ln w="25400" cap="flat" cmpd="sng">
              <a:solidFill>
                <a:srgbClr val="CDCDCD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699999" algn="ctr" rotWithShape="0">
                <a:schemeClr val="bg2"/>
              </a:outerShdw>
            </a:effectLst>
          </p:spPr>
        </p:sp>
        <p:sp>
          <p:nvSpPr>
            <p:cNvPr id="168967" name="Freeform 8"/>
            <p:cNvSpPr/>
            <p:nvPr/>
          </p:nvSpPr>
          <p:spPr>
            <a:xfrm>
              <a:off x="5473" y="2223"/>
              <a:ext cx="47" cy="6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9"/>
                </a:cxn>
                <a:cxn ang="0">
                  <a:pos x="0" y="17"/>
                </a:cxn>
                <a:cxn ang="0">
                  <a:pos x="0" y="0"/>
                </a:cxn>
              </a:cxnLst>
              <a:rect l="0" t="0" r="0" b="0"/>
              <a:pathLst>
                <a:path w="69" h="70">
                  <a:moveTo>
                    <a:pt x="0" y="0"/>
                  </a:moveTo>
                  <a:lnTo>
                    <a:pt x="68" y="34"/>
                  </a:lnTo>
                  <a:lnTo>
                    <a:pt x="0" y="69"/>
                  </a:lnTo>
                  <a:lnTo>
                    <a:pt x="0" y="0"/>
                  </a:lnTo>
                </a:path>
              </a:pathLst>
            </a:custGeom>
            <a:solidFill>
              <a:srgbClr val="CDCDCD"/>
            </a:solidFill>
            <a:ln w="12700">
              <a:noFill/>
            </a:ln>
          </p:spPr>
          <p:txBody>
            <a:bodyPr/>
            <a:lstStyle/>
            <a:p>
              <a:endParaRPr lang="zh-CN" altLang="en-US" sz="1350">
                <a:cs typeface="华文楷体" panose="02010600040101010101" charset="-122"/>
              </a:endParaRPr>
            </a:p>
          </p:txBody>
        </p:sp>
        <p:sp>
          <p:nvSpPr>
            <p:cNvPr id="168968" name="Freeform 9"/>
            <p:cNvSpPr/>
            <p:nvPr/>
          </p:nvSpPr>
          <p:spPr>
            <a:xfrm>
              <a:off x="4198" y="2069"/>
              <a:ext cx="94" cy="120"/>
            </a:xfrm>
            <a:custGeom>
              <a:avLst/>
              <a:gdLst/>
              <a:ahLst/>
              <a:cxnLst>
                <a:cxn ang="0">
                  <a:pos x="0" y="17"/>
                </a:cxn>
                <a:cxn ang="0">
                  <a:pos x="1" y="11"/>
                </a:cxn>
                <a:cxn ang="0">
                  <a:pos x="1" y="7"/>
                </a:cxn>
                <a:cxn ang="0">
                  <a:pos x="1" y="3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2" y="3"/>
                </a:cxn>
                <a:cxn ang="0">
                  <a:pos x="2" y="7"/>
                </a:cxn>
                <a:cxn ang="0">
                  <a:pos x="3" y="11"/>
                </a:cxn>
                <a:cxn ang="0">
                  <a:pos x="3" y="17"/>
                </a:cxn>
                <a:cxn ang="0">
                  <a:pos x="3" y="22"/>
                </a:cxn>
                <a:cxn ang="0">
                  <a:pos x="2" y="27"/>
                </a:cxn>
                <a:cxn ang="0">
                  <a:pos x="2" y="30"/>
                </a:cxn>
                <a:cxn ang="0">
                  <a:pos x="2" y="32"/>
                </a:cxn>
                <a:cxn ang="0">
                  <a:pos x="1" y="33"/>
                </a:cxn>
                <a:cxn ang="0">
                  <a:pos x="1" y="32"/>
                </a:cxn>
                <a:cxn ang="0">
                  <a:pos x="1" y="30"/>
                </a:cxn>
                <a:cxn ang="0">
                  <a:pos x="1" y="27"/>
                </a:cxn>
                <a:cxn ang="0">
                  <a:pos x="1" y="22"/>
                </a:cxn>
                <a:cxn ang="0">
                  <a:pos x="0" y="17"/>
                </a:cxn>
              </a:cxnLst>
              <a:rect l="0" t="0" r="0" b="0"/>
              <a:pathLst>
                <a:path w="138" h="138">
                  <a:moveTo>
                    <a:pt x="0" y="68"/>
                  </a:moveTo>
                  <a:lnTo>
                    <a:pt x="4" y="46"/>
                  </a:lnTo>
                  <a:lnTo>
                    <a:pt x="12" y="28"/>
                  </a:lnTo>
                  <a:lnTo>
                    <a:pt x="30" y="12"/>
                  </a:lnTo>
                  <a:lnTo>
                    <a:pt x="48" y="2"/>
                  </a:lnTo>
                  <a:lnTo>
                    <a:pt x="70" y="0"/>
                  </a:lnTo>
                  <a:lnTo>
                    <a:pt x="90" y="2"/>
                  </a:lnTo>
                  <a:lnTo>
                    <a:pt x="110" y="12"/>
                  </a:lnTo>
                  <a:lnTo>
                    <a:pt x="125" y="28"/>
                  </a:lnTo>
                  <a:lnTo>
                    <a:pt x="134" y="46"/>
                  </a:lnTo>
                  <a:lnTo>
                    <a:pt x="137" y="68"/>
                  </a:lnTo>
                  <a:lnTo>
                    <a:pt x="134" y="90"/>
                  </a:lnTo>
                  <a:lnTo>
                    <a:pt x="125" y="108"/>
                  </a:lnTo>
                  <a:lnTo>
                    <a:pt x="110" y="123"/>
                  </a:lnTo>
                  <a:lnTo>
                    <a:pt x="90" y="133"/>
                  </a:lnTo>
                  <a:lnTo>
                    <a:pt x="70" y="137"/>
                  </a:lnTo>
                  <a:lnTo>
                    <a:pt x="48" y="133"/>
                  </a:lnTo>
                  <a:lnTo>
                    <a:pt x="30" y="123"/>
                  </a:lnTo>
                  <a:lnTo>
                    <a:pt x="12" y="108"/>
                  </a:lnTo>
                  <a:lnTo>
                    <a:pt x="4" y="90"/>
                  </a:lnTo>
                  <a:lnTo>
                    <a:pt x="0" y="68"/>
                  </a:lnTo>
                </a:path>
              </a:pathLst>
            </a:custGeom>
            <a:solidFill>
              <a:srgbClr val="808080"/>
            </a:solidFill>
            <a:ln w="12700">
              <a:noFill/>
            </a:ln>
          </p:spPr>
          <p:txBody>
            <a:bodyPr/>
            <a:lstStyle/>
            <a:p>
              <a:endParaRPr lang="zh-CN" altLang="en-US" sz="1350">
                <a:cs typeface="华文楷体" panose="02010600040101010101" charset="-122"/>
              </a:endParaRPr>
            </a:p>
          </p:txBody>
        </p:sp>
        <p:sp>
          <p:nvSpPr>
            <p:cNvPr id="168969" name="Freeform 10"/>
            <p:cNvSpPr/>
            <p:nvPr/>
          </p:nvSpPr>
          <p:spPr>
            <a:xfrm>
              <a:off x="4212" y="2087"/>
              <a:ext cx="66" cy="82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1" y="8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2" y="8"/>
                </a:cxn>
                <a:cxn ang="0">
                  <a:pos x="2" y="12"/>
                </a:cxn>
                <a:cxn ang="0">
                  <a:pos x="2" y="16"/>
                </a:cxn>
                <a:cxn ang="0">
                  <a:pos x="2" y="19"/>
                </a:cxn>
                <a:cxn ang="0">
                  <a:pos x="2" y="22"/>
                </a:cxn>
                <a:cxn ang="0">
                  <a:pos x="1" y="24"/>
                </a:cxn>
                <a:cxn ang="0">
                  <a:pos x="1" y="24"/>
                </a:cxn>
                <a:cxn ang="0">
                  <a:pos x="1" y="22"/>
                </a:cxn>
                <a:cxn ang="0">
                  <a:pos x="1" y="19"/>
                </a:cxn>
                <a:cxn ang="0">
                  <a:pos x="1" y="16"/>
                </a:cxn>
                <a:cxn ang="0">
                  <a:pos x="0" y="12"/>
                </a:cxn>
              </a:cxnLst>
              <a:rect l="0" t="0" r="0" b="0"/>
              <a:pathLst>
                <a:path w="96" h="94">
                  <a:moveTo>
                    <a:pt x="0" y="47"/>
                  </a:moveTo>
                  <a:lnTo>
                    <a:pt x="4" y="30"/>
                  </a:lnTo>
                  <a:lnTo>
                    <a:pt x="13" y="16"/>
                  </a:lnTo>
                  <a:lnTo>
                    <a:pt x="25" y="6"/>
                  </a:lnTo>
                  <a:lnTo>
                    <a:pt x="40" y="0"/>
                  </a:lnTo>
                  <a:lnTo>
                    <a:pt x="55" y="0"/>
                  </a:lnTo>
                  <a:lnTo>
                    <a:pt x="72" y="6"/>
                  </a:lnTo>
                  <a:lnTo>
                    <a:pt x="85" y="16"/>
                  </a:lnTo>
                  <a:lnTo>
                    <a:pt x="92" y="30"/>
                  </a:lnTo>
                  <a:lnTo>
                    <a:pt x="95" y="47"/>
                  </a:lnTo>
                  <a:lnTo>
                    <a:pt x="92" y="63"/>
                  </a:lnTo>
                  <a:lnTo>
                    <a:pt x="85" y="77"/>
                  </a:lnTo>
                  <a:lnTo>
                    <a:pt x="72" y="87"/>
                  </a:lnTo>
                  <a:lnTo>
                    <a:pt x="55" y="93"/>
                  </a:lnTo>
                  <a:lnTo>
                    <a:pt x="40" y="93"/>
                  </a:lnTo>
                  <a:lnTo>
                    <a:pt x="25" y="87"/>
                  </a:lnTo>
                  <a:lnTo>
                    <a:pt x="13" y="77"/>
                  </a:lnTo>
                  <a:lnTo>
                    <a:pt x="4" y="63"/>
                  </a:lnTo>
                  <a:lnTo>
                    <a:pt x="0" y="47"/>
                  </a:lnTo>
                </a:path>
              </a:pathLst>
            </a:custGeom>
            <a:solidFill>
              <a:srgbClr val="00DFCA"/>
            </a:solidFill>
            <a:ln w="12700">
              <a:noFill/>
            </a:ln>
          </p:spPr>
          <p:txBody>
            <a:bodyPr/>
            <a:lstStyle/>
            <a:p>
              <a:endParaRPr lang="zh-CN" altLang="en-US" sz="1350">
                <a:cs typeface="华文楷体" panose="02010600040101010101" charset="-122"/>
              </a:endParaRPr>
            </a:p>
          </p:txBody>
        </p:sp>
        <p:sp>
          <p:nvSpPr>
            <p:cNvPr id="168970" name="Freeform 11"/>
            <p:cNvSpPr/>
            <p:nvPr/>
          </p:nvSpPr>
          <p:spPr>
            <a:xfrm>
              <a:off x="4542" y="2069"/>
              <a:ext cx="95" cy="120"/>
            </a:xfrm>
            <a:custGeom>
              <a:avLst/>
              <a:gdLst/>
              <a:ahLst/>
              <a:cxnLst>
                <a:cxn ang="0">
                  <a:pos x="0" y="17"/>
                </a:cxn>
                <a:cxn ang="0">
                  <a:pos x="1" y="11"/>
                </a:cxn>
                <a:cxn ang="0">
                  <a:pos x="1" y="7"/>
                </a:cxn>
                <a:cxn ang="0">
                  <a:pos x="1" y="3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3" y="3"/>
                </a:cxn>
                <a:cxn ang="0">
                  <a:pos x="3" y="7"/>
                </a:cxn>
                <a:cxn ang="0">
                  <a:pos x="3" y="11"/>
                </a:cxn>
                <a:cxn ang="0">
                  <a:pos x="3" y="17"/>
                </a:cxn>
                <a:cxn ang="0">
                  <a:pos x="3" y="22"/>
                </a:cxn>
                <a:cxn ang="0">
                  <a:pos x="3" y="27"/>
                </a:cxn>
                <a:cxn ang="0">
                  <a:pos x="3" y="30"/>
                </a:cxn>
                <a:cxn ang="0">
                  <a:pos x="2" y="32"/>
                </a:cxn>
                <a:cxn ang="0">
                  <a:pos x="1" y="33"/>
                </a:cxn>
                <a:cxn ang="0">
                  <a:pos x="1" y="32"/>
                </a:cxn>
                <a:cxn ang="0">
                  <a:pos x="1" y="30"/>
                </a:cxn>
                <a:cxn ang="0">
                  <a:pos x="1" y="27"/>
                </a:cxn>
                <a:cxn ang="0">
                  <a:pos x="1" y="22"/>
                </a:cxn>
                <a:cxn ang="0">
                  <a:pos x="0" y="17"/>
                </a:cxn>
              </a:cxnLst>
              <a:rect l="0" t="0" r="0" b="0"/>
              <a:pathLst>
                <a:path w="138" h="138">
                  <a:moveTo>
                    <a:pt x="0" y="68"/>
                  </a:moveTo>
                  <a:lnTo>
                    <a:pt x="4" y="46"/>
                  </a:lnTo>
                  <a:lnTo>
                    <a:pt x="12" y="28"/>
                  </a:lnTo>
                  <a:lnTo>
                    <a:pt x="27" y="12"/>
                  </a:lnTo>
                  <a:lnTo>
                    <a:pt x="48" y="2"/>
                  </a:lnTo>
                  <a:lnTo>
                    <a:pt x="68" y="0"/>
                  </a:lnTo>
                  <a:lnTo>
                    <a:pt x="89" y="2"/>
                  </a:lnTo>
                  <a:lnTo>
                    <a:pt x="108" y="12"/>
                  </a:lnTo>
                  <a:lnTo>
                    <a:pt x="125" y="28"/>
                  </a:lnTo>
                  <a:lnTo>
                    <a:pt x="133" y="46"/>
                  </a:lnTo>
                  <a:lnTo>
                    <a:pt x="137" y="68"/>
                  </a:lnTo>
                  <a:lnTo>
                    <a:pt x="133" y="90"/>
                  </a:lnTo>
                  <a:lnTo>
                    <a:pt x="125" y="108"/>
                  </a:lnTo>
                  <a:lnTo>
                    <a:pt x="108" y="123"/>
                  </a:lnTo>
                  <a:lnTo>
                    <a:pt x="89" y="133"/>
                  </a:lnTo>
                  <a:lnTo>
                    <a:pt x="68" y="137"/>
                  </a:lnTo>
                  <a:lnTo>
                    <a:pt x="48" y="133"/>
                  </a:lnTo>
                  <a:lnTo>
                    <a:pt x="27" y="123"/>
                  </a:lnTo>
                  <a:lnTo>
                    <a:pt x="12" y="108"/>
                  </a:lnTo>
                  <a:lnTo>
                    <a:pt x="4" y="90"/>
                  </a:lnTo>
                  <a:lnTo>
                    <a:pt x="0" y="68"/>
                  </a:lnTo>
                </a:path>
              </a:pathLst>
            </a:custGeom>
            <a:solidFill>
              <a:srgbClr val="808080"/>
            </a:solidFill>
            <a:ln w="12700">
              <a:noFill/>
            </a:ln>
          </p:spPr>
          <p:txBody>
            <a:bodyPr/>
            <a:lstStyle/>
            <a:p>
              <a:endParaRPr lang="zh-CN" altLang="en-US" sz="1350">
                <a:cs typeface="华文楷体" panose="02010600040101010101" charset="-122"/>
              </a:endParaRPr>
            </a:p>
          </p:txBody>
        </p:sp>
        <p:sp>
          <p:nvSpPr>
            <p:cNvPr id="168971" name="Freeform 12"/>
            <p:cNvSpPr/>
            <p:nvPr/>
          </p:nvSpPr>
          <p:spPr>
            <a:xfrm>
              <a:off x="4557" y="2087"/>
              <a:ext cx="64" cy="82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1" y="8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2" y="8"/>
                </a:cxn>
                <a:cxn ang="0">
                  <a:pos x="2" y="12"/>
                </a:cxn>
                <a:cxn ang="0">
                  <a:pos x="2" y="16"/>
                </a:cxn>
                <a:cxn ang="0">
                  <a:pos x="1" y="19"/>
                </a:cxn>
                <a:cxn ang="0">
                  <a:pos x="1" y="22"/>
                </a:cxn>
                <a:cxn ang="0">
                  <a:pos x="1" y="24"/>
                </a:cxn>
                <a:cxn ang="0">
                  <a:pos x="1" y="24"/>
                </a:cxn>
                <a:cxn ang="0">
                  <a:pos x="1" y="22"/>
                </a:cxn>
                <a:cxn ang="0">
                  <a:pos x="1" y="19"/>
                </a:cxn>
                <a:cxn ang="0">
                  <a:pos x="1" y="16"/>
                </a:cxn>
                <a:cxn ang="0">
                  <a:pos x="0" y="12"/>
                </a:cxn>
              </a:cxnLst>
              <a:rect l="0" t="0" r="0" b="0"/>
              <a:pathLst>
                <a:path w="94" h="94">
                  <a:moveTo>
                    <a:pt x="0" y="47"/>
                  </a:moveTo>
                  <a:lnTo>
                    <a:pt x="4" y="30"/>
                  </a:lnTo>
                  <a:lnTo>
                    <a:pt x="10" y="16"/>
                  </a:lnTo>
                  <a:lnTo>
                    <a:pt x="23" y="6"/>
                  </a:lnTo>
                  <a:lnTo>
                    <a:pt x="39" y="0"/>
                  </a:lnTo>
                  <a:lnTo>
                    <a:pt x="55" y="0"/>
                  </a:lnTo>
                  <a:lnTo>
                    <a:pt x="70" y="6"/>
                  </a:lnTo>
                  <a:lnTo>
                    <a:pt x="83" y="16"/>
                  </a:lnTo>
                  <a:lnTo>
                    <a:pt x="91" y="30"/>
                  </a:lnTo>
                  <a:lnTo>
                    <a:pt x="93" y="47"/>
                  </a:lnTo>
                  <a:lnTo>
                    <a:pt x="91" y="63"/>
                  </a:lnTo>
                  <a:lnTo>
                    <a:pt x="83" y="77"/>
                  </a:lnTo>
                  <a:lnTo>
                    <a:pt x="70" y="87"/>
                  </a:lnTo>
                  <a:lnTo>
                    <a:pt x="55" y="93"/>
                  </a:lnTo>
                  <a:lnTo>
                    <a:pt x="39" y="93"/>
                  </a:lnTo>
                  <a:lnTo>
                    <a:pt x="23" y="87"/>
                  </a:lnTo>
                  <a:lnTo>
                    <a:pt x="10" y="77"/>
                  </a:lnTo>
                  <a:lnTo>
                    <a:pt x="4" y="63"/>
                  </a:lnTo>
                  <a:lnTo>
                    <a:pt x="0" y="47"/>
                  </a:lnTo>
                </a:path>
              </a:pathLst>
            </a:custGeom>
            <a:solidFill>
              <a:srgbClr val="00DFCA"/>
            </a:solidFill>
            <a:ln w="12700">
              <a:noFill/>
            </a:ln>
          </p:spPr>
          <p:txBody>
            <a:bodyPr/>
            <a:lstStyle/>
            <a:p>
              <a:endParaRPr lang="zh-CN" altLang="en-US" sz="1350">
                <a:cs typeface="华文楷体" panose="02010600040101010101" charset="-122"/>
              </a:endParaRPr>
            </a:p>
          </p:txBody>
        </p:sp>
        <p:sp>
          <p:nvSpPr>
            <p:cNvPr id="168972" name="Freeform 13"/>
            <p:cNvSpPr/>
            <p:nvPr/>
          </p:nvSpPr>
          <p:spPr>
            <a:xfrm>
              <a:off x="4983" y="2069"/>
              <a:ext cx="95" cy="120"/>
            </a:xfrm>
            <a:custGeom>
              <a:avLst/>
              <a:gdLst/>
              <a:ahLst/>
              <a:cxnLst>
                <a:cxn ang="0">
                  <a:pos x="0" y="17"/>
                </a:cxn>
                <a:cxn ang="0">
                  <a:pos x="1" y="11"/>
                </a:cxn>
                <a:cxn ang="0">
                  <a:pos x="1" y="7"/>
                </a:cxn>
                <a:cxn ang="0">
                  <a:pos x="1" y="3"/>
                </a:cxn>
                <a:cxn ang="0">
                  <a:pos x="1" y="2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3" y="3"/>
                </a:cxn>
                <a:cxn ang="0">
                  <a:pos x="3" y="7"/>
                </a:cxn>
                <a:cxn ang="0">
                  <a:pos x="3" y="11"/>
                </a:cxn>
                <a:cxn ang="0">
                  <a:pos x="3" y="17"/>
                </a:cxn>
                <a:cxn ang="0">
                  <a:pos x="3" y="22"/>
                </a:cxn>
                <a:cxn ang="0">
                  <a:pos x="3" y="27"/>
                </a:cxn>
                <a:cxn ang="0">
                  <a:pos x="3" y="30"/>
                </a:cxn>
                <a:cxn ang="0">
                  <a:pos x="2" y="32"/>
                </a:cxn>
                <a:cxn ang="0">
                  <a:pos x="2" y="33"/>
                </a:cxn>
                <a:cxn ang="0">
                  <a:pos x="1" y="32"/>
                </a:cxn>
                <a:cxn ang="0">
                  <a:pos x="1" y="30"/>
                </a:cxn>
                <a:cxn ang="0">
                  <a:pos x="1" y="27"/>
                </a:cxn>
                <a:cxn ang="0">
                  <a:pos x="1" y="22"/>
                </a:cxn>
                <a:cxn ang="0">
                  <a:pos x="0" y="17"/>
                </a:cxn>
              </a:cxnLst>
              <a:rect l="0" t="0" r="0" b="0"/>
              <a:pathLst>
                <a:path w="138" h="138">
                  <a:moveTo>
                    <a:pt x="0" y="68"/>
                  </a:moveTo>
                  <a:lnTo>
                    <a:pt x="4" y="46"/>
                  </a:lnTo>
                  <a:lnTo>
                    <a:pt x="12" y="28"/>
                  </a:lnTo>
                  <a:lnTo>
                    <a:pt x="30" y="12"/>
                  </a:lnTo>
                  <a:lnTo>
                    <a:pt x="48" y="2"/>
                  </a:lnTo>
                  <a:lnTo>
                    <a:pt x="70" y="0"/>
                  </a:lnTo>
                  <a:lnTo>
                    <a:pt x="90" y="2"/>
                  </a:lnTo>
                  <a:lnTo>
                    <a:pt x="110" y="12"/>
                  </a:lnTo>
                  <a:lnTo>
                    <a:pt x="125" y="28"/>
                  </a:lnTo>
                  <a:lnTo>
                    <a:pt x="133" y="46"/>
                  </a:lnTo>
                  <a:lnTo>
                    <a:pt x="137" y="68"/>
                  </a:lnTo>
                  <a:lnTo>
                    <a:pt x="133" y="90"/>
                  </a:lnTo>
                  <a:lnTo>
                    <a:pt x="125" y="108"/>
                  </a:lnTo>
                  <a:lnTo>
                    <a:pt x="110" y="123"/>
                  </a:lnTo>
                  <a:lnTo>
                    <a:pt x="90" y="133"/>
                  </a:lnTo>
                  <a:lnTo>
                    <a:pt x="70" y="137"/>
                  </a:lnTo>
                  <a:lnTo>
                    <a:pt x="48" y="133"/>
                  </a:lnTo>
                  <a:lnTo>
                    <a:pt x="30" y="123"/>
                  </a:lnTo>
                  <a:lnTo>
                    <a:pt x="12" y="108"/>
                  </a:lnTo>
                  <a:lnTo>
                    <a:pt x="4" y="90"/>
                  </a:lnTo>
                  <a:lnTo>
                    <a:pt x="0" y="68"/>
                  </a:lnTo>
                </a:path>
              </a:pathLst>
            </a:custGeom>
            <a:solidFill>
              <a:srgbClr val="808080"/>
            </a:solidFill>
            <a:ln w="12700">
              <a:noFill/>
            </a:ln>
          </p:spPr>
          <p:txBody>
            <a:bodyPr/>
            <a:lstStyle/>
            <a:p>
              <a:endParaRPr lang="zh-CN" altLang="en-US" sz="1350">
                <a:cs typeface="华文楷体" panose="02010600040101010101" charset="-122"/>
              </a:endParaRPr>
            </a:p>
          </p:txBody>
        </p:sp>
        <p:sp>
          <p:nvSpPr>
            <p:cNvPr id="168973" name="Freeform 14"/>
            <p:cNvSpPr/>
            <p:nvPr/>
          </p:nvSpPr>
          <p:spPr>
            <a:xfrm>
              <a:off x="4998" y="2087"/>
              <a:ext cx="65" cy="82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1" y="8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2" y="8"/>
                </a:cxn>
                <a:cxn ang="0">
                  <a:pos x="2" y="12"/>
                </a:cxn>
                <a:cxn ang="0">
                  <a:pos x="2" y="16"/>
                </a:cxn>
                <a:cxn ang="0">
                  <a:pos x="1" y="19"/>
                </a:cxn>
                <a:cxn ang="0">
                  <a:pos x="1" y="22"/>
                </a:cxn>
                <a:cxn ang="0">
                  <a:pos x="1" y="24"/>
                </a:cxn>
                <a:cxn ang="0">
                  <a:pos x="1" y="24"/>
                </a:cxn>
                <a:cxn ang="0">
                  <a:pos x="1" y="22"/>
                </a:cxn>
                <a:cxn ang="0">
                  <a:pos x="1" y="19"/>
                </a:cxn>
                <a:cxn ang="0">
                  <a:pos x="1" y="16"/>
                </a:cxn>
                <a:cxn ang="0">
                  <a:pos x="0" y="12"/>
                </a:cxn>
              </a:cxnLst>
              <a:rect l="0" t="0" r="0" b="0"/>
              <a:pathLst>
                <a:path w="96" h="94">
                  <a:moveTo>
                    <a:pt x="0" y="47"/>
                  </a:moveTo>
                  <a:lnTo>
                    <a:pt x="4" y="30"/>
                  </a:lnTo>
                  <a:lnTo>
                    <a:pt x="12" y="16"/>
                  </a:lnTo>
                  <a:lnTo>
                    <a:pt x="25" y="6"/>
                  </a:lnTo>
                  <a:lnTo>
                    <a:pt x="40" y="0"/>
                  </a:lnTo>
                  <a:lnTo>
                    <a:pt x="55" y="0"/>
                  </a:lnTo>
                  <a:lnTo>
                    <a:pt x="71" y="6"/>
                  </a:lnTo>
                  <a:lnTo>
                    <a:pt x="85" y="16"/>
                  </a:lnTo>
                  <a:lnTo>
                    <a:pt x="91" y="30"/>
                  </a:lnTo>
                  <a:lnTo>
                    <a:pt x="95" y="47"/>
                  </a:lnTo>
                  <a:lnTo>
                    <a:pt x="91" y="63"/>
                  </a:lnTo>
                  <a:lnTo>
                    <a:pt x="85" y="77"/>
                  </a:lnTo>
                  <a:lnTo>
                    <a:pt x="71" y="87"/>
                  </a:lnTo>
                  <a:lnTo>
                    <a:pt x="55" y="93"/>
                  </a:lnTo>
                  <a:lnTo>
                    <a:pt x="40" y="93"/>
                  </a:lnTo>
                  <a:lnTo>
                    <a:pt x="25" y="87"/>
                  </a:lnTo>
                  <a:lnTo>
                    <a:pt x="12" y="77"/>
                  </a:lnTo>
                  <a:lnTo>
                    <a:pt x="4" y="63"/>
                  </a:lnTo>
                  <a:lnTo>
                    <a:pt x="0" y="47"/>
                  </a:lnTo>
                </a:path>
              </a:pathLst>
            </a:custGeom>
            <a:solidFill>
              <a:srgbClr val="00DFCA"/>
            </a:solidFill>
            <a:ln w="12700">
              <a:noFill/>
            </a:ln>
          </p:spPr>
          <p:txBody>
            <a:bodyPr/>
            <a:lstStyle/>
            <a:p>
              <a:endParaRPr lang="zh-CN" altLang="en-US" sz="1350">
                <a:cs typeface="华文楷体" panose="02010600040101010101" charset="-122"/>
              </a:endParaRPr>
            </a:p>
          </p:txBody>
        </p:sp>
        <p:sp>
          <p:nvSpPr>
            <p:cNvPr id="168974" name="Freeform 15"/>
            <p:cNvSpPr/>
            <p:nvPr/>
          </p:nvSpPr>
          <p:spPr>
            <a:xfrm>
              <a:off x="5180" y="2069"/>
              <a:ext cx="94" cy="120"/>
            </a:xfrm>
            <a:custGeom>
              <a:avLst/>
              <a:gdLst/>
              <a:ahLst/>
              <a:cxnLst>
                <a:cxn ang="0">
                  <a:pos x="0" y="17"/>
                </a:cxn>
                <a:cxn ang="0">
                  <a:pos x="1" y="11"/>
                </a:cxn>
                <a:cxn ang="0">
                  <a:pos x="1" y="7"/>
                </a:cxn>
                <a:cxn ang="0">
                  <a:pos x="1" y="3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2" y="3"/>
                </a:cxn>
                <a:cxn ang="0">
                  <a:pos x="2" y="7"/>
                </a:cxn>
                <a:cxn ang="0">
                  <a:pos x="3" y="11"/>
                </a:cxn>
                <a:cxn ang="0">
                  <a:pos x="3" y="17"/>
                </a:cxn>
                <a:cxn ang="0">
                  <a:pos x="3" y="22"/>
                </a:cxn>
                <a:cxn ang="0">
                  <a:pos x="2" y="27"/>
                </a:cxn>
                <a:cxn ang="0">
                  <a:pos x="2" y="30"/>
                </a:cxn>
                <a:cxn ang="0">
                  <a:pos x="2" y="32"/>
                </a:cxn>
                <a:cxn ang="0">
                  <a:pos x="1" y="33"/>
                </a:cxn>
                <a:cxn ang="0">
                  <a:pos x="1" y="32"/>
                </a:cxn>
                <a:cxn ang="0">
                  <a:pos x="1" y="30"/>
                </a:cxn>
                <a:cxn ang="0">
                  <a:pos x="1" y="27"/>
                </a:cxn>
                <a:cxn ang="0">
                  <a:pos x="1" y="22"/>
                </a:cxn>
                <a:cxn ang="0">
                  <a:pos x="0" y="17"/>
                </a:cxn>
              </a:cxnLst>
              <a:rect l="0" t="0" r="0" b="0"/>
              <a:pathLst>
                <a:path w="138" h="138">
                  <a:moveTo>
                    <a:pt x="0" y="68"/>
                  </a:moveTo>
                  <a:lnTo>
                    <a:pt x="3" y="46"/>
                  </a:lnTo>
                  <a:lnTo>
                    <a:pt x="12" y="28"/>
                  </a:lnTo>
                  <a:lnTo>
                    <a:pt x="29" y="12"/>
                  </a:lnTo>
                  <a:lnTo>
                    <a:pt x="47" y="2"/>
                  </a:lnTo>
                  <a:lnTo>
                    <a:pt x="69" y="0"/>
                  </a:lnTo>
                  <a:lnTo>
                    <a:pt x="89" y="2"/>
                  </a:lnTo>
                  <a:lnTo>
                    <a:pt x="109" y="12"/>
                  </a:lnTo>
                  <a:lnTo>
                    <a:pt x="125" y="28"/>
                  </a:lnTo>
                  <a:lnTo>
                    <a:pt x="133" y="46"/>
                  </a:lnTo>
                  <a:lnTo>
                    <a:pt x="137" y="68"/>
                  </a:lnTo>
                  <a:lnTo>
                    <a:pt x="133" y="90"/>
                  </a:lnTo>
                  <a:lnTo>
                    <a:pt x="125" y="108"/>
                  </a:lnTo>
                  <a:lnTo>
                    <a:pt x="109" y="123"/>
                  </a:lnTo>
                  <a:lnTo>
                    <a:pt x="89" y="133"/>
                  </a:lnTo>
                  <a:lnTo>
                    <a:pt x="69" y="137"/>
                  </a:lnTo>
                  <a:lnTo>
                    <a:pt x="47" y="133"/>
                  </a:lnTo>
                  <a:lnTo>
                    <a:pt x="29" y="123"/>
                  </a:lnTo>
                  <a:lnTo>
                    <a:pt x="12" y="108"/>
                  </a:lnTo>
                  <a:lnTo>
                    <a:pt x="3" y="90"/>
                  </a:lnTo>
                  <a:lnTo>
                    <a:pt x="0" y="68"/>
                  </a:lnTo>
                </a:path>
              </a:pathLst>
            </a:custGeom>
            <a:solidFill>
              <a:srgbClr val="808080"/>
            </a:solidFill>
            <a:ln w="12700">
              <a:noFill/>
            </a:ln>
          </p:spPr>
          <p:txBody>
            <a:bodyPr/>
            <a:lstStyle/>
            <a:p>
              <a:endParaRPr lang="zh-CN" altLang="en-US" sz="1350">
                <a:cs typeface="华文楷体" panose="02010600040101010101" charset="-122"/>
              </a:endParaRPr>
            </a:p>
          </p:txBody>
        </p:sp>
        <p:sp>
          <p:nvSpPr>
            <p:cNvPr id="168975" name="Freeform 16"/>
            <p:cNvSpPr/>
            <p:nvPr/>
          </p:nvSpPr>
          <p:spPr>
            <a:xfrm>
              <a:off x="5194" y="2087"/>
              <a:ext cx="66" cy="82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1" y="8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2" y="8"/>
                </a:cxn>
                <a:cxn ang="0">
                  <a:pos x="2" y="12"/>
                </a:cxn>
                <a:cxn ang="0">
                  <a:pos x="2" y="16"/>
                </a:cxn>
                <a:cxn ang="0">
                  <a:pos x="2" y="19"/>
                </a:cxn>
                <a:cxn ang="0">
                  <a:pos x="2" y="22"/>
                </a:cxn>
                <a:cxn ang="0">
                  <a:pos x="1" y="24"/>
                </a:cxn>
                <a:cxn ang="0">
                  <a:pos x="1" y="24"/>
                </a:cxn>
                <a:cxn ang="0">
                  <a:pos x="1" y="22"/>
                </a:cxn>
                <a:cxn ang="0">
                  <a:pos x="1" y="19"/>
                </a:cxn>
                <a:cxn ang="0">
                  <a:pos x="1" y="16"/>
                </a:cxn>
                <a:cxn ang="0">
                  <a:pos x="0" y="12"/>
                </a:cxn>
              </a:cxnLst>
              <a:rect l="0" t="0" r="0" b="0"/>
              <a:pathLst>
                <a:path w="96" h="94">
                  <a:moveTo>
                    <a:pt x="0" y="47"/>
                  </a:moveTo>
                  <a:lnTo>
                    <a:pt x="4" y="30"/>
                  </a:lnTo>
                  <a:lnTo>
                    <a:pt x="12" y="16"/>
                  </a:lnTo>
                  <a:lnTo>
                    <a:pt x="24" y="6"/>
                  </a:lnTo>
                  <a:lnTo>
                    <a:pt x="40" y="0"/>
                  </a:lnTo>
                  <a:lnTo>
                    <a:pt x="55" y="0"/>
                  </a:lnTo>
                  <a:lnTo>
                    <a:pt x="71" y="6"/>
                  </a:lnTo>
                  <a:lnTo>
                    <a:pt x="85" y="16"/>
                  </a:lnTo>
                  <a:lnTo>
                    <a:pt x="91" y="30"/>
                  </a:lnTo>
                  <a:lnTo>
                    <a:pt x="95" y="47"/>
                  </a:lnTo>
                  <a:lnTo>
                    <a:pt x="91" y="63"/>
                  </a:lnTo>
                  <a:lnTo>
                    <a:pt x="85" y="77"/>
                  </a:lnTo>
                  <a:lnTo>
                    <a:pt x="71" y="87"/>
                  </a:lnTo>
                  <a:lnTo>
                    <a:pt x="55" y="93"/>
                  </a:lnTo>
                  <a:lnTo>
                    <a:pt x="40" y="93"/>
                  </a:lnTo>
                  <a:lnTo>
                    <a:pt x="24" y="87"/>
                  </a:lnTo>
                  <a:lnTo>
                    <a:pt x="12" y="77"/>
                  </a:lnTo>
                  <a:lnTo>
                    <a:pt x="4" y="63"/>
                  </a:lnTo>
                  <a:lnTo>
                    <a:pt x="0" y="47"/>
                  </a:lnTo>
                </a:path>
              </a:pathLst>
            </a:custGeom>
            <a:solidFill>
              <a:srgbClr val="00DFCA"/>
            </a:solidFill>
            <a:ln w="12700">
              <a:noFill/>
            </a:ln>
          </p:spPr>
          <p:txBody>
            <a:bodyPr/>
            <a:lstStyle/>
            <a:p>
              <a:endParaRPr lang="zh-CN" altLang="en-US" sz="1350">
                <a:cs typeface="华文楷体" panose="02010600040101010101" charset="-122"/>
              </a:endParaRPr>
            </a:p>
          </p:txBody>
        </p:sp>
        <p:sp>
          <p:nvSpPr>
            <p:cNvPr id="168976" name="Rectangle 17"/>
            <p:cNvSpPr/>
            <p:nvPr/>
          </p:nvSpPr>
          <p:spPr>
            <a:xfrm>
              <a:off x="5295" y="2127"/>
              <a:ext cx="80" cy="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lstStyle/>
            <a:p>
              <a:endParaRPr lang="zh-CN" altLang="en-US" sz="1350" dirty="0">
                <a:latin typeface="Garamond" panose="02020404030301010803" pitchFamily="18" charset="0"/>
                <a:cs typeface="华文楷体" panose="02010600040101010101" charset="-122"/>
              </a:endParaRPr>
            </a:p>
          </p:txBody>
        </p:sp>
        <p:sp>
          <p:nvSpPr>
            <p:cNvPr id="168977" name="Freeform 18"/>
            <p:cNvSpPr/>
            <p:nvPr/>
          </p:nvSpPr>
          <p:spPr>
            <a:xfrm>
              <a:off x="4394" y="2069"/>
              <a:ext cx="95" cy="120"/>
            </a:xfrm>
            <a:custGeom>
              <a:avLst/>
              <a:gdLst/>
              <a:ahLst/>
              <a:cxnLst>
                <a:cxn ang="0">
                  <a:pos x="0" y="17"/>
                </a:cxn>
                <a:cxn ang="0">
                  <a:pos x="1" y="11"/>
                </a:cxn>
                <a:cxn ang="0">
                  <a:pos x="1" y="7"/>
                </a:cxn>
                <a:cxn ang="0">
                  <a:pos x="1" y="3"/>
                </a:cxn>
                <a:cxn ang="0">
                  <a:pos x="1" y="2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3" y="3"/>
                </a:cxn>
                <a:cxn ang="0">
                  <a:pos x="3" y="7"/>
                </a:cxn>
                <a:cxn ang="0">
                  <a:pos x="3" y="11"/>
                </a:cxn>
                <a:cxn ang="0">
                  <a:pos x="3" y="17"/>
                </a:cxn>
                <a:cxn ang="0">
                  <a:pos x="3" y="22"/>
                </a:cxn>
                <a:cxn ang="0">
                  <a:pos x="3" y="27"/>
                </a:cxn>
                <a:cxn ang="0">
                  <a:pos x="3" y="30"/>
                </a:cxn>
                <a:cxn ang="0">
                  <a:pos x="2" y="32"/>
                </a:cxn>
                <a:cxn ang="0">
                  <a:pos x="2" y="33"/>
                </a:cxn>
                <a:cxn ang="0">
                  <a:pos x="1" y="32"/>
                </a:cxn>
                <a:cxn ang="0">
                  <a:pos x="1" y="30"/>
                </a:cxn>
                <a:cxn ang="0">
                  <a:pos x="1" y="27"/>
                </a:cxn>
                <a:cxn ang="0">
                  <a:pos x="1" y="22"/>
                </a:cxn>
                <a:cxn ang="0">
                  <a:pos x="0" y="17"/>
                </a:cxn>
              </a:cxnLst>
              <a:rect l="0" t="0" r="0" b="0"/>
              <a:pathLst>
                <a:path w="138" h="138">
                  <a:moveTo>
                    <a:pt x="0" y="68"/>
                  </a:moveTo>
                  <a:lnTo>
                    <a:pt x="4" y="46"/>
                  </a:lnTo>
                  <a:lnTo>
                    <a:pt x="12" y="28"/>
                  </a:lnTo>
                  <a:lnTo>
                    <a:pt x="29" y="12"/>
                  </a:lnTo>
                  <a:lnTo>
                    <a:pt x="48" y="2"/>
                  </a:lnTo>
                  <a:lnTo>
                    <a:pt x="69" y="0"/>
                  </a:lnTo>
                  <a:lnTo>
                    <a:pt x="89" y="2"/>
                  </a:lnTo>
                  <a:lnTo>
                    <a:pt x="110" y="12"/>
                  </a:lnTo>
                  <a:lnTo>
                    <a:pt x="125" y="28"/>
                  </a:lnTo>
                  <a:lnTo>
                    <a:pt x="133" y="46"/>
                  </a:lnTo>
                  <a:lnTo>
                    <a:pt x="137" y="68"/>
                  </a:lnTo>
                  <a:lnTo>
                    <a:pt x="133" y="90"/>
                  </a:lnTo>
                  <a:lnTo>
                    <a:pt x="125" y="108"/>
                  </a:lnTo>
                  <a:lnTo>
                    <a:pt x="110" y="123"/>
                  </a:lnTo>
                  <a:lnTo>
                    <a:pt x="89" y="133"/>
                  </a:lnTo>
                  <a:lnTo>
                    <a:pt x="69" y="137"/>
                  </a:lnTo>
                  <a:lnTo>
                    <a:pt x="48" y="133"/>
                  </a:lnTo>
                  <a:lnTo>
                    <a:pt x="29" y="123"/>
                  </a:lnTo>
                  <a:lnTo>
                    <a:pt x="12" y="108"/>
                  </a:lnTo>
                  <a:lnTo>
                    <a:pt x="4" y="90"/>
                  </a:lnTo>
                  <a:lnTo>
                    <a:pt x="0" y="68"/>
                  </a:lnTo>
                </a:path>
              </a:pathLst>
            </a:custGeom>
            <a:solidFill>
              <a:srgbClr val="808080"/>
            </a:solidFill>
            <a:ln w="12700">
              <a:noFill/>
            </a:ln>
          </p:spPr>
          <p:txBody>
            <a:bodyPr/>
            <a:lstStyle/>
            <a:p>
              <a:endParaRPr lang="zh-CN" altLang="en-US" sz="1350">
                <a:cs typeface="华文楷体" panose="02010600040101010101" charset="-122"/>
              </a:endParaRPr>
            </a:p>
          </p:txBody>
        </p:sp>
        <p:sp>
          <p:nvSpPr>
            <p:cNvPr id="168978" name="Freeform 19"/>
            <p:cNvSpPr/>
            <p:nvPr/>
          </p:nvSpPr>
          <p:spPr>
            <a:xfrm>
              <a:off x="4409" y="2087"/>
              <a:ext cx="65" cy="82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1" y="8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2" y="8"/>
                </a:cxn>
                <a:cxn ang="0">
                  <a:pos x="2" y="12"/>
                </a:cxn>
                <a:cxn ang="0">
                  <a:pos x="2" y="16"/>
                </a:cxn>
                <a:cxn ang="0">
                  <a:pos x="1" y="19"/>
                </a:cxn>
                <a:cxn ang="0">
                  <a:pos x="1" y="22"/>
                </a:cxn>
                <a:cxn ang="0">
                  <a:pos x="1" y="24"/>
                </a:cxn>
                <a:cxn ang="0">
                  <a:pos x="1" y="24"/>
                </a:cxn>
                <a:cxn ang="0">
                  <a:pos x="1" y="22"/>
                </a:cxn>
                <a:cxn ang="0">
                  <a:pos x="1" y="19"/>
                </a:cxn>
                <a:cxn ang="0">
                  <a:pos x="1" y="16"/>
                </a:cxn>
                <a:cxn ang="0">
                  <a:pos x="0" y="12"/>
                </a:cxn>
              </a:cxnLst>
              <a:rect l="0" t="0" r="0" b="0"/>
              <a:pathLst>
                <a:path w="96" h="94">
                  <a:moveTo>
                    <a:pt x="0" y="47"/>
                  </a:moveTo>
                  <a:lnTo>
                    <a:pt x="4" y="30"/>
                  </a:lnTo>
                  <a:lnTo>
                    <a:pt x="12" y="16"/>
                  </a:lnTo>
                  <a:lnTo>
                    <a:pt x="25" y="6"/>
                  </a:lnTo>
                  <a:lnTo>
                    <a:pt x="40" y="0"/>
                  </a:lnTo>
                  <a:lnTo>
                    <a:pt x="55" y="0"/>
                  </a:lnTo>
                  <a:lnTo>
                    <a:pt x="71" y="6"/>
                  </a:lnTo>
                  <a:lnTo>
                    <a:pt x="85" y="16"/>
                  </a:lnTo>
                  <a:lnTo>
                    <a:pt x="91" y="30"/>
                  </a:lnTo>
                  <a:lnTo>
                    <a:pt x="95" y="47"/>
                  </a:lnTo>
                  <a:lnTo>
                    <a:pt x="91" y="63"/>
                  </a:lnTo>
                  <a:lnTo>
                    <a:pt x="85" y="77"/>
                  </a:lnTo>
                  <a:lnTo>
                    <a:pt x="71" y="87"/>
                  </a:lnTo>
                  <a:lnTo>
                    <a:pt x="55" y="93"/>
                  </a:lnTo>
                  <a:lnTo>
                    <a:pt x="40" y="93"/>
                  </a:lnTo>
                  <a:lnTo>
                    <a:pt x="25" y="87"/>
                  </a:lnTo>
                  <a:lnTo>
                    <a:pt x="12" y="77"/>
                  </a:lnTo>
                  <a:lnTo>
                    <a:pt x="4" y="63"/>
                  </a:lnTo>
                  <a:lnTo>
                    <a:pt x="0" y="47"/>
                  </a:lnTo>
                </a:path>
              </a:pathLst>
            </a:custGeom>
            <a:solidFill>
              <a:srgbClr val="00DFCA"/>
            </a:solidFill>
            <a:ln w="12700">
              <a:noFill/>
            </a:ln>
          </p:spPr>
          <p:txBody>
            <a:bodyPr/>
            <a:lstStyle/>
            <a:p>
              <a:endParaRPr lang="zh-CN" altLang="en-US" sz="1350">
                <a:cs typeface="华文楷体" panose="02010600040101010101" charset="-122"/>
              </a:endParaRPr>
            </a:p>
          </p:txBody>
        </p:sp>
        <p:sp>
          <p:nvSpPr>
            <p:cNvPr id="168979" name="Freeform 20"/>
            <p:cNvSpPr/>
            <p:nvPr/>
          </p:nvSpPr>
          <p:spPr>
            <a:xfrm>
              <a:off x="4739" y="2069"/>
              <a:ext cx="94" cy="120"/>
            </a:xfrm>
            <a:custGeom>
              <a:avLst/>
              <a:gdLst/>
              <a:ahLst/>
              <a:cxnLst>
                <a:cxn ang="0">
                  <a:pos x="0" y="17"/>
                </a:cxn>
                <a:cxn ang="0">
                  <a:pos x="1" y="11"/>
                </a:cxn>
                <a:cxn ang="0">
                  <a:pos x="1" y="7"/>
                </a:cxn>
                <a:cxn ang="0">
                  <a:pos x="1" y="3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2" y="2"/>
                </a:cxn>
                <a:cxn ang="0">
                  <a:pos x="2" y="3"/>
                </a:cxn>
                <a:cxn ang="0">
                  <a:pos x="2" y="7"/>
                </a:cxn>
                <a:cxn ang="0">
                  <a:pos x="3" y="11"/>
                </a:cxn>
                <a:cxn ang="0">
                  <a:pos x="3" y="17"/>
                </a:cxn>
                <a:cxn ang="0">
                  <a:pos x="3" y="22"/>
                </a:cxn>
                <a:cxn ang="0">
                  <a:pos x="2" y="27"/>
                </a:cxn>
                <a:cxn ang="0">
                  <a:pos x="2" y="30"/>
                </a:cxn>
                <a:cxn ang="0">
                  <a:pos x="2" y="32"/>
                </a:cxn>
                <a:cxn ang="0">
                  <a:pos x="1" y="33"/>
                </a:cxn>
                <a:cxn ang="0">
                  <a:pos x="1" y="32"/>
                </a:cxn>
                <a:cxn ang="0">
                  <a:pos x="1" y="30"/>
                </a:cxn>
                <a:cxn ang="0">
                  <a:pos x="1" y="27"/>
                </a:cxn>
                <a:cxn ang="0">
                  <a:pos x="1" y="22"/>
                </a:cxn>
                <a:cxn ang="0">
                  <a:pos x="0" y="17"/>
                </a:cxn>
              </a:cxnLst>
              <a:rect l="0" t="0" r="0" b="0"/>
              <a:pathLst>
                <a:path w="138" h="138">
                  <a:moveTo>
                    <a:pt x="0" y="68"/>
                  </a:moveTo>
                  <a:lnTo>
                    <a:pt x="3" y="46"/>
                  </a:lnTo>
                  <a:lnTo>
                    <a:pt x="12" y="28"/>
                  </a:lnTo>
                  <a:lnTo>
                    <a:pt x="27" y="12"/>
                  </a:lnTo>
                  <a:lnTo>
                    <a:pt x="47" y="2"/>
                  </a:lnTo>
                  <a:lnTo>
                    <a:pt x="67" y="0"/>
                  </a:lnTo>
                  <a:lnTo>
                    <a:pt x="89" y="2"/>
                  </a:lnTo>
                  <a:lnTo>
                    <a:pt x="107" y="12"/>
                  </a:lnTo>
                  <a:lnTo>
                    <a:pt x="125" y="28"/>
                  </a:lnTo>
                  <a:lnTo>
                    <a:pt x="133" y="46"/>
                  </a:lnTo>
                  <a:lnTo>
                    <a:pt x="137" y="68"/>
                  </a:lnTo>
                  <a:lnTo>
                    <a:pt x="133" y="90"/>
                  </a:lnTo>
                  <a:lnTo>
                    <a:pt x="125" y="108"/>
                  </a:lnTo>
                  <a:lnTo>
                    <a:pt x="107" y="123"/>
                  </a:lnTo>
                  <a:lnTo>
                    <a:pt x="89" y="133"/>
                  </a:lnTo>
                  <a:lnTo>
                    <a:pt x="67" y="137"/>
                  </a:lnTo>
                  <a:lnTo>
                    <a:pt x="47" y="133"/>
                  </a:lnTo>
                  <a:lnTo>
                    <a:pt x="27" y="123"/>
                  </a:lnTo>
                  <a:lnTo>
                    <a:pt x="12" y="108"/>
                  </a:lnTo>
                  <a:lnTo>
                    <a:pt x="3" y="90"/>
                  </a:lnTo>
                  <a:lnTo>
                    <a:pt x="0" y="68"/>
                  </a:lnTo>
                </a:path>
              </a:pathLst>
            </a:custGeom>
            <a:solidFill>
              <a:srgbClr val="808080"/>
            </a:solidFill>
            <a:ln w="12700">
              <a:noFill/>
            </a:ln>
          </p:spPr>
          <p:txBody>
            <a:bodyPr/>
            <a:lstStyle/>
            <a:p>
              <a:endParaRPr lang="zh-CN" altLang="en-US" sz="1350">
                <a:cs typeface="华文楷体" panose="02010600040101010101" charset="-122"/>
              </a:endParaRPr>
            </a:p>
          </p:txBody>
        </p:sp>
        <p:sp>
          <p:nvSpPr>
            <p:cNvPr id="168980" name="Freeform 21"/>
            <p:cNvSpPr/>
            <p:nvPr/>
          </p:nvSpPr>
          <p:spPr>
            <a:xfrm>
              <a:off x="4753" y="2087"/>
              <a:ext cx="64" cy="82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1" y="8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1" y="0"/>
                </a:cxn>
                <a:cxn ang="0">
                  <a:pos x="1" y="0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2" y="8"/>
                </a:cxn>
                <a:cxn ang="0">
                  <a:pos x="2" y="12"/>
                </a:cxn>
                <a:cxn ang="0">
                  <a:pos x="2" y="16"/>
                </a:cxn>
                <a:cxn ang="0">
                  <a:pos x="1" y="19"/>
                </a:cxn>
                <a:cxn ang="0">
                  <a:pos x="1" y="22"/>
                </a:cxn>
                <a:cxn ang="0">
                  <a:pos x="1" y="24"/>
                </a:cxn>
                <a:cxn ang="0">
                  <a:pos x="1" y="24"/>
                </a:cxn>
                <a:cxn ang="0">
                  <a:pos x="1" y="22"/>
                </a:cxn>
                <a:cxn ang="0">
                  <a:pos x="1" y="19"/>
                </a:cxn>
                <a:cxn ang="0">
                  <a:pos x="1" y="16"/>
                </a:cxn>
                <a:cxn ang="0">
                  <a:pos x="0" y="12"/>
                </a:cxn>
              </a:cxnLst>
              <a:rect l="0" t="0" r="0" b="0"/>
              <a:pathLst>
                <a:path w="94" h="94">
                  <a:moveTo>
                    <a:pt x="0" y="47"/>
                  </a:moveTo>
                  <a:lnTo>
                    <a:pt x="3" y="30"/>
                  </a:lnTo>
                  <a:lnTo>
                    <a:pt x="10" y="16"/>
                  </a:lnTo>
                  <a:lnTo>
                    <a:pt x="23" y="6"/>
                  </a:lnTo>
                  <a:lnTo>
                    <a:pt x="39" y="0"/>
                  </a:lnTo>
                  <a:lnTo>
                    <a:pt x="55" y="0"/>
                  </a:lnTo>
                  <a:lnTo>
                    <a:pt x="70" y="6"/>
                  </a:lnTo>
                  <a:lnTo>
                    <a:pt x="82" y="16"/>
                  </a:lnTo>
                  <a:lnTo>
                    <a:pt x="91" y="30"/>
                  </a:lnTo>
                  <a:lnTo>
                    <a:pt x="93" y="47"/>
                  </a:lnTo>
                  <a:lnTo>
                    <a:pt x="91" y="63"/>
                  </a:lnTo>
                  <a:lnTo>
                    <a:pt x="82" y="77"/>
                  </a:lnTo>
                  <a:lnTo>
                    <a:pt x="70" y="87"/>
                  </a:lnTo>
                  <a:lnTo>
                    <a:pt x="55" y="93"/>
                  </a:lnTo>
                  <a:lnTo>
                    <a:pt x="39" y="93"/>
                  </a:lnTo>
                  <a:lnTo>
                    <a:pt x="23" y="87"/>
                  </a:lnTo>
                  <a:lnTo>
                    <a:pt x="10" y="77"/>
                  </a:lnTo>
                  <a:lnTo>
                    <a:pt x="3" y="63"/>
                  </a:lnTo>
                  <a:lnTo>
                    <a:pt x="0" y="47"/>
                  </a:lnTo>
                </a:path>
              </a:pathLst>
            </a:custGeom>
            <a:solidFill>
              <a:srgbClr val="00DFCA"/>
            </a:solidFill>
            <a:ln w="12700">
              <a:noFill/>
            </a:ln>
          </p:spPr>
          <p:txBody>
            <a:bodyPr/>
            <a:lstStyle/>
            <a:p>
              <a:endParaRPr lang="zh-CN" altLang="en-US" sz="1350">
                <a:cs typeface="华文楷体" panose="02010600040101010101" charset="-122"/>
              </a:endParaRPr>
            </a:p>
          </p:txBody>
        </p:sp>
        <p:sp>
          <p:nvSpPr>
            <p:cNvPr id="168981" name="Rectangle 22"/>
            <p:cNvSpPr/>
            <p:nvPr/>
          </p:nvSpPr>
          <p:spPr>
            <a:xfrm>
              <a:off x="4965" y="1795"/>
              <a:ext cx="80" cy="5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lstStyle/>
            <a:p>
              <a:endParaRPr lang="zh-CN" altLang="en-US" sz="1350" dirty="0">
                <a:latin typeface="Garamond" panose="02020404030301010803" pitchFamily="18" charset="0"/>
                <a:cs typeface="华文楷体" panose="02010600040101010101" charset="-122"/>
              </a:endParaRPr>
            </a:p>
          </p:txBody>
        </p:sp>
        <p:grpSp>
          <p:nvGrpSpPr>
            <p:cNvPr id="168982" name="Group 23"/>
            <p:cNvGrpSpPr/>
            <p:nvPr/>
          </p:nvGrpSpPr>
          <p:grpSpPr>
            <a:xfrm>
              <a:off x="4368" y="1584"/>
              <a:ext cx="816" cy="326"/>
              <a:chOff x="3456" y="1488"/>
              <a:chExt cx="816" cy="326"/>
            </a:xfrm>
          </p:grpSpPr>
          <p:sp>
            <p:nvSpPr>
              <p:cNvPr id="112664" name="Rectangle 24"/>
              <p:cNvSpPr>
                <a:spLocks noChangeArrowheads="1"/>
              </p:cNvSpPr>
              <p:nvPr/>
            </p:nvSpPr>
            <p:spPr bwMode="auto">
              <a:xfrm>
                <a:off x="3456" y="1488"/>
                <a:ext cx="816" cy="3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67866" tIns="33337" rIns="67866" bIns="33337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2100" i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X = </a:t>
                </a:r>
                <a:r>
                  <a:rPr kumimoji="1" lang="en-US" altLang="zh-CN" sz="21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华文楷体" panose="02010600040101010101" charset="-122"/>
                    <a:ea typeface="宋体" panose="02010600030101010101" pitchFamily="2" charset="-122"/>
                    <a:cs typeface="华文楷体" panose="02010600040101010101" charset="-122"/>
                  </a:rPr>
                  <a:t>8.3</a:t>
                </a:r>
              </a:p>
            </p:txBody>
          </p:sp>
          <p:sp>
            <p:nvSpPr>
              <p:cNvPr id="168984" name="Line 25"/>
              <p:cNvSpPr/>
              <p:nvPr/>
            </p:nvSpPr>
            <p:spPr>
              <a:xfrm>
                <a:off x="3552" y="1536"/>
                <a:ext cx="13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49" y="1835309"/>
            <a:ext cx="8264627" cy="3263504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sz="8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8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8000" dirty="0"/>
              <a:t>两只基金年收益率如下：</a:t>
            </a:r>
            <a:br>
              <a:rPr lang="zh-CN" altLang="en-US" sz="8000" dirty="0"/>
            </a:br>
            <a:r>
              <a:rPr lang="en-US" altLang="zh-CN" sz="8000" dirty="0"/>
              <a:t>      </a:t>
            </a:r>
            <a:r>
              <a:rPr lang="en-GB" altLang="zh-CN" sz="8000" dirty="0"/>
              <a:t>A</a:t>
            </a:r>
            <a:r>
              <a:rPr lang="zh-CN" altLang="en-US" sz="8000" dirty="0"/>
              <a:t>基金：</a:t>
            </a:r>
            <a:r>
              <a:rPr lang="en-US" altLang="zh-CN" sz="8000" dirty="0"/>
              <a:t>5%</a:t>
            </a:r>
            <a:r>
              <a:rPr lang="zh-CN" altLang="en-US" sz="8000" dirty="0"/>
              <a:t>、</a:t>
            </a:r>
            <a:r>
              <a:rPr lang="en-US" altLang="zh-CN" sz="8000" dirty="0"/>
              <a:t>6%</a:t>
            </a:r>
            <a:r>
              <a:rPr lang="zh-CN" altLang="en-US" sz="8000" dirty="0"/>
              <a:t>、</a:t>
            </a:r>
            <a:r>
              <a:rPr lang="en-US" altLang="zh-CN" sz="8000" dirty="0"/>
              <a:t>7%</a:t>
            </a:r>
            <a:r>
              <a:rPr lang="zh-CN" altLang="en-US" sz="8000" dirty="0"/>
              <a:t>、</a:t>
            </a:r>
            <a:r>
              <a:rPr lang="en-US" altLang="zh-CN" sz="8000" dirty="0"/>
              <a:t>8%</a:t>
            </a:r>
            <a:r>
              <a:rPr lang="zh-CN" altLang="en-US" sz="8000" dirty="0"/>
              <a:t>、</a:t>
            </a:r>
            <a:r>
              <a:rPr lang="en-US" altLang="zh-CN" sz="8000" dirty="0"/>
              <a:t>9%</a:t>
            </a:r>
            <a:br>
              <a:rPr lang="en-US" altLang="zh-CN" sz="8000" dirty="0"/>
            </a:br>
            <a:r>
              <a:rPr lang="en-US" altLang="zh-CN" sz="8000" dirty="0"/>
              <a:t>      </a:t>
            </a:r>
            <a:r>
              <a:rPr lang="en-GB" altLang="zh-CN" sz="8000" dirty="0"/>
              <a:t>B</a:t>
            </a:r>
            <a:r>
              <a:rPr lang="zh-CN" altLang="en-US" sz="8000" dirty="0"/>
              <a:t>基金：</a:t>
            </a:r>
            <a:r>
              <a:rPr lang="en-US" altLang="zh-CN" sz="8000" dirty="0"/>
              <a:t>1%</a:t>
            </a:r>
            <a:r>
              <a:rPr lang="zh-CN" altLang="en-US" sz="8000" dirty="0"/>
              <a:t>、</a:t>
            </a:r>
            <a:r>
              <a:rPr lang="en-US" altLang="zh-CN" sz="8000" dirty="0"/>
              <a:t>9%</a:t>
            </a:r>
            <a:r>
              <a:rPr lang="zh-CN" altLang="en-US" sz="8000" dirty="0"/>
              <a:t>、</a:t>
            </a:r>
            <a:r>
              <a:rPr lang="en-US" altLang="zh-CN" sz="8000" dirty="0"/>
              <a:t>0%</a:t>
            </a:r>
            <a:r>
              <a:rPr lang="zh-CN" altLang="en-US" sz="8000" dirty="0"/>
              <a:t>、</a:t>
            </a:r>
            <a:r>
              <a:rPr lang="en-US" altLang="zh-CN" sz="8000" dirty="0"/>
              <a:t>11%</a:t>
            </a:r>
            <a:r>
              <a:rPr lang="zh-CN" altLang="en-US" sz="8000" dirty="0"/>
              <a:t>、</a:t>
            </a:r>
            <a:r>
              <a:rPr lang="en-US" altLang="zh-CN" sz="8000" dirty="0"/>
              <a:t>10%</a:t>
            </a:r>
            <a:br>
              <a:rPr lang="zh-CN" altLang="en-US" sz="8000" dirty="0"/>
            </a:br>
            <a:r>
              <a:rPr lang="en-US" altLang="zh-CN" sz="8000" dirty="0"/>
              <a:t>     </a:t>
            </a:r>
            <a:r>
              <a:rPr lang="zh-CN" altLang="en-US" sz="8000" dirty="0"/>
              <a:t>计算标准差：A基金≈1.58%，B基金≈4.58%。</a:t>
            </a:r>
            <a:r>
              <a:rPr lang="en-US" altLang="zh-CN" sz="8000" dirty="0"/>
              <a:t>  </a:t>
            </a:r>
            <a:r>
              <a:rPr lang="zh-CN" altLang="en-US" sz="8000" dirty="0"/>
              <a:t>→ </a:t>
            </a:r>
            <a:r>
              <a:rPr lang="zh-CN" altLang="en-US" sz="8000" b="1" dirty="0">
                <a:solidFill>
                  <a:srgbClr val="C00000"/>
                </a:solidFill>
              </a:rPr>
              <a:t>B基金风险更高</a:t>
            </a:r>
            <a:endParaRPr lang="zh-CN" altLang="en-US" sz="8000" dirty="0"/>
          </a:p>
          <a:p>
            <a:pPr marL="0" indent="0">
              <a:lnSpc>
                <a:spcPct val="150000"/>
              </a:lnSpc>
              <a:buNone/>
            </a:pPr>
            <a:r>
              <a:rPr sz="8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8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8000" b="1" dirty="0">
                <a:sym typeface="+mn-ea"/>
              </a:rPr>
              <a:t>思</a:t>
            </a:r>
            <a:r>
              <a:rPr lang="zh-CN" altLang="en-US" sz="8000" b="1" dirty="0"/>
              <a:t>考题：</a:t>
            </a:r>
            <a:r>
              <a:rPr lang="zh-CN" altLang="en-US" sz="8000" dirty="0"/>
              <a:t>如果一只基金平均收益高、标准差也大，</a:t>
            </a:r>
            <a:br>
              <a:rPr lang="zh-CN" altLang="en-US" sz="8000" dirty="0"/>
            </a:br>
            <a:r>
              <a:rPr lang="en-US" altLang="zh-CN" sz="8000" dirty="0"/>
              <a:t>      </a:t>
            </a:r>
            <a:r>
              <a:rPr lang="zh-CN" altLang="en-US" sz="8000" dirty="0"/>
              <a:t>投资者是否一定应该选择它？为什么？</a:t>
            </a:r>
          </a:p>
          <a:p>
            <a:endParaRPr kumimoji="1" lang="zh-CN" altLang="en-US" sz="8000" dirty="0"/>
          </a:p>
        </p:txBody>
      </p:sp>
      <p:sp>
        <p:nvSpPr>
          <p:cNvPr id="5" name="矩形标注 4"/>
          <p:cNvSpPr/>
          <p:nvPr/>
        </p:nvSpPr>
        <p:spPr>
          <a:xfrm>
            <a:off x="5110480" y="2294890"/>
            <a:ext cx="3669030" cy="485140"/>
          </a:xfrm>
          <a:prstGeom prst="wedgeRectCallout">
            <a:avLst>
              <a:gd name="adj1" fmla="val -40351"/>
              <a:gd name="adj2" fmla="val 81937"/>
            </a:avLst>
          </a:prstGeom>
          <a:solidFill>
            <a:srgbClr val="D3481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110480" y="2353310"/>
            <a:ext cx="4359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平均收益相同，但</a:t>
            </a:r>
            <a:r>
              <a:rPr lang="en-GB" altLang="zh-CN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B</a:t>
            </a:r>
            <a:r>
              <a:rPr lang="zh-CN" altLang="en-US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基金波动更大。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15770" y="365125"/>
            <a:ext cx="7886700" cy="1325563"/>
          </a:xfrm>
        </p:spPr>
        <p:txBody>
          <a:bodyPr/>
          <a:lstStyle/>
          <a:p>
            <a:r>
              <a:rPr lang="zh-CN" sz="3100" b="1" kern="0" spc="40" dirty="0">
                <a:solidFill>
                  <a:srgbClr val="000000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七、常见的统计分布——正态分布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1136650" y="1743075"/>
            <a:ext cx="78867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5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dirty="0"/>
              <a:t>正态分布，又称“高斯分布”，是最常见的概率分布。</a:t>
            </a:r>
            <a:br>
              <a:rPr lang="zh-CN" altLang="en-US" sz="2000" dirty="0"/>
            </a:br>
            <a:r>
              <a:rPr lang="zh-CN" altLang="en-US" sz="2000" dirty="0"/>
              <a:t>它的形状是一个</a:t>
            </a:r>
            <a:r>
              <a:rPr lang="zh-CN" altLang="en-US" sz="2000" b="1" dirty="0"/>
              <a:t>对称的钟形曲线</a:t>
            </a:r>
            <a:r>
              <a:rPr lang="zh-CN" altLang="en-US" sz="2000" dirty="0"/>
              <a:t>，</a:t>
            </a:r>
            <a:br>
              <a:rPr lang="zh-CN" altLang="en-US" sz="2000" dirty="0"/>
            </a:br>
            <a:r>
              <a:rPr lang="zh-CN" altLang="en-US" sz="2000" dirty="0"/>
              <a:t>由两个参数决定：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2000" dirty="0"/>
              <a:t>平均值（</a:t>
            </a:r>
            <a:r>
              <a:rPr lang="el-GR" altLang="zh-CN" sz="2000" dirty="0"/>
              <a:t>μ</a:t>
            </a:r>
            <a:r>
              <a:rPr lang="zh-CN" altLang="el-GR" sz="2000" dirty="0"/>
              <a:t>）：</a:t>
            </a:r>
            <a:r>
              <a:rPr lang="zh-CN" altLang="en-US" sz="2000" dirty="0"/>
              <a:t>决定分布中心；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2000" dirty="0"/>
              <a:t>标准差（</a:t>
            </a:r>
            <a:r>
              <a:rPr lang="el-GR" altLang="zh-CN" sz="2000" dirty="0"/>
              <a:t>σ</a:t>
            </a:r>
            <a:r>
              <a:rPr lang="zh-CN" altLang="el-GR" sz="2000" dirty="0"/>
              <a:t>）：</a:t>
            </a:r>
            <a:r>
              <a:rPr lang="zh-CN" altLang="en-US" sz="2000" dirty="0"/>
              <a:t>决定分布宽窄。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2000" dirty="0"/>
              <a:t>对称性：平均数</a:t>
            </a:r>
            <a:r>
              <a:rPr lang="en-US" altLang="zh-CN" sz="2000" dirty="0"/>
              <a:t>=</a:t>
            </a:r>
            <a:r>
              <a:rPr lang="zh-CN" altLang="en-US" sz="2000" dirty="0"/>
              <a:t>中位数</a:t>
            </a:r>
            <a:r>
              <a:rPr lang="en-US" altLang="zh-CN" sz="2000" dirty="0"/>
              <a:t>=</a:t>
            </a:r>
            <a:r>
              <a:rPr lang="zh-CN" altLang="en-US" sz="2000" dirty="0"/>
              <a:t>众数。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2000" dirty="0"/>
              <a:t>数学公式如下：</a:t>
            </a:r>
          </a:p>
          <a:p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1853" y="4984812"/>
            <a:ext cx="1943100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8460" y="1691005"/>
            <a:ext cx="5715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5170" y="772795"/>
            <a:ext cx="7593965" cy="506412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4975" y="365125"/>
            <a:ext cx="7886700" cy="1325563"/>
          </a:xfrm>
        </p:spPr>
        <p:txBody>
          <a:bodyPr/>
          <a:lstStyle/>
          <a:p>
            <a:r>
              <a:rPr kumimoji="1" lang="zh-CN" altLang="en-US" b="1" dirty="0"/>
              <a:t>常见的统计分布</a:t>
            </a:r>
            <a:r>
              <a:rPr kumimoji="1" lang="en-US" altLang="zh-CN" b="1" dirty="0"/>
              <a:t>——F</a:t>
            </a:r>
            <a:r>
              <a:rPr kumimoji="1" lang="zh-CN" altLang="en-US" b="1" dirty="0"/>
              <a:t>分布</a:t>
            </a:r>
            <a:endParaRPr kumimoji="1"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628650" y="1555115"/>
            <a:ext cx="78867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GB" altLang="zh-CN" sz="2000" dirty="0"/>
              <a:t>F</a:t>
            </a:r>
            <a:r>
              <a:rPr lang="zh-CN" altLang="en-US" sz="2000" dirty="0"/>
              <a:t>分布是一种</a:t>
            </a:r>
            <a:r>
              <a:rPr lang="zh-CN" altLang="en-US" sz="2000" b="1" dirty="0"/>
              <a:t>非对称分布</a:t>
            </a:r>
            <a:r>
              <a:rPr lang="zh-CN" altLang="en-US" sz="2000" dirty="0"/>
              <a:t>，常用于比较两个方差是否显著不同，</a:t>
            </a:r>
            <a:br>
              <a:rPr lang="zh-CN" altLang="en-US" sz="2000" dirty="0"/>
            </a:br>
            <a:r>
              <a:rPr lang="en-US" altLang="zh-CN" sz="2000" dirty="0"/>
              <a:t>      </a:t>
            </a:r>
            <a:r>
              <a:rPr lang="zh-CN" altLang="en-US" sz="2000" dirty="0"/>
              <a:t>也是</a:t>
            </a:r>
            <a:r>
              <a:rPr lang="zh-CN" altLang="en-US" sz="2000" b="1" dirty="0">
                <a:solidFill>
                  <a:srgbClr val="C00000"/>
                </a:solidFill>
              </a:rPr>
              <a:t>方差分析（</a:t>
            </a:r>
            <a:r>
              <a:rPr lang="en-GB" altLang="zh-CN" sz="2000" b="1" dirty="0">
                <a:solidFill>
                  <a:srgbClr val="C00000"/>
                </a:solidFill>
              </a:rPr>
              <a:t>ANOVA</a:t>
            </a:r>
            <a:r>
              <a:rPr lang="zh-CN" altLang="en-GB" sz="2000" b="1" dirty="0">
                <a:solidFill>
                  <a:srgbClr val="C00000"/>
                </a:solidFill>
              </a:rPr>
              <a:t>）</a:t>
            </a:r>
            <a:r>
              <a:rPr lang="zh-CN" altLang="en-US" sz="2000" dirty="0"/>
              <a:t>和</a:t>
            </a:r>
            <a:r>
              <a:rPr lang="zh-CN" altLang="en-US" sz="2000" b="1" dirty="0">
                <a:solidFill>
                  <a:srgbClr val="C00000"/>
                </a:solidFill>
              </a:rPr>
              <a:t>回归显著性检验</a:t>
            </a:r>
            <a:r>
              <a:rPr lang="zh-CN" altLang="en-US" sz="2000" dirty="0"/>
              <a:t>的基础。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2000" dirty="0"/>
              <a:t>它由两个参数决定：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/>
              <a:t>      </a:t>
            </a:r>
            <a:r>
              <a:rPr lang="zh-CN" altLang="en-US" sz="2000" dirty="0"/>
              <a:t>分子自由度 </a:t>
            </a:r>
            <a:r>
              <a:rPr lang="en-GB" altLang="zh-CN" sz="2000" dirty="0"/>
              <a:t>v1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dirty="0"/>
              <a:t>      </a:t>
            </a:r>
            <a:r>
              <a:rPr lang="zh-CN" altLang="en-US" sz="2000" dirty="0"/>
              <a:t>分母自由度 </a:t>
            </a:r>
            <a:r>
              <a:rPr lang="en-GB" altLang="zh-CN" sz="2000" dirty="0"/>
              <a:t>v2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2000" dirty="0"/>
              <a:t>数学形式较复杂，可理解为两个独立卡方分布之比：</a:t>
            </a:r>
          </a:p>
          <a:p>
            <a:pPr>
              <a:lnSpc>
                <a:spcPct val="150000"/>
              </a:lnSpc>
            </a:pP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18961" t="-3704"/>
          <a:stretch>
            <a:fillRect/>
          </a:stretch>
        </p:blipFill>
        <p:spPr>
          <a:xfrm>
            <a:off x="6850380" y="4540250"/>
            <a:ext cx="1614805" cy="889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334510" y="1797685"/>
            <a:ext cx="4739005" cy="326326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b="1" dirty="0"/>
              <a:t>特征：</a:t>
            </a:r>
            <a:r>
              <a:rPr lang="zh-CN" altLang="en-US" sz="2000" dirty="0"/>
              <a:t>非对称、右偏；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en-GB" altLang="zh-CN" sz="2000" dirty="0"/>
              <a:t>F</a:t>
            </a:r>
            <a:r>
              <a:rPr lang="zh-CN" altLang="en-US" sz="2000" dirty="0"/>
              <a:t>值 ≥ </a:t>
            </a:r>
            <a:r>
              <a:rPr lang="en-US" altLang="zh-CN" sz="2000" dirty="0"/>
              <a:t>0</a:t>
            </a:r>
            <a:r>
              <a:rPr lang="zh-CN" altLang="en-US" sz="2000" dirty="0"/>
              <a:t>；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2000" dirty="0"/>
              <a:t>自由度越大，分布越接近对称；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2000" dirty="0"/>
              <a:t>常用于“</a:t>
            </a:r>
            <a:r>
              <a:rPr lang="zh-CN" altLang="en-US" sz="2000" b="1" dirty="0">
                <a:solidFill>
                  <a:srgbClr val="C00000"/>
                </a:solidFill>
              </a:rPr>
              <a:t>方差相等检验</a:t>
            </a:r>
            <a:r>
              <a:rPr lang="zh-CN" altLang="en-US" sz="2000" dirty="0"/>
              <a:t>”或“</a:t>
            </a:r>
            <a:r>
              <a:rPr lang="zh-CN" altLang="en-US" sz="2000" b="1" dirty="0">
                <a:solidFill>
                  <a:srgbClr val="C00000"/>
                </a:solidFill>
              </a:rPr>
              <a:t>模型显著性检验</a:t>
            </a:r>
            <a:r>
              <a:rPr lang="zh-CN" altLang="en-US" sz="2000" dirty="0"/>
              <a:t>”。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45" y="1127760"/>
            <a:ext cx="3982085" cy="433705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020" y="1071245"/>
            <a:ext cx="6585585" cy="439039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21355" y="254000"/>
            <a:ext cx="2767330" cy="1325880"/>
          </a:xfrm>
        </p:spPr>
        <p:txBody>
          <a:bodyPr/>
          <a:lstStyle/>
          <a:p>
            <a:r>
              <a:rPr lang="zh-CN" sz="3100" b="1" kern="0" spc="40" dirty="0">
                <a:solidFill>
                  <a:srgbClr val="000000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八、参数估计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45565"/>
            <a:ext cx="8149590" cy="4351655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8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8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8000" dirty="0"/>
              <a:t>参数估计是用</a:t>
            </a:r>
            <a:r>
              <a:rPr lang="zh-CN" altLang="en-US" sz="8000" b="1" dirty="0">
                <a:solidFill>
                  <a:srgbClr val="C00000"/>
                </a:solidFill>
              </a:rPr>
              <a:t>样本数据去推测总体特征</a:t>
            </a:r>
            <a:r>
              <a:rPr lang="zh-CN" altLang="en-US" sz="8000" dirty="0"/>
              <a:t>的过程。</a:t>
            </a:r>
            <a:br>
              <a:rPr lang="zh-CN" altLang="en-US" sz="8000" dirty="0"/>
            </a:br>
            <a:r>
              <a:rPr lang="en-US" altLang="zh-CN" sz="8000" dirty="0"/>
              <a:t>    </a:t>
            </a:r>
            <a:r>
              <a:rPr lang="zh-CN" altLang="en-US" sz="8000" dirty="0"/>
              <a:t>在金融领域，我们往往无法观测全部市场数据（总体），</a:t>
            </a:r>
            <a:br>
              <a:rPr lang="zh-CN" altLang="en-US" sz="8000" dirty="0"/>
            </a:br>
            <a:r>
              <a:rPr lang="en-US" altLang="zh-CN" sz="8000" dirty="0"/>
              <a:t>    </a:t>
            </a:r>
            <a:r>
              <a:rPr lang="zh-CN" altLang="en-US" sz="8000" dirty="0"/>
              <a:t>只能通过有限的样本（如过去</a:t>
            </a:r>
            <a:r>
              <a:rPr lang="en-US" altLang="zh-CN" sz="8000" dirty="0"/>
              <a:t>100</a:t>
            </a:r>
            <a:r>
              <a:rPr lang="zh-CN" altLang="en-US" sz="8000" dirty="0"/>
              <a:t>天收益率）来</a:t>
            </a:r>
            <a:r>
              <a:rPr lang="zh-CN" altLang="en-US" sz="8000" b="1" dirty="0"/>
              <a:t>估计总体均值与方差</a:t>
            </a:r>
            <a:r>
              <a:rPr lang="zh-CN" altLang="en-US" sz="8000" dirty="0"/>
              <a:t>。</a:t>
            </a:r>
          </a:p>
          <a:p>
            <a:pPr marL="0" indent="0">
              <a:lnSpc>
                <a:spcPct val="150000"/>
              </a:lnSpc>
              <a:buNone/>
            </a:pPr>
            <a:r>
              <a:rPr sz="8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8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8000" dirty="0"/>
              <a:t>常见的参数有：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8000" dirty="0"/>
              <a:t>总体均值 </a:t>
            </a:r>
            <a:r>
              <a:rPr lang="el-GR" altLang="zh-CN" sz="8000" dirty="0"/>
              <a:t>μ —— </a:t>
            </a:r>
            <a:r>
              <a:rPr lang="zh-CN" altLang="en-US" sz="8000" dirty="0"/>
              <a:t>表示长期平均收益；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8000" dirty="0"/>
              <a:t>总体方差 </a:t>
            </a:r>
            <a:r>
              <a:rPr lang="el-GR" altLang="zh-CN" sz="8000" dirty="0"/>
              <a:t>σ² —— </a:t>
            </a:r>
            <a:r>
              <a:rPr lang="zh-CN" altLang="en-US" sz="8000" dirty="0"/>
              <a:t>表示长期风险。</a:t>
            </a:r>
          </a:p>
          <a:p>
            <a:pPr marL="0" indent="0">
              <a:lnSpc>
                <a:spcPct val="150000"/>
              </a:lnSpc>
              <a:buNone/>
            </a:pPr>
            <a:r>
              <a:rPr sz="8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8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8000" dirty="0"/>
              <a:t>参数估计分为：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8000" b="1" dirty="0"/>
              <a:t>点估计</a:t>
            </a:r>
            <a:r>
              <a:rPr lang="zh-CN" altLang="en-US" sz="8000" dirty="0"/>
              <a:t>：用一个具体数值估计参数；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8000" b="1" dirty="0"/>
              <a:t>区间估计</a:t>
            </a:r>
            <a:r>
              <a:rPr lang="zh-CN" altLang="en-US" sz="8000" dirty="0"/>
              <a:t>：给出一个范围（置信区间），表示估计的不确定性。</a:t>
            </a:r>
          </a:p>
          <a:p>
            <a:endParaRPr kumimoji="1" lang="zh-CN" altLang="en-US" sz="8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1650" y="309880"/>
            <a:ext cx="7886700" cy="1325563"/>
          </a:xfrm>
        </p:spPr>
        <p:txBody>
          <a:bodyPr/>
          <a:lstStyle/>
          <a:p>
            <a:r>
              <a:rPr kumimoji="1" lang="zh-CN" altLang="en-US" b="1" dirty="0"/>
              <a:t>例子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5630" y="1786890"/>
            <a:ext cx="8515350" cy="435165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zh-CN" altLang="en-US" sz="2000" dirty="0"/>
              <a:t>一位分析师想知道“沪深</a:t>
            </a:r>
            <a:r>
              <a:rPr lang="en-US" altLang="zh-CN" sz="2000" dirty="0"/>
              <a:t>300</a:t>
            </a:r>
            <a:r>
              <a:rPr lang="zh-CN" altLang="en-US" sz="2000" dirty="0"/>
              <a:t>指数的平均日收益率”。</a:t>
            </a:r>
            <a:br>
              <a:rPr lang="zh-CN" altLang="en-US" sz="2000" dirty="0"/>
            </a:br>
            <a:r>
              <a:rPr lang="en-US" altLang="zh-CN" sz="2000" dirty="0"/>
              <a:t>   </a:t>
            </a:r>
            <a:r>
              <a:rPr lang="zh-CN" altLang="en-US" sz="2000" dirty="0"/>
              <a:t>他取过去</a:t>
            </a:r>
            <a:r>
              <a:rPr lang="en-US" altLang="zh-CN" sz="2000" dirty="0"/>
              <a:t>100</a:t>
            </a:r>
            <a:r>
              <a:rPr lang="zh-CN" altLang="en-US" sz="2000" dirty="0"/>
              <a:t>天收益样本，算得</a:t>
            </a:r>
            <a:r>
              <a:rPr lang="zh-CN" altLang="en-US" sz="2000" b="1" dirty="0">
                <a:solidFill>
                  <a:srgbClr val="C00000"/>
                </a:solidFill>
              </a:rPr>
              <a:t>平均值为 </a:t>
            </a:r>
            <a:r>
              <a:rPr lang="en-US" altLang="zh-CN" sz="2000" b="1" dirty="0">
                <a:solidFill>
                  <a:srgbClr val="C00000"/>
                </a:solidFill>
              </a:rPr>
              <a:t>0.08%</a:t>
            </a:r>
            <a:r>
              <a:rPr lang="zh-CN" altLang="en-US" sz="2000" dirty="0"/>
              <a:t>。这就是点估计。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altLang="zh-CN" sz="2000" dirty="0"/>
              <a:t> </a:t>
            </a:r>
            <a:r>
              <a:rPr lang="zh-CN" altLang="en-US" sz="2000" dirty="0"/>
              <a:t>若考虑波动性，还可构造</a:t>
            </a:r>
            <a:r>
              <a:rPr lang="en-US" altLang="zh-CN" sz="2000" dirty="0"/>
              <a:t>95%</a:t>
            </a:r>
            <a:r>
              <a:rPr lang="zh-CN" altLang="en-US" sz="2000" dirty="0"/>
              <a:t>的置信区间：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/>
              <a:t>“沪深</a:t>
            </a:r>
            <a:r>
              <a:rPr lang="en-US" altLang="zh-CN" sz="2000" dirty="0"/>
              <a:t>300</a:t>
            </a:r>
            <a:r>
              <a:rPr lang="zh-CN" altLang="en-US" sz="2000" dirty="0"/>
              <a:t>平均收益率在</a:t>
            </a:r>
            <a:r>
              <a:rPr lang="zh-CN" altLang="en-US" sz="2000" b="1" dirty="0">
                <a:solidFill>
                  <a:srgbClr val="C00000"/>
                </a:solidFill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</a:rPr>
              <a:t>0.08% ± 0.05% </a:t>
            </a:r>
            <a:r>
              <a:rPr lang="zh-CN" altLang="en-US" sz="2000" dirty="0"/>
              <a:t>之间。”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zh-CN" altLang="en-US" sz="2000" dirty="0"/>
              <a:t>这告诉我们，样本估计存在一定误差，但总体收益大致处于这个范围内。</a:t>
            </a:r>
          </a:p>
          <a:p>
            <a:endParaRPr kumimoji="1" lang="zh-CN" altLang="en-US" sz="2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140" y="365125"/>
            <a:ext cx="7886700" cy="1325563"/>
          </a:xfrm>
        </p:spPr>
        <p:txBody>
          <a:bodyPr/>
          <a:lstStyle/>
          <a:p>
            <a:r>
              <a:rPr kumimoji="1" lang="zh-CN" altLang="en-US" b="1" dirty="0"/>
              <a:t>点估计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445260"/>
            <a:ext cx="8515350" cy="4351655"/>
          </a:xfrm>
        </p:spPr>
        <p:txBody>
          <a:bodyPr>
            <a:normAutofit fontScale="40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8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8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4500" dirty="0"/>
              <a:t>点估计就是用样本统计量作为总体参数的估计值。例如：</a:t>
            </a:r>
          </a:p>
          <a:p>
            <a:pPr>
              <a:lnSpc>
                <a:spcPct val="150000"/>
              </a:lnSpc>
            </a:pPr>
            <a:endParaRPr lang="en-US" altLang="zh-CN" sz="4500" dirty="0"/>
          </a:p>
          <a:p>
            <a:pPr marL="0" indent="0">
              <a:lnSpc>
                <a:spcPct val="150000"/>
              </a:lnSpc>
              <a:buNone/>
            </a:pPr>
            <a:r>
              <a:rPr sz="45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45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4500" dirty="0"/>
              <a:t>在金融建模中，样本均值常被用于</a:t>
            </a:r>
            <a:r>
              <a:rPr lang="zh-CN" altLang="en-US" sz="4500" b="1" dirty="0">
                <a:solidFill>
                  <a:srgbClr val="C00000"/>
                </a:solidFill>
              </a:rPr>
              <a:t>估计期望收益</a:t>
            </a:r>
            <a:r>
              <a:rPr lang="zh-CN" altLang="en-US" sz="4500" dirty="0"/>
              <a:t>，样本方差用于衡量</a:t>
            </a:r>
            <a:r>
              <a:rPr lang="zh-CN" altLang="en-US" sz="4500" b="1" dirty="0">
                <a:solidFill>
                  <a:srgbClr val="C00000"/>
                </a:solidFill>
              </a:rPr>
              <a:t>风</a:t>
            </a:r>
            <a:r>
              <a:rPr lang="en-US" altLang="zh-CN" sz="4500" b="1" dirty="0">
                <a:solidFill>
                  <a:srgbClr val="C00000"/>
                </a:solidFill>
              </a:rPr>
              <a:t>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4500" b="1" dirty="0">
                <a:solidFill>
                  <a:srgbClr val="C00000"/>
                </a:solidFill>
              </a:rPr>
              <a:t>    </a:t>
            </a:r>
            <a:r>
              <a:rPr lang="zh-CN" altLang="en-US" sz="4500" b="1" dirty="0">
                <a:solidFill>
                  <a:srgbClr val="C00000"/>
                </a:solidFill>
              </a:rPr>
              <a:t>险水平</a:t>
            </a:r>
            <a:r>
              <a:rPr lang="zh-CN" altLang="en-US" sz="4500" dirty="0"/>
              <a:t>。</a:t>
            </a:r>
            <a:endParaRPr lang="en-US" altLang="zh-CN" sz="4500" dirty="0"/>
          </a:p>
          <a:p>
            <a:pPr marL="0" indent="0">
              <a:lnSpc>
                <a:spcPct val="150000"/>
              </a:lnSpc>
              <a:buNone/>
            </a:pPr>
            <a:r>
              <a:rPr sz="45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45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4500" dirty="0"/>
              <a:t>例子：五只股票近</a:t>
            </a:r>
            <a:r>
              <a:rPr lang="en-US" altLang="zh-CN" sz="4500" dirty="0"/>
              <a:t>5</a:t>
            </a:r>
            <a:r>
              <a:rPr lang="zh-CN" altLang="en-US" sz="4500" dirty="0"/>
              <a:t>天收益率如下：</a:t>
            </a:r>
            <a:r>
              <a:rPr lang="en-US" altLang="zh-CN" sz="4500" dirty="0"/>
              <a:t>2%</a:t>
            </a:r>
            <a:r>
              <a:rPr lang="zh-CN" altLang="en-US" sz="4500" dirty="0"/>
              <a:t>、</a:t>
            </a:r>
            <a:r>
              <a:rPr lang="en-US" altLang="zh-CN" sz="4500" dirty="0"/>
              <a:t>1%</a:t>
            </a:r>
            <a:r>
              <a:rPr lang="zh-CN" altLang="en-US" sz="4500" dirty="0"/>
              <a:t>、</a:t>
            </a:r>
            <a:r>
              <a:rPr lang="en-US" altLang="zh-CN" sz="4500" dirty="0"/>
              <a:t>–1%</a:t>
            </a:r>
            <a:r>
              <a:rPr lang="zh-CN" altLang="en-US" sz="4500" dirty="0"/>
              <a:t>、</a:t>
            </a:r>
            <a:r>
              <a:rPr lang="en-US" altLang="zh-CN" sz="4500" dirty="0"/>
              <a:t>3%</a:t>
            </a:r>
            <a:r>
              <a:rPr lang="zh-CN" altLang="en-US" sz="4500" dirty="0"/>
              <a:t>、</a:t>
            </a:r>
            <a:r>
              <a:rPr lang="en-US" altLang="zh-CN" sz="4500" dirty="0"/>
              <a:t>0%</a:t>
            </a:r>
            <a:r>
              <a:rPr lang="zh-CN" altLang="en-US" sz="4500" dirty="0"/>
              <a:t>。</a:t>
            </a:r>
            <a:br>
              <a:rPr lang="zh-CN" altLang="en-US" sz="4500" dirty="0"/>
            </a:br>
            <a:r>
              <a:rPr lang="en-US" altLang="zh-CN" sz="4500" dirty="0"/>
              <a:t>    </a:t>
            </a:r>
            <a:r>
              <a:rPr lang="zh-CN" altLang="en-US" sz="4500" dirty="0"/>
              <a:t>计算样本均值： </a:t>
            </a:r>
            <a:r>
              <a:rPr lang="en-US" altLang="zh-CN" sz="4500" dirty="0"/>
              <a:t>(2+1–1+3+0)/5 = 1%</a:t>
            </a:r>
            <a:r>
              <a:rPr lang="zh-CN" altLang="en-US" sz="4500" dirty="0"/>
              <a:t>。</a:t>
            </a:r>
            <a:br>
              <a:rPr lang="zh-CN" altLang="en-US" sz="4500" dirty="0"/>
            </a:br>
            <a:r>
              <a:rPr lang="en-US" altLang="zh-CN" sz="4500" dirty="0"/>
              <a:t>    </a:t>
            </a:r>
            <a:r>
              <a:rPr lang="zh-CN" altLang="en-US" sz="4500" dirty="0"/>
              <a:t>样本标准差 ≈ </a:t>
            </a:r>
            <a:r>
              <a:rPr lang="en-US" altLang="zh-CN" sz="4500" dirty="0"/>
              <a:t>1.58%</a:t>
            </a:r>
            <a:r>
              <a:rPr lang="zh-CN" altLang="en-US" sz="4500" dirty="0"/>
              <a:t>。</a:t>
            </a:r>
            <a:br>
              <a:rPr lang="zh-CN" altLang="en-US" sz="4500" dirty="0"/>
            </a:br>
            <a:r>
              <a:rPr lang="en-US" altLang="zh-CN" sz="4500" dirty="0"/>
              <a:t>    </a:t>
            </a:r>
            <a:r>
              <a:rPr lang="zh-CN" altLang="en-US" sz="4500" dirty="0"/>
              <a:t>说明这组股票平均日收益率约为</a:t>
            </a:r>
            <a:r>
              <a:rPr lang="en-US" altLang="zh-CN" sz="4500" dirty="0"/>
              <a:t>1%</a:t>
            </a:r>
            <a:r>
              <a:rPr lang="zh-CN" altLang="en-US" sz="4500" dirty="0"/>
              <a:t>，日波动在</a:t>
            </a:r>
            <a:r>
              <a:rPr lang="en-US" altLang="zh-CN" sz="4500" dirty="0"/>
              <a:t>±1.6%</a:t>
            </a:r>
            <a:r>
              <a:rPr lang="zh-CN" altLang="en-US" sz="4500" dirty="0"/>
              <a:t>左右。</a:t>
            </a:r>
          </a:p>
          <a:p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808" y="1955165"/>
            <a:ext cx="44196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4330" y="575945"/>
            <a:ext cx="5530215" cy="553021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8955" y="662465"/>
            <a:ext cx="7886700" cy="511508"/>
          </a:xfrm>
        </p:spPr>
        <p:txBody>
          <a:bodyPr>
            <a:normAutofit fontScale="90000"/>
          </a:bodyPr>
          <a:lstStyle/>
          <a:p>
            <a:r>
              <a:rPr kumimoji="1" lang="zh-CN" altLang="en-US" b="1" dirty="0"/>
              <a:t>区间估计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8490" y="1433195"/>
            <a:ext cx="7896860" cy="4446270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dirty="0"/>
              <a:t>区间估计给出一个“置信区间”，说明参数可能落在某个范围内。</a:t>
            </a:r>
            <a:br>
              <a:rPr lang="zh-CN" altLang="en-US" dirty="0"/>
            </a:br>
            <a:r>
              <a:rPr lang="en-US" altLang="zh-CN" dirty="0"/>
              <a:t>    </a:t>
            </a:r>
            <a:r>
              <a:rPr lang="zh-CN" altLang="en-US" dirty="0"/>
              <a:t>常用形式：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kumimoji="1" lang="en-US" altLang="zh-CN" dirty="0"/>
          </a:p>
          <a:p>
            <a:pPr marL="0" indent="0">
              <a:lnSpc>
                <a:spcPct val="150000"/>
              </a:lnSpc>
              <a:buNone/>
            </a:pPr>
            <a:r>
              <a:rPr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dirty="0"/>
              <a:t>常见置信水平：</a:t>
            </a:r>
          </a:p>
          <a:p>
            <a:pPr marL="0" indent="0">
              <a:lnSpc>
                <a:spcPct val="150000"/>
              </a:lnSpc>
              <a:buNone/>
            </a:pPr>
            <a:r>
              <a:rPr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dirty="0"/>
              <a:t>90%</a:t>
            </a:r>
            <a:r>
              <a:rPr lang="zh-CN" altLang="en-US" dirty="0"/>
              <a:t>：</a:t>
            </a:r>
            <a:r>
              <a:rPr lang="en-GB" altLang="zh-CN" dirty="0"/>
              <a:t>z=1.65</a:t>
            </a:r>
          </a:p>
          <a:p>
            <a:pPr marL="0" indent="0">
              <a:lnSpc>
                <a:spcPct val="150000"/>
              </a:lnSpc>
              <a:buNone/>
            </a:pPr>
            <a:r>
              <a:rPr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GB" altLang="zh-CN" dirty="0"/>
              <a:t>95%</a:t>
            </a:r>
            <a:r>
              <a:rPr lang="zh-CN" altLang="en-GB" dirty="0"/>
              <a:t>：</a:t>
            </a:r>
            <a:r>
              <a:rPr lang="en-GB" altLang="zh-CN" dirty="0"/>
              <a:t>z=1.96</a:t>
            </a:r>
          </a:p>
          <a:p>
            <a:pPr marL="0" indent="0">
              <a:lnSpc>
                <a:spcPct val="150000"/>
              </a:lnSpc>
              <a:buNone/>
            </a:pPr>
            <a:r>
              <a:rPr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GB" altLang="zh-CN" dirty="0"/>
              <a:t>99%</a:t>
            </a:r>
            <a:r>
              <a:rPr lang="zh-CN" altLang="en-GB" dirty="0"/>
              <a:t>：</a:t>
            </a:r>
            <a:r>
              <a:rPr lang="en-GB" altLang="zh-CN" dirty="0"/>
              <a:t>z=2.58</a:t>
            </a:r>
          </a:p>
          <a:p>
            <a:endParaRPr lang="en-GB" altLang="zh-CN" dirty="0"/>
          </a:p>
          <a:p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l="15848" t="28250" r="15374"/>
          <a:stretch>
            <a:fillRect/>
          </a:stretch>
        </p:blipFill>
        <p:spPr>
          <a:xfrm>
            <a:off x="2416810" y="2383155"/>
            <a:ext cx="3833495" cy="68961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t="17421" b="6552"/>
          <a:stretch>
            <a:fillRect/>
          </a:stretch>
        </p:blipFill>
        <p:spPr>
          <a:xfrm>
            <a:off x="2768600" y="2691765"/>
            <a:ext cx="4116705" cy="26904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AutoShape 2"/>
              <p:cNvSpPr>
                <a:spLocks noGrp="1" noChangeAspect="1" noChangeArrowheads="1"/>
              </p:cNvSpPr>
              <p:nvPr>
                <p:ph idx="1"/>
              </p:nvPr>
            </p:nvSpPr>
            <p:spPr bwMode="auto">
              <a:xfrm>
                <a:off x="516890" y="568960"/>
                <a:ext cx="8298815" cy="2195830"/>
              </a:xfrm>
              <a:prstGeom prst="rect">
                <a:avLst/>
              </a:prstGeo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68580" tIns="34290" rIns="68580" bIns="34290" numCol="1" anchor="t" anchorCtr="0" compatLnSpc="1"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sz="2000" kern="0" spc="80" dirty="0">
                    <a:solidFill>
                      <a:srgbClr val="D34817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●</a:t>
                </a:r>
                <a:r>
                  <a:rPr lang="en-US" sz="2000" kern="0" spc="80" dirty="0">
                    <a:solidFill>
                      <a:srgbClr val="D34817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</a:t>
                </a:r>
                <a:r>
                  <a:rPr lang="zh-CN" altLang="en-US" sz="2000" dirty="0"/>
                  <a:t>例子：分析师估计基金</a:t>
                </a:r>
                <a:r>
                  <a:rPr lang="en-GB" altLang="zh-CN" sz="2000" dirty="0"/>
                  <a:t>A</a:t>
                </a:r>
                <a:r>
                  <a:rPr lang="zh-CN" altLang="en-US" sz="2000" dirty="0"/>
                  <a:t>的日收益率平均为</a:t>
                </a:r>
                <a:r>
                  <a:rPr lang="en-US" altLang="zh-CN" sz="2000" dirty="0"/>
                  <a:t>0.1%</a:t>
                </a:r>
                <a:r>
                  <a:rPr lang="zh-CN" altLang="en-US" sz="2000" dirty="0"/>
                  <a:t>，标准差</a:t>
                </a:r>
                <a:r>
                  <a:rPr lang="en-US" altLang="zh-CN" sz="2000" dirty="0"/>
                  <a:t>0.4%</a:t>
                </a:r>
                <a:r>
                  <a:rPr lang="zh-CN" altLang="en-US" sz="2000" dirty="0"/>
                  <a:t>，样本量</a:t>
                </a:r>
                <a:r>
                  <a:rPr lang="en-US" altLang="zh-CN" sz="2000" dirty="0"/>
                  <a:t>100</a:t>
                </a:r>
                <a:r>
                  <a:rPr lang="zh-CN" altLang="en-US" sz="2000" dirty="0"/>
                  <a:t>。构造</a:t>
                </a:r>
                <a:r>
                  <a:rPr lang="en-US" altLang="zh-CN" sz="2000" dirty="0"/>
                  <a:t>95%</a:t>
                </a:r>
                <a:r>
                  <a:rPr lang="zh-CN" altLang="en-US" sz="2000" dirty="0"/>
                  <a:t>置信区间：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%±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96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ar-AE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CN" sz="20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altLang="zh-CN" sz="20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altLang="zh-CN" sz="2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ar-AE" altLang="zh-CN" sz="2000">
                              <a:latin typeface="Cambria Math" panose="02040503050406030204" pitchFamily="18" charset="0"/>
                            </a:rPr>
                            <m:t>%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ar-AE" altLang="zh-CN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 altLang="zh-CN" sz="200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e>
                          </m:rad>
                        </m:den>
                      </m:f>
                      <m:r>
                        <a:rPr lang="ar-AE" altLang="zh-CN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sz="2000" b="0" i="0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nor/>
                        </m:rPr>
                        <a:rPr lang="en-US" altLang="zh-CN" sz="2000"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altLang="zh-CN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altLang="zh-CN" sz="2000">
                          <a:latin typeface="Cambria Math" panose="02040503050406030204" pitchFamily="18" charset="0"/>
                        </a:rPr>
                        <m:t>02</m:t>
                      </m:r>
                      <m:r>
                        <m:rPr>
                          <m:nor/>
                        </m:rPr>
                        <a:rPr lang="en-US" altLang="zh-CN" sz="2000">
                          <a:latin typeface="Cambria Math" panose="02040503050406030204" pitchFamily="18" charset="0"/>
                        </a:rPr>
                        <m:t>%,</m:t>
                      </m:r>
                      <m:r>
                        <m:rPr>
                          <m:nor/>
                        </m:rPr>
                        <a:rPr lang="en-US" altLang="zh-CN" sz="2000"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altLang="zh-CN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altLang="zh-CN" sz="2000">
                          <a:latin typeface="Cambria Math" panose="02040503050406030204" pitchFamily="18" charset="0"/>
                        </a:rPr>
                        <m:t>18</m:t>
                      </m:r>
                      <m:r>
                        <m:rPr>
                          <m:nor/>
                        </m:rPr>
                        <a:rPr lang="en-US" altLang="zh-CN" sz="2000">
                          <a:latin typeface="Cambria Math" panose="02040503050406030204" pitchFamily="18" charset="0"/>
                        </a:rPr>
                        <m:t>%]</m:t>
                      </m:r>
                    </m:oMath>
                  </m:oMathPara>
                </a14:m>
                <a:endParaRPr lang="ar-AE" altLang="zh-CN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sz="2000" kern="0" spc="80" dirty="0">
                  <a:solidFill>
                    <a:srgbClr val="D3481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sz="2000" kern="0" spc="80" dirty="0">
                  <a:solidFill>
                    <a:srgbClr val="D3481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sz="2000" kern="0" spc="80" dirty="0">
                  <a:solidFill>
                    <a:srgbClr val="D3481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sz="2000" kern="0" spc="80" dirty="0">
                  <a:solidFill>
                    <a:srgbClr val="D3481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sz="2000" kern="0" spc="80" dirty="0">
                  <a:solidFill>
                    <a:srgbClr val="D3481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sz="2000" kern="0" spc="80" dirty="0">
                    <a:solidFill>
                      <a:srgbClr val="D34817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●</a:t>
                </a:r>
                <a:r>
                  <a:rPr lang="en-US" sz="2000" kern="0" spc="80" dirty="0">
                    <a:solidFill>
                      <a:srgbClr val="D34817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</a:t>
                </a:r>
                <a:r>
                  <a:rPr lang="zh-CN" altLang="en-US" sz="2000" dirty="0"/>
                  <a:t>解释：基金</a:t>
                </a:r>
                <a:r>
                  <a:rPr lang="en-GB" altLang="zh-CN" sz="2000" dirty="0"/>
                  <a:t>A</a:t>
                </a:r>
                <a:r>
                  <a:rPr lang="zh-CN" altLang="en-US" sz="2000" dirty="0"/>
                  <a:t>真实的平均日收益率有</a:t>
                </a:r>
                <a:r>
                  <a:rPr lang="en-US" altLang="zh-CN" sz="2000" dirty="0"/>
                  <a:t>95%</a:t>
                </a:r>
                <a:r>
                  <a:rPr lang="zh-CN" altLang="en-US" sz="2000" dirty="0"/>
                  <a:t>的概率落在</a:t>
                </a:r>
                <a:r>
                  <a:rPr lang="en-US" altLang="zh-CN" sz="2000" dirty="0"/>
                  <a:t>0.02%</a:t>
                </a:r>
                <a:r>
                  <a:rPr lang="zh-CN" altLang="en-US" sz="2000" dirty="0"/>
                  <a:t>至</a:t>
                </a:r>
                <a:r>
                  <a:rPr lang="en-US" altLang="zh-CN" sz="2000" dirty="0"/>
                  <a:t>0.18%</a:t>
                </a:r>
                <a:r>
                  <a:rPr lang="zh-CN" altLang="en-US" sz="2000" dirty="0"/>
                  <a:t>之间。</a:t>
                </a:r>
              </a:p>
              <a:p>
                <a:pPr>
                  <a:lnSpc>
                    <a:spcPct val="150000"/>
                  </a:lnSpc>
                </a:pPr>
                <a:endParaRPr kumimoji="1" lang="zh-CN" altLang="en-US" sz="2000" dirty="0"/>
              </a:p>
            </p:txBody>
          </p:sp>
        </mc:Choice>
        <mc:Fallback xmlns="">
          <p:sp>
            <p:nvSpPr>
              <p:cNvPr id="4" name="AutoShape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516890" y="568960"/>
                <a:ext cx="8298815" cy="2195830"/>
              </a:xfrm>
              <a:prstGeom prst="rect">
                <a:avLst/>
              </a:prstGeom>
              <a:blipFill rotWithShape="1">
                <a:blip r:embed="rId3"/>
                <a:stretch>
                  <a:fillRect b="-171429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630" y="365125"/>
            <a:ext cx="7886700" cy="1325563"/>
          </a:xfrm>
        </p:spPr>
        <p:txBody>
          <a:bodyPr/>
          <a:lstStyle/>
          <a:p>
            <a:r>
              <a:rPr kumimoji="1" lang="zh-CN" altLang="en-US" b="1" dirty="0"/>
              <a:t>置信水平与置信区间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1650" y="1383665"/>
            <a:ext cx="8581390" cy="321183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zh-CN" altLang="en-US" sz="1800" dirty="0"/>
              <a:t>置信区间是我们根据样本计算出的一个“可能范围”，用来推测总体参数可能落在什么位置。</a:t>
            </a:r>
          </a:p>
          <a:p>
            <a:pPr marL="0" indent="0">
              <a:lnSpc>
                <a:spcPct val="150000"/>
              </a:lnSpc>
              <a:buNone/>
            </a:pPr>
            <a:r>
              <a:rPr sz="18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zh-CN" altLang="en-US" sz="1800" dirty="0"/>
              <a:t>置信区间越窄，说明估计越精确，但可信度会下降。</a:t>
            </a:r>
          </a:p>
          <a:p>
            <a:pPr marL="0" indent="0">
              <a:lnSpc>
                <a:spcPct val="150000"/>
              </a:lnSpc>
              <a:buNone/>
            </a:pPr>
            <a:r>
              <a:rPr sz="18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zh-CN" altLang="en-US" sz="1800" dirty="0"/>
              <a:t>置信区间越宽，说明估计更稳妥可靠，但精确度会降低。</a:t>
            </a:r>
            <a:endParaRPr lang="en-US" altLang="zh-CN" sz="1800" dirty="0"/>
          </a:p>
          <a:p>
            <a:pPr marL="0" indent="0">
              <a:lnSpc>
                <a:spcPct val="150000"/>
              </a:lnSpc>
              <a:buNone/>
            </a:pPr>
            <a:r>
              <a:rPr sz="18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zh-CN" altLang="en-US" sz="1800" dirty="0"/>
              <a:t>置信水平是我们对区间估计“有多信任”。它表示我们对自己的区间有多大把握。</a:t>
            </a:r>
          </a:p>
          <a:p>
            <a:pPr>
              <a:lnSpc>
                <a:spcPct val="120000"/>
              </a:lnSpc>
            </a:pPr>
            <a:endParaRPr kumimoji="1" lang="zh-CN" altLang="en-US" sz="18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28610" y="4060190"/>
          <a:ext cx="7886700" cy="186817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98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0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52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概念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通俗理解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数学含义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举例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置信水平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区间方法的“可信度”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长期重复中包含真值的比例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 dirty="0"/>
                        <a:t>95%</a:t>
                      </a:r>
                      <a:r>
                        <a:rPr lang="zh-CN" altLang="en-US" sz="1650" dirty="0"/>
                        <a:t>置信水平意味着区间构造方法有</a:t>
                      </a:r>
                      <a:r>
                        <a:rPr lang="en-US" altLang="zh-CN" sz="1650" dirty="0"/>
                        <a:t>95%</a:t>
                      </a:r>
                      <a:r>
                        <a:rPr lang="zh-CN" altLang="en-US" sz="1650" dirty="0"/>
                        <a:t>的可靠性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置信区间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估计范围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参数可能落入的区间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平均收益在</a:t>
                      </a:r>
                      <a:r>
                        <a:rPr lang="en-US" altLang="zh-CN" sz="1650" dirty="0"/>
                        <a:t>[0.02%, 0.18%]</a:t>
                      </a:r>
                      <a:r>
                        <a:rPr lang="zh-CN" altLang="en-US" sz="1650" dirty="0"/>
                        <a:t>之间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1650" y="365125"/>
            <a:ext cx="7886700" cy="1325563"/>
          </a:xfrm>
        </p:spPr>
        <p:txBody>
          <a:bodyPr/>
          <a:lstStyle/>
          <a:p>
            <a:r>
              <a:rPr kumimoji="1" lang="zh-CN" altLang="en-US" b="1" dirty="0"/>
              <a:t>例子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4200" y="1483360"/>
            <a:ext cx="7886700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dirty="0"/>
              <a:t>假设我们在研究 </a:t>
            </a:r>
            <a:r>
              <a:rPr lang="zh-CN" altLang="en-US" sz="2000" b="1" dirty="0"/>
              <a:t>“基金</a:t>
            </a:r>
            <a:r>
              <a:rPr lang="en-GB" altLang="zh-CN" sz="2000" b="1" dirty="0"/>
              <a:t>A</a:t>
            </a:r>
            <a:r>
              <a:rPr lang="zh-CN" altLang="en-US" sz="2000" b="1" dirty="0"/>
              <a:t>的平均日收益率”</a:t>
            </a:r>
            <a:r>
              <a:rPr lang="zh-CN" altLang="en-US" sz="2000" dirty="0"/>
              <a:t>。我们从过去 </a:t>
            </a:r>
            <a:r>
              <a:rPr lang="en-US" altLang="zh-CN" sz="2000" dirty="0"/>
              <a:t>100 </a:t>
            </a:r>
            <a:r>
              <a:rPr lang="zh-CN" altLang="en-US" sz="2000" dirty="0"/>
              <a:t>天中取样，得到每日收益率（</a:t>
            </a:r>
            <a:r>
              <a:rPr lang="en-US" altLang="zh-CN" sz="2000" dirty="0"/>
              <a:t>%</a:t>
            </a:r>
            <a:r>
              <a:rPr lang="zh-CN" altLang="en-US" sz="2000" dirty="0"/>
              <a:t>）如下（部分数据）：</a:t>
            </a:r>
            <a:endParaRPr lang="en-US" altLang="zh-CN" sz="2000" dirty="0"/>
          </a:p>
          <a:p>
            <a:endParaRPr kumimoji="1" lang="zh-CN" altLang="en-US" sz="20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88340" y="2815590"/>
          <a:ext cx="7782560" cy="246253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891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1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日期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收益率</a:t>
                      </a:r>
                      <a:r>
                        <a:rPr lang="en-US" altLang="zh-CN" sz="1650"/>
                        <a:t>(%)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第</a:t>
                      </a:r>
                      <a:r>
                        <a:rPr lang="en-US" altLang="zh-CN" sz="1650" dirty="0"/>
                        <a:t>1</a:t>
                      </a:r>
                      <a:r>
                        <a:rPr lang="zh-CN" altLang="en-US" sz="1650" dirty="0"/>
                        <a:t>天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/>
                        <a:t>0.2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第</a:t>
                      </a:r>
                      <a:r>
                        <a:rPr lang="en-US" altLang="zh-CN" sz="1650" dirty="0"/>
                        <a:t>2</a:t>
                      </a:r>
                      <a:r>
                        <a:rPr lang="zh-CN" altLang="en-US" sz="1650" dirty="0"/>
                        <a:t>天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/>
                        <a:t>0.5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第</a:t>
                      </a:r>
                      <a:r>
                        <a:rPr lang="en-US" altLang="zh-CN" sz="1650" dirty="0"/>
                        <a:t>3</a:t>
                      </a:r>
                      <a:r>
                        <a:rPr lang="zh-CN" altLang="en-US" sz="1650" dirty="0"/>
                        <a:t>天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/>
                        <a:t>–0.1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第</a:t>
                      </a:r>
                      <a:r>
                        <a:rPr lang="en-US" altLang="zh-CN" sz="1650" dirty="0"/>
                        <a:t>4</a:t>
                      </a:r>
                      <a:r>
                        <a:rPr lang="zh-CN" altLang="en-US" sz="1650" dirty="0"/>
                        <a:t>天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 dirty="0"/>
                        <a:t>0.3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/>
                        <a:t>...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 dirty="0"/>
                        <a:t>...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第</a:t>
                      </a:r>
                      <a:r>
                        <a:rPr lang="en-US" altLang="zh-CN" sz="1650"/>
                        <a:t>100</a:t>
                      </a:r>
                      <a:r>
                        <a:rPr lang="zh-CN" altLang="en-US" sz="1650"/>
                        <a:t>天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 dirty="0"/>
                        <a:t>0.0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0855" y="365125"/>
            <a:ext cx="7886700" cy="1325563"/>
          </a:xfrm>
        </p:spPr>
        <p:txBody>
          <a:bodyPr/>
          <a:lstStyle/>
          <a:p>
            <a:r>
              <a:rPr kumimoji="1" lang="zh-CN" altLang="en-US" b="1" dirty="0"/>
              <a:t>点估计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sz="2000" kern="0" spc="80" dirty="0">
                    <a:solidFill>
                      <a:srgbClr val="D34817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●</a:t>
                </a:r>
                <a:r>
                  <a:rPr lang="en-US" sz="2000" kern="0" spc="80" dirty="0">
                    <a:solidFill>
                      <a:srgbClr val="D34817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</a:t>
                </a:r>
                <a:r>
                  <a:rPr lang="zh-CN" altLang="en-US" sz="2000" dirty="0"/>
                  <a:t>先计算样本平均收益率：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altLang="zh-CN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altLang="zh-CN" sz="20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</m:acc>
                      <m:r>
                        <a:rPr lang="ar-AE" altLang="zh-CN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zh-CN" sz="20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altLang="zh-CN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altLang="zh-CN" sz="2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altLang="zh-CN" sz="200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ar-AE" altLang="zh-CN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sz="2000" kern="0" spc="80" dirty="0">
                    <a:solidFill>
                      <a:srgbClr val="D34817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●</a:t>
                </a:r>
                <a:r>
                  <a:rPr lang="en-US" sz="2000" kern="0" spc="80" dirty="0">
                    <a:solidFill>
                      <a:srgbClr val="D34817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</a:t>
                </a:r>
                <a:r>
                  <a:rPr lang="zh-CN" altLang="en-US" sz="2000" dirty="0"/>
                  <a:t>这说明基金</a:t>
                </a:r>
                <a:r>
                  <a:rPr lang="en-GB" altLang="zh-CN" sz="2000" dirty="0"/>
                  <a:t>A</a:t>
                </a:r>
                <a:r>
                  <a:rPr lang="zh-CN" altLang="en-US" sz="2000" dirty="0"/>
                  <a:t>在过去</a:t>
                </a:r>
                <a:r>
                  <a:rPr lang="en-US" altLang="zh-CN" sz="2000" dirty="0"/>
                  <a:t>100</a:t>
                </a:r>
                <a:r>
                  <a:rPr lang="zh-CN" altLang="en-US" sz="2000" dirty="0"/>
                  <a:t>天内的</a:t>
                </a:r>
                <a:r>
                  <a:rPr lang="zh-CN" altLang="en-US" sz="2000" b="1" dirty="0"/>
                  <a:t>平均日收益率约为 </a:t>
                </a:r>
                <a:r>
                  <a:rPr lang="en-US" altLang="zh-CN" sz="2000" b="1" dirty="0"/>
                  <a:t>0.1%</a:t>
                </a:r>
                <a:r>
                  <a:rPr lang="zh-CN" altLang="en-US" sz="2000" dirty="0"/>
                  <a:t>。这个数值就是</a:t>
                </a:r>
                <a:r>
                  <a:rPr lang="zh-CN" altLang="en-US" sz="2000" b="1" dirty="0">
                    <a:solidFill>
                      <a:srgbClr val="C00000"/>
                    </a:solidFill>
                  </a:rPr>
                  <a:t>总体平均收益 </a:t>
                </a:r>
                <a:r>
                  <a:rPr lang="el-GR" altLang="zh-CN" sz="2000" b="1" dirty="0">
                    <a:solidFill>
                      <a:srgbClr val="C00000"/>
                    </a:solidFill>
                  </a:rPr>
                  <a:t>μ </a:t>
                </a:r>
                <a:r>
                  <a:rPr lang="zh-CN" altLang="en-US" sz="2000" b="1" dirty="0">
                    <a:solidFill>
                      <a:srgbClr val="C00000"/>
                    </a:solidFill>
                  </a:rPr>
                  <a:t>的点估计</a:t>
                </a:r>
                <a:r>
                  <a:rPr lang="zh-CN" altLang="en-US" sz="2000" dirty="0"/>
                  <a:t>。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sz="2000" kern="0" spc="80" dirty="0">
                    <a:solidFill>
                      <a:srgbClr val="D34817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●</a:t>
                </a:r>
                <a:r>
                  <a:rPr lang="en-US" sz="2000" kern="0" spc="80" dirty="0">
                    <a:solidFill>
                      <a:srgbClr val="D34817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</a:t>
                </a:r>
                <a:r>
                  <a:rPr lang="zh-CN" altLang="en-US" sz="2000" dirty="0"/>
                  <a:t>但这只是“一个点”，不能代表全部情况。它告诉我们过去的总体水平，却没有说明估计的</a:t>
                </a:r>
                <a:r>
                  <a:rPr lang="zh-CN" altLang="en-US" sz="2000" b="1" dirty="0">
                    <a:solidFill>
                      <a:srgbClr val="C00000"/>
                    </a:solidFill>
                  </a:rPr>
                  <a:t>不确定性</a:t>
                </a:r>
                <a:r>
                  <a:rPr lang="zh-CN" altLang="en-US" sz="2000" dirty="0"/>
                  <a:t>。</a:t>
                </a:r>
                <a:endParaRPr lang="zh-CN" altLang="en-US" dirty="0"/>
              </a:p>
              <a:p>
                <a:endParaRPr kumimoji="1"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/>
              <a:t>区间估计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sz="2000" kern="0" spc="80" dirty="0">
                    <a:solidFill>
                      <a:srgbClr val="D34817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●</a:t>
                </a:r>
                <a:r>
                  <a:rPr lang="en-US" sz="2000" kern="0" spc="80" dirty="0">
                    <a:solidFill>
                      <a:srgbClr val="D34817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</a:t>
                </a:r>
                <a:r>
                  <a:rPr lang="zh-CN" altLang="en-US" sz="2000" dirty="0"/>
                  <a:t>根据样本标准差（假设 </a:t>
                </a:r>
                <a:r>
                  <a:rPr lang="el-GR" altLang="zh-CN" sz="2000" dirty="0"/>
                  <a:t>σ=0.4%</a:t>
                </a:r>
                <a:r>
                  <a:rPr lang="zh-CN" altLang="el-GR" sz="2000" dirty="0"/>
                  <a:t>），</a:t>
                </a:r>
                <a:r>
                  <a:rPr lang="zh-CN" altLang="en-US" sz="2000" dirty="0"/>
                  <a:t>样本量 </a:t>
                </a:r>
                <a:r>
                  <a:rPr lang="en-GB" altLang="zh-CN" sz="2000" dirty="0"/>
                  <a:t>n=100</a:t>
                </a:r>
                <a:r>
                  <a:rPr lang="zh-CN" altLang="en-GB" sz="2000" dirty="0"/>
                  <a:t>，</a:t>
                </a:r>
                <a:r>
                  <a:rPr lang="zh-CN" altLang="en-US" sz="2000" dirty="0"/>
                  <a:t>可以计算 </a:t>
                </a:r>
                <a:r>
                  <a:rPr lang="en-US" altLang="zh-CN" sz="2000" b="1" dirty="0">
                    <a:solidFill>
                      <a:srgbClr val="C00000"/>
                    </a:solidFill>
                  </a:rPr>
                  <a:t>95%</a:t>
                </a:r>
                <a:r>
                  <a:rPr lang="zh-CN" altLang="en-US" sz="2000" b="1" dirty="0">
                    <a:solidFill>
                      <a:srgbClr val="C00000"/>
                    </a:solidFill>
                  </a:rPr>
                  <a:t>置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000" b="1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sz="2000" b="1" dirty="0">
                    <a:solidFill>
                      <a:srgbClr val="C00000"/>
                    </a:solidFill>
                  </a:rPr>
                  <a:t>   </a:t>
                </a:r>
                <a:r>
                  <a:rPr lang="zh-CN" altLang="en-US" sz="2000" b="1" dirty="0">
                    <a:solidFill>
                      <a:srgbClr val="C00000"/>
                    </a:solidFill>
                  </a:rPr>
                  <a:t>信区间：</a:t>
                </a:r>
                <a:endParaRPr lang="zh-CN" altLang="en-US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%±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96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ar-AE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CN" sz="20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altLang="zh-CN" sz="20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altLang="zh-CN" sz="200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ar-AE" altLang="zh-CN" sz="2000">
                              <a:latin typeface="Cambria Math" panose="02040503050406030204" pitchFamily="18" charset="0"/>
                            </a:rPr>
                            <m:t>%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ar-AE" altLang="zh-CN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ar-AE" altLang="zh-CN" sz="200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e>
                          </m:rad>
                        </m:den>
                      </m:f>
                      <m:r>
                        <a:rPr lang="ar-AE" altLang="zh-CN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CN" sz="200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nor/>
                        </m:rPr>
                        <a:rPr lang="en-US" altLang="zh-CN" sz="2000"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altLang="zh-CN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altLang="zh-CN" sz="2000">
                          <a:latin typeface="Cambria Math" panose="02040503050406030204" pitchFamily="18" charset="0"/>
                        </a:rPr>
                        <m:t>02</m:t>
                      </m:r>
                      <m:r>
                        <m:rPr>
                          <m:nor/>
                        </m:rPr>
                        <a:rPr lang="en-US" altLang="zh-CN" sz="2000">
                          <a:latin typeface="Cambria Math" panose="02040503050406030204" pitchFamily="18" charset="0"/>
                        </a:rPr>
                        <m:t>%,</m:t>
                      </m:r>
                      <m:r>
                        <m:rPr>
                          <m:nor/>
                        </m:rPr>
                        <a:rPr lang="en-US" altLang="zh-CN" sz="2000"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altLang="zh-CN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altLang="zh-CN" sz="2000">
                          <a:latin typeface="Cambria Math" panose="02040503050406030204" pitchFamily="18" charset="0"/>
                        </a:rPr>
                        <m:t>18</m:t>
                      </m:r>
                      <m:r>
                        <m:rPr>
                          <m:nor/>
                        </m:rPr>
                        <a:rPr lang="en-US" altLang="zh-CN" sz="2000">
                          <a:latin typeface="Cambria Math" panose="02040503050406030204" pitchFamily="18" charset="0"/>
                        </a:rPr>
                        <m:t>%]</m:t>
                      </m:r>
                    </m:oMath>
                  </m:oMathPara>
                </a14:m>
                <a:endParaRPr lang="ar-AE" altLang="zh-CN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sz="2000" kern="0" spc="80" dirty="0">
                    <a:solidFill>
                      <a:srgbClr val="D34817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●</a:t>
                </a:r>
                <a:r>
                  <a:rPr lang="en-US" sz="2000" kern="0" spc="80" dirty="0">
                    <a:solidFill>
                      <a:srgbClr val="D34817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</a:t>
                </a:r>
                <a:r>
                  <a:rPr lang="zh-CN" altLang="en-US" sz="2000" b="1" dirty="0"/>
                  <a:t>解释：</a:t>
                </a:r>
                <a:br>
                  <a:rPr lang="zh-CN" altLang="en-US" sz="2000" dirty="0"/>
                </a:br>
                <a:r>
                  <a:rPr lang="en-US" altLang="zh-CN" sz="2000" dirty="0"/>
                  <a:t>    </a:t>
                </a:r>
                <a:r>
                  <a:rPr lang="zh-CN" altLang="en-US" sz="2000" dirty="0"/>
                  <a:t>这意味着有</a:t>
                </a:r>
                <a:r>
                  <a:rPr lang="zh-CN" altLang="en-US" sz="2000" dirty="0">
                    <a:solidFill>
                      <a:srgbClr val="C00000"/>
                    </a:solidFill>
                  </a:rPr>
                  <a:t> </a:t>
                </a:r>
                <a:r>
                  <a:rPr lang="en-US" altLang="zh-CN" sz="2000" b="1" dirty="0">
                    <a:solidFill>
                      <a:srgbClr val="C00000"/>
                    </a:solidFill>
                  </a:rPr>
                  <a:t>95%</a:t>
                </a:r>
                <a:r>
                  <a:rPr lang="zh-CN" altLang="en-US" sz="2000" b="1" dirty="0">
                    <a:solidFill>
                      <a:srgbClr val="C00000"/>
                    </a:solidFill>
                  </a:rPr>
                  <a:t>的信心</a:t>
                </a:r>
                <a:r>
                  <a:rPr lang="zh-CN" altLang="en-US" sz="2000" dirty="0"/>
                  <a:t>认为，基金</a:t>
                </a:r>
                <a:r>
                  <a:rPr lang="en-GB" altLang="zh-CN" sz="2000" dirty="0"/>
                  <a:t>A</a:t>
                </a:r>
                <a:r>
                  <a:rPr lang="zh-CN" altLang="en-US" sz="2000" dirty="0"/>
                  <a:t>的真实平均日收益率落在这个</a:t>
                </a:r>
                <a:r>
                  <a:rPr lang="en-US" altLang="zh-CN" sz="2000" dirty="0"/>
                  <a:t> 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000" dirty="0"/>
                  <a:t>    </a:t>
                </a:r>
                <a:r>
                  <a:rPr lang="zh-CN" altLang="en-US" sz="2000" dirty="0"/>
                  <a:t>区间内。</a:t>
                </a:r>
              </a:p>
              <a:p>
                <a:endParaRPr kumimoji="1" lang="zh-CN" altLang="en-US" sz="20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24480" y="320675"/>
            <a:ext cx="7886700" cy="1325563"/>
          </a:xfrm>
        </p:spPr>
        <p:txBody>
          <a:bodyPr/>
          <a:lstStyle/>
          <a:p>
            <a:r>
              <a:rPr lang="zh-CN" sz="3100" b="1" kern="0" spc="40" dirty="0">
                <a:solidFill>
                  <a:srgbClr val="000000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九、统计假设检验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588135"/>
            <a:ext cx="7886700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b="1" dirty="0"/>
              <a:t>定义</a:t>
            </a:r>
            <a:r>
              <a:rPr lang="zh-CN" altLang="en-US" sz="2000" dirty="0"/>
              <a:t>：</a:t>
            </a:r>
            <a:br>
              <a:rPr lang="zh-CN" altLang="en-US" sz="2000" dirty="0"/>
            </a:br>
            <a:r>
              <a:rPr lang="zh-CN" altLang="en-US" sz="2000" dirty="0"/>
              <a:t>假设检验是先对总体参数提出一个假设，然后利用样本信息去检验这个假设是否成立。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b="1" dirty="0"/>
              <a:t>核心原理：</a:t>
            </a:r>
            <a:br>
              <a:rPr lang="zh-CN" altLang="en-US" sz="2000" dirty="0"/>
            </a:br>
            <a:r>
              <a:rPr lang="zh-CN" altLang="en-US" sz="2000" dirty="0"/>
              <a:t>运用“</a:t>
            </a:r>
            <a:r>
              <a:rPr lang="zh-CN" altLang="en-US" sz="2000" b="1" dirty="0">
                <a:solidFill>
                  <a:srgbClr val="C00000"/>
                </a:solidFill>
              </a:rPr>
              <a:t>小概率原理</a:t>
            </a:r>
            <a:r>
              <a:rPr lang="zh-CN" altLang="en-US" sz="2000" dirty="0"/>
              <a:t>”（也称“概率反证法”），即：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/>
              <a:t>如果某个假设成立的情况下，样本结果出现的概率非常小，那我们就有理由认为这个假设不成立。</a:t>
            </a:r>
          </a:p>
          <a:p>
            <a:pPr>
              <a:lnSpc>
                <a:spcPct val="150000"/>
              </a:lnSpc>
            </a:pPr>
            <a:endParaRPr kumimoji="1" lang="zh-CN" altLang="en-US" sz="2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293485" y="1894205"/>
            <a:ext cx="2671445" cy="3220085"/>
          </a:xfrm>
          <a:prstGeom prst="rect">
            <a:avLst/>
          </a:prstGeom>
          <a:solidFill>
            <a:srgbClr val="D3481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4035" y="548005"/>
            <a:ext cx="7886700" cy="994172"/>
          </a:xfrm>
        </p:spPr>
        <p:txBody>
          <a:bodyPr/>
          <a:lstStyle/>
          <a:p>
            <a:r>
              <a:rPr kumimoji="1" lang="zh-CN" altLang="en-US" b="1" dirty="0"/>
              <a:t>小概率原理与概率反证法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4035" y="1648091"/>
            <a:ext cx="7886700" cy="424753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b="1" dirty="0"/>
              <a:t>小概率原理：</a:t>
            </a:r>
            <a:br>
              <a:rPr lang="zh-CN" altLang="en-US" sz="2000" dirty="0"/>
            </a:br>
            <a:r>
              <a:rPr lang="zh-CN" altLang="en-US" sz="2000" dirty="0"/>
              <a:t>概率很小的事件，在一次实验中几乎不可能发生。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b="1" dirty="0"/>
              <a:t>概率反证法：</a:t>
            </a:r>
            <a:br>
              <a:rPr lang="zh-CN" altLang="en-US" sz="2000" dirty="0"/>
            </a:br>
            <a:r>
              <a:rPr lang="en-US" altLang="zh-CN" sz="2000" dirty="0"/>
              <a:t>    1</a:t>
            </a:r>
            <a:r>
              <a:rPr lang="zh-CN" altLang="en-US" sz="2000" dirty="0"/>
              <a:t>、先假定原假设 </a:t>
            </a:r>
            <a:r>
              <a:rPr lang="en-GB" altLang="zh-CN" sz="2000" dirty="0"/>
              <a:t>H₀ </a:t>
            </a:r>
            <a:r>
              <a:rPr lang="zh-CN" altLang="en-US" sz="2000" dirty="0"/>
              <a:t>成立；</a:t>
            </a:r>
            <a:br>
              <a:rPr lang="zh-CN" altLang="en-US" sz="2000" dirty="0"/>
            </a:br>
            <a:r>
              <a:rPr lang="en-US" altLang="zh-CN" sz="2000" dirty="0"/>
              <a:t>    2</a:t>
            </a:r>
            <a:r>
              <a:rPr lang="zh-CN" altLang="en-US" sz="2000" dirty="0"/>
              <a:t>、计算样本结果在 </a:t>
            </a:r>
            <a:r>
              <a:rPr lang="en-GB" altLang="zh-CN" sz="2000" dirty="0"/>
              <a:t>H₀ </a:t>
            </a:r>
            <a:r>
              <a:rPr lang="zh-CN" altLang="en-US" sz="2000" dirty="0"/>
              <a:t>条件下出现的概率；</a:t>
            </a:r>
            <a:br>
              <a:rPr lang="zh-CN" altLang="en-US" sz="2000" dirty="0"/>
            </a:br>
            <a:r>
              <a:rPr lang="en-US" altLang="zh-CN" sz="2000" dirty="0"/>
              <a:t>    3</a:t>
            </a:r>
            <a:r>
              <a:rPr lang="zh-CN" altLang="en-US" sz="2000" dirty="0"/>
              <a:t>、</a:t>
            </a:r>
            <a:r>
              <a:rPr lang="en-US" altLang="zh-CN" sz="2000" dirty="0"/>
              <a:t> </a:t>
            </a:r>
            <a:r>
              <a:rPr lang="zh-CN" altLang="en-US" sz="2000" dirty="0"/>
              <a:t>如果该概率极小（小于显著性水平 </a:t>
            </a:r>
            <a:r>
              <a:rPr lang="el-GR" altLang="zh-CN" sz="2000" dirty="0"/>
              <a:t>α</a:t>
            </a:r>
            <a:r>
              <a:rPr lang="zh-CN" altLang="el-GR" sz="2000" dirty="0"/>
              <a:t>）</a:t>
            </a:r>
            <a:br>
              <a:rPr lang="zh-CN" altLang="el-GR" sz="2000" dirty="0"/>
            </a:br>
            <a:r>
              <a:rPr lang="zh-CN" altLang="el-GR" sz="2000" dirty="0"/>
              <a:t>　</a:t>
            </a:r>
            <a:r>
              <a:rPr lang="en-US" altLang="zh-CN" sz="2000" dirty="0"/>
              <a:t>        </a:t>
            </a:r>
            <a:r>
              <a:rPr lang="zh-CN" altLang="el-GR" sz="2000" dirty="0"/>
              <a:t>→ </a:t>
            </a:r>
            <a:r>
              <a:rPr lang="zh-CN" altLang="en-US" sz="2000" dirty="0"/>
              <a:t>认为这种结果不太可能是“偶然”出现的；</a:t>
            </a:r>
            <a:br>
              <a:rPr lang="zh-CN" altLang="en-US" sz="2000" dirty="0"/>
            </a:br>
            <a:r>
              <a:rPr lang="zh-CN" altLang="en-US" sz="2000" dirty="0"/>
              <a:t>　</a:t>
            </a:r>
            <a:r>
              <a:rPr lang="en-US" altLang="zh-CN" sz="2000" dirty="0"/>
              <a:t>        </a:t>
            </a:r>
            <a:r>
              <a:rPr lang="zh-CN" altLang="en-US" sz="2000" dirty="0"/>
              <a:t>→ 因此拒绝 </a:t>
            </a:r>
            <a:r>
              <a:rPr lang="en-GB" altLang="zh-CN" sz="2000" dirty="0"/>
              <a:t>H₀</a:t>
            </a:r>
            <a:r>
              <a:rPr lang="zh-CN" altLang="en-GB" sz="2000" dirty="0"/>
              <a:t>，</a:t>
            </a:r>
            <a:r>
              <a:rPr lang="zh-CN" altLang="en-US" sz="2000" dirty="0"/>
              <a:t>支持 </a:t>
            </a:r>
            <a:r>
              <a:rPr lang="en-GB" altLang="zh-CN" sz="2000" dirty="0"/>
              <a:t>H₁</a:t>
            </a:r>
            <a:r>
              <a:rPr lang="zh-CN" altLang="en-GB" sz="2000" dirty="0"/>
              <a:t>。</a:t>
            </a:r>
          </a:p>
          <a:p>
            <a:endParaRPr kumimoji="1" lang="zh-CN" altLang="en-US" sz="1100" dirty="0"/>
          </a:p>
        </p:txBody>
      </p:sp>
      <p:sp>
        <p:nvSpPr>
          <p:cNvPr id="4" name="文本框 3"/>
          <p:cNvSpPr txBox="1"/>
          <p:nvPr/>
        </p:nvSpPr>
        <p:spPr>
          <a:xfrm>
            <a:off x="6293485" y="1833245"/>
            <a:ext cx="2779395" cy="245364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💡 举例：</a:t>
            </a:r>
            <a:br>
              <a:rPr lang="zh-CN" altLang="en-US" sz="16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</a:br>
            <a:r>
              <a:rPr lang="zh-CN" altLang="en-US" sz="16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基金经理声称平均收益率为 </a:t>
            </a:r>
            <a:r>
              <a:rPr lang="en-US" altLang="zh-CN" sz="16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8%</a:t>
            </a:r>
            <a:r>
              <a:rPr lang="zh-CN" altLang="en-US" sz="16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（</a:t>
            </a:r>
            <a:r>
              <a:rPr lang="en-GB" altLang="zh-CN" sz="16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H</a:t>
            </a:r>
            <a:r>
              <a:rPr lang="en-US" altLang="en-GB" sz="16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0</a:t>
            </a:r>
            <a:r>
              <a:rPr lang="en-GB" altLang="zh-CN" sz="16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: </a:t>
            </a:r>
            <a:r>
              <a:rPr lang="el-GR" altLang="zh-CN" sz="16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μ=8%</a:t>
            </a:r>
            <a:r>
              <a:rPr lang="zh-CN" altLang="el-GR" sz="16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）。</a:t>
            </a:r>
            <a:r>
              <a:rPr lang="zh-CN" altLang="en-US" sz="16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抽样结果平均为 </a:t>
            </a:r>
            <a:r>
              <a:rPr lang="en-US" altLang="zh-CN" sz="16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5%</a:t>
            </a:r>
            <a:r>
              <a:rPr lang="zh-CN" altLang="en-US" sz="16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，样本波动较小。</a:t>
            </a:r>
            <a:br>
              <a:rPr lang="zh-CN" altLang="en-US" sz="16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</a:br>
            <a:r>
              <a:rPr lang="zh-CN" altLang="en-US" sz="16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若按 </a:t>
            </a:r>
            <a:r>
              <a:rPr lang="en-GB" altLang="zh-CN" sz="16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H</a:t>
            </a:r>
            <a:r>
              <a:rPr lang="en-US" altLang="en-GB" sz="16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0</a:t>
            </a:r>
            <a:r>
              <a:rPr lang="zh-CN" altLang="en-US" sz="16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计算，这样的结果发生概率仅 </a:t>
            </a:r>
            <a:r>
              <a:rPr lang="en-US" altLang="zh-CN" sz="16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0.2% → </a:t>
            </a:r>
            <a:r>
              <a:rPr lang="zh-CN" altLang="en-US" sz="16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小于 </a:t>
            </a:r>
            <a:r>
              <a:rPr lang="el-GR" altLang="zh-CN" sz="16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α=5%</a:t>
            </a:r>
            <a:r>
              <a:rPr lang="zh-CN" altLang="el-GR" sz="16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。</a:t>
            </a:r>
            <a:br>
              <a:rPr lang="zh-CN" altLang="el-GR" sz="16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</a:br>
            <a:r>
              <a:rPr lang="zh-CN" altLang="en-US" sz="16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于是我们拒绝 </a:t>
            </a:r>
            <a:r>
              <a:rPr lang="en-GB" altLang="zh-CN" sz="16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H</a:t>
            </a:r>
            <a:r>
              <a:rPr lang="en-US" altLang="en-GB" sz="16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0</a:t>
            </a:r>
            <a:r>
              <a:rPr lang="zh-CN" altLang="en-GB" sz="16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，</a:t>
            </a:r>
            <a:r>
              <a:rPr lang="zh-CN" altLang="en-US" sz="1600" b="1" dirty="0">
                <a:solidFill>
                  <a:schemeClr val="bg1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认为经理的说法不成立。</a:t>
            </a:r>
            <a:endParaRPr lang="zh-CN" altLang="en-US" sz="1600" b="1" dirty="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/>
            <a:endParaRPr lang="zh-CN" altLang="en-US" sz="1600" b="1" dirty="0">
              <a:solidFill>
                <a:schemeClr val="bg1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6895" y="365125"/>
            <a:ext cx="7886700" cy="1325563"/>
          </a:xfrm>
        </p:spPr>
        <p:txBody>
          <a:bodyPr/>
          <a:lstStyle/>
          <a:p>
            <a:r>
              <a:rPr kumimoji="1" lang="zh-CN" altLang="en-US" b="1" dirty="0"/>
              <a:t>假设检验步骤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628650" y="1168400"/>
            <a:ext cx="8226425" cy="5739130"/>
          </a:xfrm>
        </p:spPr>
        <p:txBody>
          <a:bodyPr>
            <a:normAutofit fontScale="40000" lnSpcReduction="20000"/>
          </a:bodyPr>
          <a:lstStyle/>
          <a:p>
            <a:pPr marL="12700" indent="0" eaLnBrk="0">
              <a:lnSpc>
                <a:spcPct val="91000"/>
              </a:lnSpc>
              <a:buNone/>
            </a:pPr>
            <a:endParaRPr kumimoji="1" lang="en-US" altLang="zh-CN" sz="1950" dirty="0">
              <a:latin typeface="+mj-lt"/>
              <a:ea typeface="+mj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8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8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4500" b="1" dirty="0"/>
              <a:t>提出假设</a:t>
            </a:r>
            <a:br>
              <a:rPr lang="zh-CN" altLang="en-US" sz="4500" dirty="0"/>
            </a:br>
            <a:r>
              <a:rPr lang="zh-CN" altLang="en-US" sz="4500" dirty="0"/>
              <a:t>设立两个对立的假设：</a:t>
            </a:r>
          </a:p>
          <a:p>
            <a:pPr lvl="0">
              <a:lnSpc>
                <a:spcPct val="120000"/>
              </a:lnSpc>
            </a:pPr>
            <a:r>
              <a:rPr lang="zh-CN" altLang="en-US" sz="4500" b="1" dirty="0"/>
              <a:t>原假设（</a:t>
            </a:r>
            <a:r>
              <a:rPr lang="en-GB" altLang="zh-CN" sz="4500" b="1" dirty="0"/>
              <a:t>H₀</a:t>
            </a:r>
            <a:r>
              <a:rPr lang="zh-CN" altLang="en-GB" sz="4500" b="1" dirty="0"/>
              <a:t>）</a:t>
            </a:r>
            <a:r>
              <a:rPr lang="zh-CN" altLang="en-GB" sz="4500" dirty="0"/>
              <a:t>：</a:t>
            </a:r>
            <a:r>
              <a:rPr lang="zh-CN" altLang="en-US" sz="4500" dirty="0"/>
              <a:t>默认假设，认为“没有差异”或“没有效应”；</a:t>
            </a:r>
          </a:p>
          <a:p>
            <a:pPr lvl="0">
              <a:lnSpc>
                <a:spcPct val="120000"/>
              </a:lnSpc>
            </a:pPr>
            <a:r>
              <a:rPr lang="zh-CN" altLang="en-US" sz="4500" b="1" dirty="0"/>
              <a:t>备择假设（</a:t>
            </a:r>
            <a:r>
              <a:rPr lang="en-GB" altLang="zh-CN" sz="4500" b="1" dirty="0"/>
              <a:t>H₁</a:t>
            </a:r>
            <a:r>
              <a:rPr lang="zh-CN" altLang="en-GB" sz="4500" b="1" dirty="0"/>
              <a:t>）</a:t>
            </a:r>
            <a:r>
              <a:rPr lang="zh-CN" altLang="en-GB" sz="4500" dirty="0"/>
              <a:t>：</a:t>
            </a:r>
            <a:r>
              <a:rPr lang="zh-CN" altLang="en-US" sz="4500" dirty="0"/>
              <a:t>我们希望证明的观点。</a:t>
            </a:r>
          </a:p>
          <a:p>
            <a:pPr marL="0" indent="0">
              <a:lnSpc>
                <a:spcPct val="150000"/>
              </a:lnSpc>
              <a:buNone/>
            </a:pPr>
            <a:r>
              <a:rPr sz="45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45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4500" b="1" dirty="0"/>
              <a:t>选定显著性水平（</a:t>
            </a:r>
            <a:r>
              <a:rPr lang="el-GR" altLang="zh-CN" sz="4500" b="1" dirty="0"/>
              <a:t>α</a:t>
            </a:r>
            <a:r>
              <a:rPr lang="zh-CN" altLang="el-GR" sz="4500" b="1" dirty="0"/>
              <a:t>）</a:t>
            </a:r>
            <a:br>
              <a:rPr lang="el-GR" altLang="zh-CN" sz="4500" dirty="0"/>
            </a:br>
            <a:r>
              <a:rPr lang="zh-CN" altLang="en-US" sz="4500" dirty="0"/>
              <a:t>常用 </a:t>
            </a:r>
            <a:r>
              <a:rPr lang="el-GR" altLang="zh-CN" sz="4500" dirty="0"/>
              <a:t>α = 0.05 </a:t>
            </a:r>
            <a:r>
              <a:rPr lang="zh-CN" altLang="en-US" sz="4500" dirty="0"/>
              <a:t>或 </a:t>
            </a:r>
            <a:r>
              <a:rPr lang="en-US" altLang="zh-CN" sz="4500" dirty="0"/>
              <a:t>0.01</a:t>
            </a:r>
            <a:r>
              <a:rPr lang="zh-CN" altLang="en-US" sz="4500" dirty="0"/>
              <a:t>，表示“我们最多容忍</a:t>
            </a:r>
            <a:r>
              <a:rPr lang="en-US" altLang="zh-CN" sz="4500" dirty="0"/>
              <a:t>5%</a:t>
            </a:r>
            <a:r>
              <a:rPr lang="zh-CN" altLang="en-US" sz="4500" dirty="0"/>
              <a:t>或</a:t>
            </a:r>
            <a:r>
              <a:rPr lang="en-US" altLang="zh-CN" sz="4500" dirty="0"/>
              <a:t>1%</a:t>
            </a:r>
            <a:r>
              <a:rPr lang="zh-CN" altLang="en-US" sz="4500" dirty="0"/>
              <a:t>的错误拒绝概率”。</a:t>
            </a:r>
          </a:p>
          <a:p>
            <a:pPr marL="0" indent="0">
              <a:lnSpc>
                <a:spcPct val="150000"/>
              </a:lnSpc>
              <a:buNone/>
            </a:pPr>
            <a:r>
              <a:rPr sz="45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45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4500" b="1" dirty="0"/>
              <a:t>选定统计量</a:t>
            </a:r>
            <a:br>
              <a:rPr lang="zh-CN" altLang="en-US" sz="4500" dirty="0"/>
            </a:br>
            <a:r>
              <a:rPr lang="zh-CN" altLang="en-US" sz="4500" dirty="0"/>
              <a:t>根据问题性质选用 </a:t>
            </a:r>
            <a:r>
              <a:rPr lang="en-GB" altLang="zh-CN" sz="4500" dirty="0"/>
              <a:t>t </a:t>
            </a:r>
            <a:r>
              <a:rPr lang="zh-CN" altLang="en-US" sz="4500" dirty="0"/>
              <a:t>检验、</a:t>
            </a:r>
            <a:r>
              <a:rPr lang="en-GB" altLang="zh-CN" sz="4500" dirty="0"/>
              <a:t>z </a:t>
            </a:r>
            <a:r>
              <a:rPr lang="zh-CN" altLang="en-US" sz="4500" dirty="0"/>
              <a:t>检验、</a:t>
            </a:r>
            <a:r>
              <a:rPr lang="el-GR" altLang="zh-CN" sz="4500" dirty="0"/>
              <a:t>χ² </a:t>
            </a:r>
            <a:r>
              <a:rPr lang="zh-CN" altLang="en-US" sz="4500" dirty="0"/>
              <a:t>检验或 </a:t>
            </a:r>
            <a:r>
              <a:rPr lang="en-GB" altLang="zh-CN" sz="4500" dirty="0"/>
              <a:t>F </a:t>
            </a:r>
            <a:r>
              <a:rPr lang="zh-CN" altLang="en-US" sz="4500" dirty="0"/>
              <a:t>检验等。</a:t>
            </a:r>
          </a:p>
          <a:p>
            <a:pPr marL="0" indent="0">
              <a:lnSpc>
                <a:spcPct val="150000"/>
              </a:lnSpc>
              <a:buNone/>
            </a:pPr>
            <a:r>
              <a:rPr sz="45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45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4500" b="1" dirty="0"/>
              <a:t>计算统计量并确定拒绝域</a:t>
            </a:r>
            <a:br>
              <a:rPr lang="zh-CN" altLang="en-US" sz="4500" dirty="0"/>
            </a:br>
            <a:r>
              <a:rPr lang="zh-CN" altLang="en-US" sz="4500" dirty="0"/>
              <a:t>计算得到样本对应的检验值（如 t₀），与临界值比较。</a:t>
            </a:r>
          </a:p>
          <a:p>
            <a:pPr marL="0" indent="0">
              <a:lnSpc>
                <a:spcPct val="150000"/>
              </a:lnSpc>
              <a:buNone/>
            </a:pPr>
            <a:r>
              <a:rPr sz="45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45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4500" b="1" dirty="0"/>
              <a:t>得出结论</a:t>
            </a:r>
            <a:br>
              <a:rPr lang="zh-CN" altLang="en-US" sz="4500" dirty="0"/>
            </a:br>
            <a:r>
              <a:rPr lang="zh-CN" altLang="en-US" sz="4500" dirty="0"/>
              <a:t>若统计量落在拒绝域 → 拒绝 H₀；否则 → 接受 H₀。</a:t>
            </a:r>
            <a:endParaRPr lang="zh-CN" altLang="en-GB" sz="4500" dirty="0"/>
          </a:p>
          <a:p>
            <a:pPr marL="348615" indent="-335915" eaLnBrk="0">
              <a:lnSpc>
                <a:spcPct val="120000"/>
              </a:lnSpc>
            </a:pPr>
            <a:endParaRPr kumimoji="1" lang="en-US" altLang="zh-CN" sz="1600" dirty="0">
              <a:solidFill>
                <a:srgbClr val="FF0000"/>
              </a:solidFill>
              <a:latin typeface="+mj-lt"/>
              <a:ea typeface="+mj-ea"/>
            </a:endParaRPr>
          </a:p>
          <a:p>
            <a:pPr marL="348615" indent="-335915" eaLnBrk="0">
              <a:lnSpc>
                <a:spcPct val="120000"/>
              </a:lnSpc>
            </a:pPr>
            <a:endParaRPr kumimoji="1" lang="en-US" altLang="zh-CN" sz="1600" dirty="0">
              <a:solidFill>
                <a:srgbClr val="FF0000"/>
              </a:solidFill>
              <a:latin typeface="+mj-lt"/>
              <a:ea typeface="+mj-ea"/>
            </a:endParaRPr>
          </a:p>
          <a:p>
            <a:pPr marL="348615" indent="-335915" eaLnBrk="0">
              <a:lnSpc>
                <a:spcPct val="120000"/>
              </a:lnSpc>
            </a:pPr>
            <a:endParaRPr kumimoji="1" lang="en-US" altLang="zh-CN" sz="1600" dirty="0">
              <a:solidFill>
                <a:srgbClr val="FF0000"/>
              </a:solidFill>
              <a:latin typeface="+mj-lt"/>
              <a:ea typeface="+mj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3710" y="365125"/>
            <a:ext cx="7886700" cy="1325563"/>
          </a:xfrm>
        </p:spPr>
        <p:txBody>
          <a:bodyPr/>
          <a:lstStyle/>
          <a:p>
            <a:r>
              <a:rPr kumimoji="1" lang="zh-CN" altLang="en-US" b="1" dirty="0"/>
              <a:t>统计检验的类型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649605" y="1736725"/>
          <a:ext cx="7964805" cy="3406775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7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0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4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5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检验类型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适用场景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/>
                        <a:t>统计量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/>
                        <a:t>举例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7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Z</a:t>
                      </a:r>
                      <a:r>
                        <a:rPr lang="zh-CN" altLang="en-US" sz="1800"/>
                        <a:t>检验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样本量大、方差已知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Z</a:t>
                      </a:r>
                      <a:r>
                        <a:rPr lang="zh-CN" altLang="en-US" sz="1800"/>
                        <a:t>值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/>
                        <a:t>判断指数收益率是否为目标值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8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t</a:t>
                      </a:r>
                      <a:r>
                        <a:rPr lang="zh-CN" altLang="en-US" sz="1800"/>
                        <a:t>检验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样本量小、方差未知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t</a:t>
                      </a:r>
                      <a:r>
                        <a:rPr lang="zh-CN" altLang="en-US" sz="1800"/>
                        <a:t>值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/>
                        <a:t>比较两基金收益是否显著不同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73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F</a:t>
                      </a:r>
                      <a:r>
                        <a:rPr lang="zh-CN" altLang="en-US" sz="1800"/>
                        <a:t>检验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比较两个方差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F</a:t>
                      </a:r>
                      <a:r>
                        <a:rPr lang="zh-CN" altLang="en-US" sz="1800" dirty="0"/>
                        <a:t>值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/>
                        <a:t>判断两市场波动性是否不同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80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χ²</a:t>
                      </a:r>
                      <a:r>
                        <a:rPr lang="zh-CN" altLang="en-US" sz="1800"/>
                        <a:t>检验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/>
                        <a:t>分类数据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 dirty="0"/>
                        <a:t>χ²</a:t>
                      </a:r>
                      <a:r>
                        <a:rPr lang="zh-CN" altLang="en-US" sz="1800" dirty="0"/>
                        <a:t>值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检验收益率分布是否服从正态分布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739775"/>
            <a:ext cx="5800725" cy="605155"/>
          </a:xfrm>
        </p:spPr>
        <p:txBody>
          <a:bodyPr>
            <a:normAutofit fontScale="90000"/>
          </a:bodyPr>
          <a:lstStyle/>
          <a:p>
            <a:r>
              <a:rPr kumimoji="1" lang="zh-CN" altLang="en-US" sz="4890" b="1" dirty="0"/>
              <a:t>假设检验的两类错误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2871470"/>
            <a:ext cx="7886700" cy="354584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b="1" dirty="0"/>
              <a:t>关系：</a:t>
            </a:r>
            <a:r>
              <a:rPr lang="zh-CN" altLang="en-US" sz="2000" dirty="0"/>
              <a:t>显著性水平 </a:t>
            </a:r>
            <a:r>
              <a:rPr lang="el-GR" altLang="zh-CN" sz="2000" dirty="0"/>
              <a:t>α </a:t>
            </a:r>
            <a:r>
              <a:rPr lang="zh-CN" altLang="en-US" sz="2000" dirty="0"/>
              <a:t>越小 → 拒绝</a:t>
            </a:r>
            <a:r>
              <a:rPr lang="en-GB" altLang="zh-CN" sz="2000" dirty="0"/>
              <a:t>H₀</a:t>
            </a:r>
            <a:r>
              <a:rPr lang="zh-CN" altLang="en-US" sz="2000" dirty="0"/>
              <a:t>的条件越严格 → 第一类错误减少，但第二类错误增加。</a:t>
            </a:r>
            <a:br>
              <a:rPr lang="zh-CN" altLang="en-US" sz="2000" dirty="0"/>
            </a:br>
            <a:r>
              <a:rPr lang="en-US" altLang="zh-CN" sz="2000" dirty="0"/>
              <a:t> </a:t>
            </a:r>
            <a:r>
              <a:rPr lang="en-US" altLang="zh-CN" sz="2000" u="sng" dirty="0"/>
              <a:t>  </a:t>
            </a:r>
            <a:r>
              <a:rPr lang="en-US" altLang="zh-CN" sz="1800" u="sng" dirty="0"/>
              <a:t> </a:t>
            </a:r>
            <a:r>
              <a:rPr lang="zh-CN" altLang="en-US" sz="1800" b="1" u="sng" dirty="0">
                <a:solidFill>
                  <a:srgbClr val="C00000"/>
                </a:solidFill>
              </a:rPr>
              <a:t>因此需要在“谨慎”和“敏感”之间平衡。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zh-CN" altLang="en-US" sz="2000" b="1" dirty="0"/>
              <a:t>金融例子，</a:t>
            </a:r>
            <a:r>
              <a:rPr lang="zh-CN" altLang="en-US" sz="2000" dirty="0"/>
              <a:t>在风险监测中：</a:t>
            </a:r>
          </a:p>
          <a:p>
            <a:pPr>
              <a:lnSpc>
                <a:spcPct val="150000"/>
              </a:lnSpc>
            </a:pPr>
            <a:r>
              <a:rPr lang="zh-CN" altLang="en-US" sz="1800" dirty="0"/>
              <a:t>拒绝</a:t>
            </a:r>
            <a:r>
              <a:rPr lang="en-GB" altLang="zh-CN" sz="1800" dirty="0"/>
              <a:t>H₀=</a:t>
            </a:r>
            <a:r>
              <a:rPr lang="en-US" altLang="en-GB" sz="1800" dirty="0"/>
              <a:t> </a:t>
            </a:r>
            <a:r>
              <a:rPr lang="en-GB" altLang="zh-CN" sz="1800" dirty="0"/>
              <a:t>“</a:t>
            </a:r>
            <a:r>
              <a:rPr lang="zh-CN" altLang="en-US" sz="1800" dirty="0"/>
              <a:t>市场无风险” → 第一类错误 </a:t>
            </a:r>
            <a:r>
              <a:rPr lang="en-US" altLang="zh-CN" sz="1800" dirty="0"/>
              <a:t>= </a:t>
            </a:r>
            <a:r>
              <a:rPr lang="zh-CN" altLang="en-US" sz="1800" dirty="0"/>
              <a:t>误报风险；</a:t>
            </a:r>
          </a:p>
          <a:p>
            <a:pPr>
              <a:lnSpc>
                <a:spcPct val="150000"/>
              </a:lnSpc>
            </a:pPr>
            <a:r>
              <a:rPr lang="zh-CN" altLang="en-US" sz="1800" dirty="0"/>
              <a:t>接受</a:t>
            </a:r>
            <a:r>
              <a:rPr lang="en-GB" altLang="zh-CN" sz="1800" dirty="0"/>
              <a:t>H₀ → </a:t>
            </a:r>
            <a:r>
              <a:rPr lang="zh-CN" altLang="en-US" sz="1800" dirty="0"/>
              <a:t>第二类错误 </a:t>
            </a:r>
            <a:r>
              <a:rPr lang="en-US" altLang="zh-CN" sz="1800" dirty="0"/>
              <a:t>= </a:t>
            </a:r>
            <a:r>
              <a:rPr lang="zh-CN" altLang="en-US" sz="1800" dirty="0"/>
              <a:t>漏报风险。</a:t>
            </a:r>
            <a:br>
              <a:rPr lang="zh-CN" altLang="en-US" sz="1800" dirty="0"/>
            </a:br>
            <a:r>
              <a:rPr lang="zh-CN" altLang="en-US" sz="1800" b="1" u="sng" dirty="0">
                <a:solidFill>
                  <a:srgbClr val="C00000"/>
                </a:solidFill>
              </a:rPr>
              <a:t>监管机构宁愿出现第一类错误，也不能漏报系统性风险。</a:t>
            </a:r>
            <a:endParaRPr lang="zh-CN" altLang="en-US" sz="1800" u="sng" dirty="0"/>
          </a:p>
          <a:p>
            <a:endParaRPr kumimoji="1" lang="zh-CN" altLang="en-US" sz="1800" u="sng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66445" y="1445895"/>
          <a:ext cx="7748905" cy="132461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09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6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1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59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/>
                        <a:t>错误类型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/>
                        <a:t>含义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/>
                        <a:t>结果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/>
                        <a:t>类比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/>
                        <a:t>第一类错误（</a:t>
                      </a:r>
                      <a:r>
                        <a:rPr lang="el-GR" sz="1400" dirty="0"/>
                        <a:t>α）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/>
                        <a:t>错误地拒绝了真实的 </a:t>
                      </a:r>
                      <a:r>
                        <a:rPr lang="en-GB" sz="1400" dirty="0"/>
                        <a:t>H₀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“冤枉了好人”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/>
                        <a:t>假阳性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6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/>
                        <a:t>第二类错误（</a:t>
                      </a:r>
                      <a:r>
                        <a:rPr lang="el-GR" sz="1400" dirty="0"/>
                        <a:t>β）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/>
                        <a:t>错误地接受了本质上错误的 </a:t>
                      </a:r>
                      <a:r>
                        <a:rPr lang="en-GB" sz="1400" dirty="0"/>
                        <a:t>H₀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/>
                        <a:t>“放走了坏人”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/>
                        <a:t>假阴性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/>
              <a:t>单侧检验与双侧检验</a:t>
            </a:r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1"/>
          </p:nvPr>
        </p:nvGraphicFramePr>
        <p:xfrm>
          <a:off x="628015" y="1785397"/>
          <a:ext cx="7980680" cy="3270885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1340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7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9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87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 dirty="0"/>
                        <a:t>类型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 dirty="0"/>
                        <a:t>原假设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/>
                        <a:t>备择假设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/>
                        <a:t>拒绝域位置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/>
                        <a:t>举例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7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/>
                        <a:t>双侧检验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75"/>
                        <a:t>H₀: </a:t>
                      </a:r>
                      <a:r>
                        <a:rPr lang="el-GR" sz="1875"/>
                        <a:t>μ=μ₀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75" dirty="0"/>
                        <a:t>H₁: </a:t>
                      </a:r>
                      <a:r>
                        <a:rPr lang="el-GR" sz="1875" dirty="0" err="1"/>
                        <a:t>μ≠μ</a:t>
                      </a:r>
                      <a:r>
                        <a:rPr lang="el-GR" sz="1875" dirty="0"/>
                        <a:t>₀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 dirty="0"/>
                        <a:t>两侧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/>
                        <a:t>检验实际收益率是否与目标值不同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7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/>
                        <a:t>左侧检验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75" dirty="0"/>
                        <a:t>H₀: </a:t>
                      </a:r>
                      <a:r>
                        <a:rPr lang="el-GR" sz="1875" dirty="0" err="1"/>
                        <a:t>μ≥μ</a:t>
                      </a:r>
                      <a:r>
                        <a:rPr lang="el-GR" sz="1875" dirty="0"/>
                        <a:t>₀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75"/>
                        <a:t>H₁: </a:t>
                      </a:r>
                      <a:r>
                        <a:rPr lang="el-GR" sz="1875"/>
                        <a:t>μ&lt;μ₀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 dirty="0"/>
                        <a:t>左侧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 dirty="0"/>
                        <a:t>检验基金收益是否低于目标值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7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/>
                        <a:t>右侧检验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75"/>
                        <a:t>H₀: </a:t>
                      </a:r>
                      <a:r>
                        <a:rPr lang="el-GR" sz="1875"/>
                        <a:t>μ≤μ₀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75"/>
                        <a:t>H₁: </a:t>
                      </a:r>
                      <a:r>
                        <a:rPr lang="el-GR" sz="1875"/>
                        <a:t>μ&gt;μ₀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/>
                        <a:t>右侧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 dirty="0"/>
                        <a:t>检验策略收益是否显著高于基准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AEEBDBF9-3A6E-87BB-9694-68919140EDE2}"/>
                  </a:ext>
                </a:extLst>
              </p14:cNvPr>
              <p14:cNvContentPartPr/>
              <p14:nvPr/>
            </p14:nvContentPartPr>
            <p14:xfrm>
              <a:off x="926640" y="609840"/>
              <a:ext cx="6974280" cy="109152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AEEBDBF9-3A6E-87BB-9694-68919140EDE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7280" y="600480"/>
                <a:ext cx="6993000" cy="1110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3405" y="365125"/>
            <a:ext cx="7886700" cy="1325563"/>
          </a:xfrm>
        </p:spPr>
        <p:txBody>
          <a:bodyPr/>
          <a:lstStyle/>
          <a:p>
            <a:r>
              <a:rPr kumimoji="1" lang="zh-CN" altLang="en-US" b="1" dirty="0"/>
              <a:t>小结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628650" y="1545590"/>
          <a:ext cx="7886700" cy="4082415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203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4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92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4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 dirty="0"/>
                        <a:t>概念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/>
                        <a:t>含义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/>
                        <a:t>金融意义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5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 dirty="0"/>
                        <a:t>小概率原理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 dirty="0"/>
                        <a:t>概率极小的事件几乎不会发生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/>
                        <a:t>通过概率判断异常结果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5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/>
                        <a:t>概率反证法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 dirty="0"/>
                        <a:t>用反推的方式论证假设是否成立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/>
                        <a:t>从样本推断总体可靠性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1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/>
                        <a:t>显著性水平 </a:t>
                      </a:r>
                      <a:r>
                        <a:rPr lang="el-GR" sz="1875"/>
                        <a:t>α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 dirty="0"/>
                        <a:t>接受“偶然出错”的最大容忍度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 dirty="0"/>
                        <a:t>控制第一类错误概率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06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/>
                        <a:t>单侧</a:t>
                      </a:r>
                      <a:r>
                        <a:rPr lang="en-US" altLang="zh-CN" sz="1875"/>
                        <a:t>/</a:t>
                      </a:r>
                      <a:r>
                        <a:rPr lang="zh-CN" altLang="en-US" sz="1875"/>
                        <a:t>双侧检验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/>
                        <a:t>检验方向不同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 dirty="0"/>
                        <a:t>分别对应“是否高于</a:t>
                      </a:r>
                      <a:r>
                        <a:rPr lang="en-US" altLang="zh-CN" sz="1875" dirty="0"/>
                        <a:t>/</a:t>
                      </a:r>
                      <a:r>
                        <a:rPr lang="zh-CN" altLang="en-US" sz="1875" dirty="0"/>
                        <a:t>低于</a:t>
                      </a:r>
                      <a:r>
                        <a:rPr lang="en-US" altLang="zh-CN" sz="1875" dirty="0"/>
                        <a:t>/</a:t>
                      </a:r>
                      <a:r>
                        <a:rPr lang="zh-CN" altLang="en-US" sz="1875" dirty="0"/>
                        <a:t>不同于”目标收益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1D51E52B-0560-E4E8-719B-F42F4EED5C6E}"/>
                  </a:ext>
                </a:extLst>
              </p14:cNvPr>
              <p14:cNvContentPartPr/>
              <p14:nvPr/>
            </p14:nvContentPartPr>
            <p14:xfrm>
              <a:off x="387000" y="2751120"/>
              <a:ext cx="2610360" cy="356724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1D51E52B-0560-E4E8-719B-F42F4EED5C6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7640" y="2741760"/>
                <a:ext cx="2629080" cy="3585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17420" y="304165"/>
            <a:ext cx="7886700" cy="1325563"/>
          </a:xfrm>
        </p:spPr>
        <p:txBody>
          <a:bodyPr/>
          <a:lstStyle/>
          <a:p>
            <a:r>
              <a:rPr lang="zh-CN" sz="3100" b="1" kern="0" spc="40" dirty="0">
                <a:solidFill>
                  <a:srgbClr val="000000">
                    <a:alpha val="100000"/>
                  </a:srgbClr>
                </a:solidFill>
                <a:latin typeface="幼圆" panose="02010509060101010101" charset="-122"/>
                <a:ea typeface="幼圆" panose="02010509060101010101" charset="-122"/>
                <a:cs typeface="幼圆" panose="02010509060101010101" charset="-122"/>
              </a:rPr>
              <a:t>十、应用举例——方差分析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7690" y="1252855"/>
            <a:ext cx="8018780" cy="2604770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2000" dirty="0"/>
              <a:t>例子：某饮料生产企业研制出一种新型饮料。饮料的颜色共有四种，</a:t>
            </a:r>
            <a:r>
              <a:rPr kumimoji="1" lang="en-US" altLang="zh-CN" sz="2000" dirty="0"/>
              <a:t>  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en-US" altLang="zh-CN" sz="2000" dirty="0"/>
              <a:t>    </a:t>
            </a:r>
            <a:r>
              <a:rPr kumimoji="1" lang="zh-CN" altLang="en-US" sz="2000" dirty="0"/>
              <a:t>分别为橘黄色、粉色、绿色和无色透明。这四种饮料的营养含量、</a:t>
            </a:r>
            <a:r>
              <a:rPr kumimoji="1" lang="en-US" altLang="zh-CN" sz="2000" dirty="0"/>
              <a:t>   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en-US" altLang="zh-CN" sz="2000" dirty="0"/>
              <a:t>    </a:t>
            </a:r>
            <a:r>
              <a:rPr kumimoji="1" lang="zh-CN" altLang="en-US" sz="2000" dirty="0"/>
              <a:t>味道、价格、包装等可能影响销售量的因素全部相同。现从地理位</a:t>
            </a:r>
            <a:r>
              <a:rPr kumimoji="1" lang="en-US" altLang="zh-CN" sz="2000" dirty="0"/>
              <a:t>  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en-US" altLang="zh-CN" sz="2000" dirty="0"/>
              <a:t>    </a:t>
            </a:r>
            <a:r>
              <a:rPr kumimoji="1" lang="zh-CN" altLang="en-US" sz="2000" dirty="0"/>
              <a:t>置相似、经营规模相仿的五家超级市场上收集了前一时期该饮料的</a:t>
            </a:r>
            <a:r>
              <a:rPr kumimoji="1" lang="en-US" altLang="zh-CN" sz="2000" dirty="0"/>
              <a:t>  </a:t>
            </a:r>
          </a:p>
          <a:p>
            <a:pPr marL="0" indent="0">
              <a:lnSpc>
                <a:spcPct val="120000"/>
              </a:lnSpc>
              <a:buNone/>
            </a:pPr>
            <a:r>
              <a:rPr kumimoji="1" lang="en-US" altLang="zh-CN" sz="2000" dirty="0"/>
              <a:t>    </a:t>
            </a:r>
            <a:r>
              <a:rPr kumimoji="1" lang="zh-CN" altLang="en-US" sz="2000" dirty="0"/>
              <a:t>销售情况。试分析饮料的颜色是否对销售量产生影响。</a:t>
            </a:r>
          </a:p>
        </p:txBody>
      </p:sp>
      <p:graphicFrame>
        <p:nvGraphicFramePr>
          <p:cNvPr id="4" name="Group 63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818005" y="3681730"/>
          <a:ext cx="5712460" cy="2803525"/>
        </p:xfrm>
        <a:graphic>
          <a:graphicData uri="http://schemas.openxmlformats.org/drawingml/2006/table">
            <a:tbl>
              <a:tblPr/>
              <a:tblGrid>
                <a:gridCol w="847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5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7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6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3385">
                <a:tc gridSpan="5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华文楷体" panose="02010600040101010101" charset="-122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表</a:t>
                      </a:r>
                      <a:r>
                        <a:rPr kumimoji="1" lang="en-US" altLang="zh-CN" sz="16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华文楷体" panose="02010600040101010101" charset="-122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    </a:t>
                      </a:r>
                      <a:r>
                        <a:rPr kumimoji="1" lang="zh-CN" altLang="en-US" sz="16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华文楷体" panose="02010600040101010101" charset="-122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该饮料在五家超市的销售情况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747B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0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超市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5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无色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50" b="1" i="0" u="none" strike="noStrike" cap="none" normalizeH="0" baseline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粉色</a:t>
                      </a:r>
                      <a:endParaRPr kumimoji="1" lang="zh-CN" altLang="en-US" sz="1650" b="1" i="0" u="none" strike="noStrike" cap="none" normalizeH="0" baseline="0">
                        <a:ln>
                          <a:noFill/>
                        </a:ln>
                        <a:solidFill>
                          <a:srgbClr val="FF00FF"/>
                        </a:solidFill>
                        <a:effectLst/>
                        <a:latin typeface="华文楷体" panose="02010600040101010101" charset="-122"/>
                        <a:ea typeface="宋体" panose="02010600030101010101" pitchFamily="2" charset="-122"/>
                        <a:cs typeface="华文楷体" panose="02010600040101010101" charset="-122"/>
                      </a:endParaRP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5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橘黄色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50" b="1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绿色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61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2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3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4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5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EC67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26.5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28.7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25.1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29.1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27.2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BFF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31.2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28.3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30.8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27.9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29.6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BFF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27.9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25.1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28.5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24.2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26.5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BFF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30.8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29.6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32.4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31.7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华文楷体" panose="02010600040101010101" charset="-122"/>
                        </a:rPr>
                        <a:t>32.8</a:t>
                      </a:r>
                    </a:p>
                  </a:txBody>
                  <a:tcPr marL="68580" marR="68580" marT="34290" marB="34290" anchor="ctr" horzOverflow="overflow">
                    <a:lnL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45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BFF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9915" y="607695"/>
            <a:ext cx="7886700" cy="1325563"/>
          </a:xfrm>
        </p:spPr>
        <p:txBody>
          <a:bodyPr>
            <a:normAutofit fontScale="90000"/>
          </a:bodyPr>
          <a:lstStyle/>
          <a:p>
            <a:r>
              <a:rPr kumimoji="1" lang="zh-CN" altLang="en-US" sz="4890" b="1" dirty="0"/>
              <a:t>什么是方差分析</a:t>
            </a:r>
            <a:r>
              <a:rPr kumimoji="1" lang="en-US" altLang="zh-CN" sz="4890" b="1" dirty="0"/>
              <a:t>?</a:t>
            </a:r>
            <a:br>
              <a:rPr kumimoji="1" lang="en-US" altLang="zh-CN" sz="4890" b="1" dirty="0"/>
            </a:br>
            <a:endParaRPr kumimoji="1" lang="zh-CN" altLang="en-US" sz="489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9915" y="1720850"/>
            <a:ext cx="7886700" cy="4351338"/>
          </a:xfrm>
        </p:spPr>
        <p:txBody>
          <a:bodyPr>
            <a:normAutofit/>
          </a:bodyPr>
          <a:lstStyle/>
          <a:p>
            <a:pPr marL="0" indent="0" algn="just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sz="225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25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2000" kern="0" dirty="0">
                <a:ea typeface="宋体" panose="02010600030101010101" pitchFamily="2" charset="-122"/>
              </a:rPr>
              <a:t>检验饮料的颜色对销售量是否有影响，也就是检验四种颜色饮料的平均销售量是否相同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kumimoji="1" lang="zh-CN" altLang="en-US" sz="2000" kern="0" dirty="0">
                <a:ea typeface="宋体" panose="02010600030101010101" pitchFamily="2" charset="-122"/>
              </a:rPr>
              <a:t> 设</a:t>
            </a:r>
            <a:r>
              <a:rPr kumimoji="1" lang="zh-CN" altLang="en-US" sz="2000" kern="0" dirty="0">
                <a:ea typeface="宋体" panose="02010600030101010101" pitchFamily="2" charset="-122"/>
                <a:sym typeface="Symbol" panose="05050102010706020507" pitchFamily="18" charset="2"/>
              </a:rPr>
              <a:t></a:t>
            </a:r>
            <a:r>
              <a:rPr kumimoji="1" lang="en-US" altLang="zh-CN" sz="2000" kern="0" baseline="-25000" dirty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kumimoji="1" lang="zh-CN" altLang="en-US" sz="2000" kern="0" dirty="0">
                <a:ea typeface="宋体" panose="02010600030101010101" pitchFamily="2" charset="-122"/>
              </a:rPr>
              <a:t>为无色饮料的平均销售量，</a:t>
            </a:r>
            <a:r>
              <a:rPr kumimoji="1" lang="zh-CN" altLang="en-US" sz="2000" kern="0" dirty="0">
                <a:ea typeface="宋体" panose="02010600030101010101" pitchFamily="2" charset="-122"/>
                <a:sym typeface="Symbol" panose="05050102010706020507" pitchFamily="18" charset="2"/>
              </a:rPr>
              <a:t></a:t>
            </a:r>
            <a:r>
              <a:rPr kumimoji="1" lang="en-US" altLang="zh-CN" sz="2000" kern="0" baseline="-25000" dirty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kumimoji="1" lang="zh-CN" altLang="en-US" sz="2000" kern="0" dirty="0">
                <a:ea typeface="宋体" panose="02010600030101010101" pitchFamily="2" charset="-122"/>
              </a:rPr>
              <a:t>粉色饮料的平均销售量，</a:t>
            </a:r>
            <a:r>
              <a:rPr kumimoji="1" lang="zh-CN" altLang="en-US" sz="2000" kern="0" dirty="0">
                <a:ea typeface="宋体" panose="02010600030101010101" pitchFamily="2" charset="-122"/>
                <a:sym typeface="Symbol" panose="05050102010706020507" pitchFamily="18" charset="2"/>
              </a:rPr>
              <a:t></a:t>
            </a:r>
            <a:r>
              <a:rPr kumimoji="1" lang="en-US" altLang="zh-CN" sz="2000" kern="0" baseline="-25000" dirty="0"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kumimoji="1" lang="zh-CN" altLang="en-US" sz="2000" kern="0" dirty="0">
                <a:ea typeface="宋体" panose="02010600030101010101" pitchFamily="2" charset="-122"/>
              </a:rPr>
              <a:t>为橘黄色饮料的平均销售量，</a:t>
            </a:r>
            <a:r>
              <a:rPr kumimoji="1" lang="zh-CN" altLang="en-US" sz="2000" kern="0" dirty="0">
                <a:ea typeface="宋体" panose="02010600030101010101" pitchFamily="2" charset="-122"/>
                <a:sym typeface="Symbol" panose="05050102010706020507" pitchFamily="18" charset="2"/>
              </a:rPr>
              <a:t></a:t>
            </a:r>
            <a:r>
              <a:rPr kumimoji="1" lang="en-US" altLang="zh-CN" sz="2000" kern="0" baseline="-25000" dirty="0">
                <a:ea typeface="宋体" panose="02010600030101010101" pitchFamily="2" charset="-122"/>
                <a:sym typeface="Symbol" panose="05050102010706020507" pitchFamily="18" charset="2"/>
              </a:rPr>
              <a:t>4</a:t>
            </a:r>
            <a:r>
              <a:rPr kumimoji="1" lang="zh-CN" altLang="en-US" sz="2000" kern="0" dirty="0">
                <a:ea typeface="宋体" panose="02010600030101010101" pitchFamily="2" charset="-122"/>
                <a:sym typeface="Symbol" panose="05050102010706020507" pitchFamily="18" charset="2"/>
              </a:rPr>
              <a:t>为绿色饮料的平均销售量，</a:t>
            </a:r>
            <a:r>
              <a:rPr kumimoji="1" lang="zh-CN" altLang="en-US" sz="2000" kern="0" dirty="0">
                <a:ea typeface="宋体" panose="02010600030101010101" pitchFamily="2" charset="-122"/>
              </a:rPr>
              <a:t>也就是检验下面的假设：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kumimoji="1" lang="zh-CN" altLang="en-US" sz="2000" kern="0" dirty="0">
                <a:ea typeface="宋体" panose="02010600030101010101" pitchFamily="2" charset="-122"/>
              </a:rPr>
              <a:t> </a:t>
            </a:r>
            <a:r>
              <a:rPr kumimoji="1" lang="en-US" altLang="zh-CN" sz="2000" kern="0" dirty="0">
                <a:ea typeface="宋体" panose="02010600030101010101" pitchFamily="2" charset="-122"/>
              </a:rPr>
              <a:t>    </a:t>
            </a:r>
            <a:r>
              <a:rPr kumimoji="1" lang="en-US" altLang="zh-CN" sz="2000" i="1" kern="0" dirty="0">
                <a:ea typeface="宋体" panose="02010600030101010101" pitchFamily="2" charset="-122"/>
                <a:sym typeface="Symbol" panose="05050102010706020507" pitchFamily="18" charset="2"/>
              </a:rPr>
              <a:t>H</a:t>
            </a:r>
            <a:r>
              <a:rPr kumimoji="1" lang="en-US" altLang="zh-CN" sz="2000" kern="0" baseline="-25000" dirty="0"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kumimoji="1" lang="en-US" altLang="zh-CN" sz="2000" kern="0" dirty="0">
                <a:ea typeface="宋体" panose="02010600030101010101" pitchFamily="2" charset="-122"/>
                <a:sym typeface="Symbol" panose="05050102010706020507" pitchFamily="18" charset="2"/>
              </a:rPr>
              <a:t>: </a:t>
            </a:r>
            <a:r>
              <a:rPr kumimoji="1" lang="en-US" altLang="zh-CN" sz="2000" kern="0" baseline="-25000" dirty="0">
                <a:ea typeface="宋体" panose="02010600030101010101" pitchFamily="2" charset="-122"/>
              </a:rPr>
              <a:t>1</a:t>
            </a:r>
            <a:r>
              <a:rPr kumimoji="1" lang="en-US" altLang="zh-CN" sz="2000" kern="0" dirty="0">
                <a:ea typeface="宋体" panose="02010600030101010101" pitchFamily="2" charset="-122"/>
                <a:sym typeface="Symbol" panose="05050102010706020507" pitchFamily="18" charset="2"/>
              </a:rPr>
              <a:t>  </a:t>
            </a:r>
            <a:r>
              <a:rPr kumimoji="1" lang="en-US" altLang="zh-CN" sz="2000" kern="0" baseline="-25000" dirty="0">
                <a:ea typeface="宋体" panose="02010600030101010101" pitchFamily="2" charset="-122"/>
              </a:rPr>
              <a:t>2</a:t>
            </a:r>
            <a:r>
              <a:rPr kumimoji="1" lang="en-US" altLang="zh-CN" sz="2000" kern="0" dirty="0">
                <a:ea typeface="宋体" panose="02010600030101010101" pitchFamily="2" charset="-122"/>
                <a:sym typeface="Symbol" panose="05050102010706020507" pitchFamily="18" charset="2"/>
              </a:rPr>
              <a:t>  </a:t>
            </a:r>
            <a:r>
              <a:rPr kumimoji="1" lang="en-US" altLang="zh-CN" sz="2000" kern="0" baseline="-25000" dirty="0">
                <a:ea typeface="宋体" panose="02010600030101010101" pitchFamily="2" charset="-122"/>
              </a:rPr>
              <a:t>3</a:t>
            </a:r>
            <a:r>
              <a:rPr kumimoji="1" lang="en-US" altLang="zh-CN" sz="2000" kern="0" dirty="0">
                <a:ea typeface="宋体" panose="02010600030101010101" pitchFamily="2" charset="-122"/>
                <a:sym typeface="Symbol" panose="05050102010706020507" pitchFamily="18" charset="2"/>
              </a:rPr>
              <a:t>  </a:t>
            </a:r>
            <a:r>
              <a:rPr kumimoji="1" lang="en-US" altLang="zh-CN" sz="2000" kern="0" baseline="-25000" dirty="0">
                <a:ea typeface="宋体" panose="02010600030101010101" pitchFamily="2" charset="-122"/>
              </a:rPr>
              <a:t>4</a:t>
            </a:r>
          </a:p>
          <a:p>
            <a:pPr marL="0" indent="0" algn="just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kumimoji="1" lang="en-US" altLang="zh-CN" sz="2000" kern="0" baseline="-25000" dirty="0">
                <a:ea typeface="宋体" panose="02010600030101010101" pitchFamily="2" charset="-122"/>
              </a:rPr>
              <a:t>       </a:t>
            </a:r>
            <a:r>
              <a:rPr kumimoji="1" lang="en-US" altLang="zh-CN" sz="2000" i="1" kern="0" dirty="0">
                <a:ea typeface="宋体" panose="02010600030101010101" pitchFamily="2" charset="-122"/>
                <a:sym typeface="Symbol" panose="05050102010706020507" pitchFamily="18" charset="2"/>
              </a:rPr>
              <a:t>H</a:t>
            </a:r>
            <a:r>
              <a:rPr kumimoji="1" lang="en-US" altLang="zh-CN" sz="2000" kern="0" baseline="-25000" dirty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kumimoji="1" lang="en-US" altLang="zh-CN" sz="2000" kern="0" dirty="0">
                <a:ea typeface="宋体" panose="02010600030101010101" pitchFamily="2" charset="-122"/>
                <a:sym typeface="Symbol" panose="05050102010706020507" pitchFamily="18" charset="2"/>
              </a:rPr>
              <a:t>: </a:t>
            </a:r>
            <a:r>
              <a:rPr kumimoji="1" lang="en-US" altLang="zh-CN" sz="2000" kern="0" baseline="-25000" dirty="0">
                <a:ea typeface="宋体" panose="02010600030101010101" pitchFamily="2" charset="-122"/>
              </a:rPr>
              <a:t>1</a:t>
            </a:r>
            <a:r>
              <a:rPr kumimoji="1" lang="en-US" altLang="zh-CN" sz="2000" kern="0" dirty="0">
                <a:ea typeface="宋体" panose="02010600030101010101" pitchFamily="2" charset="-122"/>
                <a:sym typeface="Symbol" panose="05050102010706020507" pitchFamily="18" charset="2"/>
              </a:rPr>
              <a:t> , </a:t>
            </a:r>
            <a:r>
              <a:rPr kumimoji="1" lang="en-US" altLang="zh-CN" sz="2000" kern="0" baseline="-25000" dirty="0">
                <a:ea typeface="宋体" panose="02010600030101010101" pitchFamily="2" charset="-122"/>
              </a:rPr>
              <a:t>2</a:t>
            </a:r>
            <a:r>
              <a:rPr kumimoji="1" lang="en-US" altLang="zh-CN" sz="2000" kern="0" dirty="0">
                <a:ea typeface="宋体" panose="02010600030101010101" pitchFamily="2" charset="-122"/>
                <a:sym typeface="Symbol" panose="05050102010706020507" pitchFamily="18" charset="2"/>
              </a:rPr>
              <a:t> , </a:t>
            </a:r>
            <a:r>
              <a:rPr kumimoji="1" lang="en-US" altLang="zh-CN" sz="2000" kern="0" baseline="-25000" dirty="0">
                <a:ea typeface="宋体" panose="02010600030101010101" pitchFamily="2" charset="-122"/>
              </a:rPr>
              <a:t>3</a:t>
            </a:r>
            <a:r>
              <a:rPr kumimoji="1" lang="en-US" altLang="zh-CN" sz="2000" kern="0" dirty="0">
                <a:ea typeface="宋体" panose="02010600030101010101" pitchFamily="2" charset="-122"/>
                <a:sym typeface="Symbol" panose="05050102010706020507" pitchFamily="18" charset="2"/>
              </a:rPr>
              <a:t> , </a:t>
            </a:r>
            <a:r>
              <a:rPr kumimoji="1" lang="en-US" altLang="zh-CN" sz="2000" kern="0" baseline="-25000" dirty="0">
                <a:ea typeface="宋体" panose="02010600030101010101" pitchFamily="2" charset="-122"/>
              </a:rPr>
              <a:t>4  </a:t>
            </a:r>
            <a:r>
              <a:rPr kumimoji="1" lang="zh-CN" altLang="en-US" sz="2000" kern="0" dirty="0">
                <a:ea typeface="宋体" panose="02010600030101010101" pitchFamily="2" charset="-122"/>
              </a:rPr>
              <a:t>不全相等</a:t>
            </a:r>
            <a:endParaRPr kumimoji="1" lang="zh-CN" altLang="en-US" sz="2000" i="1" kern="0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 algn="just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2000" kern="0" dirty="0">
                <a:ea typeface="宋体" panose="02010600030101010101" pitchFamily="2" charset="-122"/>
              </a:rPr>
              <a:t>检验上述假设所采用的方法就是方差分析</a:t>
            </a:r>
          </a:p>
          <a:p>
            <a:endParaRPr kumimoji="1" lang="zh-CN" altLang="en-US" sz="2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0B4B0C-527C-91D2-F814-75BECF404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方差分析的业务场景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B7DDCF-14BF-8725-B1E2-886612266A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CN" altLang="en-US" dirty="0"/>
              <a:t>在商业和金融行业，数据分析经常要回答一个核心问题： </a:t>
            </a:r>
            <a:endParaRPr lang="en-US" altLang="zh-CN" dirty="0"/>
          </a:p>
          <a:p>
            <a:r>
              <a:rPr lang="zh-CN" altLang="en-US" dirty="0"/>
              <a:t>“不同类别的对象，其平均表现是否存在显著差异？”</a:t>
            </a:r>
            <a:endParaRPr lang="en-US" altLang="zh-CN" dirty="0"/>
          </a:p>
          <a:p>
            <a:r>
              <a:rPr lang="zh-CN" altLang="en-US" dirty="0"/>
              <a:t> 例如：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zh-CN" altLang="en-US" dirty="0"/>
              <a:t>不同网点办理速度是否相同？ 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zh-CN" altLang="en-US" dirty="0"/>
              <a:t>不同信贷产品的违约率是否差异显著？ 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zh-CN" altLang="en-US" dirty="0"/>
              <a:t>不同客户群体（年龄段、风险等级）收益是否不同？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</a:t>
            </a:r>
            <a:r>
              <a:rPr lang="en-US" altLang="zh-CN" dirty="0"/>
              <a:t>  </a:t>
            </a:r>
            <a:r>
              <a:rPr lang="zh-CN" altLang="en-US" dirty="0"/>
              <a:t>不同渠道（</a:t>
            </a:r>
            <a:r>
              <a:rPr lang="en-US" altLang="zh-CN" dirty="0"/>
              <a:t>APP</a:t>
            </a:r>
            <a:r>
              <a:rPr lang="zh-CN" altLang="en-US" dirty="0"/>
              <a:t>、柜台、电话）投诉率是否存在差异？   </a:t>
            </a:r>
            <a:r>
              <a:rPr lang="en-US" altLang="zh-CN" dirty="0"/>
              <a:t> </a:t>
            </a:r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en-US" dirty="0"/>
              <a:t>不同门店的满意度是否有差异？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</a:t>
            </a:r>
            <a:r>
              <a:rPr lang="en-US" altLang="zh-CN" dirty="0"/>
              <a:t>   </a:t>
            </a:r>
            <a:r>
              <a:rPr lang="zh-CN" altLang="en-US" dirty="0"/>
              <a:t>不同品牌的销售额是否不同？ 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en-US" dirty="0"/>
              <a:t>不同促销方案的转化率是否有差异？  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en-US" dirty="0"/>
              <a:t>不同生产线的缺陷率是否差异显著？ 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</a:t>
            </a:r>
            <a:r>
              <a:rPr lang="zh-CN" altLang="en-US" dirty="0"/>
              <a:t>不同温度条件下的产品寿命是否不同？</a:t>
            </a:r>
          </a:p>
        </p:txBody>
      </p:sp>
    </p:spTree>
    <p:extLst>
      <p:ext uri="{BB962C8B-B14F-4D97-AF65-F5344CB8AC3E}">
        <p14:creationId xmlns:p14="http://schemas.microsoft.com/office/powerpoint/2010/main" val="427195730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7118F0-EE11-EFB5-0C42-93205EA27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ANOVA </a:t>
            </a:r>
            <a:r>
              <a:rPr lang="zh-CN" altLang="en-US" dirty="0"/>
              <a:t>的业务本质是什么？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89BE63-5D3C-5C40-3AA0-0537CFBCB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业务方经常会说：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“</a:t>
            </a:r>
            <a:r>
              <a:rPr lang="zh-CN" altLang="en-US" dirty="0"/>
              <a:t>我们 </a:t>
            </a:r>
            <a:r>
              <a:rPr lang="en-US" altLang="zh-CN" dirty="0"/>
              <a:t>A </a:t>
            </a:r>
            <a:r>
              <a:rPr lang="zh-CN" altLang="en-US" dirty="0"/>
              <a:t>城市投诉率肯定比 </a:t>
            </a:r>
            <a:r>
              <a:rPr lang="en-US" altLang="zh-CN" dirty="0"/>
              <a:t>B </a:t>
            </a:r>
            <a:r>
              <a:rPr lang="zh-CN" altLang="en-US" dirty="0"/>
              <a:t>城市高！” 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“</a:t>
            </a:r>
            <a:r>
              <a:rPr lang="zh-CN" altLang="en-US" dirty="0"/>
              <a:t>这个产品的新包装一定比旧包装更有效！” 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“</a:t>
            </a:r>
            <a:r>
              <a:rPr lang="zh-CN" altLang="en-US" dirty="0"/>
              <a:t>年轻客户比年长客户更愿意借钱！”  </a:t>
            </a:r>
            <a:endParaRPr lang="en-US" altLang="zh-CN" dirty="0"/>
          </a:p>
          <a:p>
            <a:r>
              <a:rPr lang="zh-CN" altLang="en-US" dirty="0"/>
              <a:t> 但是业务“感觉”不能拿来做决策→ 需要统计学来判断是否显著差异，还是随机巧合。 </a:t>
            </a:r>
            <a:r>
              <a:rPr lang="en-US" altLang="zh-CN" dirty="0"/>
              <a:t>ANOVA </a:t>
            </a:r>
            <a:r>
              <a:rPr lang="zh-CN" altLang="en-US" dirty="0"/>
              <a:t>给出的核心问题是： </a:t>
            </a:r>
            <a:endParaRPr lang="en-US" altLang="zh-CN" dirty="0"/>
          </a:p>
          <a:p>
            <a:r>
              <a:rPr lang="zh-CN" altLang="en-US" dirty="0"/>
              <a:t>不同组之间的均值差异，是业务因素造成的，还是自然波动造成的？</a:t>
            </a:r>
          </a:p>
        </p:txBody>
      </p:sp>
    </p:spTree>
    <p:extLst>
      <p:ext uri="{BB962C8B-B14F-4D97-AF65-F5344CB8AC3E}">
        <p14:creationId xmlns:p14="http://schemas.microsoft.com/office/powerpoint/2010/main" val="321676402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4200" y="365125"/>
            <a:ext cx="7886700" cy="1325563"/>
          </a:xfrm>
        </p:spPr>
        <p:txBody>
          <a:bodyPr/>
          <a:lstStyle/>
          <a:p>
            <a:r>
              <a:rPr kumimoji="1" lang="zh-CN" altLang="en-US" b="1" dirty="0"/>
              <a:t>方差分析的思想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8095615" cy="4351655"/>
          </a:xfrm>
        </p:spPr>
        <p:txBody>
          <a:bodyPr>
            <a:normAutofit fontScale="97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5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5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500" dirty="0"/>
              <a:t>方差分析是一种</a:t>
            </a:r>
            <a:r>
              <a:rPr lang="zh-CN" altLang="en-US" sz="2500" b="1" dirty="0">
                <a:solidFill>
                  <a:srgbClr val="C00000"/>
                </a:solidFill>
              </a:rPr>
              <a:t>比较多组平均数是否存在显著差异</a:t>
            </a:r>
            <a:r>
              <a:rPr lang="zh-CN" altLang="en-US" sz="2500" dirty="0"/>
              <a:t>的方法。</a:t>
            </a:r>
            <a:br>
              <a:rPr lang="zh-CN" altLang="en-US" sz="2500" dirty="0"/>
            </a:br>
            <a:r>
              <a:rPr lang="zh-CN" altLang="en-US" sz="2500" dirty="0"/>
              <a:t>它不是直接比“平均数”，而是通过</a:t>
            </a:r>
            <a:r>
              <a:rPr lang="zh-CN" altLang="en-US" sz="2500" b="1" dirty="0">
                <a:solidFill>
                  <a:srgbClr val="C00000"/>
                </a:solidFill>
              </a:rPr>
              <a:t>分析组内和组间的方差</a:t>
            </a:r>
            <a:r>
              <a:rPr lang="zh-CN" altLang="en-US" sz="2500" dirty="0"/>
              <a:t>来判断平均差异是否显著。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500" dirty="0"/>
              <a:t>💡 </a:t>
            </a:r>
            <a:r>
              <a:rPr lang="zh-CN" altLang="en-US" sz="2500" b="1" dirty="0"/>
              <a:t>核心思路：</a:t>
            </a:r>
            <a:endParaRPr lang="zh-CN" altLang="en-US" sz="2500" dirty="0"/>
          </a:p>
          <a:p>
            <a:pPr marL="0" indent="0">
              <a:lnSpc>
                <a:spcPct val="150000"/>
              </a:lnSpc>
              <a:buNone/>
            </a:pPr>
            <a:r>
              <a:rPr sz="25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5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500" dirty="0"/>
              <a:t>如果不同组之间的差异（组间方差）远大于组内差异，就说明平均数的差异“不是偶然的”，即存在显著差异。</a:t>
            </a:r>
            <a:endParaRPr lang="zh-CN" altLang="en-US" dirty="0"/>
          </a:p>
          <a:p>
            <a:endParaRPr kumimoji="1" lang="zh-CN" altLang="en-US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95E2F0-1E82-6AD5-6D02-EFC2E41E8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方差分析的计算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86B3F58-6635-A1FE-5C42-171A37D40A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9924" y="1825625"/>
            <a:ext cx="7764152" cy="4351338"/>
          </a:xfrm>
        </p:spPr>
      </p:pic>
    </p:spTree>
    <p:extLst>
      <p:ext uri="{BB962C8B-B14F-4D97-AF65-F5344CB8AC3E}">
        <p14:creationId xmlns:p14="http://schemas.microsoft.com/office/powerpoint/2010/main" val="160997959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5DBDE-0374-4A8F-97D2-0F8EF7048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AE65432-E3F8-E016-4516-BEFD62122F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6434" y="1825625"/>
            <a:ext cx="6831132" cy="4351338"/>
          </a:xfrm>
        </p:spPr>
      </p:pic>
    </p:spTree>
    <p:extLst>
      <p:ext uri="{BB962C8B-B14F-4D97-AF65-F5344CB8AC3E}">
        <p14:creationId xmlns:p14="http://schemas.microsoft.com/office/powerpoint/2010/main" val="124219882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6B9271-75C6-E8E1-730A-6762D46AB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E70E318-CFBC-977C-76AD-612AB447C8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897254"/>
            <a:ext cx="7486650" cy="2400300"/>
          </a:xfrm>
        </p:spPr>
      </p:pic>
    </p:spTree>
    <p:extLst>
      <p:ext uri="{BB962C8B-B14F-4D97-AF65-F5344CB8AC3E}">
        <p14:creationId xmlns:p14="http://schemas.microsoft.com/office/powerpoint/2010/main" val="322406087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/>
              <a:t>例子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5630" y="1565910"/>
            <a:ext cx="78867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dirty="0"/>
              <a:t>假设我们要比较三种投资策略的平均收益率是否不同：</a:t>
            </a:r>
            <a:endParaRPr lang="en-US" altLang="zh-CN" sz="2000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dirty="0"/>
              <a:t>虽然每组都有波动，但我们要判断这些差异是否</a:t>
            </a:r>
            <a:r>
              <a:rPr lang="zh-CN" altLang="en-US" sz="2000" b="1" dirty="0"/>
              <a:t>超过了正常随机波动范围</a:t>
            </a:r>
            <a:r>
              <a:rPr lang="zh-CN" altLang="en-US" sz="2000" dirty="0"/>
              <a:t>。</a:t>
            </a:r>
            <a:br>
              <a:rPr lang="zh-CN" altLang="en-US" sz="2000" dirty="0"/>
            </a:br>
            <a:r>
              <a:rPr lang="zh-CN" altLang="en-US" sz="2000" dirty="0"/>
              <a:t>如果不同策略之间的差距太大，就可以认为策略确实影响了收益。</a:t>
            </a:r>
            <a:endParaRPr kumimoji="1" lang="zh-CN" altLang="en-US" sz="20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17550" y="2438400"/>
          <a:ext cx="7047865" cy="1701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4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5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 dirty="0"/>
                        <a:t>组别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/>
                        <a:t>样本收益率</a:t>
                      </a:r>
                      <a:r>
                        <a:rPr lang="en-US" altLang="zh-CN" sz="1875"/>
                        <a:t>(%)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 dirty="0"/>
                        <a:t>策略</a:t>
                      </a:r>
                      <a:r>
                        <a:rPr lang="en-GB" sz="1875" dirty="0"/>
                        <a:t>A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75" dirty="0"/>
                        <a:t>6, 7, 5, 8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/>
                        <a:t>策略</a:t>
                      </a:r>
                      <a:r>
                        <a:rPr lang="en-GB" sz="1875"/>
                        <a:t>B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75" dirty="0"/>
                        <a:t>4, 5, 3, 4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54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/>
                        <a:t>策略</a:t>
                      </a:r>
                      <a:r>
                        <a:rPr lang="en-GB" sz="1875"/>
                        <a:t>C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75" dirty="0"/>
                        <a:t>7, 9, 8, 10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630" y="403860"/>
            <a:ext cx="7886700" cy="1325563"/>
          </a:xfrm>
        </p:spPr>
        <p:txBody>
          <a:bodyPr/>
          <a:lstStyle/>
          <a:p>
            <a:r>
              <a:rPr lang="en-GB" altLang="zh-CN" b="1" dirty="0"/>
              <a:t>F</a:t>
            </a:r>
            <a:r>
              <a:rPr lang="zh-CN" altLang="en-US" b="1" dirty="0"/>
              <a:t>统计量的原理</a:t>
            </a:r>
            <a:endParaRPr kumimoji="1"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015105" y="1403985"/>
                <a:ext cx="4792980" cy="3948430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sz="2000" kern="0" spc="80" dirty="0">
                    <a:solidFill>
                      <a:srgbClr val="D34817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●</a:t>
                </a:r>
                <a:r>
                  <a:rPr lang="en-US" sz="2000" kern="0" spc="80" dirty="0">
                    <a:solidFill>
                      <a:srgbClr val="D34817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</a:t>
                </a:r>
                <a:r>
                  <a:rPr lang="en-GB" altLang="zh-CN" sz="2000" dirty="0"/>
                  <a:t>ANOVA </a:t>
                </a:r>
                <a:r>
                  <a:rPr lang="zh-CN" altLang="en-US" sz="2000" dirty="0"/>
                  <a:t>的核心统计量是 </a:t>
                </a:r>
                <a:r>
                  <a:rPr lang="en-GB" altLang="zh-CN" sz="2000" b="1" dirty="0"/>
                  <a:t>F </a:t>
                </a:r>
                <a:r>
                  <a:rPr lang="zh-CN" altLang="en-US" sz="2000" b="1" dirty="0"/>
                  <a:t>值</a:t>
                </a:r>
                <a:r>
                  <a:rPr lang="zh-CN" altLang="en-US" sz="2000" dirty="0"/>
                  <a:t>：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600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16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zh-CN" altLang="en-US" sz="1600" i="1">
                              <a:latin typeface="Cambria Math" panose="02040503050406030204" pitchFamily="18" charset="0"/>
                            </a:rPr>
                            <m:t>组间方差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zh-CN" altLang="en-US" sz="1600" i="1">
                              <a:latin typeface="Cambria Math" panose="02040503050406030204" pitchFamily="18" charset="0"/>
                            </a:rPr>
                            <m:t>组内方差</m:t>
                          </m:r>
                        </m:den>
                      </m:f>
                    </m:oMath>
                  </m:oMathPara>
                </a14:m>
                <a:endParaRPr lang="ar-AE" altLang="zh-CN" sz="1600" b="0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1400" dirty="0"/>
                  <a:t>当 </a:t>
                </a:r>
                <a:r>
                  <a:rPr lang="en-GB" altLang="zh-CN" sz="1400" dirty="0"/>
                  <a:t>F </a:t>
                </a:r>
                <a:r>
                  <a:rPr lang="zh-CN" altLang="en-US" sz="1400" dirty="0"/>
                  <a:t>值较小（≈</a:t>
                </a:r>
                <a:r>
                  <a:rPr lang="en-US" altLang="zh-CN" sz="1400" dirty="0"/>
                  <a:t>1</a:t>
                </a:r>
                <a:r>
                  <a:rPr lang="zh-CN" altLang="en-US" sz="1400" dirty="0"/>
                  <a:t>）→ 各组差异主要来自随机误差；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 dirty="0"/>
                  <a:t>当 </a:t>
                </a:r>
                <a:r>
                  <a:rPr lang="en-GB" altLang="zh-CN" sz="1400" dirty="0"/>
                  <a:t>F </a:t>
                </a:r>
                <a:r>
                  <a:rPr lang="zh-CN" altLang="en-US" sz="1400" dirty="0"/>
                  <a:t>值较大 → 各组均值差异显著，拒绝原假设。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sz="2000" kern="0" spc="80" dirty="0">
                    <a:solidFill>
                      <a:srgbClr val="D34817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●</a:t>
                </a:r>
                <a:r>
                  <a:rPr lang="en-US" sz="2000" kern="0" spc="80" dirty="0">
                    <a:solidFill>
                      <a:srgbClr val="D34817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</a:t>
                </a:r>
                <a:r>
                  <a:rPr lang="zh-CN" altLang="en-US" sz="2000" b="1" dirty="0"/>
                  <a:t>原假设 </a:t>
                </a:r>
                <a:r>
                  <a:rPr lang="en-US" altLang="zh-CN" sz="2000" b="1" dirty="0"/>
                  <a:t>(</a:t>
                </a:r>
                <a:r>
                  <a:rPr lang="en-GB" altLang="zh-CN" sz="2000" b="1" dirty="0"/>
                  <a:t>H₀)</a:t>
                </a:r>
                <a:r>
                  <a:rPr lang="zh-CN" altLang="en-GB" sz="2000" b="1" dirty="0"/>
                  <a:t>：</a:t>
                </a:r>
                <a:r>
                  <a:rPr lang="en-GB" altLang="zh-CN" sz="2000" dirty="0"/>
                  <a:t> </a:t>
                </a:r>
                <a:r>
                  <a:rPr lang="zh-CN" altLang="en-US" sz="2000" dirty="0"/>
                  <a:t>各组均值相等。</a:t>
                </a:r>
                <a:br>
                  <a:rPr lang="zh-CN" altLang="en-US" sz="2000" dirty="0"/>
                </a:br>
                <a:r>
                  <a:rPr lang="en-US" altLang="zh-CN" sz="2000" dirty="0"/>
                  <a:t>    </a:t>
                </a:r>
                <a:r>
                  <a:rPr lang="zh-CN" altLang="en-US" sz="2000" b="1" dirty="0"/>
                  <a:t>备择假设 </a:t>
                </a:r>
                <a:r>
                  <a:rPr lang="en-US" altLang="zh-CN" sz="2000" b="1" dirty="0"/>
                  <a:t>(</a:t>
                </a:r>
                <a:r>
                  <a:rPr lang="en-GB" altLang="zh-CN" sz="2000" b="1" dirty="0"/>
                  <a:t>H₁)</a:t>
                </a:r>
                <a:r>
                  <a:rPr lang="zh-CN" altLang="en-GB" sz="2000" b="1" dirty="0"/>
                  <a:t>：</a:t>
                </a:r>
                <a:r>
                  <a:rPr lang="en-GB" altLang="zh-CN" sz="2000" dirty="0"/>
                  <a:t> </a:t>
                </a:r>
                <a:r>
                  <a:rPr lang="zh-CN" altLang="en-US" sz="2000" dirty="0"/>
                  <a:t>至少有一组均值不同。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sz="2000" kern="0" spc="80" dirty="0">
                    <a:solidFill>
                      <a:srgbClr val="D34817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●</a:t>
                </a:r>
                <a:r>
                  <a:rPr lang="zh-CN" altLang="en-US" sz="2000" dirty="0"/>
                  <a:t> </a:t>
                </a:r>
                <a:r>
                  <a:rPr lang="zh-CN" altLang="en-US" sz="2000" b="1" dirty="0"/>
                  <a:t>显著性判断：</a:t>
                </a:r>
                <a:br>
                  <a:rPr lang="zh-CN" altLang="en-US" sz="2000" dirty="0"/>
                </a:br>
                <a:r>
                  <a:rPr lang="en-US" altLang="zh-CN" sz="2000" dirty="0"/>
                  <a:t>    </a:t>
                </a:r>
                <a:r>
                  <a:rPr lang="zh-CN" altLang="en-US" sz="1600" dirty="0"/>
                  <a:t>若计算得到的 </a:t>
                </a:r>
                <a:r>
                  <a:rPr lang="en-GB" altLang="zh-CN" sz="1600" dirty="0"/>
                  <a:t>F </a:t>
                </a:r>
                <a:r>
                  <a:rPr lang="zh-CN" altLang="en-US" sz="1600" dirty="0"/>
                  <a:t>值 </a:t>
                </a:r>
                <a:r>
                  <a:rPr lang="en-US" altLang="zh-CN" sz="1600" dirty="0"/>
                  <a:t>&gt; </a:t>
                </a:r>
                <a:r>
                  <a:rPr lang="en-GB" altLang="zh-CN" sz="1600" dirty="0"/>
                  <a:t>F</a:t>
                </a:r>
                <a:r>
                  <a:rPr lang="zh-CN" altLang="en-US" sz="1600" dirty="0"/>
                  <a:t>临界值（查表或计算），则</a:t>
                </a:r>
                <a:r>
                  <a:rPr lang="en-US" altLang="zh-CN" sz="1600" dirty="0"/>
                  <a:t> 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altLang="zh-CN" sz="1600" dirty="0"/>
                  <a:t>     </a:t>
                </a:r>
                <a:r>
                  <a:rPr lang="zh-CN" altLang="en-US" sz="1600" dirty="0"/>
                  <a:t>拒绝 </a:t>
                </a:r>
                <a:r>
                  <a:rPr lang="en-US" altLang="zh-CN" sz="1600" dirty="0"/>
                  <a:t>H0</a:t>
                </a:r>
                <a:r>
                  <a:rPr lang="zh-CN" altLang="en-GB" sz="1600" dirty="0"/>
                  <a:t>。</a:t>
                </a:r>
              </a:p>
              <a:p>
                <a:endParaRPr kumimoji="1" lang="zh-CN" altLang="en-GB" sz="16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15105" y="1403985"/>
                <a:ext cx="4792980" cy="3948430"/>
              </a:xfrm>
              <a:blipFill rotWithShape="1">
                <a:blip r:embed="rId2"/>
                <a:stretch>
                  <a:fillRect b="-24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42" y="1873071"/>
            <a:ext cx="3661287" cy="3561735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/>
              <a:t>单因素方差分析（</a:t>
            </a:r>
            <a:r>
              <a:rPr lang="en-GB" altLang="zh-CN" b="1" dirty="0"/>
              <a:t>One-way ANOVA</a:t>
            </a:r>
            <a:r>
              <a:rPr lang="zh-CN" altLang="en-GB" b="1" dirty="0"/>
              <a:t>）</a:t>
            </a:r>
            <a:endParaRPr kumimoji="1"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405890"/>
            <a:ext cx="7886700" cy="33147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b="1" dirty="0"/>
              <a:t>使用场景：</a:t>
            </a:r>
            <a:r>
              <a:rPr lang="zh-CN" altLang="en-US" sz="2000" dirty="0"/>
              <a:t>只有一个影响因素（例如不同基金类型）。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000" b="1" dirty="0"/>
              <a:t>    </a:t>
            </a:r>
            <a:r>
              <a:rPr lang="zh-CN" altLang="en-US" sz="2000" b="1" dirty="0"/>
              <a:t>模型表达式：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endParaRPr kumimoji="1" lang="en-US" altLang="zh-CN" sz="2000" dirty="0"/>
          </a:p>
          <a:p>
            <a:pPr>
              <a:lnSpc>
                <a:spcPct val="150000"/>
              </a:lnSpc>
            </a:pPr>
            <a:endParaRPr kumimoji="1" lang="en-US" altLang="zh-CN" sz="2000" dirty="0"/>
          </a:p>
          <a:p>
            <a:pPr>
              <a:lnSpc>
                <a:spcPct val="150000"/>
              </a:lnSpc>
            </a:pPr>
            <a:endParaRPr kumimoji="1" lang="en-US" altLang="zh-CN" sz="2000" dirty="0"/>
          </a:p>
          <a:p>
            <a:pPr>
              <a:lnSpc>
                <a:spcPct val="150000"/>
              </a:lnSpc>
            </a:pPr>
            <a:endParaRPr lang="en-US" altLang="zh-CN" sz="2000" b="1" dirty="0"/>
          </a:p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b="1" dirty="0"/>
              <a:t>例子：</a:t>
            </a:r>
            <a:r>
              <a:rPr lang="zh-CN" altLang="en-US" sz="2000" dirty="0"/>
              <a:t>比较股票型、债券型、混合型基金平均收益是否相同。</a:t>
            </a:r>
          </a:p>
          <a:p>
            <a:endParaRPr kumimoji="1" lang="zh-CN" altLang="en-US" sz="11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497455"/>
            <a:ext cx="5823585" cy="2223135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67866" tIns="33337" rIns="67866" bIns="33337" numCol="1" rtlCol="0" anchor="ctr" anchorCtr="1" compatLnSpc="1">
            <a:normAutofit/>
          </a:bodyPr>
          <a:lstStyle/>
          <a:p>
            <a:pPr algn="ctr" eaLnBrk="0" fontAlgn="base" hangingPunct="0">
              <a:lnSpc>
                <a:spcPct val="95000"/>
              </a:lnSpc>
              <a:spcAft>
                <a:spcPct val="0"/>
              </a:spcAft>
              <a:defRPr/>
            </a:pPr>
            <a:r>
              <a:rPr kumimoji="1" lang="zh-CN" altLang="en-US" sz="3200" b="1" dirty="0"/>
              <a:t>构造检验的统计量</a:t>
            </a:r>
            <a:br>
              <a:rPr kumimoji="1" lang="zh-CN" altLang="en-US" sz="3200" b="1" dirty="0"/>
            </a:br>
            <a:r>
              <a:rPr kumimoji="1" lang="en-US" altLang="zh-CN" sz="3200" b="1" dirty="0"/>
              <a:t>(F</a:t>
            </a:r>
            <a:r>
              <a:rPr kumimoji="1" lang="zh-CN" altLang="en-US" sz="3200" b="1" dirty="0"/>
              <a:t>分布与拒绝域</a:t>
            </a:r>
            <a:r>
              <a:rPr kumimoji="1" lang="en-US" altLang="zh-CN" sz="3200" b="1" dirty="0"/>
              <a:t>)</a:t>
            </a:r>
          </a:p>
        </p:txBody>
      </p:sp>
      <p:sp>
        <p:nvSpPr>
          <p:cNvPr id="336995" name="AutoShape 99"/>
          <p:cNvSpPr>
            <a:spLocks noChangeArrowheads="1"/>
          </p:cNvSpPr>
          <p:nvPr/>
        </p:nvSpPr>
        <p:spPr bwMode="auto">
          <a:xfrm>
            <a:off x="1657350" y="2743200"/>
            <a:ext cx="1943100" cy="685800"/>
          </a:xfrm>
          <a:prstGeom prst="wedgeRoundRectCallout">
            <a:avLst>
              <a:gd name="adj1" fmla="val 49569"/>
              <a:gd name="adj2" fmla="val 73440"/>
              <a:gd name="adj3" fmla="val 16667"/>
            </a:avLst>
          </a:prstGeom>
          <a:noFill/>
          <a:ln w="12700">
            <a:solidFill>
              <a:schemeClr val="accent2"/>
            </a:solidFill>
            <a:miter lim="800000"/>
          </a:ln>
          <a:effectLst>
            <a:outerShdw dist="17961" dir="2700000" algn="ctr" rotWithShape="0">
              <a:schemeClr val="bg2"/>
            </a:outerShdw>
          </a:effectLst>
        </p:spPr>
        <p:txBody>
          <a:bodyPr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华文楷体" panose="02010600040101010101" charset="-122"/>
              </a:rPr>
              <a:t>如果均值相等，</a:t>
            </a:r>
            <a:r>
              <a:rPr kumimoji="1" lang="en-US" altLang="zh-CN" i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华文楷体" panose="02010600040101010101" charset="-122"/>
              </a:rPr>
              <a:t>F</a:t>
            </a:r>
            <a:r>
              <a:rPr kumimoji="1"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华文楷体" panose="02010600040101010101" charset="-122"/>
              </a:rPr>
              <a:t>=</a:t>
            </a:r>
            <a:r>
              <a:rPr kumimoji="1" lang="en-US" altLang="zh-CN" i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华文楷体" panose="02010600040101010101" charset="-122"/>
              </a:rPr>
              <a:t>MSA</a:t>
            </a:r>
            <a:r>
              <a:rPr kumimoji="1"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华文楷体" panose="02010600040101010101" charset="-122"/>
              </a:rPr>
              <a:t>/</a:t>
            </a:r>
            <a:r>
              <a:rPr kumimoji="1" lang="en-US" altLang="zh-CN" i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华文楷体" panose="02010600040101010101" charset="-122"/>
              </a:rPr>
              <a:t>MSE</a:t>
            </a:r>
            <a:r>
              <a:rPr kumimoji="1" lang="en-US" altLang="zh-CN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华文楷体" panose="02010600040101010101" charset="-122"/>
                <a:sym typeface="Symbol" panose="05050102010706020507" pitchFamily="18" charset="2"/>
              </a:rPr>
              <a:t>1</a:t>
            </a:r>
            <a:endParaRPr kumimoji="1" lang="en-US" altLang="zh-CN" dirty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华文楷体" panose="02010600040101010101" charset="-122"/>
            </a:endParaRPr>
          </a:p>
        </p:txBody>
      </p:sp>
      <p:grpSp>
        <p:nvGrpSpPr>
          <p:cNvPr id="34820" name="Group 155"/>
          <p:cNvGrpSpPr/>
          <p:nvPr/>
        </p:nvGrpSpPr>
        <p:grpSpPr>
          <a:xfrm>
            <a:off x="3943350" y="2628901"/>
            <a:ext cx="3526632" cy="2834878"/>
            <a:chOff x="2352" y="1488"/>
            <a:chExt cx="2962" cy="2381"/>
          </a:xfrm>
        </p:grpSpPr>
        <p:sp>
          <p:nvSpPr>
            <p:cNvPr id="34821" name="Line 62"/>
            <p:cNvSpPr/>
            <p:nvPr/>
          </p:nvSpPr>
          <p:spPr>
            <a:xfrm flipH="1">
              <a:off x="4128" y="2928"/>
              <a:ext cx="1" cy="227"/>
            </a:xfrm>
            <a:prstGeom prst="line">
              <a:avLst/>
            </a:prstGeom>
            <a:ln w="12700" cap="flat" cmpd="sng">
              <a:solidFill>
                <a:schemeClr val="accent2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336959" name="Rectangle 63"/>
            <p:cNvSpPr>
              <a:spLocks noChangeArrowheads="1"/>
            </p:cNvSpPr>
            <p:nvPr/>
          </p:nvSpPr>
          <p:spPr bwMode="auto">
            <a:xfrm>
              <a:off x="4469" y="2134"/>
              <a:ext cx="379" cy="3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67866" tIns="33337" rIns="67866" bIns="33337">
              <a:spAutoFit/>
            </a:bodyPr>
            <a:lstStyle/>
            <a:p>
              <a:pPr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zh-CN" sz="2400" b="1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Symbol" panose="05050102010706020507" pitchFamily="18" charset="2"/>
                  <a:ea typeface="宋体" panose="02010600030101010101" pitchFamily="2" charset="-122"/>
                  <a:cs typeface="华文楷体" panose="02010600040101010101" charset="-122"/>
                </a:rPr>
                <a:t>a</a:t>
              </a:r>
            </a:p>
          </p:txBody>
        </p:sp>
        <p:sp>
          <p:nvSpPr>
            <p:cNvPr id="336960" name="Rectangle 64"/>
            <p:cNvSpPr>
              <a:spLocks noChangeArrowheads="1"/>
            </p:cNvSpPr>
            <p:nvPr/>
          </p:nvSpPr>
          <p:spPr bwMode="auto">
            <a:xfrm>
              <a:off x="3456" y="3504"/>
              <a:ext cx="1295" cy="3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67866" tIns="33337" rIns="67866" bIns="33337">
              <a:spAutoFit/>
            </a:bodyPr>
            <a:lstStyle/>
            <a:p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zh-CN" sz="2400" b="1" i="1" dirty="0">
                  <a:solidFill>
                    <a:srgbClr val="FFFFB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华文楷体" panose="02010600040101010101" charset="-122"/>
                </a:rPr>
                <a:t>  </a:t>
              </a:r>
              <a:r>
                <a:rPr kumimoji="1" lang="en-US" altLang="zh-CN" sz="2400" b="1" i="1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华文楷体" panose="02010600040101010101" charset="-122"/>
                </a:rPr>
                <a:t>F </a:t>
              </a:r>
              <a:r>
                <a:rPr kumimoji="1" lang="zh-CN" altLang="en-US" sz="2400" b="1" dirty="0">
                  <a:solidFill>
                    <a:schemeClr val="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分布</a:t>
              </a:r>
            </a:p>
          </p:txBody>
        </p:sp>
        <p:sp>
          <p:nvSpPr>
            <p:cNvPr id="336961" name="Rectangle 65"/>
            <p:cNvSpPr>
              <a:spLocks noChangeArrowheads="1"/>
            </p:cNvSpPr>
            <p:nvPr/>
          </p:nvSpPr>
          <p:spPr bwMode="auto">
            <a:xfrm>
              <a:off x="3600" y="3120"/>
              <a:ext cx="1536" cy="36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67866" tIns="33337" rIns="67866" bIns="33337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2400" i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华文楷体" panose="02010600040101010101" charset="-122"/>
                </a:rPr>
                <a:t>F</a:t>
              </a:r>
              <a:r>
                <a:rPr kumimoji="1" lang="en-US" altLang="zh-CN" sz="2400" i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华文楷体" panose="02010600040101010101" charset="-122"/>
                  <a:sym typeface="Symbol" panose="05050102010706020507" pitchFamily="18" charset="2"/>
                </a:rPr>
                <a:t></a:t>
              </a:r>
              <a:r>
                <a:rPr kumimoji="1"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华文楷体" panose="02010600040101010101" charset="-122"/>
                </a:rPr>
                <a:t>(</a:t>
              </a:r>
              <a:r>
                <a:rPr kumimoji="1" lang="en-US" altLang="zh-CN" sz="2400" i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华文楷体" panose="02010600040101010101" charset="-122"/>
                </a:rPr>
                <a:t>k</a:t>
              </a:r>
              <a:r>
                <a:rPr kumimoji="1"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华文楷体" panose="02010600040101010101" charset="-122"/>
                </a:rPr>
                <a:t>-1,</a:t>
              </a:r>
              <a:r>
                <a:rPr kumimoji="1" lang="en-US" altLang="zh-CN" sz="2400" i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华文楷体" panose="02010600040101010101" charset="-122"/>
                </a:rPr>
                <a:t>n</a:t>
              </a:r>
              <a:r>
                <a:rPr kumimoji="1"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华文楷体" panose="02010600040101010101" charset="-122"/>
                </a:rPr>
                <a:t>-</a:t>
              </a:r>
              <a:r>
                <a:rPr kumimoji="1" lang="en-US" altLang="zh-CN" sz="2400" i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华文楷体" panose="02010600040101010101" charset="-122"/>
                </a:rPr>
                <a:t>k</a:t>
              </a:r>
              <a:r>
                <a:rPr kumimoji="1"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华文楷体" panose="02010600040101010101" charset="-122"/>
                </a:rPr>
                <a:t>)</a:t>
              </a:r>
              <a:endParaRPr kumimoji="1" lang="en-US" altLang="zh-CN" sz="2400" i="1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华文楷体" panose="02010600040101010101" charset="-122"/>
              </a:endParaRPr>
            </a:p>
          </p:txBody>
        </p:sp>
        <p:sp>
          <p:nvSpPr>
            <p:cNvPr id="34825" name="Freeform 66" descr="60%"/>
            <p:cNvSpPr/>
            <p:nvPr/>
          </p:nvSpPr>
          <p:spPr>
            <a:xfrm>
              <a:off x="4128" y="2592"/>
              <a:ext cx="1008" cy="336"/>
            </a:xfrm>
            <a:custGeom>
              <a:avLst/>
              <a:gdLst>
                <a:gd name="txL" fmla="*/ 0 w 885"/>
                <a:gd name="txT" fmla="*/ 0 h 491"/>
                <a:gd name="txR" fmla="*/ 885 w 885"/>
                <a:gd name="txB" fmla="*/ 491 h 491"/>
              </a:gdLst>
              <a:ahLst/>
              <a:cxnLst>
                <a:cxn ang="0">
                  <a:pos x="0" y="0"/>
                </a:cxn>
                <a:cxn ang="0">
                  <a:pos x="0" y="157"/>
                </a:cxn>
                <a:cxn ang="0">
                  <a:pos x="1306" y="157"/>
                </a:cxn>
                <a:cxn ang="0">
                  <a:pos x="1173" y="150"/>
                </a:cxn>
                <a:cxn ang="0">
                  <a:pos x="1040" y="142"/>
                </a:cxn>
                <a:cxn ang="0">
                  <a:pos x="915" y="133"/>
                </a:cxn>
                <a:cxn ang="0">
                  <a:pos x="794" y="123"/>
                </a:cxn>
                <a:cxn ang="0">
                  <a:pos x="680" y="113"/>
                </a:cxn>
                <a:cxn ang="0">
                  <a:pos x="569" y="101"/>
                </a:cxn>
                <a:cxn ang="0">
                  <a:pos x="468" y="88"/>
                </a:cxn>
                <a:cxn ang="0">
                  <a:pos x="368" y="75"/>
                </a:cxn>
                <a:cxn ang="0">
                  <a:pos x="280" y="62"/>
                </a:cxn>
                <a:cxn ang="0">
                  <a:pos x="198" y="47"/>
                </a:cxn>
                <a:cxn ang="0">
                  <a:pos x="125" y="32"/>
                </a:cxn>
                <a:cxn ang="0">
                  <a:pos x="59" y="16"/>
                </a:cxn>
                <a:cxn ang="0">
                  <a:pos x="0" y="0"/>
                </a:cxn>
              </a:cxnLst>
              <a:rect l="txL" t="txT" r="txR" b="txB"/>
              <a:pathLst>
                <a:path w="885" h="491">
                  <a:moveTo>
                    <a:pt x="0" y="0"/>
                  </a:moveTo>
                  <a:lnTo>
                    <a:pt x="0" y="490"/>
                  </a:lnTo>
                  <a:lnTo>
                    <a:pt x="884" y="490"/>
                  </a:lnTo>
                  <a:lnTo>
                    <a:pt x="794" y="468"/>
                  </a:lnTo>
                  <a:lnTo>
                    <a:pt x="704" y="444"/>
                  </a:lnTo>
                  <a:lnTo>
                    <a:pt x="619" y="415"/>
                  </a:lnTo>
                  <a:lnTo>
                    <a:pt x="537" y="384"/>
                  </a:lnTo>
                  <a:lnTo>
                    <a:pt x="460" y="352"/>
                  </a:lnTo>
                  <a:lnTo>
                    <a:pt x="385" y="315"/>
                  </a:lnTo>
                  <a:lnTo>
                    <a:pt x="317" y="276"/>
                  </a:lnTo>
                  <a:lnTo>
                    <a:pt x="249" y="234"/>
                  </a:lnTo>
                  <a:lnTo>
                    <a:pt x="190" y="192"/>
                  </a:lnTo>
                  <a:lnTo>
                    <a:pt x="134" y="146"/>
                  </a:lnTo>
                  <a:lnTo>
                    <a:pt x="85" y="100"/>
                  </a:lnTo>
                  <a:lnTo>
                    <a:pt x="40" y="50"/>
                  </a:lnTo>
                  <a:lnTo>
                    <a:pt x="0" y="0"/>
                  </a:lnTo>
                </a:path>
              </a:pathLst>
            </a:custGeom>
            <a:pattFill prst="pct60">
              <a:fgClr>
                <a:schemeClr val="tx2">
                  <a:alpha val="100000"/>
                </a:schemeClr>
              </a:fgClr>
              <a:bgClr>
                <a:srgbClr val="FF7C80">
                  <a:alpha val="100000"/>
                </a:srgbClr>
              </a:bgClr>
            </a:pattFill>
            <a:ln w="12700">
              <a:noFill/>
            </a:ln>
          </p:spPr>
          <p:txBody>
            <a:bodyPr/>
            <a:lstStyle/>
            <a:p>
              <a:endParaRPr lang="zh-CN" altLang="en-US" sz="1350">
                <a:cs typeface="华文楷体" panose="02010600040101010101" charset="-122"/>
              </a:endParaRPr>
            </a:p>
          </p:txBody>
        </p:sp>
        <p:sp>
          <p:nvSpPr>
            <p:cNvPr id="336966" name="Rectangle 70"/>
            <p:cNvSpPr>
              <a:spLocks noChangeArrowheads="1"/>
            </p:cNvSpPr>
            <p:nvPr/>
          </p:nvSpPr>
          <p:spPr bwMode="auto">
            <a:xfrm>
              <a:off x="2352" y="2902"/>
              <a:ext cx="215" cy="27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7" rIns="67866" bIns="33337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1725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0</a:t>
              </a:r>
            </a:p>
          </p:txBody>
        </p:sp>
        <p:sp>
          <p:nvSpPr>
            <p:cNvPr id="336968" name="Rectangle 72"/>
            <p:cNvSpPr>
              <a:spLocks noChangeArrowheads="1"/>
            </p:cNvSpPr>
            <p:nvPr/>
          </p:nvSpPr>
          <p:spPr bwMode="auto">
            <a:xfrm>
              <a:off x="4113" y="1728"/>
              <a:ext cx="720" cy="27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67866" tIns="33337" rIns="67866" bIns="33337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sz="1725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拒绝</a:t>
              </a:r>
              <a:r>
                <a:rPr kumimoji="1" lang="en-US" altLang="zh-CN" sz="1725" b="1" i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华文楷体" panose="02010600040101010101" charset="-122"/>
                </a:rPr>
                <a:t>H</a:t>
              </a:r>
              <a:r>
                <a:rPr kumimoji="1" lang="en-US" altLang="zh-CN" sz="1725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华文楷体" panose="02010600040101010101" charset="-122"/>
                  <a:ea typeface="宋体" panose="02010600030101010101" pitchFamily="2" charset="-122"/>
                  <a:cs typeface="华文楷体" panose="02010600040101010101" charset="-122"/>
                </a:rPr>
                <a:t>0</a:t>
              </a:r>
              <a:endParaRPr kumimoji="1" lang="en-US" altLang="zh-CN" sz="1725" b="1" dirty="0">
                <a:effectLst>
                  <a:outerShdw blurRad="38100" dist="38100" dir="2700000" algn="tl">
                    <a:srgbClr val="000000"/>
                  </a:outerShdw>
                </a:effectLst>
                <a:latin typeface="华文楷体" panose="02010600040101010101" charset="-122"/>
                <a:ea typeface="宋体" panose="02010600030101010101" pitchFamily="2" charset="-122"/>
                <a:cs typeface="华文楷体" panose="02010600040101010101" charset="-122"/>
              </a:endParaRPr>
            </a:p>
          </p:txBody>
        </p:sp>
        <p:sp>
          <p:nvSpPr>
            <p:cNvPr id="336969" name="Rectangle 73"/>
            <p:cNvSpPr>
              <a:spLocks noChangeArrowheads="1"/>
            </p:cNvSpPr>
            <p:nvPr/>
          </p:nvSpPr>
          <p:spPr bwMode="auto">
            <a:xfrm>
              <a:off x="2817" y="2256"/>
              <a:ext cx="1009" cy="27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7" rIns="67866" bIns="33337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zh-CN" altLang="en-US" sz="1725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华文楷体" panose="02010600040101010101" charset="-122"/>
                </a:rPr>
                <a:t>不能拒绝</a:t>
              </a:r>
              <a:r>
                <a:rPr kumimoji="1" lang="en-US" altLang="zh-CN" sz="1725" b="1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华文楷体" panose="02010600040101010101" charset="-122"/>
                </a:rPr>
                <a:t>H</a:t>
              </a:r>
              <a:r>
                <a:rPr kumimoji="1" lang="en-US" altLang="zh-CN" sz="1725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  <a:cs typeface="华文楷体" panose="02010600040101010101" charset="-122"/>
                </a:rPr>
                <a:t>0</a:t>
              </a:r>
              <a:endParaRPr kumimoji="1" lang="en-US" altLang="zh-CN" sz="1725" b="1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华文楷体" panose="02010600040101010101" charset="-122"/>
              </a:endParaRPr>
            </a:p>
          </p:txBody>
        </p:sp>
        <p:sp>
          <p:nvSpPr>
            <p:cNvPr id="34829" name="Rectangle 74"/>
            <p:cNvSpPr/>
            <p:nvPr/>
          </p:nvSpPr>
          <p:spPr>
            <a:xfrm>
              <a:off x="3679" y="2576"/>
              <a:ext cx="116" cy="5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anchor="ctr" anchorCtr="0"/>
            <a:lstStyle/>
            <a:p>
              <a:endParaRPr lang="zh-CN" altLang="en-US" sz="1350" dirty="0">
                <a:latin typeface="华文楷体" panose="02010600040101010101" charset="-122"/>
                <a:cs typeface="华文楷体" panose="02010600040101010101" charset="-122"/>
              </a:endParaRPr>
            </a:p>
          </p:txBody>
        </p:sp>
        <p:sp>
          <p:nvSpPr>
            <p:cNvPr id="336993" name="Rectangle 97"/>
            <p:cNvSpPr>
              <a:spLocks noChangeArrowheads="1"/>
            </p:cNvSpPr>
            <p:nvPr/>
          </p:nvSpPr>
          <p:spPr bwMode="auto">
            <a:xfrm>
              <a:off x="5078" y="2898"/>
              <a:ext cx="236" cy="27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7" rIns="67866" bIns="33337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1725" b="1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anose="02020603050405020304" pitchFamily="18" charset="0"/>
                  <a:ea typeface="宋体" panose="02010600030101010101" pitchFamily="2" charset="-122"/>
                  <a:cs typeface="华文楷体" panose="02010600040101010101" charset="-122"/>
                </a:rPr>
                <a:t>F</a:t>
              </a:r>
            </a:p>
          </p:txBody>
        </p:sp>
        <p:grpSp>
          <p:nvGrpSpPr>
            <p:cNvPr id="34831" name="Group 129"/>
            <p:cNvGrpSpPr/>
            <p:nvPr/>
          </p:nvGrpSpPr>
          <p:grpSpPr>
            <a:xfrm>
              <a:off x="2448" y="1536"/>
              <a:ext cx="2640" cy="1344"/>
              <a:chOff x="2463" y="1488"/>
              <a:chExt cx="2640" cy="1344"/>
            </a:xfrm>
          </p:grpSpPr>
          <p:sp>
            <p:nvSpPr>
              <p:cNvPr id="34856" name="Freeform 124"/>
              <p:cNvSpPr/>
              <p:nvPr/>
            </p:nvSpPr>
            <p:spPr>
              <a:xfrm>
                <a:off x="2463" y="1488"/>
                <a:ext cx="561" cy="1344"/>
              </a:xfrm>
              <a:custGeom>
                <a:avLst/>
                <a:gdLst/>
                <a:ahLst/>
                <a:cxnLst>
                  <a:cxn ang="0">
                    <a:pos x="0" y="1369"/>
                  </a:cxn>
                  <a:cxn ang="0">
                    <a:pos x="61" y="1352"/>
                  </a:cxn>
                  <a:cxn ang="0">
                    <a:pos x="92" y="1337"/>
                  </a:cxn>
                  <a:cxn ang="0">
                    <a:pos x="123" y="1314"/>
                  </a:cxn>
                  <a:cxn ang="0">
                    <a:pos x="150" y="1284"/>
                  </a:cxn>
                  <a:cxn ang="0">
                    <a:pos x="182" y="1242"/>
                  </a:cxn>
                  <a:cxn ang="0">
                    <a:pos x="213" y="1185"/>
                  </a:cxn>
                  <a:cxn ang="0">
                    <a:pos x="273" y="1026"/>
                  </a:cxn>
                  <a:cxn ang="0">
                    <a:pos x="334" y="802"/>
                  </a:cxn>
                  <a:cxn ang="0">
                    <a:pos x="394" y="534"/>
                  </a:cxn>
                  <a:cxn ang="0">
                    <a:pos x="423" y="399"/>
                  </a:cxn>
                  <a:cxn ang="0">
                    <a:pos x="454" y="269"/>
                  </a:cxn>
                  <a:cxn ang="0">
                    <a:pos x="484" y="159"/>
                  </a:cxn>
                  <a:cxn ang="0">
                    <a:pos x="515" y="73"/>
                  </a:cxn>
                  <a:cxn ang="0">
                    <a:pos x="545" y="18"/>
                  </a:cxn>
                  <a:cxn ang="0">
                    <a:pos x="573" y="0"/>
                  </a:cxn>
                </a:cxnLst>
                <a:rect l="0" t="0" r="0" b="0"/>
                <a:pathLst>
                  <a:path w="548" h="1318">
                    <a:moveTo>
                      <a:pt x="0" y="1317"/>
                    </a:moveTo>
                    <a:lnTo>
                      <a:pt x="59" y="1300"/>
                    </a:lnTo>
                    <a:lnTo>
                      <a:pt x="88" y="1286"/>
                    </a:lnTo>
                    <a:lnTo>
                      <a:pt x="117" y="1264"/>
                    </a:lnTo>
                    <a:lnTo>
                      <a:pt x="144" y="1235"/>
                    </a:lnTo>
                    <a:lnTo>
                      <a:pt x="174" y="1194"/>
                    </a:lnTo>
                    <a:lnTo>
                      <a:pt x="203" y="1140"/>
                    </a:lnTo>
                    <a:lnTo>
                      <a:pt x="261" y="987"/>
                    </a:lnTo>
                    <a:lnTo>
                      <a:pt x="318" y="771"/>
                    </a:lnTo>
                    <a:lnTo>
                      <a:pt x="376" y="514"/>
                    </a:lnTo>
                    <a:lnTo>
                      <a:pt x="403" y="383"/>
                    </a:lnTo>
                    <a:lnTo>
                      <a:pt x="433" y="259"/>
                    </a:lnTo>
                    <a:lnTo>
                      <a:pt x="462" y="153"/>
                    </a:lnTo>
                    <a:lnTo>
                      <a:pt x="491" y="71"/>
                    </a:lnTo>
                    <a:lnTo>
                      <a:pt x="520" y="18"/>
                    </a:lnTo>
                    <a:lnTo>
                      <a:pt x="547" y="0"/>
                    </a:lnTo>
                  </a:path>
                </a:pathLst>
              </a:custGeom>
              <a:noFill/>
              <a:ln w="50800" cap="rnd" cmpd="sng">
                <a:solidFill>
                  <a:srgbClr val="FF33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25400" algn="ctr" rotWithShape="0">
                  <a:schemeClr val="bg2">
                    <a:alpha val="100000"/>
                  </a:schemeClr>
                </a:outerShdw>
              </a:effectLst>
            </p:spPr>
            <p:txBody>
              <a:bodyPr/>
              <a:lstStyle/>
              <a:p>
                <a:endParaRPr lang="zh-CN" altLang="en-US" sz="1350">
                  <a:cs typeface="华文楷体" panose="02010600040101010101" charset="-122"/>
                </a:endParaRPr>
              </a:p>
            </p:txBody>
          </p:sp>
          <p:sp>
            <p:nvSpPr>
              <p:cNvPr id="34857" name="Freeform 128"/>
              <p:cNvSpPr/>
              <p:nvPr/>
            </p:nvSpPr>
            <p:spPr>
              <a:xfrm>
                <a:off x="3024" y="1488"/>
                <a:ext cx="2079" cy="1344"/>
              </a:xfrm>
              <a:custGeom>
                <a:avLst/>
                <a:gdLst/>
                <a:ahLst/>
                <a:cxnLst>
                  <a:cxn ang="0">
                    <a:pos x="1973" y="1369"/>
                  </a:cxn>
                  <a:cxn ang="0">
                    <a:pos x="1766" y="1352"/>
                  </a:cxn>
                  <a:cxn ang="0">
                    <a:pos x="1662" y="1337"/>
                  </a:cxn>
                  <a:cxn ang="0">
                    <a:pos x="1558" y="1314"/>
                  </a:cxn>
                  <a:cxn ang="0">
                    <a:pos x="1454" y="1284"/>
                  </a:cxn>
                  <a:cxn ang="0">
                    <a:pos x="1350" y="1242"/>
                  </a:cxn>
                  <a:cxn ang="0">
                    <a:pos x="1246" y="1185"/>
                  </a:cxn>
                  <a:cxn ang="0">
                    <a:pos x="1040" y="1026"/>
                  </a:cxn>
                  <a:cxn ang="0">
                    <a:pos x="832" y="802"/>
                  </a:cxn>
                  <a:cxn ang="0">
                    <a:pos x="624" y="534"/>
                  </a:cxn>
                  <a:cxn ang="0">
                    <a:pos x="520" y="399"/>
                  </a:cxn>
                  <a:cxn ang="0">
                    <a:pos x="417" y="269"/>
                  </a:cxn>
                  <a:cxn ang="0">
                    <a:pos x="312" y="159"/>
                  </a:cxn>
                  <a:cxn ang="0">
                    <a:pos x="209" y="73"/>
                  </a:cxn>
                  <a:cxn ang="0">
                    <a:pos x="105" y="18"/>
                  </a:cxn>
                  <a:cxn ang="0">
                    <a:pos x="0" y="0"/>
                  </a:cxn>
                </a:cxnLst>
                <a:rect l="0" t="0" r="0" b="0"/>
                <a:pathLst>
                  <a:path w="2190" h="1318">
                    <a:moveTo>
                      <a:pt x="2189" y="1317"/>
                    </a:moveTo>
                    <a:lnTo>
                      <a:pt x="1959" y="1300"/>
                    </a:lnTo>
                    <a:lnTo>
                      <a:pt x="1844" y="1286"/>
                    </a:lnTo>
                    <a:lnTo>
                      <a:pt x="1729" y="1264"/>
                    </a:lnTo>
                    <a:lnTo>
                      <a:pt x="1614" y="1235"/>
                    </a:lnTo>
                    <a:lnTo>
                      <a:pt x="1498" y="1194"/>
                    </a:lnTo>
                    <a:lnTo>
                      <a:pt x="1383" y="1140"/>
                    </a:lnTo>
                    <a:lnTo>
                      <a:pt x="1153" y="987"/>
                    </a:lnTo>
                    <a:lnTo>
                      <a:pt x="923" y="771"/>
                    </a:lnTo>
                    <a:lnTo>
                      <a:pt x="692" y="514"/>
                    </a:lnTo>
                    <a:lnTo>
                      <a:pt x="577" y="383"/>
                    </a:lnTo>
                    <a:lnTo>
                      <a:pt x="462" y="259"/>
                    </a:lnTo>
                    <a:lnTo>
                      <a:pt x="347" y="153"/>
                    </a:lnTo>
                    <a:lnTo>
                      <a:pt x="232" y="71"/>
                    </a:lnTo>
                    <a:lnTo>
                      <a:pt x="117" y="18"/>
                    </a:lnTo>
                    <a:lnTo>
                      <a:pt x="0" y="0"/>
                    </a:lnTo>
                  </a:path>
                </a:pathLst>
              </a:custGeom>
              <a:noFill/>
              <a:ln w="50800" cap="rnd" cmpd="sng">
                <a:solidFill>
                  <a:srgbClr val="FF33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25400" algn="ctr" rotWithShape="0">
                  <a:schemeClr val="bg2">
                    <a:alpha val="100000"/>
                  </a:schemeClr>
                </a:outerShdw>
              </a:effectLst>
            </p:spPr>
            <p:txBody>
              <a:bodyPr/>
              <a:lstStyle/>
              <a:p>
                <a:endParaRPr lang="zh-CN" altLang="en-US" sz="1350">
                  <a:cs typeface="华文楷体" panose="02010600040101010101" charset="-122"/>
                </a:endParaRPr>
              </a:p>
            </p:txBody>
          </p:sp>
        </p:grpSp>
        <p:sp>
          <p:nvSpPr>
            <p:cNvPr id="34832" name="Freeform 130"/>
            <p:cNvSpPr/>
            <p:nvPr/>
          </p:nvSpPr>
          <p:spPr>
            <a:xfrm>
              <a:off x="4113" y="2016"/>
              <a:ext cx="624" cy="908"/>
            </a:xfrm>
            <a:custGeom>
              <a:avLst/>
              <a:gdLst>
                <a:gd name="txL" fmla="*/ 0 w 227"/>
                <a:gd name="txT" fmla="*/ 0 h 908"/>
                <a:gd name="txR" fmla="*/ 227 w 227"/>
                <a:gd name="txB" fmla="*/ 908 h 908"/>
              </a:gdLst>
              <a:ahLst/>
              <a:cxnLst>
                <a:cxn ang="0">
                  <a:pos x="0" y="907"/>
                </a:cxn>
                <a:cxn ang="0">
                  <a:pos x="0" y="454"/>
                </a:cxn>
                <a:cxn ang="0">
                  <a:pos x="0" y="0"/>
                </a:cxn>
                <a:cxn ang="0">
                  <a:pos x="4692" y="0"/>
                </a:cxn>
              </a:cxnLst>
              <a:rect l="txL" t="txT" r="txR" b="txB"/>
              <a:pathLst>
                <a:path w="227" h="908">
                  <a:moveTo>
                    <a:pt x="0" y="907"/>
                  </a:moveTo>
                  <a:lnTo>
                    <a:pt x="0" y="454"/>
                  </a:lnTo>
                  <a:lnTo>
                    <a:pt x="0" y="0"/>
                  </a:lnTo>
                  <a:lnTo>
                    <a:pt x="226" y="0"/>
                  </a:lnTo>
                </a:path>
              </a:pathLst>
            </a:custGeom>
            <a:noFill/>
            <a:ln w="25400" cap="rnd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 sz="1350">
                <a:cs typeface="华文楷体" panose="02010600040101010101" charset="-122"/>
              </a:endParaRPr>
            </a:p>
          </p:txBody>
        </p:sp>
        <p:sp>
          <p:nvSpPr>
            <p:cNvPr id="34833" name="Line 131"/>
            <p:cNvSpPr/>
            <p:nvPr/>
          </p:nvSpPr>
          <p:spPr>
            <a:xfrm flipV="1">
              <a:off x="4257" y="2448"/>
              <a:ext cx="336" cy="336"/>
            </a:xfrm>
            <a:prstGeom prst="line">
              <a:avLst/>
            </a:prstGeom>
            <a:ln w="12700" cap="flat" cmpd="sng">
              <a:solidFill>
                <a:schemeClr val="accent2"/>
              </a:solidFill>
              <a:prstDash val="solid"/>
              <a:headEnd type="triangle" w="med" len="med"/>
              <a:tailEnd type="none" w="med" len="med"/>
            </a:ln>
            <a:effectLst>
              <a:outerShdw algn="ctr" rotWithShape="0">
                <a:schemeClr val="bg2"/>
              </a:outerShdw>
            </a:effectLst>
          </p:spPr>
        </p:sp>
        <p:grpSp>
          <p:nvGrpSpPr>
            <p:cNvPr id="34834" name="Group 133"/>
            <p:cNvGrpSpPr/>
            <p:nvPr/>
          </p:nvGrpSpPr>
          <p:grpSpPr>
            <a:xfrm>
              <a:off x="2400" y="1488"/>
              <a:ext cx="2880" cy="1440"/>
              <a:chOff x="2649" y="1607"/>
              <a:chExt cx="2824" cy="1281"/>
            </a:xfrm>
          </p:grpSpPr>
          <p:sp>
            <p:nvSpPr>
              <p:cNvPr id="34835" name="Freeform 134"/>
              <p:cNvSpPr/>
              <p:nvPr/>
            </p:nvSpPr>
            <p:spPr>
              <a:xfrm>
                <a:off x="2683" y="1607"/>
                <a:ext cx="2790" cy="126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64"/>
                  </a:cxn>
                  <a:cxn ang="0">
                    <a:pos x="2789" y="1264"/>
                  </a:cxn>
                </a:cxnLst>
                <a:rect l="0" t="0" r="0" b="0"/>
                <a:pathLst>
                  <a:path w="2790" h="1265">
                    <a:moveTo>
                      <a:pt x="0" y="0"/>
                    </a:moveTo>
                    <a:lnTo>
                      <a:pt x="0" y="1264"/>
                    </a:lnTo>
                    <a:lnTo>
                      <a:pt x="2789" y="1264"/>
                    </a:lnTo>
                  </a:path>
                </a:pathLst>
              </a:custGeom>
              <a:noFill/>
              <a:ln w="381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triangle" w="med" len="med"/>
                <a:tailEnd type="triangle" w="med" len="med"/>
              </a:ln>
              <a:effectLst>
                <a:outerShdw dist="17961" dir="2699999" algn="ctr" rotWithShape="0">
                  <a:schemeClr val="bg2">
                    <a:alpha val="100000"/>
                  </a:schemeClr>
                </a:outerShdw>
              </a:effectLst>
            </p:spPr>
            <p:txBody>
              <a:bodyPr/>
              <a:lstStyle/>
              <a:p>
                <a:endParaRPr lang="zh-CN" altLang="en-US" sz="1350">
                  <a:cs typeface="华文楷体" panose="02010600040101010101" charset="-122"/>
                </a:endParaRPr>
              </a:p>
            </p:txBody>
          </p:sp>
          <p:grpSp>
            <p:nvGrpSpPr>
              <p:cNvPr id="34836" name="Group 135"/>
              <p:cNvGrpSpPr/>
              <p:nvPr/>
            </p:nvGrpSpPr>
            <p:grpSpPr>
              <a:xfrm>
                <a:off x="3241" y="2871"/>
                <a:ext cx="1952" cy="17"/>
                <a:chOff x="3241" y="2871"/>
                <a:chExt cx="1952" cy="17"/>
              </a:xfrm>
            </p:grpSpPr>
            <p:sp>
              <p:nvSpPr>
                <p:cNvPr id="34848" name="Line 136"/>
                <p:cNvSpPr/>
                <p:nvPr/>
              </p:nvSpPr>
              <p:spPr>
                <a:xfrm>
                  <a:off x="5193" y="2871"/>
                  <a:ext cx="0" cy="1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>
                  <a:outerShdw dist="17961" dir="2699999" algn="ctr" rotWithShape="0">
                    <a:schemeClr val="bg2"/>
                  </a:outerShdw>
                </a:effectLst>
              </p:spPr>
            </p:sp>
            <p:sp>
              <p:nvSpPr>
                <p:cNvPr id="34849" name="Line 137"/>
                <p:cNvSpPr/>
                <p:nvPr/>
              </p:nvSpPr>
              <p:spPr>
                <a:xfrm>
                  <a:off x="4914" y="2871"/>
                  <a:ext cx="0" cy="1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>
                  <a:outerShdw dist="17961" dir="2699999" algn="ctr" rotWithShape="0">
                    <a:schemeClr val="bg2"/>
                  </a:outerShdw>
                </a:effectLst>
              </p:spPr>
            </p:sp>
            <p:sp>
              <p:nvSpPr>
                <p:cNvPr id="34850" name="Line 138"/>
                <p:cNvSpPr/>
                <p:nvPr/>
              </p:nvSpPr>
              <p:spPr>
                <a:xfrm>
                  <a:off x="4635" y="2871"/>
                  <a:ext cx="0" cy="1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>
                  <a:outerShdw dist="17961" dir="2699999" algn="ctr" rotWithShape="0">
                    <a:schemeClr val="bg2"/>
                  </a:outerShdw>
                </a:effectLst>
              </p:spPr>
            </p:sp>
            <p:sp>
              <p:nvSpPr>
                <p:cNvPr id="34851" name="Line 139"/>
                <p:cNvSpPr/>
                <p:nvPr/>
              </p:nvSpPr>
              <p:spPr>
                <a:xfrm>
                  <a:off x="4356" y="2871"/>
                  <a:ext cx="0" cy="1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>
                  <a:outerShdw dist="17961" dir="2699999" algn="ctr" rotWithShape="0">
                    <a:schemeClr val="bg2"/>
                  </a:outerShdw>
                </a:effectLst>
              </p:spPr>
            </p:sp>
            <p:sp>
              <p:nvSpPr>
                <p:cNvPr id="34852" name="Line 140"/>
                <p:cNvSpPr/>
                <p:nvPr/>
              </p:nvSpPr>
              <p:spPr>
                <a:xfrm>
                  <a:off x="4078" y="2871"/>
                  <a:ext cx="0" cy="1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>
                  <a:outerShdw dist="17961" dir="2699999" algn="ctr" rotWithShape="0">
                    <a:schemeClr val="bg2"/>
                  </a:outerShdw>
                </a:effectLst>
              </p:spPr>
            </p:sp>
            <p:sp>
              <p:nvSpPr>
                <p:cNvPr id="34853" name="Line 141"/>
                <p:cNvSpPr/>
                <p:nvPr/>
              </p:nvSpPr>
              <p:spPr>
                <a:xfrm>
                  <a:off x="3799" y="2871"/>
                  <a:ext cx="0" cy="1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>
                  <a:outerShdw dist="17961" dir="2699999" algn="ctr" rotWithShape="0">
                    <a:schemeClr val="bg2"/>
                  </a:outerShdw>
                </a:effectLst>
              </p:spPr>
            </p:sp>
            <p:sp>
              <p:nvSpPr>
                <p:cNvPr id="34854" name="Line 142"/>
                <p:cNvSpPr/>
                <p:nvPr/>
              </p:nvSpPr>
              <p:spPr>
                <a:xfrm>
                  <a:off x="3520" y="2871"/>
                  <a:ext cx="0" cy="1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>
                  <a:outerShdw dist="17961" dir="2699999" algn="ctr" rotWithShape="0">
                    <a:schemeClr val="bg2"/>
                  </a:outerShdw>
                </a:effectLst>
              </p:spPr>
            </p:sp>
            <p:sp>
              <p:nvSpPr>
                <p:cNvPr id="34855" name="Line 143"/>
                <p:cNvSpPr/>
                <p:nvPr/>
              </p:nvSpPr>
              <p:spPr>
                <a:xfrm>
                  <a:off x="3241" y="2871"/>
                  <a:ext cx="0" cy="1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>
                  <a:outerShdw dist="17961" dir="2699999" algn="ctr" rotWithShape="0">
                    <a:schemeClr val="bg2"/>
                  </a:outerShdw>
                </a:effectLst>
              </p:spPr>
            </p:sp>
          </p:grpSp>
          <p:grpSp>
            <p:nvGrpSpPr>
              <p:cNvPr id="34837" name="Group 144"/>
              <p:cNvGrpSpPr/>
              <p:nvPr/>
            </p:nvGrpSpPr>
            <p:grpSpPr>
              <a:xfrm>
                <a:off x="2649" y="1735"/>
                <a:ext cx="313" cy="1153"/>
                <a:chOff x="2649" y="1735"/>
                <a:chExt cx="313" cy="1153"/>
              </a:xfrm>
            </p:grpSpPr>
            <p:sp>
              <p:nvSpPr>
                <p:cNvPr id="34838" name="Line 145"/>
                <p:cNvSpPr/>
                <p:nvPr/>
              </p:nvSpPr>
              <p:spPr>
                <a:xfrm>
                  <a:off x="2649" y="1735"/>
                  <a:ext cx="34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>
                  <a:outerShdw dist="17961" dir="2699999" algn="ctr" rotWithShape="0">
                    <a:schemeClr val="bg2"/>
                  </a:outerShdw>
                </a:effectLst>
              </p:spPr>
            </p:sp>
            <p:sp>
              <p:nvSpPr>
                <p:cNvPr id="34839" name="Line 146"/>
                <p:cNvSpPr/>
                <p:nvPr/>
              </p:nvSpPr>
              <p:spPr>
                <a:xfrm>
                  <a:off x="2649" y="1861"/>
                  <a:ext cx="34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>
                  <a:outerShdw dist="17961" dir="2699999" algn="ctr" rotWithShape="0">
                    <a:schemeClr val="bg2"/>
                  </a:outerShdw>
                </a:effectLst>
              </p:spPr>
            </p:sp>
            <p:sp>
              <p:nvSpPr>
                <p:cNvPr id="34840" name="Line 147"/>
                <p:cNvSpPr/>
                <p:nvPr/>
              </p:nvSpPr>
              <p:spPr>
                <a:xfrm>
                  <a:off x="2649" y="1987"/>
                  <a:ext cx="34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>
                  <a:outerShdw dist="17961" dir="2699999" algn="ctr" rotWithShape="0">
                    <a:schemeClr val="bg2"/>
                  </a:outerShdw>
                </a:effectLst>
              </p:spPr>
            </p:sp>
            <p:sp>
              <p:nvSpPr>
                <p:cNvPr id="34841" name="Line 148"/>
                <p:cNvSpPr/>
                <p:nvPr/>
              </p:nvSpPr>
              <p:spPr>
                <a:xfrm>
                  <a:off x="2649" y="2114"/>
                  <a:ext cx="34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>
                  <a:outerShdw dist="17961" dir="2699999" algn="ctr" rotWithShape="0">
                    <a:schemeClr val="bg2"/>
                  </a:outerShdw>
                </a:effectLst>
              </p:spPr>
            </p:sp>
            <p:sp>
              <p:nvSpPr>
                <p:cNvPr id="34842" name="Line 149"/>
                <p:cNvSpPr/>
                <p:nvPr/>
              </p:nvSpPr>
              <p:spPr>
                <a:xfrm>
                  <a:off x="2649" y="2240"/>
                  <a:ext cx="34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>
                  <a:outerShdw dist="17961" dir="2699999" algn="ctr" rotWithShape="0">
                    <a:schemeClr val="bg2"/>
                  </a:outerShdw>
                </a:effectLst>
              </p:spPr>
            </p:sp>
            <p:sp>
              <p:nvSpPr>
                <p:cNvPr id="34843" name="Line 150"/>
                <p:cNvSpPr/>
                <p:nvPr/>
              </p:nvSpPr>
              <p:spPr>
                <a:xfrm>
                  <a:off x="2649" y="2366"/>
                  <a:ext cx="34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>
                  <a:outerShdw dist="17961" dir="2699999" algn="ctr" rotWithShape="0">
                    <a:schemeClr val="bg2"/>
                  </a:outerShdw>
                </a:effectLst>
              </p:spPr>
            </p:sp>
            <p:sp>
              <p:nvSpPr>
                <p:cNvPr id="34844" name="Line 151"/>
                <p:cNvSpPr/>
                <p:nvPr/>
              </p:nvSpPr>
              <p:spPr>
                <a:xfrm>
                  <a:off x="2649" y="2492"/>
                  <a:ext cx="34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>
                  <a:outerShdw dist="17961" dir="2699999" algn="ctr" rotWithShape="0">
                    <a:schemeClr val="bg2"/>
                  </a:outerShdw>
                </a:effectLst>
              </p:spPr>
            </p:sp>
            <p:sp>
              <p:nvSpPr>
                <p:cNvPr id="34845" name="Line 152"/>
                <p:cNvSpPr/>
                <p:nvPr/>
              </p:nvSpPr>
              <p:spPr>
                <a:xfrm>
                  <a:off x="2649" y="2620"/>
                  <a:ext cx="34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>
                  <a:outerShdw dist="17961" dir="2699999" algn="ctr" rotWithShape="0">
                    <a:schemeClr val="bg2"/>
                  </a:outerShdw>
                </a:effectLst>
              </p:spPr>
            </p:sp>
            <p:sp>
              <p:nvSpPr>
                <p:cNvPr id="34846" name="Line 153"/>
                <p:cNvSpPr/>
                <p:nvPr/>
              </p:nvSpPr>
              <p:spPr>
                <a:xfrm>
                  <a:off x="2649" y="2745"/>
                  <a:ext cx="34" cy="0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>
                  <a:outerShdw dist="17961" dir="2699999" algn="ctr" rotWithShape="0">
                    <a:schemeClr val="bg2"/>
                  </a:outerShdw>
                </a:effectLst>
              </p:spPr>
            </p:sp>
            <p:sp>
              <p:nvSpPr>
                <p:cNvPr id="34847" name="Line 154"/>
                <p:cNvSpPr/>
                <p:nvPr/>
              </p:nvSpPr>
              <p:spPr>
                <a:xfrm>
                  <a:off x="2962" y="2871"/>
                  <a:ext cx="0" cy="17"/>
                </a:xfrm>
                <a:prstGeom prst="line">
                  <a:avLst/>
                </a:prstGeom>
                <a:ln w="381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  <a:effectLst>
                  <a:outerShdw dist="17961" dir="2699999" algn="ctr" rotWithShape="0">
                    <a:schemeClr val="bg2"/>
                  </a:outerShdw>
                </a:effectLst>
              </p:spPr>
            </p:sp>
          </p:grpSp>
        </p:grpSp>
      </p:grpSp>
    </p:spTree>
  </p:cSld>
  <p:clrMapOvr>
    <a:masterClrMapping/>
  </p:clrMapOvr>
  <p:transition>
    <p:wipe dir="r"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例子</a:t>
            </a:r>
            <a:endParaRPr kumimoji="1"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11300"/>
                <a:ext cx="7886700" cy="4351338"/>
              </a:xfrm>
            </p:spPr>
            <p:txBody>
              <a:bodyPr>
                <a:normAutofit fontScale="25000" lnSpcReduction="2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sz="8000" kern="0" spc="80" dirty="0">
                    <a:solidFill>
                      <a:srgbClr val="D34817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●</a:t>
                </a:r>
                <a:r>
                  <a:rPr lang="en-US" sz="8000" kern="0" spc="80" dirty="0">
                    <a:solidFill>
                      <a:srgbClr val="D34817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</a:t>
                </a:r>
                <a:r>
                  <a:rPr lang="zh-CN" altLang="en-US" sz="8000" dirty="0"/>
                  <a:t>案例：比较三种投资风格基金的年化收益差异</a:t>
                </a:r>
                <a:endParaRPr lang="en-US" altLang="zh-CN" sz="8000" dirty="0"/>
              </a:p>
              <a:p>
                <a:pPr>
                  <a:lnSpc>
                    <a:spcPct val="150000"/>
                  </a:lnSpc>
                </a:pPr>
                <a:endParaRPr kumimoji="1" lang="en-US" altLang="zh-CN" sz="8000" dirty="0"/>
              </a:p>
              <a:p>
                <a:pPr>
                  <a:lnSpc>
                    <a:spcPct val="150000"/>
                  </a:lnSpc>
                </a:pPr>
                <a:endParaRPr kumimoji="1" lang="en-US" altLang="zh-CN" sz="8000" dirty="0"/>
              </a:p>
              <a:p>
                <a:pPr>
                  <a:lnSpc>
                    <a:spcPct val="150000"/>
                  </a:lnSpc>
                </a:pPr>
                <a:endParaRPr kumimoji="1" lang="en-US" altLang="zh-CN" sz="80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sz="8000" kern="0" spc="80" dirty="0">
                    <a:solidFill>
                      <a:srgbClr val="D34817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●</a:t>
                </a:r>
                <a:r>
                  <a:rPr lang="zh-CN" altLang="en-US" sz="8000" dirty="0"/>
                  <a:t>计算结果：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8000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8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800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altLang="zh-CN" sz="80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8000">
                          <a:latin typeface="Cambria Math" panose="02040503050406030204" pitchFamily="18" charset="0"/>
                        </a:rPr>
                        <m:t>84</m:t>
                      </m:r>
                      <m:r>
                        <a:rPr lang="en-US" altLang="zh-CN" sz="8000">
                          <a:latin typeface="Cambria Math" panose="02040503050406030204" pitchFamily="18" charset="0"/>
                        </a:rPr>
                        <m:t>&gt;</m:t>
                      </m:r>
                      <m:sSub>
                        <m:sSubPr>
                          <m:ctrlPr>
                            <a:rPr lang="ar-AE" altLang="zh-CN" sz="8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zh-CN" sz="80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ar-AE" altLang="zh-CN" sz="800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altLang="zh-CN" sz="80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altLang="zh-CN" sz="8000">
                              <a:latin typeface="Cambria Math" panose="02040503050406030204" pitchFamily="18" charset="0"/>
                            </a:rPr>
                            <m:t>05</m:t>
                          </m:r>
                        </m:sub>
                      </m:sSub>
                      <m:d>
                        <m:dPr>
                          <m:sepChr m:val=","/>
                          <m:ctrlPr>
                            <a:rPr lang="ar-AE" altLang="zh-CN" sz="8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altLang="zh-CN" sz="8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e>
                          <m:r>
                            <a:rPr lang="ar-AE" altLang="zh-CN" sz="8000">
                              <a:latin typeface="Cambria Math" panose="02040503050406030204" pitchFamily="18" charset="0"/>
                            </a:rPr>
                            <m:t>87</m:t>
                          </m:r>
                        </m:e>
                      </m:d>
                      <m:r>
                        <a:rPr lang="ar-AE" altLang="zh-CN" sz="8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altLang="zh-CN" sz="800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ar-AE" altLang="zh-CN" sz="80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altLang="zh-CN" sz="800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ar-AE" altLang="zh-CN" sz="80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ar-AE" altLang="zh-CN" sz="8000" dirty="0"/>
                  <a:t>→ </a:t>
                </a:r>
                <a:r>
                  <a:rPr lang="zh-CN" altLang="en-US" sz="8000" dirty="0"/>
                  <a:t>拒绝 </a:t>
                </a:r>
                <a:r>
                  <a:rPr lang="en-GB" altLang="zh-CN" sz="8000" dirty="0"/>
                  <a:t>H₀</a:t>
                </a:r>
                <a:r>
                  <a:rPr lang="zh-CN" altLang="en-GB" sz="8000" dirty="0"/>
                  <a:t>，</a:t>
                </a:r>
                <a:r>
                  <a:rPr lang="zh-CN" altLang="en-US" sz="8000" dirty="0"/>
                  <a:t>说明不同基金类型的平均收益存在显著差异。</a:t>
                </a:r>
              </a:p>
              <a:p>
                <a:pPr>
                  <a:lnSpc>
                    <a:spcPct val="150000"/>
                  </a:lnSpc>
                </a:pPr>
                <a:endParaRPr kumimoji="1" lang="zh-CN" altLang="en-US" sz="80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11300"/>
                <a:ext cx="7886700" cy="4351338"/>
              </a:xfrm>
              <a:blipFill>
                <a:blip r:embed="rId2"/>
                <a:stretch>
                  <a:fillRect l="-8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00405" y="2218055"/>
          <a:ext cx="7886700" cy="1419860"/>
        </p:xfrm>
        <a:graphic>
          <a:graphicData uri="http://schemas.openxmlformats.org/drawingml/2006/table">
            <a:tbl>
              <a:tblPr/>
              <a:tblGrid>
                <a:gridCol w="1971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4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 dirty="0">
                          <a:cs typeface="华文楷体" panose="02010600040101010101" charset="-122"/>
                        </a:rPr>
                        <a:t>基金类型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 dirty="0">
                          <a:cs typeface="华文楷体" panose="02010600040101010101" charset="-122"/>
                        </a:rPr>
                        <a:t>平均收益率</a:t>
                      </a:r>
                      <a:r>
                        <a:rPr lang="en-US" altLang="zh-CN" sz="1875" dirty="0">
                          <a:cs typeface="华文楷体" panose="02010600040101010101" charset="-122"/>
                        </a:rPr>
                        <a:t>(%)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 dirty="0">
                          <a:cs typeface="华文楷体" panose="02010600040101010101" charset="-122"/>
                        </a:rPr>
                        <a:t>样本量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>
                          <a:cs typeface="华文楷体" panose="02010600040101010101" charset="-122"/>
                        </a:rPr>
                        <a:t>组内方差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>
                          <a:cs typeface="华文楷体" panose="02010600040101010101" charset="-122"/>
                        </a:rPr>
                        <a:t>股票型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75" dirty="0">
                          <a:cs typeface="华文楷体" panose="02010600040101010101" charset="-122"/>
                        </a:rPr>
                        <a:t>8.5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75" dirty="0">
                          <a:cs typeface="华文楷体" panose="02010600040101010101" charset="-122"/>
                        </a:rPr>
                        <a:t>30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75" dirty="0">
                          <a:cs typeface="华文楷体" panose="02010600040101010101" charset="-122"/>
                        </a:rPr>
                        <a:t>1.2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>
                          <a:cs typeface="华文楷体" panose="02010600040101010101" charset="-122"/>
                        </a:rPr>
                        <a:t>债券型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75" dirty="0">
                          <a:cs typeface="华文楷体" panose="02010600040101010101" charset="-122"/>
                        </a:rPr>
                        <a:t>5.2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75" dirty="0">
                          <a:cs typeface="华文楷体" panose="02010600040101010101" charset="-122"/>
                        </a:rPr>
                        <a:t>30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75" dirty="0">
                          <a:cs typeface="华文楷体" panose="02010600040101010101" charset="-122"/>
                        </a:rPr>
                        <a:t>0.8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9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75">
                          <a:cs typeface="华文楷体" panose="02010600040101010101" charset="-122"/>
                        </a:rPr>
                        <a:t>混合型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75">
                          <a:cs typeface="华文楷体" panose="02010600040101010101" charset="-122"/>
                        </a:rPr>
                        <a:t>6.4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75" dirty="0">
                          <a:cs typeface="华文楷体" panose="02010600040101010101" charset="-122"/>
                        </a:rPr>
                        <a:t>30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75" dirty="0">
                          <a:cs typeface="华文楷体" panose="02010600040101010101" charset="-122"/>
                        </a:rPr>
                        <a:t>1.0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/>
          <p:cNvSpPr>
            <a:spLocks noGrp="1" noChangeArrowheads="1"/>
          </p:cNvSpPr>
          <p:nvPr>
            <p:ph type="title"/>
          </p:nvPr>
        </p:nvSpPr>
        <p:spPr>
          <a:xfrm>
            <a:off x="-1440815" y="525145"/>
            <a:ext cx="7886700" cy="1325563"/>
          </a:xfrm>
        </p:spPr>
        <p:txBody>
          <a:bodyPr vert="horz" wrap="square" lIns="67866" tIns="33337" rIns="67866" bIns="33337" numCol="1" rtlCol="0" anchor="ctr" anchorCtr="1" compatLnSpc="1">
            <a:noAutofit/>
          </a:bodyPr>
          <a:lstStyle/>
          <a:p>
            <a:pPr algn="ctr" eaLnBrk="0" fontAlgn="base" hangingPunct="0">
              <a:lnSpc>
                <a:spcPct val="95000"/>
              </a:lnSpc>
              <a:spcAft>
                <a:spcPct val="0"/>
              </a:spcAft>
              <a:defRPr/>
            </a:pPr>
            <a:r>
              <a:rPr kumimoji="1" lang="zh-CN" altLang="en-US" b="1" dirty="0"/>
              <a:t>双因素方差分析</a:t>
            </a:r>
            <a:br>
              <a:rPr kumimoji="1" lang="zh-CN" altLang="en-US" b="1" dirty="0"/>
            </a:br>
            <a:endParaRPr kumimoji="1" lang="zh-CN" altLang="en-US" b="1" dirty="0"/>
          </a:p>
        </p:txBody>
      </p:sp>
      <p:sp>
        <p:nvSpPr>
          <p:cNvPr id="289795" name="Rectangle 3"/>
          <p:cNvSpPr>
            <a:spLocks noGrp="1" noChangeArrowheads="1"/>
          </p:cNvSpPr>
          <p:nvPr>
            <p:ph idx="1"/>
          </p:nvPr>
        </p:nvSpPr>
        <p:spPr>
          <a:xfrm>
            <a:off x="497759" y="1340485"/>
            <a:ext cx="7798210" cy="3371850"/>
          </a:xfrm>
        </p:spPr>
        <p:txBody>
          <a:bodyPr vert="horz" wrap="square" lIns="67866" tIns="33337" rIns="67866" bIns="33337" numCol="1" rtlCol="0" anchor="t" anchorCtr="0" compatLnSpc="1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dirty="0"/>
              <a:t>在很多实际问题中，试验结果可能同时受到两个因素的影响。</a:t>
            </a:r>
            <a:br>
              <a:rPr lang="zh-CN" altLang="en-US" sz="2000" dirty="0"/>
            </a:br>
            <a:r>
              <a:rPr lang="en-US" altLang="zh-CN" sz="2000" dirty="0"/>
              <a:t>     </a:t>
            </a:r>
            <a:r>
              <a:rPr lang="zh-CN" altLang="en-US" sz="2000" dirty="0"/>
              <a:t>双因素方差分析用于</a:t>
            </a:r>
            <a:r>
              <a:rPr lang="zh-CN" altLang="en-US" sz="2000" b="1" dirty="0">
                <a:solidFill>
                  <a:srgbClr val="C00000"/>
                </a:solidFill>
              </a:rPr>
              <a:t>研究两个因素（</a:t>
            </a:r>
            <a:r>
              <a:rPr lang="en-GB" altLang="zh-CN" sz="2000" b="1" dirty="0">
                <a:solidFill>
                  <a:srgbClr val="C00000"/>
                </a:solidFill>
              </a:rPr>
              <a:t>A</a:t>
            </a:r>
            <a:r>
              <a:rPr lang="zh-CN" altLang="en-US" sz="2000" b="1" dirty="0">
                <a:solidFill>
                  <a:srgbClr val="C00000"/>
                </a:solidFill>
              </a:rPr>
              <a:t>与</a:t>
            </a:r>
            <a:r>
              <a:rPr lang="en-GB" altLang="zh-CN" sz="2000" b="1" dirty="0">
                <a:solidFill>
                  <a:srgbClr val="C00000"/>
                </a:solidFill>
              </a:rPr>
              <a:t>B</a:t>
            </a:r>
            <a:r>
              <a:rPr lang="zh-CN" altLang="en-GB" sz="2000" b="1" dirty="0">
                <a:solidFill>
                  <a:srgbClr val="C00000"/>
                </a:solidFill>
              </a:rPr>
              <a:t>）</a:t>
            </a:r>
            <a:r>
              <a:rPr lang="zh-CN" altLang="en-US" sz="2000" b="1" dirty="0">
                <a:solidFill>
                  <a:srgbClr val="C00000"/>
                </a:solidFill>
              </a:rPr>
              <a:t>对结果变量的影响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   </a:t>
            </a:r>
            <a:r>
              <a:rPr lang="zh-CN" altLang="en-US" sz="2000" dirty="0"/>
              <a:t>以及它们之间</a:t>
            </a:r>
            <a:r>
              <a:rPr lang="zh-CN" altLang="en-US" sz="2000" b="1" dirty="0">
                <a:solidFill>
                  <a:srgbClr val="C00000"/>
                </a:solidFill>
              </a:rPr>
              <a:t>是否存在交互作用</a:t>
            </a:r>
            <a:r>
              <a:rPr lang="zh-CN" altLang="en-US" sz="2000" dirty="0"/>
              <a:t>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/>
              <a:t>💡 </a:t>
            </a:r>
            <a:r>
              <a:rPr lang="zh-CN" altLang="en-US" sz="2000" b="1" dirty="0"/>
              <a:t>例子（金融情境）</a:t>
            </a:r>
            <a:r>
              <a:rPr lang="zh-CN" altLang="en-US" sz="2000" dirty="0"/>
              <a:t>：</a:t>
            </a:r>
            <a:br>
              <a:rPr lang="zh-CN" altLang="en-US" sz="2000" dirty="0"/>
            </a:br>
            <a:r>
              <a:rPr lang="zh-CN" altLang="en-US" sz="2000" dirty="0"/>
              <a:t>我们研究“</a:t>
            </a:r>
            <a:r>
              <a:rPr lang="zh-CN" altLang="en-US" sz="2000" b="1" dirty="0"/>
              <a:t>基金收益率</a:t>
            </a:r>
            <a:r>
              <a:rPr lang="zh-CN" altLang="en-US" sz="2000" dirty="0"/>
              <a:t>”是否受到以下两种因素影响：</a:t>
            </a:r>
          </a:p>
          <a:p>
            <a:pPr>
              <a:lnSpc>
                <a:spcPct val="120000"/>
              </a:lnSpc>
            </a:pPr>
            <a:r>
              <a:rPr lang="zh-CN" altLang="en-US" sz="1400" dirty="0"/>
              <a:t>因素</a:t>
            </a:r>
            <a:r>
              <a:rPr lang="en-GB" altLang="zh-CN" sz="1400" dirty="0"/>
              <a:t>A</a:t>
            </a:r>
            <a:r>
              <a:rPr lang="zh-CN" altLang="en-GB" sz="1400" dirty="0"/>
              <a:t>：</a:t>
            </a:r>
            <a:r>
              <a:rPr lang="zh-CN" altLang="en-US" sz="1400" dirty="0"/>
              <a:t>基金类型（股票型、债券型、混合型）</a:t>
            </a:r>
          </a:p>
          <a:p>
            <a:pPr>
              <a:lnSpc>
                <a:spcPct val="120000"/>
              </a:lnSpc>
            </a:pPr>
            <a:r>
              <a:rPr lang="zh-CN" altLang="en-US" sz="1400" dirty="0"/>
              <a:t>因素</a:t>
            </a:r>
            <a:r>
              <a:rPr lang="en-GB" altLang="zh-CN" sz="1400" dirty="0"/>
              <a:t>B</a:t>
            </a:r>
            <a:r>
              <a:rPr lang="zh-CN" altLang="en-GB" sz="1400" dirty="0"/>
              <a:t>：</a:t>
            </a:r>
            <a:r>
              <a:rPr lang="zh-CN" altLang="en-US" sz="1400" dirty="0"/>
              <a:t>基金规模（大、中、小）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dirty="0"/>
              <a:t>问题是：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altLang="zh-CN" sz="1400" dirty="0"/>
              <a:t>① </a:t>
            </a:r>
            <a:r>
              <a:rPr lang="zh-CN" altLang="en-US" sz="1400" dirty="0"/>
              <a:t>是基金类型起作用？</a:t>
            </a:r>
            <a:br>
              <a:rPr lang="zh-CN" altLang="en-US" sz="1400" dirty="0"/>
            </a:br>
            <a:r>
              <a:rPr lang="en-US" altLang="zh-CN" sz="1400" dirty="0"/>
              <a:t>② </a:t>
            </a:r>
            <a:r>
              <a:rPr lang="zh-CN" altLang="en-US" sz="1400" dirty="0"/>
              <a:t>是基金规模起作用？</a:t>
            </a:r>
            <a:br>
              <a:rPr lang="zh-CN" altLang="en-US" sz="1400" dirty="0"/>
            </a:br>
            <a:r>
              <a:rPr lang="en-US" altLang="zh-CN" sz="1400" dirty="0"/>
              <a:t>③ </a:t>
            </a:r>
            <a:r>
              <a:rPr lang="zh-CN" altLang="en-US" sz="1400" dirty="0"/>
              <a:t>还是二者搭配（交互作用）也影响收益？</a:t>
            </a:r>
          </a:p>
          <a:p>
            <a:pPr marL="0" indent="0" algn="just" eaLnBrk="0" fontAlgn="base" hangingPunct="0">
              <a:spcBef>
                <a:spcPct val="20000"/>
              </a:spcBef>
              <a:spcAft>
                <a:spcPct val="0"/>
              </a:spcAft>
              <a:buNone/>
              <a:defRPr/>
            </a:pPr>
            <a:endParaRPr kumimoji="1" lang="zh-CN" altLang="en-US" sz="1400" kern="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9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9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9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9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9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9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9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9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9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9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9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89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9795" grpId="0" build="p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523875" y="1574165"/>
          <a:ext cx="7991475" cy="3527425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1791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5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83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58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50" dirty="0"/>
                        <a:t>检验内容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50" dirty="0"/>
                        <a:t>原假设 </a:t>
                      </a:r>
                      <a:r>
                        <a:rPr lang="en-GB" sz="1950" dirty="0"/>
                        <a:t>H₀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50"/>
                        <a:t>备择假设 </a:t>
                      </a:r>
                      <a:r>
                        <a:rPr lang="en-GB" sz="1950"/>
                        <a:t>H₁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7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50"/>
                        <a:t>因素</a:t>
                      </a:r>
                      <a:r>
                        <a:rPr lang="en-GB" sz="1950"/>
                        <a:t>A</a:t>
                      </a:r>
                      <a:r>
                        <a:rPr lang="zh-CN" altLang="en-US" sz="1950"/>
                        <a:t>效应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50" dirty="0"/>
                        <a:t>不同</a:t>
                      </a:r>
                      <a:r>
                        <a:rPr lang="en-GB" sz="1950" dirty="0"/>
                        <a:t>A</a:t>
                      </a:r>
                      <a:r>
                        <a:rPr lang="zh-CN" altLang="en-US" sz="1950" dirty="0"/>
                        <a:t>水平的总体均值相等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50" dirty="0"/>
                        <a:t>至少一个</a:t>
                      </a:r>
                      <a:r>
                        <a:rPr lang="en-GB" sz="1950" dirty="0"/>
                        <a:t>A</a:t>
                      </a:r>
                      <a:r>
                        <a:rPr lang="zh-CN" altLang="en-US" sz="1950" dirty="0"/>
                        <a:t>水平均值不同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6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50"/>
                        <a:t>因素</a:t>
                      </a:r>
                      <a:r>
                        <a:rPr lang="en-GB" sz="1950"/>
                        <a:t>B</a:t>
                      </a:r>
                      <a:r>
                        <a:rPr lang="zh-CN" altLang="en-US" sz="1950"/>
                        <a:t>效应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50" dirty="0"/>
                        <a:t>不同</a:t>
                      </a:r>
                      <a:r>
                        <a:rPr lang="en-GB" sz="1950" dirty="0"/>
                        <a:t>B</a:t>
                      </a:r>
                      <a:r>
                        <a:rPr lang="zh-CN" altLang="en-US" sz="1950" dirty="0"/>
                        <a:t>水平的总体均值相等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50" dirty="0"/>
                        <a:t>至少一个</a:t>
                      </a:r>
                      <a:r>
                        <a:rPr lang="en-GB" sz="1950" dirty="0"/>
                        <a:t>B</a:t>
                      </a:r>
                      <a:r>
                        <a:rPr lang="zh-CN" altLang="en-US" sz="1950" dirty="0"/>
                        <a:t>水平均值不同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7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50"/>
                        <a:t>交互作用</a:t>
                      </a:r>
                      <a:r>
                        <a:rPr lang="en-GB" sz="1950"/>
                        <a:t>AB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50"/>
                        <a:t>A</a:t>
                      </a:r>
                      <a:r>
                        <a:rPr lang="zh-CN" altLang="en-US" sz="1950"/>
                        <a:t>与</a:t>
                      </a:r>
                      <a:r>
                        <a:rPr lang="en-GB" sz="1950"/>
                        <a:t>B</a:t>
                      </a:r>
                      <a:r>
                        <a:rPr lang="zh-CN" altLang="en-US" sz="1950"/>
                        <a:t>之间无交互作用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50" dirty="0"/>
                        <a:t>A</a:t>
                      </a:r>
                      <a:r>
                        <a:rPr lang="zh-CN" altLang="en-US" sz="1950" dirty="0"/>
                        <a:t>与</a:t>
                      </a:r>
                      <a:r>
                        <a:rPr lang="en-GB" sz="1950" dirty="0"/>
                        <a:t>B</a:t>
                      </a:r>
                      <a:r>
                        <a:rPr lang="zh-CN" altLang="en-US" sz="1950" dirty="0"/>
                        <a:t>之间存在交互作用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586105"/>
            <a:ext cx="7886700" cy="1325563"/>
          </a:xfrm>
        </p:spPr>
        <p:txBody>
          <a:bodyPr/>
          <a:lstStyle/>
          <a:p>
            <a:r>
              <a:rPr lang="zh-CN" altLang="en-US" b="1" dirty="0"/>
              <a:t>双因素方差分解</a:t>
            </a:r>
            <a:br>
              <a:rPr lang="zh-CN" altLang="en-US" b="1" dirty="0"/>
            </a:b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02105"/>
                <a:ext cx="7886700" cy="4351338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sz="2000" kern="0" spc="80" dirty="0">
                    <a:solidFill>
                      <a:srgbClr val="D34817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●</a:t>
                </a:r>
                <a:r>
                  <a:rPr lang="en-US" kern="0" spc="80" dirty="0">
                    <a:solidFill>
                      <a:srgbClr val="D34817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</a:t>
                </a:r>
                <a:r>
                  <a:rPr lang="zh-CN" altLang="en-US" sz="2000" dirty="0"/>
                  <a:t>总离差平方和（</a:t>
                </a:r>
                <a:r>
                  <a:rPr lang="en-GB" altLang="zh-CN" sz="2000" dirty="0"/>
                  <a:t>SST</a:t>
                </a:r>
                <a:r>
                  <a:rPr lang="zh-CN" altLang="en-GB" sz="2000" dirty="0"/>
                  <a:t>）</a:t>
                </a:r>
                <a:r>
                  <a:rPr lang="zh-CN" altLang="en-US" sz="2000" dirty="0"/>
                  <a:t>可分为以下部分：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𝑆𝑆𝑇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𝑆𝑆𝐴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𝑆𝑆𝐵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𝑆𝑆𝐴𝐵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000" i="1">
                          <a:latin typeface="Cambria Math" panose="02040503050406030204" pitchFamily="18" charset="0"/>
                        </a:rPr>
                        <m:t>𝑆𝑆𝐸</m:t>
                      </m:r>
                    </m:oMath>
                  </m:oMathPara>
                </a14:m>
                <a:endParaRPr lang="zh-CN" altLang="en-US" sz="2000" dirty="0"/>
              </a:p>
              <a:p>
                <a:endParaRPr kumimoji="1" lang="zh-CN" altLang="en-US" sz="20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02105"/>
                <a:ext cx="7886700" cy="4351338"/>
              </a:xfrm>
              <a:blipFill rotWithShape="1">
                <a:blip r:embed="rId2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758190" y="3001606"/>
          <a:ext cx="7373620" cy="27813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27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4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1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50" dirty="0"/>
                        <a:t>项目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50" dirty="0"/>
                        <a:t>含义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50"/>
                        <a:t>解释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50"/>
                        <a:t>SSA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50" dirty="0"/>
                        <a:t>因素</a:t>
                      </a:r>
                      <a:r>
                        <a:rPr lang="en-GB" sz="1950" dirty="0"/>
                        <a:t>A</a:t>
                      </a:r>
                      <a:r>
                        <a:rPr lang="zh-CN" altLang="en-US" sz="1950" dirty="0"/>
                        <a:t>平方和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50"/>
                        <a:t>不同</a:t>
                      </a:r>
                      <a:r>
                        <a:rPr lang="en-GB" sz="1950"/>
                        <a:t>A</a:t>
                      </a:r>
                      <a:r>
                        <a:rPr lang="zh-CN" altLang="en-US" sz="1950"/>
                        <a:t>水平对结果的贡献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50"/>
                        <a:t>SSB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50"/>
                        <a:t>因素</a:t>
                      </a:r>
                      <a:r>
                        <a:rPr lang="en-GB" sz="1950"/>
                        <a:t>B</a:t>
                      </a:r>
                      <a:r>
                        <a:rPr lang="zh-CN" altLang="en-US" sz="1950"/>
                        <a:t>平方和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50" dirty="0"/>
                        <a:t>不同</a:t>
                      </a:r>
                      <a:r>
                        <a:rPr lang="en-GB" sz="1950" dirty="0"/>
                        <a:t>B</a:t>
                      </a:r>
                      <a:r>
                        <a:rPr lang="zh-CN" altLang="en-US" sz="1950" dirty="0"/>
                        <a:t>水平对结果的贡献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50"/>
                        <a:t>SSAB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50"/>
                        <a:t>交互作用平方和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50" dirty="0"/>
                        <a:t>A</a:t>
                      </a:r>
                      <a:r>
                        <a:rPr lang="zh-CN" altLang="en-US" sz="1950" dirty="0"/>
                        <a:t>与</a:t>
                      </a:r>
                      <a:r>
                        <a:rPr lang="en-GB" sz="1950" dirty="0"/>
                        <a:t>B</a:t>
                      </a:r>
                      <a:r>
                        <a:rPr lang="zh-CN" altLang="en-US" sz="1950" dirty="0"/>
                        <a:t>搭配效应的贡献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950"/>
                        <a:t>SSE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50"/>
                        <a:t>误差平方和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950" dirty="0"/>
                        <a:t>随机误差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检验步骤（双因素无交互模型）</a:t>
            </a:r>
            <a:endParaRPr kumimoji="1" lang="zh-CN" alt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1005"/>
                <a:ext cx="8653145" cy="4665345"/>
              </a:xfrm>
            </p:spPr>
            <p:txBody>
              <a:bodyPr/>
              <a:lstStyle/>
              <a:p>
                <a:pPr marL="0" indent="0">
                  <a:lnSpc>
                    <a:spcPct val="180000"/>
                  </a:lnSpc>
                  <a:buNone/>
                </a:pPr>
                <a:r>
                  <a:rPr sz="2400" kern="0" spc="80" dirty="0">
                    <a:solidFill>
                      <a:srgbClr val="D34817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●</a:t>
                </a:r>
                <a:r>
                  <a:rPr lang="en-US" altLang="zh-CN" sz="2400" dirty="0"/>
                  <a:t> </a:t>
                </a:r>
                <a:r>
                  <a:rPr lang="zh-CN" altLang="en-US" sz="2400" dirty="0"/>
                  <a:t>计算组内、组间方差；</a:t>
                </a:r>
                <a:br>
                  <a:rPr lang="zh-CN" altLang="en-US" sz="2400" dirty="0"/>
                </a:br>
                <a:r>
                  <a:rPr sz="2400" kern="0" spc="80" dirty="0">
                    <a:solidFill>
                      <a:srgbClr val="D34817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●</a:t>
                </a:r>
                <a:r>
                  <a:rPr lang="en-US" altLang="zh-CN" sz="2400" dirty="0"/>
                  <a:t> </a:t>
                </a:r>
                <a:r>
                  <a:rPr lang="zh-CN" altLang="en-US" sz="2400" dirty="0"/>
                  <a:t>对</a:t>
                </a:r>
                <a:r>
                  <a:rPr lang="en-GB" altLang="zh-CN" sz="2400" dirty="0"/>
                  <a:t>A</a:t>
                </a:r>
                <a:r>
                  <a:rPr lang="zh-CN" altLang="en-GB" sz="2400" dirty="0"/>
                  <a:t>、</a:t>
                </a:r>
                <a:r>
                  <a:rPr lang="en-GB" altLang="zh-CN" sz="2400" dirty="0"/>
                  <a:t>B</a:t>
                </a:r>
                <a:r>
                  <a:rPr lang="zh-CN" altLang="en-GB" sz="2400" dirty="0"/>
                  <a:t>、</a:t>
                </a:r>
                <a:r>
                  <a:rPr lang="en-GB" altLang="zh-CN" sz="2400" dirty="0"/>
                  <a:t>AB</a:t>
                </a:r>
                <a:r>
                  <a:rPr lang="zh-CN" altLang="en-US" sz="2400" dirty="0"/>
                  <a:t>分别计算</a:t>
                </a:r>
                <a:r>
                  <a:rPr lang="en-GB" altLang="zh-CN" sz="2400" dirty="0"/>
                  <a:t>F</a:t>
                </a:r>
                <a:r>
                  <a:rPr lang="zh-CN" altLang="en-US" sz="2400" dirty="0"/>
                  <a:t>值：</a:t>
                </a:r>
              </a:p>
              <a:p>
                <a:pPr marL="0" indent="0">
                  <a:lnSpc>
                    <a:spcPct val="18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zh-CN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ar-AE" altLang="zh-CN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ar-AE" altLang="zh-CN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CN" sz="2400" i="1">
                              <a:latin typeface="Cambria Math" panose="02040503050406030204" pitchFamily="18" charset="0"/>
                            </a:rPr>
                            <m:t>𝑀𝑆𝐴</m:t>
                          </m:r>
                        </m:num>
                        <m:den>
                          <m:r>
                            <a:rPr lang="ar-AE" altLang="zh-CN" sz="2400" i="1">
                              <a:latin typeface="Cambria Math" panose="02040503050406030204" pitchFamily="18" charset="0"/>
                            </a:rPr>
                            <m:t>𝑀𝑆𝐸</m:t>
                          </m:r>
                        </m:den>
                      </m:f>
                      <m:r>
                        <a:rPr lang="ar-AE" altLang="zh-CN" sz="240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ar-AE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zh-CN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ar-AE" altLang="zh-CN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ar-AE" altLang="zh-CN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CN" sz="2400" i="1">
                              <a:latin typeface="Cambria Math" panose="02040503050406030204" pitchFamily="18" charset="0"/>
                            </a:rPr>
                            <m:t>𝑀𝑆𝐵</m:t>
                          </m:r>
                        </m:num>
                        <m:den>
                          <m:r>
                            <a:rPr lang="ar-AE" altLang="zh-CN" sz="2400" i="1">
                              <a:latin typeface="Cambria Math" panose="02040503050406030204" pitchFamily="18" charset="0"/>
                            </a:rPr>
                            <m:t>𝑀𝑆𝐸</m:t>
                          </m:r>
                        </m:den>
                      </m:f>
                      <m:r>
                        <a:rPr lang="ar-AE" altLang="zh-CN" sz="240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ar-AE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zh-CN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ar-AE" altLang="zh-CN" sz="2400" i="1">
                              <a:latin typeface="Cambria Math" panose="02040503050406030204" pitchFamily="18" charset="0"/>
                            </a:rPr>
                            <m:t>𝐴𝐵</m:t>
                          </m:r>
                        </m:sub>
                      </m:sSub>
                      <m:r>
                        <a:rPr lang="ar-AE" altLang="zh-CN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CN" sz="2400" i="1">
                              <a:latin typeface="Cambria Math" panose="02040503050406030204" pitchFamily="18" charset="0"/>
                            </a:rPr>
                            <m:t>𝑀𝑆𝐴𝐵</m:t>
                          </m:r>
                        </m:num>
                        <m:den>
                          <m:r>
                            <a:rPr lang="ar-AE" altLang="zh-CN" sz="2400" i="1">
                              <a:latin typeface="Cambria Math" panose="02040503050406030204" pitchFamily="18" charset="0"/>
                            </a:rPr>
                            <m:t>𝑀𝑆𝐸</m:t>
                          </m:r>
                        </m:den>
                      </m:f>
                    </m:oMath>
                  </m:oMathPara>
                </a14:m>
                <a:endParaRPr lang="ar-AE" altLang="zh-CN" sz="2400" dirty="0"/>
              </a:p>
              <a:p>
                <a:pPr marL="0" indent="0">
                  <a:lnSpc>
                    <a:spcPct val="180000"/>
                  </a:lnSpc>
                  <a:buNone/>
                </a:pPr>
                <a:r>
                  <a:rPr sz="2400" kern="0" spc="80" dirty="0">
                    <a:solidFill>
                      <a:srgbClr val="D34817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●</a:t>
                </a:r>
                <a:r>
                  <a:rPr lang="en-US" sz="2400" kern="0" spc="80" dirty="0">
                    <a:solidFill>
                      <a:srgbClr val="D34817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</a:t>
                </a:r>
                <a:r>
                  <a:rPr lang="zh-CN" altLang="en-US" sz="2400" dirty="0"/>
                  <a:t>查</a:t>
                </a:r>
                <a:r>
                  <a:rPr lang="en-GB" altLang="zh-CN" sz="2400" dirty="0"/>
                  <a:t>F</a:t>
                </a:r>
                <a:r>
                  <a:rPr lang="zh-CN" altLang="en-US" sz="2400" dirty="0"/>
                  <a:t>分布表确定临界值；</a:t>
                </a:r>
                <a:br>
                  <a:rPr lang="zh-CN" altLang="en-US" sz="2400" dirty="0"/>
                </a:br>
                <a:r>
                  <a:rPr sz="2400" kern="0" spc="80" dirty="0">
                    <a:solidFill>
                      <a:srgbClr val="D34817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●</a:t>
                </a:r>
                <a:r>
                  <a:rPr lang="en-US" sz="2400" kern="0" spc="80" dirty="0">
                    <a:solidFill>
                      <a:srgbClr val="D34817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 </a:t>
                </a:r>
                <a:r>
                  <a:rPr lang="zh-CN" altLang="en-US" sz="2400" dirty="0"/>
                  <a:t>判断显著性并得出结论。</a:t>
                </a:r>
              </a:p>
              <a:p>
                <a:endParaRPr kumimoji="1" lang="zh-CN" altLang="en-US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1005"/>
                <a:ext cx="8653145" cy="4665345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3550" y="265430"/>
            <a:ext cx="7886700" cy="1325563"/>
          </a:xfrm>
        </p:spPr>
        <p:txBody>
          <a:bodyPr/>
          <a:lstStyle/>
          <a:p>
            <a:r>
              <a:rPr kumimoji="1" lang="zh-CN" altLang="en-US" b="1" dirty="0"/>
              <a:t>例子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0454" y="1301909"/>
            <a:ext cx="7886700" cy="16901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dirty="0"/>
              <a:t>我们研究基金的</a:t>
            </a:r>
            <a:r>
              <a:rPr lang="zh-CN" altLang="en-US" sz="2000" b="1" dirty="0">
                <a:solidFill>
                  <a:srgbClr val="C00000"/>
                </a:solidFill>
              </a:rPr>
              <a:t>平均收益率</a:t>
            </a:r>
            <a:r>
              <a:rPr lang="zh-CN" altLang="en-US" sz="2000" dirty="0"/>
              <a:t>是否受以下两个因素影响：</a:t>
            </a:r>
          </a:p>
          <a:p>
            <a:pPr marL="0" indent="0">
              <a:buNone/>
            </a:pPr>
            <a:r>
              <a:rPr lang="en-US" altLang="zh-CN" sz="1400" dirty="0"/>
              <a:t>      </a:t>
            </a:r>
            <a:r>
              <a:rPr lang="zh-CN" altLang="en-US" sz="1400" dirty="0"/>
              <a:t>因素</a:t>
            </a:r>
            <a:r>
              <a:rPr lang="en-GB" altLang="zh-CN" sz="1400" dirty="0"/>
              <a:t>A</a:t>
            </a:r>
            <a:r>
              <a:rPr lang="zh-CN" altLang="en-GB" sz="1400" dirty="0"/>
              <a:t>：</a:t>
            </a:r>
            <a:r>
              <a:rPr lang="zh-CN" altLang="en-US" sz="1400" b="1" dirty="0"/>
              <a:t>基金类型</a:t>
            </a:r>
            <a:r>
              <a:rPr lang="zh-CN" altLang="en-US" sz="1400" dirty="0"/>
              <a:t>（股票型、债券型、混合型）</a:t>
            </a:r>
          </a:p>
          <a:p>
            <a:pPr marL="0" indent="0">
              <a:buNone/>
            </a:pPr>
            <a:r>
              <a:rPr lang="en-US" altLang="zh-CN" sz="1400" dirty="0"/>
              <a:t>      </a:t>
            </a:r>
            <a:r>
              <a:rPr lang="zh-CN" altLang="en-US" sz="1400" dirty="0"/>
              <a:t>因素</a:t>
            </a:r>
            <a:r>
              <a:rPr lang="en-GB" altLang="zh-CN" sz="1400" dirty="0"/>
              <a:t>B</a:t>
            </a:r>
            <a:r>
              <a:rPr lang="zh-CN" altLang="en-GB" sz="1400" dirty="0"/>
              <a:t>：</a:t>
            </a:r>
            <a:r>
              <a:rPr lang="zh-CN" altLang="en-US" sz="1400" b="1" dirty="0"/>
              <a:t>基金规模</a:t>
            </a:r>
            <a:r>
              <a:rPr lang="zh-CN" altLang="en-US" sz="1400" dirty="0"/>
              <a:t>（大型、中型、小型）</a:t>
            </a:r>
          </a:p>
          <a:p>
            <a:pPr marL="0" indent="0"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dirty="0"/>
              <a:t>样本取每类基金各</a:t>
            </a:r>
            <a:r>
              <a:rPr lang="en-US" altLang="zh-CN" sz="2000" dirty="0"/>
              <a:t>3</a:t>
            </a:r>
            <a:r>
              <a:rPr lang="zh-CN" altLang="en-US" sz="2000" dirty="0"/>
              <a:t>个样本，得到部分数据如下：</a:t>
            </a:r>
          </a:p>
          <a:p>
            <a:endParaRPr kumimoji="1" lang="zh-CN" altLang="en-US" sz="20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44855" y="2789555"/>
          <a:ext cx="7886700" cy="320294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25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基金类型</a:t>
                      </a:r>
                      <a:r>
                        <a:rPr lang="en-US" altLang="zh-CN" sz="1650" dirty="0"/>
                        <a:t>(</a:t>
                      </a:r>
                      <a:r>
                        <a:rPr lang="en-GB" sz="1650" dirty="0"/>
                        <a:t>A)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规模</a:t>
                      </a:r>
                      <a:r>
                        <a:rPr lang="en-US" altLang="zh-CN" sz="1650" dirty="0"/>
                        <a:t>(</a:t>
                      </a:r>
                      <a:r>
                        <a:rPr lang="en-GB" sz="1650" dirty="0"/>
                        <a:t>B)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样本</a:t>
                      </a:r>
                      <a:r>
                        <a:rPr lang="en-US" altLang="zh-CN" sz="1650"/>
                        <a:t>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样本</a:t>
                      </a:r>
                      <a:r>
                        <a:rPr lang="en-US" altLang="zh-CN" sz="1650"/>
                        <a:t>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样本</a:t>
                      </a:r>
                      <a:r>
                        <a:rPr lang="en-US" altLang="zh-CN" sz="1650"/>
                        <a:t>3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平均收益</a:t>
                      </a:r>
                      <a:r>
                        <a:rPr lang="en-US" altLang="zh-CN" sz="1650" dirty="0"/>
                        <a:t>(%)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股票型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大型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 dirty="0"/>
                        <a:t>8.2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 dirty="0"/>
                        <a:t>8.4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/>
                        <a:t>8.5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/>
                        <a:t>8.37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股票型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 dirty="0"/>
                        <a:t>中型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 dirty="0"/>
                        <a:t>7.6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/>
                        <a:t>7.8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/>
                        <a:t>7.5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/>
                        <a:t>7.63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股票型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小型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/>
                        <a:t>6.9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 dirty="0"/>
                        <a:t>7.2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/>
                        <a:t>6.8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/>
                        <a:t>6.97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债券型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大型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/>
                        <a:t>5.2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 dirty="0"/>
                        <a:t>5.4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/>
                        <a:t>5.1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/>
                        <a:t>5.23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债券型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中型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/>
                        <a:t>5.0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/>
                        <a:t>5.2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 dirty="0"/>
                        <a:t>4.8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/>
                        <a:t>5.00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债券型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小型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/>
                        <a:t>4.7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/>
                        <a:t>4.9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 dirty="0"/>
                        <a:t>4.6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 dirty="0"/>
                        <a:t>4.73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混合型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大型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/>
                        <a:t>6.5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/>
                        <a:t>6.8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/>
                        <a:t>6.6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 dirty="0"/>
                        <a:t>6.63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混合型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中型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/>
                        <a:t>6.1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/>
                        <a:t>6.3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/>
                        <a:t>6.0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 dirty="0"/>
                        <a:t>6.13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混合型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650"/>
                        <a:t>小型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/>
                        <a:t>5.9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 dirty="0"/>
                        <a:t>6.0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/>
                        <a:t>5.8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650" dirty="0"/>
                        <a:t>5.90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630" y="546656"/>
            <a:ext cx="7886700" cy="326350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400" dirty="0"/>
              <a:t>我们想回答三个问题：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800" b="1" dirty="0"/>
              <a:t>     </a:t>
            </a:r>
            <a:r>
              <a:rPr lang="zh-CN" altLang="en-US" sz="1800" b="1" dirty="0"/>
              <a:t>基金类型</a:t>
            </a:r>
            <a:r>
              <a:rPr lang="en-GB" altLang="zh-CN" sz="1800" b="1" dirty="0"/>
              <a:t>A</a:t>
            </a:r>
            <a:r>
              <a:rPr lang="zh-CN" altLang="en-US" sz="1800" b="1" dirty="0"/>
              <a:t>是否影响收益？</a:t>
            </a:r>
            <a:br>
              <a:rPr lang="zh-CN" altLang="en-US" sz="1800" dirty="0"/>
            </a:br>
            <a:r>
              <a:rPr lang="en-US" altLang="zh-CN" sz="1800" dirty="0"/>
              <a:t>     </a:t>
            </a:r>
            <a:r>
              <a:rPr lang="zh-CN" altLang="en-US" sz="1800" b="1" dirty="0"/>
              <a:t>基金规模</a:t>
            </a:r>
            <a:r>
              <a:rPr lang="en-GB" altLang="zh-CN" sz="1800" b="1" dirty="0"/>
              <a:t>B</a:t>
            </a:r>
            <a:r>
              <a:rPr lang="zh-CN" altLang="en-US" sz="1800" b="1" dirty="0"/>
              <a:t>是否影响收益？</a:t>
            </a:r>
            <a:br>
              <a:rPr lang="zh-CN" altLang="en-US" sz="1800" dirty="0"/>
            </a:br>
            <a:r>
              <a:rPr lang="en-US" altLang="zh-CN" sz="1800" dirty="0"/>
              <a:t>     </a:t>
            </a:r>
            <a:r>
              <a:rPr lang="zh-CN" altLang="en-US" sz="1800" b="1" dirty="0"/>
              <a:t>类型与规模是否存在交互作用？</a:t>
            </a:r>
            <a:endParaRPr lang="zh-CN" altLang="en-US" sz="1800" dirty="0"/>
          </a:p>
          <a:p>
            <a:pPr>
              <a:lnSpc>
                <a:spcPct val="150000"/>
              </a:lnSpc>
            </a:pPr>
            <a:endParaRPr kumimoji="1" lang="zh-CN" altLang="en-US" sz="18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77850" y="2719705"/>
          <a:ext cx="7899400" cy="2947035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1582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7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95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63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69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63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0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来源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平方和</a:t>
                      </a:r>
                      <a:r>
                        <a:rPr lang="en-GB" sz="1800" dirty="0"/>
                        <a:t>SS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dirty="0"/>
                        <a:t>自由度</a:t>
                      </a:r>
                      <a:r>
                        <a:rPr lang="en-GB" sz="1800" dirty="0" err="1"/>
                        <a:t>df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/>
                        <a:t>均方</a:t>
                      </a:r>
                      <a:r>
                        <a:rPr lang="en-GB" sz="1800"/>
                        <a:t>MS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F</a:t>
                      </a:r>
                      <a:r>
                        <a:rPr lang="zh-CN" altLang="en-US" sz="1800"/>
                        <a:t>值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P</a:t>
                      </a:r>
                      <a:r>
                        <a:rPr lang="zh-CN" altLang="en-US" sz="1800"/>
                        <a:t>值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9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/>
                        <a:t>因素</a:t>
                      </a:r>
                      <a:r>
                        <a:rPr lang="en-GB" sz="1800"/>
                        <a:t>A（</a:t>
                      </a:r>
                      <a:r>
                        <a:rPr lang="zh-CN" altLang="en-US" sz="1800"/>
                        <a:t>类型）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/>
                        <a:t>28.4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dirty="0"/>
                        <a:t>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dirty="0"/>
                        <a:t>14.2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/>
                        <a:t>15.3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/>
                        <a:t>0.0003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/>
                        <a:t>因素</a:t>
                      </a:r>
                      <a:r>
                        <a:rPr lang="en-GB" sz="1800"/>
                        <a:t>B（</a:t>
                      </a:r>
                      <a:r>
                        <a:rPr lang="zh-CN" altLang="en-US" sz="1800"/>
                        <a:t>规模）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/>
                        <a:t>12.1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dirty="0"/>
                        <a:t>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dirty="0"/>
                        <a:t>6.05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dirty="0"/>
                        <a:t>6.52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/>
                        <a:t>0.005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/>
                        <a:t>交互作用</a:t>
                      </a:r>
                      <a:r>
                        <a:rPr lang="en-GB" sz="1800"/>
                        <a:t>AB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/>
                        <a:t>3.2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/>
                        <a:t>4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dirty="0"/>
                        <a:t>0.80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dirty="0"/>
                        <a:t>0.86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dirty="0"/>
                        <a:t>0.51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/>
                        <a:t>误差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/>
                        <a:t>13.9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/>
                        <a:t>18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 dirty="0"/>
                        <a:t>0.77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8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8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/>
                        <a:t>总和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/>
                        <a:t>57.6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800"/>
                        <a:t>26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8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8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8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99380" y="1498600"/>
            <a:ext cx="3740785" cy="326326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</a:t>
            </a:r>
            <a:r>
              <a:rPr lang="en-US" sz="2000" kern="0" spc="80" dirty="0">
                <a:solidFill>
                  <a:srgbClr val="D3481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000" b="1" dirty="0"/>
              <a:t>结果解释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因素</a:t>
            </a:r>
            <a:r>
              <a:rPr lang="en-GB" altLang="zh-CN" sz="2000" dirty="0"/>
              <a:t>A</a:t>
            </a:r>
            <a:r>
              <a:rPr lang="zh-CN" altLang="en-US" sz="2000" dirty="0"/>
              <a:t>的 </a:t>
            </a:r>
            <a:r>
              <a:rPr lang="en-GB" altLang="zh-CN" sz="2000" dirty="0"/>
              <a:t>P=0.0003 &lt; 0.05 → </a:t>
            </a:r>
            <a:r>
              <a:rPr lang="zh-CN" altLang="en-US" sz="2000" b="1" dirty="0"/>
              <a:t>基金类型显著影响收益率</a:t>
            </a:r>
            <a:r>
              <a:rPr lang="zh-CN" altLang="en-US" sz="2000" dirty="0"/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因素</a:t>
            </a:r>
            <a:r>
              <a:rPr lang="en-GB" altLang="zh-CN" sz="2000" dirty="0"/>
              <a:t>B</a:t>
            </a:r>
            <a:r>
              <a:rPr lang="zh-CN" altLang="en-US" sz="2000" dirty="0"/>
              <a:t>的 </a:t>
            </a:r>
            <a:r>
              <a:rPr lang="en-GB" altLang="zh-CN" sz="2000" dirty="0"/>
              <a:t>P=0.005 &lt; 0.05 → </a:t>
            </a:r>
            <a:r>
              <a:rPr lang="zh-CN" altLang="en-US" sz="2000" b="1" dirty="0"/>
              <a:t>基金规模也有显著影响</a:t>
            </a:r>
            <a:r>
              <a:rPr lang="zh-CN" altLang="en-US" sz="2000" dirty="0"/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交互作用的 </a:t>
            </a:r>
            <a:r>
              <a:rPr lang="en-GB" altLang="zh-CN" sz="2000" dirty="0"/>
              <a:t>P=0.51 &gt; 0.05 → </a:t>
            </a:r>
            <a:r>
              <a:rPr lang="zh-CN" altLang="en-US" sz="2000" b="1" dirty="0"/>
              <a:t>类型与规模之间无交互作用</a:t>
            </a:r>
            <a:r>
              <a:rPr lang="zh-CN" altLang="en-US" sz="2000" dirty="0"/>
              <a:t>。</a:t>
            </a:r>
          </a:p>
          <a:p>
            <a:endParaRPr kumimoji="1" lang="zh-CN" altLang="en-US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074" y="1117416"/>
            <a:ext cx="4297926" cy="462362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78*364"/>
  <p:tag name="TABLE_ENDDRAG_RECT" val="22*103*678*36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72*379"/>
  <p:tag name="TABLE_ENDDRAG_RECT" val="20*113*672*37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80*192"/>
  <p:tag name="TABLE_ENDDRAG_RECT" val="20*152*680*19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87*343"/>
  <p:tag name="TABLE_ENDDRAG_RECT" val="15*116*687*34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59*286"/>
  <p:tag name="TABLE_ENDDRAG_RECT" val="28*123*659*28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58*269"/>
  <p:tag name="TABLE_ENDDRAG_RECT" val="30*136*658*26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58*288"/>
  <p:tag name="TABLE_ENDDRAG_RECT" val="30*143*658*28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60*318"/>
  <p:tag name="TABLE_ENDDRAG_RECT" val="29*120*660*31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45*294"/>
  <p:tag name="TABLE_ENDDRAG_RECT" val="40*133*645*29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42*280"/>
  <p:tag name="TABLE_ENDDRAG_RECT" val="27*141*642*28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38*272"/>
  <p:tag name="TABLE_ENDDRAG_RECT" val="31*142*638*27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41*322"/>
  <p:tag name="TABLE_ENDDRAG_RECT" val="29*121*641*32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43*283"/>
  <p:tag name="TABLE_ENDDRAG_RECT" val="31*146*643*28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38*320"/>
  <p:tag name="TABLE_ENDDRAG_RECT" val="31*126*638*32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43*267"/>
  <p:tag name="TABLE_ENDDRAG_RECT" val="36*133*643*26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11*109"/>
  <p:tag name="TABLE_ENDDRAG_RECT" val="51*132*611*10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46*179"/>
  <p:tag name="TABLE_ENDDRAG_RECT" val="34*121*646*17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35*251"/>
  <p:tag name="TABLE_ENDDRAG_RECT" val="34*130*635*25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24*289"/>
  <p:tag name="TABLE_ENDDRAG_RECT" val="40*104*624*28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66*342"/>
  <p:tag name="TABLE_ENDDRAG_RECT" val="329*103*366*34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9,&quot;left&quot;:72.85,&quot;top&quot;:230.40007874015745,&quot;width&quot;:536.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9,&quot;left&quot;:72.85,&quot;top&quot;:230.40007874015745,&quot;width&quot;:536.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9,&quot;left&quot;:72.85,&quot;top&quot;:230.40007874015745,&quot;width&quot;:536.9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9,&quot;left&quot;:72.85,&quot;top&quot;:230.40007874015745,&quot;width&quot;:536.9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9,&quot;left&quot;:72.85,&quot;top&quot;:230.40007874015745,&quot;width&quot;:536.9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9,&quot;left&quot;:72.85,&quot;top&quot;:230.40007874015745,&quot;width&quot;:536.9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9,&quot;left&quot;:72.85,&quot;top&quot;:230.40007874015745,&quot;width&quot;:536.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9,&quot;left&quot;:72.85,&quot;top&quot;:230.40007874015745,&quot;width&quot;:536.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9,&quot;left&quot;:72.85,&quot;top&quot;:230.40007874015745,&quot;width&quot;:536.9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6.9,&quot;left&quot;:72.85,&quot;top&quot;:230.40007874015745,&quot;width&quot;:536.9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12*193"/>
  <p:tag name="TABLE_ENDDRAG_RECT" val="57*245*612*19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27*268"/>
  <p:tag name="TABLE_ENDDRAG_RECT" val="31*136*627*268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10*96"/>
  <p:tag name="TABLE_ENDDRAG_RECT" val="60*113*610*9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21*321"/>
  <p:tag name="TABLE_ENDDRAG_RECT" val="49*121*621*32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49*220"/>
  <p:tag name="TABLE_ENDDRAG_RECT" val="143*289*449*22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54*134"/>
  <p:tag name="TABLE_ENDDRAG_RECT" val="56*192*554*13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29*277"/>
  <p:tag name="TABLE_ENDDRAG_RECT" val="41*123*629*277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21*235"/>
  <p:tag name="TABLE_ENDDRAG_RECT" val="49*233*621*23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21*227"/>
  <p:tag name="TABLE_ENDDRAG_RECT" val="58*276*622*227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华文楷体"/>
        <a:font script="Hebr" typeface="华文楷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华文楷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华文楷体"/>
        <a:font script="Hebr" typeface="华文楷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华文楷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497</TotalTime>
  <Words>7684</Words>
  <Application>Microsoft Office PowerPoint</Application>
  <PresentationFormat>全屏显示(4:3)</PresentationFormat>
  <Paragraphs>1235</Paragraphs>
  <Slides>97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97</vt:i4>
      </vt:variant>
    </vt:vector>
  </HeadingPairs>
  <TitlesOfParts>
    <vt:vector size="114" baseType="lpstr">
      <vt:lpstr>等线</vt:lpstr>
      <vt:lpstr>华文楷体</vt:lpstr>
      <vt:lpstr>宋体</vt:lpstr>
      <vt:lpstr>微软雅黑</vt:lpstr>
      <vt:lpstr>幼圆</vt:lpstr>
      <vt:lpstr>Arial</vt:lpstr>
      <vt:lpstr>Book Antiqua</vt:lpstr>
      <vt:lpstr>Calibri</vt:lpstr>
      <vt:lpstr>Calibri Light</vt:lpstr>
      <vt:lpstr>Cambria Math</vt:lpstr>
      <vt:lpstr>Franklin Gothic Book</vt:lpstr>
      <vt:lpstr>Garamond</vt:lpstr>
      <vt:lpstr>Symbol</vt:lpstr>
      <vt:lpstr>Times New Roman</vt:lpstr>
      <vt:lpstr>Wingdings</vt:lpstr>
      <vt:lpstr>Office 主题​​</vt:lpstr>
      <vt:lpstr>MS_ClipArt_Gallery.2</vt:lpstr>
      <vt:lpstr>PowerPoint 演示文稿</vt:lpstr>
      <vt:lpstr>本讲主要内容：</vt:lpstr>
      <vt:lpstr>一、数据分析流程</vt:lpstr>
      <vt:lpstr>例子： 某商业银行发现近两年农户贷款不良率上升，要求风险管理部分析原因。</vt:lpstr>
      <vt:lpstr>二、数据的分类与特征</vt:lpstr>
      <vt:lpstr>按照数据来源方式分类</vt:lpstr>
      <vt:lpstr>按照计量尺度分类</vt:lpstr>
      <vt:lpstr>举例</vt:lpstr>
      <vt:lpstr>按照时间与对象关系分类</vt:lpstr>
      <vt:lpstr>综合举例</vt:lpstr>
      <vt:lpstr>三、数据的收集——间接来源</vt:lpstr>
      <vt:lpstr>数据的收集——直接来源</vt:lpstr>
      <vt:lpstr>数据采集方法——概率抽样</vt:lpstr>
      <vt:lpstr>数据采集方法——抽样调查</vt:lpstr>
      <vt:lpstr>调查方案设计</vt:lpstr>
      <vt:lpstr>思考</vt:lpstr>
      <vt:lpstr>四、数据的预处理</vt:lpstr>
      <vt:lpstr>例子</vt:lpstr>
      <vt:lpstr>数据预处理的核心任务</vt:lpstr>
      <vt:lpstr>数据审核</vt:lpstr>
      <vt:lpstr>数据清洗——处理缺失值</vt:lpstr>
      <vt:lpstr>例子</vt:lpstr>
      <vt:lpstr>数据清洗——异常值处理</vt:lpstr>
      <vt:lpstr>例子</vt:lpstr>
      <vt:lpstr>数据筛选</vt:lpstr>
      <vt:lpstr>数据筛选</vt:lpstr>
      <vt:lpstr>数据转换</vt:lpstr>
      <vt:lpstr>数据整合</vt:lpstr>
      <vt:lpstr>思考</vt:lpstr>
      <vt:lpstr>五、数据的可视化</vt:lpstr>
      <vt:lpstr>常见图形类型</vt:lpstr>
      <vt:lpstr>折线图——时间序列分析的利器</vt:lpstr>
      <vt:lpstr>柱状图与饼图——结构与比较</vt:lpstr>
      <vt:lpstr>散点图与箱线图——风险与关系分析</vt:lpstr>
      <vt:lpstr>未分组数据—箱线图(Box plot) （箱线图的制作）</vt:lpstr>
      <vt:lpstr>未分组数据—单批数据箱线图 （箱线图的构成）</vt:lpstr>
      <vt:lpstr>未分组数据—单批数据箱线图 （实例）</vt:lpstr>
      <vt:lpstr>频数分布表例 </vt:lpstr>
      <vt:lpstr>分组数据—直方图(Histogram)  </vt:lpstr>
      <vt:lpstr>分组数据—直方图（直方图的绘制）</vt:lpstr>
      <vt:lpstr>分组数据—折线图 </vt:lpstr>
      <vt:lpstr>分组数据—折线图（折线图的绘制）</vt:lpstr>
      <vt:lpstr>思考</vt:lpstr>
      <vt:lpstr>六、数据的统计特征</vt:lpstr>
      <vt:lpstr>均值 </vt:lpstr>
      <vt:lpstr>众数 </vt:lpstr>
      <vt:lpstr>众数 (众数的不唯一性)</vt:lpstr>
      <vt:lpstr>中位数 </vt:lpstr>
      <vt:lpstr>PowerPoint 演示文稿</vt:lpstr>
      <vt:lpstr>四分位数 </vt:lpstr>
      <vt:lpstr>数值型未分组数据的四分位数 </vt:lpstr>
      <vt:lpstr>离散程度的测度</vt:lpstr>
      <vt:lpstr>方差(Variance)  标准差(Standard deviation) </vt:lpstr>
      <vt:lpstr>PowerPoint 演示文稿</vt:lpstr>
      <vt:lpstr>七、常见的统计分布——正态分布</vt:lpstr>
      <vt:lpstr>PowerPoint 演示文稿</vt:lpstr>
      <vt:lpstr>PowerPoint 演示文稿</vt:lpstr>
      <vt:lpstr>常见的统计分布——F分布</vt:lpstr>
      <vt:lpstr>PowerPoint 演示文稿</vt:lpstr>
      <vt:lpstr>PowerPoint 演示文稿</vt:lpstr>
      <vt:lpstr>八、参数估计</vt:lpstr>
      <vt:lpstr>例子</vt:lpstr>
      <vt:lpstr>点估计</vt:lpstr>
      <vt:lpstr>PowerPoint 演示文稿</vt:lpstr>
      <vt:lpstr>区间估计</vt:lpstr>
      <vt:lpstr>PowerPoint 演示文稿</vt:lpstr>
      <vt:lpstr>置信水平与置信区间</vt:lpstr>
      <vt:lpstr>例子</vt:lpstr>
      <vt:lpstr>点估计</vt:lpstr>
      <vt:lpstr>区间估计</vt:lpstr>
      <vt:lpstr>九、统计假设检验</vt:lpstr>
      <vt:lpstr>小概率原理与概率反证法</vt:lpstr>
      <vt:lpstr>假设检验步骤</vt:lpstr>
      <vt:lpstr>统计检验的类型</vt:lpstr>
      <vt:lpstr>假设检验的两类错误</vt:lpstr>
      <vt:lpstr>单侧检验与双侧检验</vt:lpstr>
      <vt:lpstr>小结</vt:lpstr>
      <vt:lpstr>十、应用举例——方差分析</vt:lpstr>
      <vt:lpstr>什么是方差分析? </vt:lpstr>
      <vt:lpstr>方差分析的业务场景</vt:lpstr>
      <vt:lpstr>ANOVA 的业务本质是什么？</vt:lpstr>
      <vt:lpstr>方差分析的思想</vt:lpstr>
      <vt:lpstr>方差分析的计算</vt:lpstr>
      <vt:lpstr>PowerPoint 演示文稿</vt:lpstr>
      <vt:lpstr>PowerPoint 演示文稿</vt:lpstr>
      <vt:lpstr>例子</vt:lpstr>
      <vt:lpstr>F统计量的原理</vt:lpstr>
      <vt:lpstr>单因素方差分析（One-way ANOVA）</vt:lpstr>
      <vt:lpstr>构造检验的统计量 (F分布与拒绝域)</vt:lpstr>
      <vt:lpstr>例子</vt:lpstr>
      <vt:lpstr>双因素方差分析 </vt:lpstr>
      <vt:lpstr>PowerPoint 演示文稿</vt:lpstr>
      <vt:lpstr>双因素方差分解 </vt:lpstr>
      <vt:lpstr>检验步骤（双因素无交互模型）</vt:lpstr>
      <vt:lpstr>例子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hu_liqin@whu.edu.cn</cp:lastModifiedBy>
  <cp:revision>61</cp:revision>
  <dcterms:created xsi:type="dcterms:W3CDTF">2025-10-11T08:40:00Z</dcterms:created>
  <dcterms:modified xsi:type="dcterms:W3CDTF">2025-11-30T08:27:30Z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C88CF22FA50941C2BED4BD4BC5A94526_13</vt:lpwstr>
  </property>
  <property fmtid="{D5CDD505-2E9C-101B-9397-08002B2CF9AE}" pid="3" name="KSOProductBuildVer">
    <vt:lpwstr>2052-12.1.0.19302</vt:lpwstr>
  </property>
</Properties>
</file>