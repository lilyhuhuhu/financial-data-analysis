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4" r:id="rId3"/>
    <p:sldId id="267" r:id="rId4"/>
    <p:sldId id="268" r:id="rId5"/>
    <p:sldId id="271" r:id="rId6"/>
    <p:sldId id="272" r:id="rId7"/>
    <p:sldId id="273" r:id="rId8"/>
    <p:sldId id="274" r:id="rId9"/>
    <p:sldId id="265" r:id="rId10"/>
    <p:sldId id="266" r:id="rId11"/>
    <p:sldId id="269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4" r:id="rId20"/>
    <p:sldId id="285" r:id="rId21"/>
    <p:sldId id="286" r:id="rId22"/>
    <p:sldId id="287" r:id="rId23"/>
    <p:sldId id="288" r:id="rId24"/>
    <p:sldId id="282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44" y="72"/>
      </p:cViewPr>
      <p:guideLst>
        <p:guide orient="horz" pos="215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800" b="1">
                <a:latin typeface="幼圆" panose="02010509060101010101" charset="-122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华文楷体" panose="02010600040101010101" charset="-122"/>
                <a:ea typeface="华文楷体" panose="0201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latin typeface="幼圆" panose="02010509060101010101" charset="-122"/>
                <a:ea typeface="幼圆" panose="0201050906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 userDrawn="1"/>
        </p:nvGraphicFramePr>
        <p:xfrm>
          <a:off x="60832" y="66928"/>
          <a:ext cx="9018905" cy="6699250"/>
        </p:xfrm>
        <a:graphic>
          <a:graphicData uri="http://schemas.openxmlformats.org/drawingml/2006/table">
            <a:tbl>
              <a:tblPr/>
              <a:tblGrid>
                <a:gridCol w="9018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 2"/>
          <p:cNvSpPr/>
          <p:nvPr/>
        </p:nvSpPr>
        <p:spPr>
          <a:xfrm>
            <a:off x="63246" y="1449323"/>
            <a:ext cx="9021317" cy="1527047"/>
          </a:xfrm>
          <a:prstGeom prst="rect">
            <a:avLst/>
          </a:prstGeom>
          <a:solidFill>
            <a:srgbClr val="D3481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rect 6"/>
          <p:cNvSpPr/>
          <p:nvPr/>
        </p:nvSpPr>
        <p:spPr>
          <a:xfrm>
            <a:off x="63246" y="1396745"/>
            <a:ext cx="9021317" cy="120396"/>
          </a:xfrm>
          <a:prstGeom prst="rect">
            <a:avLst/>
          </a:prstGeom>
          <a:solidFill>
            <a:srgbClr val="E6B1A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rect 8"/>
          <p:cNvSpPr/>
          <p:nvPr/>
        </p:nvSpPr>
        <p:spPr>
          <a:xfrm>
            <a:off x="63246" y="2976371"/>
            <a:ext cx="9021317" cy="110490"/>
          </a:xfrm>
          <a:prstGeom prst="rect">
            <a:avLst/>
          </a:prstGeom>
          <a:solidFill>
            <a:srgbClr val="91848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247900" y="1831340"/>
            <a:ext cx="695388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第</a:t>
            </a:r>
            <a:r>
              <a:rPr lang="zh-CN" altLang="en-US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二</a:t>
            </a:r>
            <a:r>
              <a:rPr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讲 </a:t>
            </a:r>
            <a:r>
              <a:rPr lang="zh-CN"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编程基础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35225" y="3802380"/>
            <a:ext cx="460375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胡利琴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</a:p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武汉大学经济与管理学院金融系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语言简介</a:t>
            </a:r>
            <a:endParaRPr lang="zh-CN" altLang="en-US" sz="32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</a:t>
            </a:r>
            <a:endParaRPr lang="en-US" altLang="zh-CN" sz="28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英音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 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ˈ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pa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ɪ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θ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ə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n/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，美音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/ 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ˈ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pa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ɪ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θ</a:t>
            </a:r>
            <a:r>
              <a:rPr lang="en-US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ɑ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:n/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https://www.python.org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语言拥有者是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 Software Foundation(PSF)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PSF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是非盈利组织，致力于保护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Python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语言开放、开源和发展。</a:t>
            </a:r>
            <a:endParaRPr lang="zh-CN" altLang="en-US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>
              <a:buNone/>
            </a:pPr>
            <a:endParaRPr lang="zh-CN" altLang="en-US" sz="28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l"/>
            </a:pPr>
            <a:r>
              <a:rPr lang="zh-CN" altLang="en-US" sz="28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诞生</a:t>
            </a:r>
            <a:endParaRPr lang="zh-CN" altLang="en-US" sz="28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创立者是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Guido Van Rossum     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1991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年，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Python 1.x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（已过时）</a:t>
            </a:r>
            <a:endParaRPr lang="zh-CN" altLang="en-US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2000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年，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Python 2.x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2008</a:t>
            </a:r>
            <a:r>
              <a:rPr lang="zh-CN" altLang="en-US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年，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Python 3.x</a:t>
            </a:r>
            <a:endParaRPr lang="en-US" altLang="zh-CN" sz="2400" b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2400" b="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版本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个主要版本：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 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不兼容。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年全面放弃维护和更新。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学习和使用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3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语言语法的程序是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解释器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常用的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CPython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（一般用的都是这个）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Jython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IronPython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PyPy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语言的特点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是一种解释型、面向对象的编程语言，是一个开源语言，拥有大量的库，可以高效地开发各种应用程序。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简单、高级、面向对象、可扩展性、免费开源、可移植性、丰富的库、可嵌入性。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语言的应用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科学计算、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应用、大数据处理、数据分析、自动化运维、云计算、爬虫程序、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游戏开发、人工智能等。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大量的扩展库（包）形成了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生态圈。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科学计算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：表达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维数组，数据分析和科学计算的基础库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Scipy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：数学、科学和工程计算功能库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SymPy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：用一套强大的符号计算体系完成诸如多项式求值、求极限、解方程、求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积分、微分方程、级数展开、矩阵运算等等计算问题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数据分析高层次应用库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数据可视化（二维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Matplotlib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：高质量的二维数据可视化功能库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mplfinance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：金融数据可视化分析库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Seaborn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pyecharts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：统计类数据可视化功能库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TVTK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：科学计算三维可视化功能库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Mayavi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：三维科学数据可视化功能库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地理空间数据分析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GeoPandas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：处理地理空间数据的第三方库，它是在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的基础上建立的，完美地融合了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pandas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的数据类型，并且提供了操作地理空间数据的高级接口，使得在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中进行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GIS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操作变成可能。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文本处理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PyPDF2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：用来处理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pdf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文件的工具集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Python-docx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：创建或更新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Microsoft Word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文件的第三方库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自然语言处理和文本分析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jieba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SnowNLP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NLTK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：自然语言文本处理第三方库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一、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语言简介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机器学习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Scikit-learn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：机器学习方法工具集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MXNet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：基于神经网络的深度学习计算框架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TensorFlow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：谷歌公司推动的开源机器学习框架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Keras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：由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编写的开源人工神经网络库，可以作为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Tensorflow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Microsoft-CNTK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Theano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的高阶应用程序接口，进行深度学习模型的设计、调试、评估、应用和可视化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PyTorch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：由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Facebook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的人工智能研究团队开发的开源深度学习框架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二、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程序设计与计算问题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程序设计的核心目标是解决计算问题</a:t>
            </a: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什么是计算问题？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计算问题是指那些可以通过明确的步骤和规则，利用计算机进行处理的问题。</a:t>
            </a: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计算问题通常具有以下特点：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明确的输入和输出：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问题有清晰的输入数据，并且需要得到特定的输出结果。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可分解性：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问题可以被分解成更小的子问题，每个子问题都可以独立解决。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可计算性：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问题可以通过算法和程序来解决。</a:t>
            </a: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例子：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计算两个数的和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查找一组数据中的最大值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对一组数据进行排序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预测天气（基于历史数据和模型）</a:t>
            </a:r>
          </a:p>
          <a:p>
            <a:pPr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三、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解决计算问题的步骤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程序设计通过以下步骤解决计算问题：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问题分析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明确问题的输入、输出和约束条件。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算法设计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设计解决问题的步骤和方法。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编写代码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使用编程语言将算法转化为计算机可以执行的代码。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调试和测试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运行程序，检查是否能够正确解决问题。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优化和维护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优化代码的性能和可读性，并根据需求变化进行维护。</a:t>
            </a:r>
          </a:p>
          <a:p>
            <a:pPr>
              <a:lnSpc>
                <a:spcPct val="12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68020" y="306705"/>
            <a:ext cx="7805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四、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是最流行的数据科学编程语言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现在，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在科学计算和人工智能领域特别受欢迎，并且已经超越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语言成为最流行的数据科学编程语言。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得以流行的原因有很多，下面列举几个：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是免费和开源的，并且拥有庞大的开源社区。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比许多其他流行的编程语言具有更强的可读性。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提供大量的标准库和第三方开源库，提高了开发人员的工作效率，因此程序员可以更快地编写代码，并以最少的代码完成复杂的任务。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在人工智能领域很受欢迎，能通过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接口与大语言模型进行良好交互。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程序员拥有更多的就业机会，可以从事数据科学、人工智能等领域的工作。</a:t>
            </a:r>
          </a:p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五、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安装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扩展包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一般使用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安装扩展包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pip install &lt;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包名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默认从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PyPI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 Package Index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），经常会遇到超时的问题，导致扩展库无法顺利安装，此时就需要国内镜像源的帮助了。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pip install 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altLang="zh-CN" sz="20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https://pypi.tuna.tsinghua.edu.cn/simple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pyspider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这样就会从清华这边的镜像去安装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pyspider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其他国内源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阿里云：</a:t>
            </a:r>
            <a:r>
              <a:rPr lang="en-US" altLang="zh-CN" sz="2000" u="sng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http://mirrors.aliyun.com/pypi/simple/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豆瓣：</a:t>
            </a:r>
            <a:r>
              <a:rPr lang="en-US" altLang="zh-CN" sz="2000" u="sng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http://pypi.douban.com/simple/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六、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的三种编程方式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：交互式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对每个输入语句即时运行结果，适合语法练习。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解释器提供的命令行方式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30" name="picture 26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3105" y="3429000"/>
            <a:ext cx="7715250" cy="1465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六、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968375"/>
            <a:ext cx="823595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的三种编程方式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：文件式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批量执行一组语句并运行结果，编程的主要方式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）使用类似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IDLE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的编程工具创建文件（扩展名为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.py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，称为源文件）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）输入用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语言写的语句（源代码）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然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后，通过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解释器执行程序（源文件中的代码）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" name="table 2670"/>
          <p:cNvGraphicFramePr>
            <a:graphicFrameLocks noGrp="1"/>
          </p:cNvGraphicFramePr>
          <p:nvPr/>
        </p:nvGraphicFramePr>
        <p:xfrm>
          <a:off x="255905" y="3761740"/>
          <a:ext cx="4067175" cy="3797300"/>
        </p:xfrm>
        <a:graphic>
          <a:graphicData uri="http://schemas.openxmlformats.org/drawingml/2006/table">
            <a:tbl>
              <a:tblPr/>
              <a:tblGrid>
                <a:gridCol w="406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7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89000"/>
                        </a:lnSpc>
                      </a:pPr>
                      <a:r>
                        <a:rPr sz="1125" b="1" kern="0" spc="80" dirty="0">
                          <a:solidFill>
                            <a:srgbClr val="8AC6CD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使用文本编辑器</a:t>
                      </a:r>
                      <a:endParaRPr sz="1125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65735" algn="l" rtl="0" eaLnBrk="0">
                        <a:lnSpc>
                          <a:spcPts val="1835"/>
                        </a:lnSpc>
                      </a:pPr>
                      <a:r>
                        <a:rPr sz="1125" b="1" kern="0" spc="80" dirty="0">
                          <a:solidFill>
                            <a:srgbClr val="8AC6CD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编写程序代码</a:t>
                      </a:r>
                      <a:endParaRPr sz="1125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95750" algn="l" rtl="0" eaLnBrk="0">
                        <a:lnSpc>
                          <a:spcPct val="96000"/>
                        </a:lnSpc>
                        <a:spcBef>
                          <a:spcPts val="430"/>
                        </a:spcBef>
                        <a:tabLst>
                          <a:tab pos="4195445" algn="l"/>
                        </a:tabLst>
                      </a:pPr>
                      <a:r>
                        <a:rPr sz="1050" kern="0" spc="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1050" b="1" kern="0" spc="-2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这是我的</a:t>
                      </a:r>
                      <a:r>
                        <a:rPr sz="1050" b="1" kern="0" spc="-2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…  </a:t>
                      </a:r>
                      <a:endParaRPr sz="10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2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2135" indent="635" algn="l" rtl="0" eaLnBrk="0">
                        <a:lnSpc>
                          <a:spcPct val="103000"/>
                        </a:lnSpc>
                        <a:spcBef>
                          <a:spcPts val="0"/>
                        </a:spcBef>
                      </a:pPr>
                      <a:r>
                        <a:rPr sz="1125" b="1" kern="0" spc="6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执行程</a:t>
                      </a:r>
                      <a:r>
                        <a:rPr sz="1125" kern="0" spc="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1125" b="1" kern="0" spc="7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序输出</a:t>
                      </a:r>
                      <a:r>
                        <a:rPr sz="1125" kern="0" spc="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sz="1125" b="1" kern="0" spc="70" dirty="0">
                          <a:solidFill>
                            <a:srgbClr val="22226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的结果</a:t>
                      </a:r>
                      <a:endParaRPr sz="1125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76" name="table 2676"/>
          <p:cNvGraphicFramePr>
            <a:graphicFrameLocks noGrp="1"/>
          </p:cNvGraphicFramePr>
          <p:nvPr/>
        </p:nvGraphicFramePr>
        <p:xfrm>
          <a:off x="2367343" y="4552759"/>
          <a:ext cx="699770" cy="368300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67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7640" algn="l" rtl="0" eaLnBrk="0">
                        <a:lnSpc>
                          <a:spcPct val="100000"/>
                        </a:lnSpc>
                      </a:pPr>
                      <a:r>
                        <a:rPr sz="1125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解释器</a:t>
                      </a:r>
                      <a:endParaRPr sz="1125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78" name="picture 2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58096" y="4705064"/>
            <a:ext cx="270509" cy="64294"/>
          </a:xfrm>
          <a:prstGeom prst="rect">
            <a:avLst/>
          </a:prstGeom>
        </p:spPr>
      </p:pic>
      <p:pic>
        <p:nvPicPr>
          <p:cNvPr id="2680" name="picture 26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19450" y="4065746"/>
            <a:ext cx="1621727" cy="766286"/>
          </a:xfrm>
          <a:prstGeom prst="rect">
            <a:avLst/>
          </a:prstGeom>
        </p:spPr>
      </p:pic>
      <p:graphicFrame>
        <p:nvGraphicFramePr>
          <p:cNvPr id="2690" name="table 2690"/>
          <p:cNvGraphicFramePr>
            <a:graphicFrameLocks noGrp="1"/>
          </p:cNvGraphicFramePr>
          <p:nvPr/>
        </p:nvGraphicFramePr>
        <p:xfrm>
          <a:off x="621983" y="4552759"/>
          <a:ext cx="699770" cy="368300"/>
        </p:xfrm>
        <a:graphic>
          <a:graphicData uri="http://schemas.openxmlformats.org/drawingml/2006/table">
            <a:tbl>
              <a:tblPr>
                <a:solidFill>
                  <a:srgbClr val="8AC6CD"/>
                </a:solidFill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7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7640" algn="l" rtl="0" eaLnBrk="0">
                        <a:lnSpc>
                          <a:spcPct val="100000"/>
                        </a:lnSpc>
                      </a:pPr>
                      <a:r>
                        <a:rPr sz="1125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编辑器</a:t>
                      </a:r>
                      <a:endParaRPr sz="1125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9A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92" name="textbox 2692"/>
          <p:cNvSpPr/>
          <p:nvPr/>
        </p:nvSpPr>
        <p:spPr>
          <a:xfrm>
            <a:off x="2287166" y="3939924"/>
            <a:ext cx="778192" cy="3462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810" algn="l" rtl="0" eaLnBrk="0">
              <a:lnSpc>
                <a:spcPct val="95000"/>
              </a:lnSpc>
            </a:pPr>
            <a:r>
              <a:rPr sz="1125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启动解释器</a:t>
            </a:r>
            <a:r>
              <a:rPr sz="1125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25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1125" b="1" u="sng" kern="0" spc="7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89A4A7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1125" b="1" u="sng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112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94" name="picture 26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12736" y="4604003"/>
            <a:ext cx="1063561" cy="230885"/>
          </a:xfrm>
          <a:prstGeom prst="rect">
            <a:avLst/>
          </a:prstGeom>
        </p:spPr>
      </p:pic>
      <p:sp>
        <p:nvSpPr>
          <p:cNvPr id="2696" name="textbox 2696"/>
          <p:cNvSpPr/>
          <p:nvPr/>
        </p:nvSpPr>
        <p:spPr>
          <a:xfrm>
            <a:off x="1598948" y="5289827"/>
            <a:ext cx="472439" cy="19097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125" b="1" kern="0" spc="70" dirty="0">
                <a:solidFill>
                  <a:srgbClr val="222268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源文件</a:t>
            </a:r>
            <a:endParaRPr sz="112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98" name="textbox 2698"/>
          <p:cNvSpPr/>
          <p:nvPr/>
        </p:nvSpPr>
        <p:spPr>
          <a:xfrm>
            <a:off x="1545496" y="4661524"/>
            <a:ext cx="514826" cy="148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050" b="1" kern="0" spc="-20" dirty="0">
                <a:solidFill>
                  <a:srgbClr val="22226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hello.py</a:t>
            </a:r>
            <a:endParaRPr sz="10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42" name="group 242"/>
          <p:cNvGrpSpPr/>
          <p:nvPr/>
        </p:nvGrpSpPr>
        <p:grpSpPr>
          <a:xfrm rot="21600000">
            <a:off x="831062" y="4317302"/>
            <a:ext cx="207822" cy="183647"/>
            <a:chOff x="0" y="0"/>
            <a:chExt cx="277096" cy="244862"/>
          </a:xfrm>
        </p:grpSpPr>
        <p:sp>
          <p:nvSpPr>
            <p:cNvPr id="2702" name="path 2702"/>
            <p:cNvSpPr/>
            <p:nvPr/>
          </p:nvSpPr>
          <p:spPr>
            <a:xfrm>
              <a:off x="8246" y="12700"/>
              <a:ext cx="260603" cy="222503"/>
            </a:xfrm>
            <a:custGeom>
              <a:avLst/>
              <a:gdLst/>
              <a:ahLst/>
              <a:cxnLst/>
              <a:rect l="0" t="0" r="0" b="0"/>
              <a:pathLst>
                <a:path w="410" h="350">
                  <a:moveTo>
                    <a:pt x="0" y="175"/>
                  </a:moveTo>
                  <a:lnTo>
                    <a:pt x="102" y="175"/>
                  </a:lnTo>
                  <a:lnTo>
                    <a:pt x="102" y="0"/>
                  </a:lnTo>
                  <a:lnTo>
                    <a:pt x="307" y="0"/>
                  </a:lnTo>
                  <a:lnTo>
                    <a:pt x="307" y="175"/>
                  </a:lnTo>
                  <a:lnTo>
                    <a:pt x="410" y="175"/>
                  </a:lnTo>
                  <a:lnTo>
                    <a:pt x="205" y="35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E9F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04" name="path 2704"/>
            <p:cNvSpPr/>
            <p:nvPr/>
          </p:nvSpPr>
          <p:spPr>
            <a:xfrm>
              <a:off x="0" y="0"/>
              <a:ext cx="277096" cy="244862"/>
            </a:xfrm>
            <a:custGeom>
              <a:avLst/>
              <a:gdLst/>
              <a:ahLst/>
              <a:cxnLst/>
              <a:rect l="0" t="0" r="0" b="0"/>
              <a:pathLst>
                <a:path w="436" h="385">
                  <a:moveTo>
                    <a:pt x="12" y="195"/>
                  </a:moveTo>
                  <a:lnTo>
                    <a:pt x="115" y="195"/>
                  </a:lnTo>
                  <a:lnTo>
                    <a:pt x="115" y="20"/>
                  </a:lnTo>
                  <a:lnTo>
                    <a:pt x="320" y="20"/>
                  </a:lnTo>
                  <a:lnTo>
                    <a:pt x="320" y="195"/>
                  </a:lnTo>
                  <a:lnTo>
                    <a:pt x="423" y="195"/>
                  </a:lnTo>
                  <a:lnTo>
                    <a:pt x="218" y="370"/>
                  </a:lnTo>
                  <a:lnTo>
                    <a:pt x="12" y="195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44" name="group 244"/>
          <p:cNvGrpSpPr/>
          <p:nvPr/>
        </p:nvGrpSpPr>
        <p:grpSpPr>
          <a:xfrm rot="21600000">
            <a:off x="2625551" y="4326827"/>
            <a:ext cx="206721" cy="174104"/>
            <a:chOff x="0" y="0"/>
            <a:chExt cx="275628" cy="232138"/>
          </a:xfrm>
        </p:grpSpPr>
        <p:sp>
          <p:nvSpPr>
            <p:cNvPr id="2706" name="path 2706"/>
            <p:cNvSpPr/>
            <p:nvPr/>
          </p:nvSpPr>
          <p:spPr>
            <a:xfrm>
              <a:off x="8274" y="0"/>
              <a:ext cx="259080" cy="222503"/>
            </a:xfrm>
            <a:custGeom>
              <a:avLst/>
              <a:gdLst/>
              <a:ahLst/>
              <a:cxnLst/>
              <a:rect l="0" t="0" r="0" b="0"/>
              <a:pathLst>
                <a:path w="408" h="350">
                  <a:moveTo>
                    <a:pt x="0" y="175"/>
                  </a:moveTo>
                  <a:lnTo>
                    <a:pt x="102" y="175"/>
                  </a:lnTo>
                  <a:lnTo>
                    <a:pt x="102" y="0"/>
                  </a:lnTo>
                  <a:lnTo>
                    <a:pt x="306" y="0"/>
                  </a:lnTo>
                  <a:lnTo>
                    <a:pt x="306" y="175"/>
                  </a:lnTo>
                  <a:lnTo>
                    <a:pt x="408" y="175"/>
                  </a:lnTo>
                  <a:lnTo>
                    <a:pt x="204" y="35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66666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08" name="path 2708"/>
            <p:cNvSpPr/>
            <p:nvPr/>
          </p:nvSpPr>
          <p:spPr>
            <a:xfrm>
              <a:off x="0" y="0"/>
              <a:ext cx="275628" cy="232138"/>
            </a:xfrm>
            <a:custGeom>
              <a:avLst/>
              <a:gdLst/>
              <a:ahLst/>
              <a:cxnLst/>
              <a:rect l="0" t="0" r="0" b="0"/>
              <a:pathLst>
                <a:path w="434" h="365">
                  <a:moveTo>
                    <a:pt x="13" y="175"/>
                  </a:moveTo>
                  <a:lnTo>
                    <a:pt x="115" y="175"/>
                  </a:lnTo>
                  <a:lnTo>
                    <a:pt x="115" y="0"/>
                  </a:lnTo>
                  <a:moveTo>
                    <a:pt x="319" y="0"/>
                  </a:moveTo>
                  <a:lnTo>
                    <a:pt x="319" y="175"/>
                  </a:lnTo>
                  <a:lnTo>
                    <a:pt x="421" y="175"/>
                  </a:lnTo>
                  <a:lnTo>
                    <a:pt x="217" y="350"/>
                  </a:lnTo>
                  <a:lnTo>
                    <a:pt x="13" y="175"/>
                  </a:lnTo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46" name="group 246"/>
          <p:cNvGrpSpPr/>
          <p:nvPr/>
        </p:nvGrpSpPr>
        <p:grpSpPr>
          <a:xfrm rot="21600000">
            <a:off x="1778059" y="4938454"/>
            <a:ext cx="96909" cy="316869"/>
            <a:chOff x="0" y="0"/>
            <a:chExt cx="129212" cy="422492"/>
          </a:xfrm>
        </p:grpSpPr>
        <p:sp>
          <p:nvSpPr>
            <p:cNvPr id="2710" name="path 2710"/>
            <p:cNvSpPr/>
            <p:nvPr/>
          </p:nvSpPr>
          <p:spPr>
            <a:xfrm>
              <a:off x="8980" y="8980"/>
              <a:ext cx="111251" cy="400812"/>
            </a:xfrm>
            <a:custGeom>
              <a:avLst/>
              <a:gdLst/>
              <a:ahLst/>
              <a:cxnLst/>
              <a:rect l="0" t="0" r="0" b="0"/>
              <a:pathLst>
                <a:path w="175" h="631">
                  <a:moveTo>
                    <a:pt x="0" y="87"/>
                  </a:moveTo>
                  <a:lnTo>
                    <a:pt x="87" y="0"/>
                  </a:lnTo>
                  <a:lnTo>
                    <a:pt x="175" y="87"/>
                  </a:lnTo>
                  <a:lnTo>
                    <a:pt x="131" y="87"/>
                  </a:lnTo>
                  <a:lnTo>
                    <a:pt x="131" y="631"/>
                  </a:lnTo>
                  <a:lnTo>
                    <a:pt x="43" y="631"/>
                  </a:lnTo>
                  <a:lnTo>
                    <a:pt x="43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CECEE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12" name="path 2712"/>
            <p:cNvSpPr/>
            <p:nvPr/>
          </p:nvSpPr>
          <p:spPr>
            <a:xfrm>
              <a:off x="0" y="0"/>
              <a:ext cx="129212" cy="422492"/>
            </a:xfrm>
            <a:custGeom>
              <a:avLst/>
              <a:gdLst/>
              <a:ahLst/>
              <a:cxnLst/>
              <a:rect l="0" t="0" r="0" b="0"/>
              <a:pathLst>
                <a:path w="203" h="665">
                  <a:moveTo>
                    <a:pt x="14" y="101"/>
                  </a:moveTo>
                  <a:lnTo>
                    <a:pt x="101" y="14"/>
                  </a:lnTo>
                  <a:lnTo>
                    <a:pt x="189" y="101"/>
                  </a:lnTo>
                  <a:lnTo>
                    <a:pt x="145" y="101"/>
                  </a:lnTo>
                  <a:lnTo>
                    <a:pt x="145" y="645"/>
                  </a:lnTo>
                  <a:lnTo>
                    <a:pt x="57" y="645"/>
                  </a:lnTo>
                  <a:lnTo>
                    <a:pt x="57" y="101"/>
                  </a:lnTo>
                  <a:lnTo>
                    <a:pt x="14" y="101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48" name="group 248"/>
          <p:cNvGrpSpPr/>
          <p:nvPr/>
        </p:nvGrpSpPr>
        <p:grpSpPr>
          <a:xfrm rot="21600000">
            <a:off x="3732589" y="4887019"/>
            <a:ext cx="98052" cy="189996"/>
            <a:chOff x="0" y="0"/>
            <a:chExt cx="130736" cy="253328"/>
          </a:xfrm>
        </p:grpSpPr>
        <p:sp>
          <p:nvSpPr>
            <p:cNvPr id="2714" name="path 2714"/>
            <p:cNvSpPr/>
            <p:nvPr/>
          </p:nvSpPr>
          <p:spPr>
            <a:xfrm>
              <a:off x="8980" y="8980"/>
              <a:ext cx="112776" cy="231647"/>
            </a:xfrm>
            <a:custGeom>
              <a:avLst/>
              <a:gdLst/>
              <a:ahLst/>
              <a:cxnLst/>
              <a:rect l="0" t="0" r="0" b="0"/>
              <a:pathLst>
                <a:path w="177" h="364">
                  <a:moveTo>
                    <a:pt x="0" y="88"/>
                  </a:moveTo>
                  <a:lnTo>
                    <a:pt x="88" y="0"/>
                  </a:lnTo>
                  <a:lnTo>
                    <a:pt x="177" y="88"/>
                  </a:lnTo>
                  <a:lnTo>
                    <a:pt x="133" y="88"/>
                  </a:lnTo>
                  <a:lnTo>
                    <a:pt x="133" y="364"/>
                  </a:lnTo>
                  <a:lnTo>
                    <a:pt x="44" y="364"/>
                  </a:lnTo>
                  <a:lnTo>
                    <a:pt x="4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CECEE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2716" name="path 2716"/>
            <p:cNvSpPr/>
            <p:nvPr/>
          </p:nvSpPr>
          <p:spPr>
            <a:xfrm>
              <a:off x="0" y="0"/>
              <a:ext cx="130736" cy="253328"/>
            </a:xfrm>
            <a:custGeom>
              <a:avLst/>
              <a:gdLst/>
              <a:ahLst/>
              <a:cxnLst/>
              <a:rect l="0" t="0" r="0" b="0"/>
              <a:pathLst>
                <a:path w="205" h="398">
                  <a:moveTo>
                    <a:pt x="14" y="102"/>
                  </a:moveTo>
                  <a:lnTo>
                    <a:pt x="102" y="14"/>
                  </a:lnTo>
                  <a:lnTo>
                    <a:pt x="191" y="102"/>
                  </a:lnTo>
                  <a:lnTo>
                    <a:pt x="147" y="102"/>
                  </a:lnTo>
                  <a:lnTo>
                    <a:pt x="147" y="378"/>
                  </a:lnTo>
                  <a:lnTo>
                    <a:pt x="58" y="378"/>
                  </a:lnTo>
                  <a:lnTo>
                    <a:pt x="58" y="102"/>
                  </a:lnTo>
                  <a:lnTo>
                    <a:pt x="14" y="10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682" name="picture 26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78337" y="3625691"/>
            <a:ext cx="3375946" cy="285655"/>
          </a:xfrm>
          <a:prstGeom prst="rect">
            <a:avLst/>
          </a:prstGeom>
        </p:spPr>
      </p:pic>
      <p:pic>
        <p:nvPicPr>
          <p:cNvPr id="2664" name="picture 26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22266" y="3693864"/>
            <a:ext cx="4406229" cy="21284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六、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编程方式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945" y="1165225"/>
            <a:ext cx="799211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的三种编程方式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Web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在网页中编写代码块，方便添加文字，显示图形，适合学习和算法研究。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Anaconda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Jupyter Notebook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720" name="picture 27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5015" y="3745815"/>
            <a:ext cx="4683141" cy="2438990"/>
          </a:xfrm>
          <a:prstGeom prst="rect">
            <a:avLst/>
          </a:prstGeom>
        </p:spPr>
      </p:pic>
      <p:sp>
        <p:nvSpPr>
          <p:cNvPr id="2742" name="textbox 2742"/>
          <p:cNvSpPr/>
          <p:nvPr/>
        </p:nvSpPr>
        <p:spPr>
          <a:xfrm>
            <a:off x="5568441" y="3818762"/>
            <a:ext cx="1184433" cy="276701"/>
          </a:xfrm>
          <a:prstGeom prst="rect">
            <a:avLst/>
          </a:prstGeom>
          <a:solidFill>
            <a:srgbClr val="A3A3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37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980" algn="l" rtl="0" eaLnBrk="0">
              <a:lnSpc>
                <a:spcPct val="98000"/>
              </a:lnSpc>
              <a:spcBef>
                <a:spcPts val="0"/>
              </a:spcBef>
            </a:pPr>
            <a:r>
              <a:rPr sz="1350" b="1" kern="0" spc="-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Web浏览器</a:t>
            </a:r>
            <a:endParaRPr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4" name="textbox 2744"/>
          <p:cNvSpPr/>
          <p:nvPr/>
        </p:nvSpPr>
        <p:spPr>
          <a:xfrm>
            <a:off x="5568441" y="4335398"/>
            <a:ext cx="1184433" cy="276701"/>
          </a:xfrm>
          <a:prstGeom prst="rect">
            <a:avLst/>
          </a:prstGeom>
          <a:solidFill>
            <a:srgbClr val="A3A3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37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1760" algn="l" rtl="0" eaLnBrk="0">
              <a:lnSpc>
                <a:spcPct val="86000"/>
              </a:lnSpc>
              <a:spcBef>
                <a:spcPts val="5"/>
              </a:spcBef>
            </a:pPr>
            <a:r>
              <a:rPr sz="1350" b="1" kern="0" spc="-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Notebook</a:t>
            </a:r>
            <a:endParaRPr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7030" y="1165225"/>
            <a:ext cx="5181600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的语句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语句是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程序的过程构造块，用于定义函数、定义类、创建对象、变量赋值、调用函数、控制分支、创建循环等。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语句分为简单语句和复合语句。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简单语句包括：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表达式语句、赋值语句、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assert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yield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raise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continue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global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nonlocal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复合语句包括：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try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with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函数定义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、类定义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34" name="picture 4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48546" y="1722355"/>
            <a:ext cx="3401610" cy="39203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导入语句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 math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导入模块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math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模块通常包含用户自定义的变量、函数和类。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math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标准库中的一个模块。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定义了一些实现算术运算的函数，例如这个程序要用到计算平方根的函数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sqrt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还包含三角函数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、对数函数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内置函数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print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以文本形式输出数据。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的内置模块中。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内置模块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名称为：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builtins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程序不需要用</a:t>
            </a: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语句导入内置模块，而是可以直接引用内置模块中定义的函数和数据类型。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 dirty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变量和赋值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通过赋值运算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 =”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把创建的浮点数赋值给了三个变量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程序中，变量是对象的标签，用来引用对象。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在形式上，变量是一个用户定义的名字（例如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area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），这个名字的正式称呼是标识符。</a:t>
            </a: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l"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标识符是由编程者自定义的用于给变量、函数、类、模块或其他对象命名的字符序列。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标识符命名规则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只能使用下划线（</a:t>
            </a: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）、数字字符（</a:t>
            </a: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0~9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）、大写字母字符（</a:t>
            </a:r>
            <a:r>
              <a:rPr lang="en-US" altLang="zh-CN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A~Z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）和小写字母字符（</a:t>
            </a:r>
            <a:r>
              <a:rPr lang="en-US" altLang="zh-CN" sz="2400" b="1" dirty="0" err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a~z</a:t>
            </a: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不能用数字字符开头。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标识符长度任意，区分大小写，不能使用关键字。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 dirty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68" name="picture 7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91327" y="4849434"/>
            <a:ext cx="3268955" cy="1772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5387340"/>
            <a:ext cx="4770755" cy="5753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标识符命名的注意事项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以下划线开头的变量在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中有特殊含义。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以双下划线开始和结束的名称通常具有特殊的含义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为类的构造函数，一般应避免使用。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不建议使用系统内置的模块名、类型名或函数名以及已导入的模块名及其成员名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作变量名，这将会改变其类型和含义。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int=12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，那么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就不再是内置的整数类型名了，导致混乱。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标识符作为变量、函数或类型名称时，最好包含完整的单词或者拼音，能反映所引用的量、函数的功能、类型的含义，方便阅读。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注释用来对代码进行说明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以符号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开始，表示本行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之后的内容为注释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单行注释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一条注释以不包含在字符串字面值内的井号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(#)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开头，并在物理行的末尾结束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一条注释标志着逻辑行的结束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i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0" name="group 70"/>
          <p:cNvGrpSpPr/>
          <p:nvPr/>
        </p:nvGrpSpPr>
        <p:grpSpPr>
          <a:xfrm rot="21600000">
            <a:off x="1801733" y="2359898"/>
            <a:ext cx="5482542" cy="539067"/>
            <a:chOff x="0" y="0"/>
            <a:chExt cx="7310056" cy="718756"/>
          </a:xfrm>
        </p:grpSpPr>
        <p:pic>
          <p:nvPicPr>
            <p:cNvPr id="926" name="picture 9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310056" cy="718756"/>
            </a:xfrm>
            <a:prstGeom prst="rect">
              <a:avLst/>
            </a:prstGeom>
          </p:spPr>
        </p:pic>
        <p:sp>
          <p:nvSpPr>
            <p:cNvPr id="928" name="textbox 928"/>
            <p:cNvSpPr/>
            <p:nvPr/>
          </p:nvSpPr>
          <p:spPr>
            <a:xfrm>
              <a:off x="-12700" y="-12700"/>
              <a:ext cx="7335519" cy="750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1285" algn="l" rtl="0" eaLnBrk="0">
                <a:lnSpc>
                  <a:spcPct val="77000"/>
                </a:lnSpc>
                <a:spcBef>
                  <a:spcPts val="0"/>
                </a:spcBef>
              </a:pPr>
              <a:r>
                <a:rPr sz="1125" b="1" kern="0" spc="5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# this</a:t>
              </a:r>
              <a:r>
                <a:rPr sz="1125" b="1" kern="0" spc="17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5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is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my</a:t>
              </a:r>
              <a:r>
                <a:rPr sz="1125" b="1" kern="0" spc="18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first</a:t>
              </a:r>
              <a:r>
                <a:rPr sz="1125" b="1" kern="0" spc="17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Python</a:t>
              </a:r>
              <a:r>
                <a:rPr sz="1125" b="1" kern="0" spc="16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Program</a:t>
              </a:r>
              <a:endParaRPr sz="1125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  <a:p>
              <a:pPr algn="l" rtl="0" eaLnBrk="0">
                <a:lnSpc>
                  <a:spcPct val="115000"/>
                </a:lnSpc>
              </a:pPr>
              <a:endParaRPr sz="37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7950" algn="l" rtl="0" eaLnBrk="0">
                <a:lnSpc>
                  <a:spcPct val="79000"/>
                </a:lnSpc>
              </a:pPr>
              <a:r>
                <a:rPr sz="1125" b="1" kern="0" spc="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prtint</a:t>
              </a:r>
              <a:r>
                <a:rPr sz="1125" b="1" kern="0" spc="20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(‘</a:t>
              </a:r>
              <a:r>
                <a:rPr sz="1125" b="1" kern="0" spc="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Hi</a:t>
              </a:r>
              <a:r>
                <a:rPr sz="1125" b="1" kern="0" spc="20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, </a:t>
              </a:r>
              <a:r>
                <a:rPr sz="1125" b="1" kern="0" spc="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Python</a:t>
              </a:r>
              <a:r>
                <a:rPr sz="1125" b="1" kern="0" spc="200" dirty="0">
                  <a:solidFill>
                    <a:srgbClr val="000000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!’) </a:t>
              </a:r>
              <a:r>
                <a:rPr sz="1125" b="1" kern="0" spc="20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# </a:t>
              </a:r>
              <a:r>
                <a:rPr sz="1125" b="1" kern="0" spc="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print</a:t>
              </a:r>
              <a:r>
                <a:rPr sz="1125" b="1" kern="0" spc="14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a</a:t>
              </a:r>
              <a:r>
                <a:rPr sz="1125" b="1" kern="0" spc="19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 </a:t>
              </a:r>
              <a:r>
                <a:rPr sz="1125" b="1" kern="0" spc="0" dirty="0">
                  <a:solidFill>
                    <a:srgbClr val="FF00FF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string</a:t>
              </a:r>
              <a:endParaRPr sz="1125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七、</a:t>
            </a:r>
            <a:r>
              <a:rPr lang="en-US" altLang="zh-CN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Python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程序的构成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用多行字符串充当注释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包含在一对三引号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’’’...’’’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”””... ”””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之间，并且不属于任何语句的内容将被解释器认为是注释。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可以看成是一种多行注释。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948" name="table 948"/>
          <p:cNvGraphicFramePr>
            <a:graphicFrameLocks noGrp="1"/>
          </p:cNvGraphicFramePr>
          <p:nvPr/>
        </p:nvGraphicFramePr>
        <p:xfrm>
          <a:off x="1738868" y="2787761"/>
          <a:ext cx="5425440" cy="1282700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2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7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2930" indent="-456565" algn="l" rtl="0" eaLnBrk="0">
                        <a:lnSpc>
                          <a:spcPct val="106000"/>
                        </a:lnSpc>
                        <a:spcBef>
                          <a:spcPts val="5"/>
                        </a:spcBef>
                      </a:pPr>
                      <a:r>
                        <a:rPr sz="1125" b="1" kern="0" spc="2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’’’</a:t>
                      </a:r>
                      <a:r>
                        <a:rPr sz="1125" b="1" kern="0" spc="19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this</a:t>
                      </a:r>
                      <a:r>
                        <a:rPr sz="1125" b="1" kern="0" spc="16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is </a:t>
                      </a:r>
                      <a:r>
                        <a:rPr sz="1125" b="1" kern="0" spc="4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print</a:t>
                      </a:r>
                      <a:r>
                        <a:rPr sz="1125" b="1" kern="0" spc="17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4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26365" algn="l" rtl="0" eaLnBrk="0">
                        <a:lnSpc>
                          <a:spcPts val="2085"/>
                        </a:lnSpc>
                        <a:spcBef>
                          <a:spcPts val="720"/>
                        </a:spcBef>
                      </a:pPr>
                      <a:r>
                        <a:rPr sz="1125" b="1" kern="0" spc="-2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’’’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95250" algn="l" rtl="0" eaLnBrk="0">
                        <a:lnSpc>
                          <a:spcPct val="77000"/>
                        </a:lnSpc>
                        <a:spcBef>
                          <a:spcPts val="35"/>
                        </a:spcBef>
                      </a:pPr>
                      <a:r>
                        <a:rPr sz="1125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prtint</a:t>
                      </a:r>
                      <a:r>
                        <a:rPr sz="1125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(‘</a:t>
                      </a:r>
                      <a:r>
                        <a:rPr sz="1125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Hi</a:t>
                      </a:r>
                      <a:r>
                        <a:rPr sz="1125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,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690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125" b="1" kern="0" spc="5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my first</a:t>
                      </a:r>
                      <a:r>
                        <a:rPr sz="1125" b="1" kern="0" spc="23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5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Python</a:t>
                      </a:r>
                      <a:r>
                        <a:rPr sz="1125" b="1" kern="0" spc="16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5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Program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78105" algn="l" rtl="0" eaLnBrk="0">
                        <a:lnSpc>
                          <a:spcPts val="2110"/>
                        </a:lnSpc>
                      </a:pPr>
                      <a:r>
                        <a:rPr sz="1125" b="1" kern="0" spc="3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string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7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2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930" algn="l" rtl="0" eaLnBrk="0">
                        <a:lnSpc>
                          <a:spcPct val="77000"/>
                        </a:lnSpc>
                      </a:pPr>
                      <a:r>
                        <a:rPr sz="1125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Python</a:t>
                      </a:r>
                      <a:r>
                        <a:rPr sz="1125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!’)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八、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调用模块函数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04354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怎么使用非内置函数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语句，可以导入模块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module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，然后使用下面的形式调用模块中的函数。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模块名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.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函数名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一般，建议每个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语句只导入一个模块，如果从同一个模块中导入多个函数或类，可以使用逗号分隔的方式。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70" name="table 670"/>
          <p:cNvGraphicFramePr>
            <a:graphicFrameLocks noGrp="1"/>
          </p:cNvGraphicFramePr>
          <p:nvPr/>
        </p:nvGraphicFramePr>
        <p:xfrm>
          <a:off x="884920" y="4658979"/>
          <a:ext cx="4535170" cy="1143572"/>
        </p:xfrm>
        <a:graphic>
          <a:graphicData uri="http://schemas.openxmlformats.org/drawingml/2006/table">
            <a:tbl>
              <a:tblPr/>
              <a:tblGrid>
                <a:gridCol w="453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10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125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</a:t>
                      </a:r>
                      <a:r>
                        <a:rPr sz="1125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csv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ct val="77000"/>
                        </a:lnSpc>
                        <a:spcBef>
                          <a:spcPts val="725"/>
                        </a:spcBef>
                      </a:pP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 datetime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11125" algn="l" rtl="0" eaLnBrk="0">
                        <a:lnSpc>
                          <a:spcPct val="75000"/>
                        </a:lnSpc>
                        <a:spcBef>
                          <a:spcPts val="715"/>
                        </a:spcBef>
                      </a:pP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from math import sqrt,</a:t>
                      </a:r>
                      <a:r>
                        <a:rPr sz="1125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cos,</a:t>
                      </a:r>
                      <a:r>
                        <a:rPr sz="1125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125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sin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ts val="2110"/>
                        </a:lnSpc>
                      </a:pPr>
                      <a:r>
                        <a:rPr sz="1125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 pan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das as pd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45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125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import matplotlib.pyp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lot as plt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0" name="table 680"/>
          <p:cNvGraphicFramePr>
            <a:graphicFrameLocks noGrp="1"/>
          </p:cNvGraphicFramePr>
          <p:nvPr/>
        </p:nvGraphicFramePr>
        <p:xfrm>
          <a:off x="884920" y="5927455"/>
          <a:ext cx="4535170" cy="281305"/>
        </p:xfrm>
        <a:graphic>
          <a:graphicData uri="http://schemas.openxmlformats.org/drawingml/2006/table">
            <a:tbl>
              <a:tblPr/>
              <a:tblGrid>
                <a:gridCol w="453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235"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r>
                        <a:rPr sz="1125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datetime.datetime.tod</a:t>
                      </a:r>
                      <a:r>
                        <a:rPr sz="1125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ay()</a:t>
                      </a:r>
                      <a:endParaRPr sz="1125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九、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程序代码的书写规则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461581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补充编码规则说明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从第一列开始书写代码，前面不能有任何空格，否则会产生语法错误。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一般情况下，一条简单语句占一行。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可以用反斜杠（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\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）作为续行符，用于一个语句跨越多行的情况。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分号（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）用于在一行书写多条语句。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注释可以从任意位置开始。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54" name="picture 10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37280" y="2022920"/>
            <a:ext cx="3803771" cy="20256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九、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程序代码的书写规则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461581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补充编码规则说明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复合语句由头部语句和构造体语句块组成。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构造体语句块由一条或多条语句组成。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头部语句由相应的关键字开始，构造体语句块则为下一行开始的一行或多行缩进代码。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通常，缩进是相对头部语句缩进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空格，也可以是任意多个空格，但同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一构造体代码块的多条语句缩进的空格数必须一致对齐。如果语句不缩进，或缩进不一致，将导致编译错误。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如果条件语句、循环语句、函数定义和类定义比较短，可以放在同一行。</a:t>
            </a:r>
          </a:p>
        </p:txBody>
      </p:sp>
      <p:pic>
        <p:nvPicPr>
          <p:cNvPr id="1104" name="picture 1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61347" y="2505287"/>
            <a:ext cx="3810069" cy="2145209"/>
          </a:xfrm>
          <a:prstGeom prst="rect">
            <a:avLst/>
          </a:prstGeom>
        </p:spPr>
      </p:pic>
      <p:sp>
        <p:nvSpPr>
          <p:cNvPr id="1116" name="textbox 1116"/>
          <p:cNvSpPr/>
          <p:nvPr/>
        </p:nvSpPr>
        <p:spPr>
          <a:xfrm>
            <a:off x="4430527" y="3642610"/>
            <a:ext cx="550544" cy="17573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050" b="1" kern="0" spc="-10" dirty="0">
                <a:solidFill>
                  <a:srgbClr val="33339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一条语句</a:t>
            </a:r>
            <a:endParaRPr sz="10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数据都是对象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中，一切都是对象，意味着语言中的几乎所有实体都是对象，包括数据类型、函数、类、模块等。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对象是类的实例，而类定义了对象的属性和方法。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例如，整数类（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）定义了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整数的基本操作，比如加法、减法、乘法等，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以及整数的属性（如二进制表示、字节长度等）。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那么，每一个整数（例如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）就是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的一个实例，它有自己的值（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的值是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），也可以调用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中定义的方法，例如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bit_length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十一、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对象是一个内存实体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对象本质上是一个内存实体。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如果把计算机的内存看成由无数个箱子组成的储物架（以字节为单位），对象就是储物架中不同大小的箱子。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图中整数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是一个对象，整数类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也是一个对象。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0" name="picture 1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63343" y="2797048"/>
            <a:ext cx="4489703" cy="13613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十一、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对象是一个内存实体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对象都有标识、类型和值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对象箱子的大小（占用的内存字节数）取决于对象所属的类型。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箱子在储物架上的位置（所占空间的第一个字节的编号，即内存地址）就唯一标识了对象。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箱子里的内容就是对象的值。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0" name="picture 1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63343" y="4694428"/>
            <a:ext cx="4489703" cy="13613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十二、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字符串拼接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字符串拼接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中，字符串拼接是将多个字符串合并为一个字符串的操作。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提供了多种方式来实现字符串拼接。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 +”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运算符可以直接将两个字符串拼接起来，创建一个新字符串。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注意，参与拼接的必须是两个字符串。可以把用函数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把数字转换为字符串，再与字符串拼接。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616" name="table 2616"/>
          <p:cNvGraphicFramePr>
            <a:graphicFrameLocks noGrp="1"/>
          </p:cNvGraphicFramePr>
          <p:nvPr/>
        </p:nvGraphicFramePr>
        <p:xfrm>
          <a:off x="885047" y="3019409"/>
          <a:ext cx="4563745" cy="836486"/>
        </p:xfrm>
        <a:graphic>
          <a:graphicData uri="http://schemas.openxmlformats.org/drawingml/2006/table">
            <a:tbl>
              <a:tblPr/>
              <a:tblGrid>
                <a:gridCol w="4563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922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s1 =</a:t>
                      </a:r>
                      <a:r>
                        <a:rPr sz="105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"Hello"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ts val="1850"/>
                        </a:lnSpc>
                      </a:pP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s2 =</a:t>
                      </a:r>
                      <a:r>
                        <a:rPr sz="105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"World"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ct val="78000"/>
                        </a:lnSpc>
                        <a:spcBef>
                          <a:spcPts val="650"/>
                        </a:spcBef>
                      </a:pP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s3 =</a:t>
                      </a:r>
                      <a:r>
                        <a:rPr sz="105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s1</a:t>
                      </a:r>
                      <a:r>
                        <a:rPr sz="105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05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",</a:t>
                      </a:r>
                      <a:r>
                        <a:rPr sz="105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r>
                        <a:rPr sz="105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05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s2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94615" algn="l" rtl="0" eaLnBrk="0">
                        <a:lnSpc>
                          <a:spcPct val="92000"/>
                        </a:lnSpc>
                        <a:spcBef>
                          <a:spcPts val="270"/>
                        </a:spcBef>
                      </a:pPr>
                      <a:r>
                        <a:rPr sz="105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</a:t>
                      </a:r>
                      <a:r>
                        <a:rPr sz="1050" b="1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rint(s3)  # </a:t>
                      </a:r>
                      <a:r>
                        <a:rPr sz="1050" b="1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输出</a:t>
                      </a:r>
                      <a:r>
                        <a:rPr sz="1050" u="sng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050" b="1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Hello,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World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22" name="table 2622"/>
          <p:cNvGraphicFramePr>
            <a:graphicFrameLocks noGrp="1"/>
          </p:cNvGraphicFramePr>
          <p:nvPr/>
        </p:nvGraphicFramePr>
        <p:xfrm>
          <a:off x="885047" y="5036042"/>
          <a:ext cx="4563745" cy="620395"/>
        </p:xfrm>
        <a:graphic>
          <a:graphicData uri="http://schemas.openxmlformats.org/drawingml/2006/table">
            <a:tbl>
              <a:tblPr/>
              <a:tblGrid>
                <a:gridCol w="4563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0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2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3505" algn="l" rtl="0" eaLnBrk="0">
                        <a:lnSpc>
                          <a:spcPct val="74000"/>
                        </a:lnSpc>
                      </a:pPr>
                      <a:r>
                        <a:rPr sz="105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age</a:t>
                      </a:r>
                      <a:r>
                        <a:rPr sz="105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105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18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109220" algn="l" rtl="0" eaLnBrk="0">
                        <a:lnSpc>
                          <a:spcPct val="89000"/>
                        </a:lnSpc>
                        <a:spcBef>
                          <a:spcPts val="345"/>
                        </a:spcBef>
                      </a:pP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 =</a:t>
                      </a:r>
                      <a:r>
                        <a:rPr sz="105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我今年</a:t>
                      </a:r>
                      <a:r>
                        <a:rPr sz="105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 +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str(age)</a:t>
                      </a:r>
                      <a:r>
                        <a:rPr sz="105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sz="105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岁。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"</a:t>
                      </a:r>
                      <a:endParaRPr sz="105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  <a:p>
                      <a:pPr marL="94615" algn="l" rtl="0" eaLnBrk="0">
                        <a:lnSpc>
                          <a:spcPts val="1845"/>
                        </a:lnSpc>
                      </a:pP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print(s)  # </a:t>
                      </a:r>
                      <a:r>
                        <a:rPr sz="105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输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出：我今年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18</a:t>
                      </a:r>
                      <a:r>
                        <a:rPr sz="105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岁。</a:t>
                      </a:r>
                      <a:endParaRPr sz="10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十三、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字符串格式化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中，字符串格式化是将变量或表达式嵌入到字符串中的过程。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Python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提供了多种字符串格式化的方式：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f-string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（格式化字符串字面值）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字符串的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format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）内置函数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format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格式化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每种方式都有其特点和适用场景。在大多数情况下推荐使用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f-string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，如果要做复杂格式化，建议使用字符串的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format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方法。不推荐另外两种方法。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85190" y="306705"/>
            <a:ext cx="7372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十三、</a:t>
            </a:r>
            <a:r>
              <a:rPr lang="zh-CN" altLang="en-US" sz="32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字符串格式化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1335" y="1165225"/>
            <a:ext cx="8173085" cy="560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f-string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格式化字符串字面值或称为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是标注了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'f'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'F'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前缀的字符串字面值。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这种字符串可包含替换字段，即以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{}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标注的表达式。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普通字符串字面值只是常量，而格式字符串字面值则是可在运行时求值的表达式。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它允许在字符串中直接嵌入变量或表达式，语法简单且可读性强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2925</Words>
  <Application>Microsoft Office PowerPoint</Application>
  <PresentationFormat>全屏显示(4:3)</PresentationFormat>
  <Paragraphs>1111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黑体</vt:lpstr>
      <vt:lpstr>华文楷体</vt:lpstr>
      <vt:lpstr>宋体</vt:lpstr>
      <vt:lpstr>微软雅黑</vt:lpstr>
      <vt:lpstr>幼圆</vt:lpstr>
      <vt:lpstr>Arial</vt:lpstr>
      <vt:lpstr>Calibri</vt:lpstr>
      <vt:lpstr>Courier New</vt:lpstr>
      <vt:lpstr>Franklin Gothic Book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xiaozhou</dc:creator>
  <cp:lastModifiedBy>hu_liqin@whu.edu.cn</cp:lastModifiedBy>
  <cp:revision>102</cp:revision>
  <dcterms:created xsi:type="dcterms:W3CDTF">2023-08-09T12:44:00Z</dcterms:created>
  <dcterms:modified xsi:type="dcterms:W3CDTF">2025-12-06T13:08:26Z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B8249C8A40C34D77B7F287496B473240_12</vt:lpwstr>
  </property>
</Properties>
</file>