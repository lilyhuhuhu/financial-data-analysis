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5"/>
  </p:notesMasterIdLst>
  <p:sldIdLst>
    <p:sldId id="256" r:id="rId2"/>
    <p:sldId id="259" r:id="rId3"/>
    <p:sldId id="309" r:id="rId4"/>
    <p:sldId id="310" r:id="rId5"/>
    <p:sldId id="311" r:id="rId6"/>
    <p:sldId id="312" r:id="rId7"/>
    <p:sldId id="261" r:id="rId8"/>
    <p:sldId id="262" r:id="rId9"/>
    <p:sldId id="313" r:id="rId10"/>
    <p:sldId id="314" r:id="rId11"/>
    <p:sldId id="315" r:id="rId12"/>
    <p:sldId id="316" r:id="rId13"/>
    <p:sldId id="319" r:id="rId14"/>
    <p:sldId id="317" r:id="rId15"/>
    <p:sldId id="320" r:id="rId16"/>
    <p:sldId id="321" r:id="rId17"/>
    <p:sldId id="318" r:id="rId18"/>
    <p:sldId id="263" r:id="rId19"/>
    <p:sldId id="370" r:id="rId20"/>
    <p:sldId id="322" r:id="rId21"/>
    <p:sldId id="369" r:id="rId22"/>
    <p:sldId id="371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99" r:id="rId37"/>
    <p:sldId id="300" r:id="rId38"/>
    <p:sldId id="301" r:id="rId39"/>
    <p:sldId id="303" r:id="rId40"/>
    <p:sldId id="306" r:id="rId41"/>
    <p:sldId id="307" r:id="rId42"/>
    <p:sldId id="302" r:id="rId43"/>
    <p:sldId id="308" r:id="rId44"/>
    <p:sldId id="278" r:id="rId45"/>
    <p:sldId id="279" r:id="rId46"/>
    <p:sldId id="280" r:id="rId47"/>
    <p:sldId id="281" r:id="rId48"/>
    <p:sldId id="282" r:id="rId49"/>
    <p:sldId id="283" r:id="rId50"/>
    <p:sldId id="284" r:id="rId51"/>
    <p:sldId id="285" r:id="rId52"/>
    <p:sldId id="286" r:id="rId53"/>
    <p:sldId id="287" r:id="rId54"/>
    <p:sldId id="288" r:id="rId55"/>
    <p:sldId id="290" r:id="rId56"/>
    <p:sldId id="291" r:id="rId57"/>
    <p:sldId id="292" r:id="rId58"/>
    <p:sldId id="293" r:id="rId59"/>
    <p:sldId id="294" r:id="rId60"/>
    <p:sldId id="295" r:id="rId61"/>
    <p:sldId id="296" r:id="rId62"/>
    <p:sldId id="297" r:id="rId63"/>
    <p:sldId id="298" r:id="rId6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/>
          <a:p>
            <a:fld id="{FB14F34F-1DF6-FB40-9346-159FE86DFEC1}" type="datetimeFigureOut">
              <a:rPr kumimoji="1" lang="zh-CN" altLang="en-US" smtClean="0"/>
              <a:t>2025/12/7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/>
          <a:lstStyle/>
          <a:p>
            <a:fld id="{2B99A270-F088-384F-AD84-6CFBDECFED1B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graphicFrame>
        <p:nvGraphicFramePr>
          <p:cNvPr id="10" name="table 10"/>
          <p:cNvGraphicFramePr>
            <a:graphicFrameLocks noGrp="1"/>
          </p:cNvGraphicFramePr>
          <p:nvPr userDrawn="1"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3246" y="1449323"/>
            <a:ext cx="9021317" cy="1527047"/>
          </a:xfrm>
          <a:prstGeom prst="rect">
            <a:avLst/>
          </a:prstGeom>
          <a:solidFill>
            <a:srgbClr val="D3481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rect 6"/>
          <p:cNvSpPr/>
          <p:nvPr/>
        </p:nvSpPr>
        <p:spPr>
          <a:xfrm>
            <a:off x="63246" y="1396745"/>
            <a:ext cx="9021317" cy="120396"/>
          </a:xfrm>
          <a:prstGeom prst="rect">
            <a:avLst/>
          </a:prstGeom>
          <a:solidFill>
            <a:srgbClr val="E6B1A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rect 8"/>
          <p:cNvSpPr/>
          <p:nvPr/>
        </p:nvSpPr>
        <p:spPr>
          <a:xfrm>
            <a:off x="63246" y="2976371"/>
            <a:ext cx="9021317" cy="110490"/>
          </a:xfrm>
          <a:prstGeom prst="rect">
            <a:avLst/>
          </a:prstGeom>
          <a:solidFill>
            <a:srgbClr val="91848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1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vert" anchor="b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n w="12700" cmpd="sng">
                          <a:solidFill>
                            <a:srgbClr val="FF0000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ln w="12700" cmpd="sng">
                            <a:solidFill>
                              <a:srgbClr val="FF0000"/>
                            </a:solidFill>
                            <a:prstDash val="solid"/>
                          </a:ln>
                          <a:solidFill>
                            <a:srgbClr val="FF0000"/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</a:p>
                  </a:txBody>
                  <a:tcPr marL="0" marR="0" marT="0" marB="0" vert="vert" anchor="b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2247900" y="1831340"/>
            <a:ext cx="6953885" cy="8299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sz="4800" b="1" kern="0" spc="-30" dirty="0">
                <a:solidFill>
                  <a:srgbClr val="FFFFFF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第</a:t>
            </a:r>
            <a:r>
              <a:rPr lang="zh-CN" sz="4800" b="1" kern="0" spc="-30" dirty="0">
                <a:solidFill>
                  <a:srgbClr val="FFFFFF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二讲</a:t>
            </a:r>
            <a:r>
              <a:rPr lang="en-US" altLang="zh-CN" sz="4800" b="1" kern="0" spc="-30" dirty="0">
                <a:solidFill>
                  <a:srgbClr val="FFFFFF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 </a:t>
            </a:r>
            <a:r>
              <a:rPr lang="zh-CN" sz="4800" b="1" kern="0" spc="-30" dirty="0">
                <a:solidFill>
                  <a:srgbClr val="FFFFFF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提示词工程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435225" y="3802380"/>
            <a:ext cx="4603750" cy="8299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ctr"/>
            <a:r>
              <a:rPr lang="zh-CN" altLang="en-US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胡利琴</a:t>
            </a:r>
            <a:r>
              <a:rPr lang="en-US" altLang="zh-CN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</a:p>
          <a:p>
            <a:pPr algn="ctr"/>
            <a:r>
              <a:rPr lang="zh-CN" altLang="en-US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武汉大学经济与管理学院金融系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5630" y="971075"/>
            <a:ext cx="7886700" cy="63383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r>
              <a:rPr lang="zh-CN" altLang="en-US">
                <a:sym typeface="+mn-ea"/>
              </a:rPr>
              <a:t>核心问题：</a:t>
            </a:r>
            <a:endParaRPr kumimoji="1"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5630" y="1772285"/>
            <a:ext cx="7886700" cy="38715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大模型发展到今天，能为我们做什么？</a:t>
            </a:r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为什么</a:t>
            </a:r>
            <a:r>
              <a:rPr lang="en-US" altLang="zh-CN"/>
              <a:t>“</a:t>
            </a:r>
            <a:r>
              <a:rPr lang="zh-CN" altLang="en-US"/>
              <a:t>会提问</a:t>
            </a:r>
            <a:r>
              <a:rPr lang="en-US" altLang="zh-CN"/>
              <a:t>”</a:t>
            </a:r>
            <a:r>
              <a:rPr lang="zh-CN" altLang="en-US"/>
              <a:t>会变成一门工程？</a:t>
            </a:r>
          </a:p>
          <a:p>
            <a:pPr marL="0" indent="0">
              <a:buNone/>
            </a:pPr>
            <a:r>
              <a:rPr lang="en-US" altLang="zh-CN"/>
              <a:t>3. </a:t>
            </a:r>
            <a:r>
              <a:rPr lang="zh-CN" altLang="en-US"/>
              <a:t>如何把大模型变成自己的生产工具？</a:t>
            </a:r>
          </a:p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人工智能时代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全球进入</a:t>
            </a:r>
            <a:r>
              <a:rPr lang="en-US" altLang="zh-CN" dirty="0"/>
              <a:t> “AI </a:t>
            </a:r>
            <a:r>
              <a:rPr lang="zh-CN" altLang="en-US" dirty="0"/>
              <a:t>驱动的数据时代</a:t>
            </a:r>
            <a:r>
              <a:rPr lang="en-US" altLang="zh-CN" dirty="0"/>
              <a:t>”</a:t>
            </a:r>
            <a:r>
              <a:rPr lang="zh-CN" altLang="en-US" dirty="0"/>
              <a:t>：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zh-CN" altLang="en-US" dirty="0"/>
              <a:t>数据规模指数级增长</a:t>
            </a:r>
            <a:r>
              <a:rPr lang="en-US" altLang="zh-CN" dirty="0"/>
              <a:t>  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zh-CN" altLang="en-US" dirty="0"/>
              <a:t>算力提升带来模型能力飞跃</a:t>
            </a:r>
            <a:r>
              <a:rPr lang="en-US" altLang="zh-CN" dirty="0"/>
              <a:t>  </a:t>
            </a:r>
          </a:p>
          <a:p>
            <a:pPr marL="0" indent="0">
              <a:buNone/>
            </a:pPr>
            <a:r>
              <a:rPr lang="en-US" altLang="zh-CN" dirty="0"/>
              <a:t> AI </a:t>
            </a:r>
            <a:r>
              <a:rPr lang="zh-CN" altLang="en-US" dirty="0"/>
              <a:t>不再是技术小圈子，而是生产力工具</a:t>
            </a:r>
            <a:r>
              <a:rPr lang="en-US" altLang="zh-CN" dirty="0"/>
              <a:t>  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zh-CN" altLang="en-US" dirty="0"/>
              <a:t>工作方式正在从</a:t>
            </a:r>
            <a:r>
              <a:rPr lang="en-US" altLang="zh-CN" dirty="0"/>
              <a:t>“</a:t>
            </a:r>
            <a:r>
              <a:rPr lang="zh-CN" altLang="en-US" dirty="0"/>
              <a:t>人工</a:t>
            </a:r>
            <a:r>
              <a:rPr lang="en-US" altLang="zh-CN" dirty="0"/>
              <a:t> + </a:t>
            </a:r>
            <a:r>
              <a:rPr lang="zh-CN" altLang="en-US" dirty="0"/>
              <a:t>工具</a:t>
            </a:r>
            <a:r>
              <a:rPr lang="en-US" altLang="zh-CN" dirty="0"/>
              <a:t>”</a:t>
            </a:r>
            <a:r>
              <a:rPr lang="zh-CN" altLang="en-US" dirty="0"/>
              <a:t>转向</a:t>
            </a:r>
            <a:r>
              <a:rPr lang="en-US" altLang="zh-CN" dirty="0"/>
              <a:t>“</a:t>
            </a:r>
            <a:r>
              <a:rPr lang="zh-CN" altLang="en-US" dirty="0"/>
              <a:t>人工</a:t>
            </a:r>
            <a:r>
              <a:rPr lang="en-US" altLang="zh-CN" dirty="0"/>
              <a:t> + AI</a:t>
            </a:r>
            <a:r>
              <a:rPr lang="zh-CN" altLang="en-US" dirty="0"/>
              <a:t>＋工</a:t>
            </a:r>
            <a:r>
              <a:rPr lang="en-US" altLang="zh-CN" dirty="0"/>
              <a:t>  </a:t>
            </a:r>
            <a:r>
              <a:rPr lang="zh-CN" altLang="en-US" dirty="0"/>
              <a:t>具自动化</a:t>
            </a:r>
            <a:r>
              <a:rPr lang="en-US" altLang="zh-CN" dirty="0"/>
              <a:t>”   </a:t>
            </a:r>
          </a:p>
          <a:p>
            <a:r>
              <a:rPr lang="en-US" altLang="zh-CN" dirty="0"/>
              <a:t>AI </a:t>
            </a:r>
            <a:r>
              <a:rPr lang="zh-CN" altLang="en-US" dirty="0"/>
              <a:t>正成为和</a:t>
            </a:r>
            <a:r>
              <a:rPr lang="en-US" altLang="zh-CN" dirty="0"/>
              <a:t> Excel</a:t>
            </a:r>
            <a:r>
              <a:rPr lang="zh-CN" altLang="en-US" dirty="0"/>
              <a:t>、</a:t>
            </a:r>
            <a:r>
              <a:rPr lang="en-US" altLang="zh-CN" dirty="0"/>
              <a:t>Python </a:t>
            </a:r>
            <a:r>
              <a:rPr lang="zh-CN" altLang="en-US" dirty="0"/>
              <a:t>一样必须掌握的工具。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AI </a:t>
            </a:r>
            <a:r>
              <a:rPr lang="zh-CN" altLang="en-US"/>
              <a:t>的核心能力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1.</a:t>
            </a:r>
            <a:r>
              <a:rPr lang="zh-CN" altLang="en-US"/>
              <a:t>理解：读懂文本、图像、表格</a:t>
            </a:r>
            <a:r>
              <a:rPr lang="en-US" altLang="zh-CN"/>
              <a:t>  </a:t>
            </a:r>
          </a:p>
          <a:p>
            <a:r>
              <a:rPr lang="en-US" altLang="zh-CN"/>
              <a:t>2. </a:t>
            </a:r>
            <a:r>
              <a:rPr lang="zh-CN" altLang="en-US"/>
              <a:t>生成：写报告、生成代码、生成摘要</a:t>
            </a:r>
            <a:r>
              <a:rPr lang="en-US" altLang="zh-CN"/>
              <a:t>  </a:t>
            </a:r>
          </a:p>
          <a:p>
            <a:r>
              <a:rPr lang="en-US" altLang="zh-CN"/>
              <a:t>3. </a:t>
            </a:r>
            <a:r>
              <a:rPr lang="zh-CN" altLang="en-US"/>
              <a:t>推理：分析逻辑、判断风险</a:t>
            </a:r>
            <a:r>
              <a:rPr lang="en-US" altLang="zh-CN"/>
              <a:t>  </a:t>
            </a:r>
          </a:p>
          <a:p>
            <a:r>
              <a:rPr lang="en-US" altLang="zh-CN"/>
              <a:t>4. </a:t>
            </a:r>
            <a:r>
              <a:rPr lang="zh-CN" altLang="en-US"/>
              <a:t>多模态：处理</a:t>
            </a:r>
            <a:r>
              <a:rPr lang="en-US" altLang="zh-CN"/>
              <a:t> PDF</a:t>
            </a:r>
            <a:r>
              <a:rPr lang="zh-CN" altLang="en-US"/>
              <a:t>、截图、图片、表格</a:t>
            </a:r>
            <a:r>
              <a:rPr lang="en-US" altLang="zh-CN"/>
              <a:t>  </a:t>
            </a:r>
          </a:p>
          <a:p>
            <a:r>
              <a:rPr lang="en-US" altLang="zh-CN"/>
              <a:t>5. </a:t>
            </a:r>
            <a:r>
              <a:rPr lang="zh-CN" altLang="en-US"/>
              <a:t>自动化（</a:t>
            </a:r>
            <a:r>
              <a:rPr lang="en-US" altLang="zh-CN"/>
              <a:t>Function Calling</a:t>
            </a:r>
            <a:r>
              <a:rPr lang="zh-CN" altLang="en-US"/>
              <a:t>）：调数据库、调接口、调脚本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AI </a:t>
            </a:r>
            <a:r>
              <a:rPr lang="zh-CN" altLang="en-US"/>
              <a:t>在全球的行业应用概况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医疗：病例自动抽取、诊断辅助</a:t>
            </a:r>
            <a:r>
              <a:rPr lang="en-US" altLang="zh-CN" dirty="0"/>
              <a:t>  </a:t>
            </a:r>
          </a:p>
          <a:p>
            <a:r>
              <a:rPr lang="zh-CN" altLang="en-US" dirty="0"/>
              <a:t>法律：合同审查、条款提取</a:t>
            </a:r>
            <a:r>
              <a:rPr lang="en-US" altLang="zh-CN" dirty="0"/>
              <a:t>   </a:t>
            </a:r>
          </a:p>
          <a:p>
            <a:r>
              <a:rPr lang="zh-CN" altLang="en-US" dirty="0"/>
              <a:t>制造业：质量检测、故障预测</a:t>
            </a:r>
            <a:r>
              <a:rPr lang="en-US" altLang="zh-CN" dirty="0"/>
              <a:t>    </a:t>
            </a:r>
          </a:p>
          <a:p>
            <a:r>
              <a:rPr lang="zh-CN" altLang="en-US" dirty="0"/>
              <a:t>教育：自动批改、内容生成</a:t>
            </a:r>
            <a:r>
              <a:rPr lang="en-US" altLang="zh-CN" dirty="0"/>
              <a:t>    </a:t>
            </a:r>
          </a:p>
          <a:p>
            <a:r>
              <a:rPr lang="zh-CN" altLang="en-US" dirty="0"/>
              <a:t>物流：路径规划、需求预测</a:t>
            </a:r>
            <a:r>
              <a:rPr lang="en-US" altLang="zh-CN" dirty="0"/>
              <a:t>   </a:t>
            </a:r>
          </a:p>
          <a:p>
            <a:r>
              <a:rPr lang="zh-CN" altLang="en-US" dirty="0"/>
              <a:t>金融：风控、投研、合规、运营自动化、客服自动化（增长最快）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AI </a:t>
            </a:r>
            <a:r>
              <a:rPr lang="zh-CN" altLang="en-US"/>
              <a:t>的三类典型应用路径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效率提升：自动写报告、自动提数据、自动分析</a:t>
            </a:r>
            <a:r>
              <a:rPr lang="en-US" altLang="zh-CN" dirty="0"/>
              <a:t>  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准确度提升：智能风控、舆情识别、事件监测</a:t>
            </a:r>
            <a:r>
              <a:rPr lang="en-US" altLang="zh-CN" dirty="0"/>
              <a:t>  </a:t>
            </a:r>
          </a:p>
          <a:p>
            <a:r>
              <a:rPr lang="en-US" altLang="zh-CN" dirty="0"/>
              <a:t>3. </a:t>
            </a:r>
            <a:r>
              <a:rPr lang="zh-CN" altLang="en-US" dirty="0"/>
              <a:t>流程自动化：审批工作流、</a:t>
            </a:r>
            <a:r>
              <a:rPr lang="en-US" altLang="zh-CN" dirty="0"/>
              <a:t>IT </a:t>
            </a:r>
            <a:r>
              <a:rPr lang="zh-CN" altLang="en-US" dirty="0"/>
              <a:t>运维事件处理</a:t>
            </a:r>
            <a:r>
              <a:rPr lang="en-US" altLang="zh-CN" dirty="0"/>
              <a:t>   AI </a:t>
            </a:r>
            <a:r>
              <a:rPr lang="zh-CN" altLang="en-US" dirty="0"/>
              <a:t>的核心价值</a:t>
            </a:r>
            <a:r>
              <a:rPr lang="en-US" altLang="zh-CN" dirty="0"/>
              <a:t> = “</a:t>
            </a:r>
            <a:r>
              <a:rPr lang="zh-CN" altLang="en-US" dirty="0"/>
              <a:t>让信息处理自动化</a:t>
            </a:r>
            <a:r>
              <a:rPr lang="en-US" altLang="zh-CN" dirty="0"/>
              <a:t>”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大模型发展概况（国外）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253490"/>
            <a:ext cx="7886700" cy="3891915"/>
          </a:xfrm>
        </p:spPr>
        <p:txBody>
          <a:bodyPr/>
          <a:lstStyle/>
          <a:p>
            <a:pPr marL="0" indent="0">
              <a:buNone/>
            </a:pPr>
            <a:endParaRPr lang="en-US" altLang="zh-CN"/>
          </a:p>
          <a:p>
            <a:r>
              <a:rPr lang="zh-CN" altLang="en-US" sz="2400"/>
              <a:t>代表性模型：</a:t>
            </a:r>
          </a:p>
          <a:p>
            <a:r>
              <a:rPr lang="en-US" altLang="zh-CN" sz="2400"/>
              <a:t>1 GPT </a:t>
            </a:r>
            <a:r>
              <a:rPr lang="zh-CN" altLang="en-US" sz="2400"/>
              <a:t>系列：通用智能、多模态、强推理</a:t>
            </a:r>
          </a:p>
          <a:p>
            <a:r>
              <a:rPr lang="en-US" altLang="zh-CN" sz="2400"/>
              <a:t>2 Claude </a:t>
            </a:r>
            <a:r>
              <a:rPr lang="zh-CN" altLang="en-US" sz="2400"/>
              <a:t>系列：长文本能力强，适合长报告、政策文件</a:t>
            </a:r>
          </a:p>
          <a:p>
            <a:r>
              <a:rPr lang="en-US" altLang="zh-CN" sz="2400"/>
              <a:t>3 Gemini </a:t>
            </a:r>
            <a:r>
              <a:rPr lang="zh-CN" altLang="en-US" sz="2400"/>
              <a:t>等：多模态融合（文本、图片、视频等）</a:t>
            </a:r>
          </a:p>
          <a:p>
            <a:r>
              <a:rPr lang="en-US" altLang="zh-CN" sz="2400"/>
              <a:t>4 Llama </a:t>
            </a:r>
            <a:r>
              <a:rPr lang="zh-CN" altLang="en-US" sz="2400"/>
              <a:t>等开源模型：推动企业自建与本地化部署</a:t>
            </a:r>
          </a:p>
          <a:p>
            <a:endParaRPr lang="en-US" altLang="zh-CN" sz="2400"/>
          </a:p>
          <a:p>
            <a:r>
              <a:rPr lang="zh-CN" altLang="en-US" sz="2400"/>
              <a:t>新趋势：</a:t>
            </a:r>
          </a:p>
          <a:p>
            <a:r>
              <a:rPr lang="en-US" altLang="zh-CN" sz="2400"/>
              <a:t>1 </a:t>
            </a:r>
            <a:r>
              <a:rPr lang="zh-CN" altLang="en-US" sz="2400"/>
              <a:t>超长上下文能力（十万字级别）</a:t>
            </a:r>
          </a:p>
          <a:p>
            <a:r>
              <a:rPr lang="en-US" altLang="zh-CN" sz="2400"/>
              <a:t>2 </a:t>
            </a:r>
            <a:r>
              <a:rPr lang="zh-CN" altLang="en-US" sz="2400"/>
              <a:t>强推理能力（</a:t>
            </a:r>
            <a:r>
              <a:rPr lang="en-US" altLang="zh-CN" sz="2400"/>
              <a:t>Chain-of-Thought, Tree-of-Thought</a:t>
            </a:r>
            <a:r>
              <a:rPr lang="zh-CN" altLang="en-US" sz="2400"/>
              <a:t>）</a:t>
            </a:r>
          </a:p>
          <a:p>
            <a:r>
              <a:rPr lang="en-US" altLang="zh-CN" sz="2400"/>
              <a:t>3 </a:t>
            </a:r>
            <a:r>
              <a:rPr lang="zh-CN" altLang="en-US" sz="2400"/>
              <a:t>和工具、数据库深度结合（检索、代码、</a:t>
            </a:r>
            <a:r>
              <a:rPr lang="en-US" altLang="zh-CN" sz="2400"/>
              <a:t>API</a:t>
            </a:r>
            <a:r>
              <a:rPr lang="zh-CN" altLang="en-US" sz="2400"/>
              <a:t>）</a:t>
            </a:r>
          </a:p>
          <a:p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大模型发展概况（国内）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7850" y="1330960"/>
            <a:ext cx="7886700" cy="4351338"/>
          </a:xfrm>
        </p:spPr>
        <p:txBody>
          <a:bodyPr/>
          <a:lstStyle/>
          <a:p>
            <a:r>
              <a:rPr lang="zh-CN" altLang="en-US" sz="2400"/>
              <a:t>代表性模型：</a:t>
            </a:r>
          </a:p>
          <a:p>
            <a:r>
              <a:rPr lang="en-US" altLang="zh-CN" sz="2400"/>
              <a:t>1 </a:t>
            </a:r>
            <a:r>
              <a:rPr lang="zh-CN" altLang="en-US" sz="2400"/>
              <a:t>通义、文心、豆包、</a:t>
            </a:r>
            <a:r>
              <a:rPr lang="en-US" altLang="zh-CN" sz="2400"/>
              <a:t>Kimi </a:t>
            </a:r>
            <a:r>
              <a:rPr lang="zh-CN" altLang="en-US" sz="2400"/>
              <a:t>等</a:t>
            </a:r>
          </a:p>
          <a:p>
            <a:r>
              <a:rPr lang="en-US" altLang="zh-CN" sz="2400"/>
              <a:t>2 </a:t>
            </a:r>
            <a:r>
              <a:rPr lang="zh-CN" altLang="en-US" sz="2400"/>
              <a:t>多数支持中文金融、政务、企业场景</a:t>
            </a:r>
          </a:p>
          <a:p>
            <a:endParaRPr lang="en-US" altLang="zh-CN" sz="2400"/>
          </a:p>
          <a:p>
            <a:r>
              <a:rPr lang="zh-CN" altLang="en-US" sz="2400"/>
              <a:t>发展方向：</a:t>
            </a:r>
          </a:p>
          <a:p>
            <a:r>
              <a:rPr lang="en-US" altLang="zh-CN" sz="2400"/>
              <a:t>1 </a:t>
            </a:r>
            <a:r>
              <a:rPr lang="zh-CN" altLang="en-US" sz="2400"/>
              <a:t>强理解：读报表、读政策、读合约</a:t>
            </a:r>
          </a:p>
          <a:p>
            <a:r>
              <a:rPr lang="en-US" altLang="zh-CN" sz="2400"/>
              <a:t>2 </a:t>
            </a:r>
            <a:r>
              <a:rPr lang="zh-CN" altLang="en-US" sz="2400"/>
              <a:t>强推理：风控、估值、投资决策辅助</a:t>
            </a:r>
          </a:p>
          <a:p>
            <a:r>
              <a:rPr lang="en-US" altLang="zh-CN" sz="2400"/>
              <a:t>3 </a:t>
            </a:r>
            <a:r>
              <a:rPr lang="zh-CN" altLang="en-US" sz="2400"/>
              <a:t>强执行：自动生成表格、报告、思维导图</a:t>
            </a:r>
          </a:p>
          <a:p>
            <a:endParaRPr lang="en-US" altLang="zh-CN" sz="2400"/>
          </a:p>
          <a:p>
            <a:r>
              <a:rPr lang="zh-CN" altLang="en-US" sz="2400"/>
              <a:t>对工作的意义：</a:t>
            </a:r>
          </a:p>
          <a:p>
            <a:r>
              <a:rPr lang="zh-CN" altLang="en-US" sz="2400"/>
              <a:t>大模型已经从</a:t>
            </a:r>
            <a:r>
              <a:rPr lang="en-US" altLang="zh-CN" sz="2400"/>
              <a:t>“</a:t>
            </a:r>
            <a:r>
              <a:rPr lang="zh-CN" altLang="en-US" sz="2400"/>
              <a:t>玩具</a:t>
            </a:r>
            <a:r>
              <a:rPr lang="en-US" altLang="zh-CN" sz="2400"/>
              <a:t>”</a:t>
            </a:r>
            <a:r>
              <a:rPr lang="zh-CN" altLang="en-US" sz="2400"/>
              <a:t>变成</a:t>
            </a:r>
            <a:r>
              <a:rPr lang="en-US" altLang="zh-CN" sz="2400"/>
              <a:t>“</a:t>
            </a:r>
            <a:r>
              <a:rPr lang="zh-CN" altLang="en-US" sz="2400"/>
              <a:t>生产工具</a:t>
            </a:r>
            <a:r>
              <a:rPr lang="en-US" altLang="zh-CN" sz="2400"/>
              <a:t>”</a:t>
            </a:r>
            <a:r>
              <a:rPr lang="zh-CN" altLang="en-US" sz="2400"/>
              <a:t>，关键在于你如何让它听得懂你的指令。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为什么金融与</a:t>
            </a:r>
            <a:r>
              <a:rPr lang="en-US" altLang="zh-CN"/>
              <a:t> AI </a:t>
            </a:r>
            <a:r>
              <a:rPr lang="zh-CN" altLang="en-US"/>
              <a:t>的结合最紧密？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金融行业具有三大特点：</a:t>
            </a:r>
            <a:r>
              <a:rPr lang="en-US" altLang="zh-CN"/>
              <a:t> </a:t>
            </a:r>
          </a:p>
          <a:p>
            <a:pPr marL="0" indent="0">
              <a:buNone/>
            </a:pPr>
            <a:r>
              <a:rPr lang="en-US" altLang="zh-CN"/>
              <a:t>1.  </a:t>
            </a:r>
            <a:r>
              <a:rPr lang="zh-CN" altLang="en-US"/>
              <a:t>数据极其丰富：交易、文本、公告、财报、</a:t>
            </a:r>
            <a:r>
              <a:rPr lang="en-US" altLang="zh-CN"/>
              <a:t>KYC </a:t>
            </a:r>
            <a:r>
              <a:rPr lang="zh-CN" altLang="en-US"/>
              <a:t>材料</a:t>
            </a:r>
            <a:r>
              <a:rPr lang="en-US" altLang="zh-CN"/>
              <a:t>  </a:t>
            </a:r>
          </a:p>
          <a:p>
            <a:pPr marL="0" indent="0">
              <a:buNone/>
            </a:pPr>
            <a:r>
              <a:rPr lang="en-US" altLang="zh-CN"/>
              <a:t>2.  </a:t>
            </a:r>
            <a:r>
              <a:rPr lang="zh-CN" altLang="en-US"/>
              <a:t>规则驱动：合规、风控、审批</a:t>
            </a:r>
            <a:r>
              <a:rPr lang="en-US" altLang="zh-CN"/>
              <a:t>  </a:t>
            </a:r>
          </a:p>
          <a:p>
            <a:pPr marL="0" indent="0">
              <a:buNone/>
            </a:pPr>
            <a:r>
              <a:rPr lang="en-US" altLang="zh-CN"/>
              <a:t>3.  </a:t>
            </a:r>
            <a:r>
              <a:rPr lang="zh-CN" altLang="en-US"/>
              <a:t>高度依赖分析：文本分析、数值分析、逻辑推断</a:t>
            </a:r>
            <a:r>
              <a:rPr lang="en-US" altLang="zh-CN"/>
              <a:t>  </a:t>
            </a:r>
          </a:p>
          <a:p>
            <a:pPr marL="0" indent="0">
              <a:buNone/>
            </a:pPr>
            <a:r>
              <a:rPr lang="en-US" altLang="zh-CN"/>
              <a:t> AI </a:t>
            </a:r>
            <a:r>
              <a:rPr lang="zh-CN" altLang="en-US"/>
              <a:t>的能力恰好对应金融所有典型任务。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AI </a:t>
            </a:r>
            <a:r>
              <a:rPr lang="zh-CN" altLang="en-US"/>
              <a:t>在金融行业中的总体应用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zh-CN" altLang="en-US"/>
              <a:t>数据密集（</a:t>
            </a:r>
            <a:r>
              <a:rPr lang="en-US" altLang="zh-CN"/>
              <a:t>Data-Intensive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en-US"/>
              <a:t>金融数据种类繁多：</a:t>
            </a:r>
            <a:r>
              <a:rPr lang="en-US" altLang="zh-CN"/>
              <a:t> </a:t>
            </a:r>
          </a:p>
          <a:p>
            <a:pPr marL="0" indent="0">
              <a:buNone/>
            </a:pPr>
            <a:r>
              <a:rPr lang="en-US" altLang="zh-CN"/>
              <a:t>    </a:t>
            </a:r>
            <a:r>
              <a:rPr lang="zh-CN" altLang="en-US"/>
              <a:t>结构化：交易数据、账户数据、财务指标</a:t>
            </a:r>
            <a:r>
              <a:rPr lang="en-US" altLang="zh-CN"/>
              <a:t>  </a:t>
            </a:r>
          </a:p>
          <a:p>
            <a:pPr marL="0" indent="0">
              <a:buNone/>
            </a:pPr>
            <a:r>
              <a:rPr lang="en-US" altLang="zh-CN"/>
              <a:t>    </a:t>
            </a:r>
            <a:r>
              <a:rPr lang="zh-CN" altLang="en-US"/>
              <a:t>半结构化：报表</a:t>
            </a:r>
            <a:r>
              <a:rPr lang="en-US" altLang="zh-CN"/>
              <a:t> PDF</a:t>
            </a:r>
            <a:r>
              <a:rPr lang="zh-CN" altLang="en-US"/>
              <a:t>、监管报送表格</a:t>
            </a:r>
            <a:r>
              <a:rPr lang="en-US" altLang="zh-CN"/>
              <a:t>  </a:t>
            </a:r>
          </a:p>
          <a:p>
            <a:pPr marL="0" indent="0">
              <a:buNone/>
            </a:pPr>
            <a:r>
              <a:rPr lang="en-US" altLang="zh-CN"/>
              <a:t>    </a:t>
            </a:r>
            <a:r>
              <a:rPr lang="zh-CN" altLang="en-US"/>
              <a:t>非结构化：公告、研报、舆情、客服对话</a:t>
            </a:r>
          </a:p>
          <a:p>
            <a:pPr marL="0" indent="0">
              <a:buNone/>
            </a:pPr>
            <a:r>
              <a:rPr lang="en-US" altLang="zh-CN"/>
              <a:t>     AI </a:t>
            </a:r>
            <a:r>
              <a:rPr lang="zh-CN" altLang="en-US"/>
              <a:t>尤其擅长处理文本、图像、表格，因此能显著提升处理效率。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rPr lang="zh-CN" altLang="en-US"/>
              <a:t>规则驱动（</a:t>
            </a:r>
            <a:r>
              <a:rPr lang="en-US" altLang="zh-CN"/>
              <a:t>Rule-Driven</a:t>
            </a:r>
            <a:r>
              <a:rPr lang="zh-CN" altLang="en-US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金融业务高度流程化：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合规规则</a:t>
            </a:r>
            <a:r>
              <a:rPr lang="en-US" altLang="zh-CN" dirty="0"/>
              <a:t>    </a:t>
            </a:r>
          </a:p>
          <a:p>
            <a:r>
              <a:rPr lang="zh-CN" altLang="en-US" dirty="0"/>
              <a:t>授信政策</a:t>
            </a:r>
            <a:r>
              <a:rPr lang="en-US" altLang="zh-CN" dirty="0"/>
              <a:t>  </a:t>
            </a:r>
          </a:p>
          <a:p>
            <a:r>
              <a:rPr lang="zh-CN" altLang="en-US" dirty="0"/>
              <a:t>风控标准</a:t>
            </a:r>
            <a:r>
              <a:rPr lang="en-US" altLang="zh-CN" dirty="0"/>
              <a:t>   </a:t>
            </a:r>
          </a:p>
          <a:p>
            <a:r>
              <a:rPr lang="zh-CN" altLang="en-US" dirty="0"/>
              <a:t>交易制度  </a:t>
            </a:r>
          </a:p>
          <a:p>
            <a:r>
              <a:rPr lang="en-US" altLang="zh-CN" dirty="0"/>
              <a:t>AI </a:t>
            </a:r>
            <a:r>
              <a:rPr lang="zh-CN" altLang="en-US" dirty="0"/>
              <a:t>在规则体系里更容易落地，特别是</a:t>
            </a:r>
            <a:r>
              <a:rPr lang="en-US" altLang="zh-CN" dirty="0"/>
              <a:t> Function Calling </a:t>
            </a:r>
            <a:r>
              <a:rPr lang="zh-CN" altLang="en-US" dirty="0"/>
              <a:t>能让</a:t>
            </a:r>
            <a:r>
              <a:rPr lang="en-US" altLang="zh-CN" dirty="0"/>
              <a:t> AI </a:t>
            </a:r>
            <a:r>
              <a:rPr lang="zh-CN" altLang="en-US" dirty="0"/>
              <a:t>直接调用：</a:t>
            </a:r>
          </a:p>
          <a:p>
            <a:r>
              <a:rPr lang="zh-CN" altLang="en-US" dirty="0"/>
              <a:t>数据库查询、风控模型、内部系统接口</a:t>
            </a:r>
            <a:r>
              <a:rPr lang="en-US" altLang="zh-CN" dirty="0"/>
              <a:t> 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zh-CN" altLang="en-US" dirty="0"/>
              <a:t>实现半自动审批或自动分析。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 </a:t>
            </a:r>
            <a:r>
              <a:rPr lang="zh-CN" altLang="en-US"/>
              <a:t>决策依赖分析（</a:t>
            </a:r>
            <a:r>
              <a:rPr lang="en-US" altLang="zh-CN"/>
              <a:t>Insight-Driven</a:t>
            </a:r>
            <a:r>
              <a:rPr lang="zh-CN" altLang="en-US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金融岗位本质是</a:t>
            </a:r>
            <a:r>
              <a:rPr lang="en-US" altLang="zh-CN"/>
              <a:t>“</a:t>
            </a:r>
            <a:r>
              <a:rPr lang="zh-CN" altLang="en-US"/>
              <a:t>信息处理</a:t>
            </a:r>
            <a:r>
              <a:rPr lang="en-US" altLang="zh-CN"/>
              <a:t> + </a:t>
            </a:r>
            <a:r>
              <a:rPr lang="zh-CN" altLang="en-US"/>
              <a:t>判断</a:t>
            </a:r>
            <a:r>
              <a:rPr lang="en-US" altLang="zh-CN"/>
              <a:t>”</a:t>
            </a:r>
            <a:r>
              <a:rPr lang="zh-CN" altLang="en-US"/>
              <a:t>：</a:t>
            </a:r>
            <a:r>
              <a:rPr lang="en-US" altLang="zh-CN"/>
              <a:t>   </a:t>
            </a:r>
          </a:p>
          <a:p>
            <a:r>
              <a:rPr lang="zh-CN" altLang="en-US"/>
              <a:t>看公告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判断风险</a:t>
            </a:r>
            <a:r>
              <a:rPr lang="en-US" altLang="zh-CN"/>
              <a:t>   </a:t>
            </a:r>
          </a:p>
          <a:p>
            <a:r>
              <a:rPr lang="zh-CN" altLang="en-US"/>
              <a:t>看报表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判断经营状况</a:t>
            </a:r>
            <a:r>
              <a:rPr lang="en-US" altLang="zh-CN"/>
              <a:t>    </a:t>
            </a:r>
          </a:p>
          <a:p>
            <a:r>
              <a:rPr lang="zh-CN" altLang="en-US"/>
              <a:t>看交易数据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判断行为模式</a:t>
            </a:r>
          </a:p>
          <a:p>
            <a:r>
              <a:rPr lang="en-US" altLang="zh-CN"/>
              <a:t>AI </a:t>
            </a:r>
            <a:r>
              <a:rPr lang="zh-CN" altLang="en-US"/>
              <a:t>可以大幅减少重复分析，并提供更一致的判断逻辑。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金融行业</a:t>
            </a:r>
            <a:r>
              <a:rPr lang="en-US" altLang="zh-CN"/>
              <a:t> AI </a:t>
            </a:r>
            <a:r>
              <a:rPr lang="zh-CN" altLang="en-US"/>
              <a:t>应用的五大方向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①</a:t>
            </a:r>
            <a:r>
              <a:rPr lang="en-US" altLang="zh-CN"/>
              <a:t> </a:t>
            </a:r>
            <a:r>
              <a:rPr lang="zh-CN" altLang="en-US"/>
              <a:t>智能风控（最成熟的应用领域）</a:t>
            </a:r>
            <a:r>
              <a:rPr lang="en-US" altLang="zh-CN"/>
              <a:t> </a:t>
            </a:r>
          </a:p>
          <a:p>
            <a:r>
              <a:rPr lang="en-US" altLang="zh-CN"/>
              <a:t>AI </a:t>
            </a:r>
            <a:r>
              <a:rPr lang="zh-CN" altLang="en-US"/>
              <a:t>能自动完成：</a:t>
            </a:r>
            <a:r>
              <a:rPr lang="en-US" altLang="zh-CN"/>
              <a:t> </a:t>
            </a:r>
          </a:p>
          <a:p>
            <a:pPr marL="0" indent="0">
              <a:buNone/>
            </a:pPr>
            <a:r>
              <a:rPr lang="zh-CN" altLang="en-US"/>
              <a:t>信用评分相关的文本理解</a:t>
            </a:r>
            <a:r>
              <a:rPr lang="en-US" altLang="zh-CN"/>
              <a:t>  </a:t>
            </a:r>
          </a:p>
          <a:p>
            <a:pPr marL="0" indent="0">
              <a:buNone/>
            </a:pPr>
            <a:r>
              <a:rPr lang="en-US" altLang="zh-CN"/>
              <a:t>KYC </a:t>
            </a:r>
            <a:r>
              <a:rPr lang="zh-CN" altLang="en-US"/>
              <a:t>材料信息抽取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zh-CN" altLang="en-US"/>
              <a:t>舆情风险识别（情感分析）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zh-CN" altLang="en-US"/>
              <a:t>客户行为异常检测</a:t>
            </a:r>
            <a:r>
              <a:rPr lang="en-US" altLang="zh-CN"/>
              <a:t>  </a:t>
            </a:r>
          </a:p>
          <a:p>
            <a:pPr marL="0" indent="0">
              <a:buNone/>
            </a:pPr>
            <a:r>
              <a:rPr lang="zh-CN" altLang="en-US"/>
              <a:t>贷前尽调材料自动提炼</a:t>
            </a:r>
            <a:r>
              <a:rPr lang="en-US" altLang="zh-CN"/>
              <a:t>   </a:t>
            </a:r>
          </a:p>
          <a:p>
            <a:r>
              <a:rPr lang="zh-CN" altLang="en-US"/>
              <a:t>典型场景：小微信贷、高风险客户监控、信用债风险预警。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②</a:t>
            </a:r>
            <a:r>
              <a:rPr lang="en-US" altLang="zh-CN"/>
              <a:t> </a:t>
            </a:r>
            <a:r>
              <a:rPr lang="zh-CN" altLang="en-US"/>
              <a:t>智能投研（分析师的生产力倍增器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AI </a:t>
            </a:r>
            <a:r>
              <a:rPr lang="zh-CN" altLang="en-US"/>
              <a:t>能：</a:t>
            </a:r>
            <a:r>
              <a:rPr lang="en-US" altLang="zh-CN"/>
              <a:t>  </a:t>
            </a:r>
          </a:p>
          <a:p>
            <a:pPr marL="0" indent="0">
              <a:buNone/>
            </a:pPr>
            <a:r>
              <a:rPr lang="zh-CN" altLang="en-US"/>
              <a:t>读取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输出关键结论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zh-CN" altLang="en-US"/>
              <a:t>自动提取财务指标、估值数据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zh-CN" altLang="en-US"/>
              <a:t>总结行业趋势、风险提示</a:t>
            </a:r>
            <a:r>
              <a:rPr lang="en-US" altLang="zh-CN"/>
              <a:t>  </a:t>
            </a:r>
          </a:p>
          <a:p>
            <a:pPr marL="0" indent="0">
              <a:buNone/>
            </a:pPr>
            <a:r>
              <a:rPr lang="en-US" altLang="zh-CN"/>
              <a:t> </a:t>
            </a:r>
            <a:r>
              <a:rPr lang="zh-CN" altLang="en-US"/>
              <a:t>比对同行数据</a:t>
            </a:r>
            <a:r>
              <a:rPr lang="en-US" altLang="zh-CN"/>
              <a:t>   </a:t>
            </a:r>
          </a:p>
          <a:p>
            <a:r>
              <a:rPr lang="zh-CN" altLang="en-US"/>
              <a:t>典型场景：研报理解、财务指标抽取、投资逻辑总结。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③</a:t>
            </a:r>
            <a:r>
              <a:rPr lang="en-US" altLang="zh-CN"/>
              <a:t> </a:t>
            </a:r>
            <a:r>
              <a:rPr lang="zh-CN" altLang="en-US"/>
              <a:t>智能合规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AI </a:t>
            </a:r>
            <a:r>
              <a:rPr lang="zh-CN" altLang="en-US"/>
              <a:t>可自动识别：</a:t>
            </a:r>
            <a:r>
              <a:rPr lang="en-US" altLang="zh-CN"/>
              <a:t> </a:t>
            </a:r>
          </a:p>
          <a:p>
            <a:pPr marL="0" indent="0">
              <a:buNone/>
            </a:pPr>
            <a:r>
              <a:rPr lang="zh-CN" altLang="en-US"/>
              <a:t>是否夸大宣传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zh-CN" altLang="en-US"/>
              <a:t>是否存在误导客户风险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zh-CN" altLang="en-US"/>
              <a:t>是否触碰监管红线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zh-CN" altLang="en-US"/>
              <a:t>是否引用敏感词语</a:t>
            </a:r>
            <a:r>
              <a:rPr lang="en-US" altLang="zh-CN"/>
              <a:t>   </a:t>
            </a:r>
          </a:p>
          <a:p>
            <a:r>
              <a:rPr lang="zh-CN" altLang="en-US"/>
              <a:t>典型场景：外发材料审查、销售话术优化、合同条款识别。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④</a:t>
            </a:r>
            <a:r>
              <a:rPr lang="en-US" altLang="zh-CN"/>
              <a:t> </a:t>
            </a:r>
            <a:r>
              <a:rPr lang="zh-CN" altLang="en-US"/>
              <a:t>智能运营与</a:t>
            </a:r>
            <a:r>
              <a:rPr lang="en-US" altLang="zh-CN"/>
              <a:t> IT </a:t>
            </a:r>
            <a:r>
              <a:rPr lang="zh-CN" altLang="en-US"/>
              <a:t>运维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AI </a:t>
            </a:r>
            <a:r>
              <a:rPr lang="zh-CN" altLang="en-US"/>
              <a:t>可：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zh-CN" altLang="en-US"/>
              <a:t>自动分类告警</a:t>
            </a:r>
            <a:r>
              <a:rPr lang="en-US" altLang="zh-CN"/>
              <a:t>    </a:t>
            </a:r>
          </a:p>
          <a:p>
            <a:pPr marL="0" indent="0">
              <a:buNone/>
            </a:pPr>
            <a:r>
              <a:rPr lang="zh-CN" altLang="en-US"/>
              <a:t>自动分析根因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zh-CN" altLang="en-US"/>
              <a:t>自动查询监控指标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zh-CN" altLang="en-US"/>
              <a:t>给出运维处置方案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zh-CN" altLang="en-US"/>
              <a:t>生成运维报告</a:t>
            </a:r>
            <a:r>
              <a:rPr lang="en-US" altLang="zh-CN"/>
              <a:t>   </a:t>
            </a:r>
          </a:p>
          <a:p>
            <a:r>
              <a:rPr lang="zh-CN" altLang="en-US"/>
              <a:t>典型场景：核心系统告警、交易量暴涨、数据库压力过大。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⑤</a:t>
            </a:r>
            <a:r>
              <a:rPr lang="en-US" altLang="zh-CN"/>
              <a:t> </a:t>
            </a:r>
            <a:r>
              <a:rPr lang="zh-CN" altLang="en-US"/>
              <a:t>智能客服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区别于传统</a:t>
            </a:r>
            <a:r>
              <a:rPr lang="en-US" altLang="zh-CN"/>
              <a:t>“</a:t>
            </a:r>
            <a:r>
              <a:rPr lang="zh-CN" altLang="en-US"/>
              <a:t>关键词客服</a:t>
            </a:r>
            <a:r>
              <a:rPr lang="en-US" altLang="zh-CN"/>
              <a:t>”</a:t>
            </a:r>
            <a:r>
              <a:rPr lang="zh-CN" altLang="en-US"/>
              <a:t>：</a:t>
            </a:r>
            <a:r>
              <a:rPr lang="en-US" altLang="zh-CN"/>
              <a:t> </a:t>
            </a:r>
          </a:p>
          <a:p>
            <a:pPr marL="0" indent="0">
              <a:buNone/>
            </a:pPr>
            <a:r>
              <a:rPr lang="en-US" altLang="zh-CN"/>
              <a:t>AI </a:t>
            </a:r>
            <a:r>
              <a:rPr lang="zh-CN" altLang="en-US"/>
              <a:t>能理解用户真实意图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zh-CN" altLang="en-US"/>
              <a:t>自动推理业务规则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zh-CN" altLang="en-US"/>
              <a:t>自动调用系统查询信息（如余额、额度、账单、产品收益）</a:t>
            </a:r>
            <a:r>
              <a:rPr lang="en-US" altLang="zh-CN"/>
              <a:t>   </a:t>
            </a:r>
          </a:p>
          <a:p>
            <a:r>
              <a:rPr lang="zh-CN" altLang="en-US"/>
              <a:t>典型场景：银行手机银行客服、券商开户咨询、保险理赔问答。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 Prompt</a:t>
            </a:r>
            <a:r>
              <a:rPr lang="zh-CN" altLang="en-US"/>
              <a:t>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691005"/>
            <a:ext cx="7886700" cy="4351338"/>
          </a:xfrm>
        </p:spPr>
        <p:txBody>
          <a:bodyPr/>
          <a:lstStyle/>
          <a:p>
            <a:r>
              <a:rPr lang="en-US" altLang="zh-CN"/>
              <a:t>Prompt </a:t>
            </a:r>
            <a:r>
              <a:rPr lang="zh-CN" altLang="en-US"/>
              <a:t>本质上是：</a:t>
            </a:r>
          </a:p>
          <a:p>
            <a:r>
              <a:rPr lang="zh-CN" altLang="en-US"/>
              <a:t>告诉大模型：</a:t>
            </a:r>
          </a:p>
          <a:p>
            <a:pPr marL="0" indent="0">
              <a:buNone/>
            </a:pPr>
            <a:r>
              <a:rPr lang="en-US" altLang="zh-CN"/>
              <a:t>1 </a:t>
            </a:r>
            <a:r>
              <a:rPr lang="zh-CN" altLang="en-US"/>
              <a:t>你是谁（角色）</a:t>
            </a:r>
          </a:p>
          <a:p>
            <a:pPr marL="0" indent="0">
              <a:buNone/>
            </a:pPr>
            <a:r>
              <a:rPr lang="en-US" altLang="zh-CN"/>
              <a:t>2 </a:t>
            </a:r>
            <a:r>
              <a:rPr lang="zh-CN" altLang="en-US"/>
              <a:t>你要做什么（任务）</a:t>
            </a:r>
          </a:p>
          <a:p>
            <a:pPr marL="0" indent="0">
              <a:buNone/>
            </a:pPr>
            <a:r>
              <a:rPr lang="en-US" altLang="zh-CN"/>
              <a:t>3 </a:t>
            </a:r>
            <a:r>
              <a:rPr lang="zh-CN" altLang="en-US"/>
              <a:t>我给你什么（输入）</a:t>
            </a:r>
          </a:p>
          <a:p>
            <a:pPr marL="0" indent="0">
              <a:buNone/>
            </a:pPr>
            <a:r>
              <a:rPr lang="en-US" altLang="zh-CN"/>
              <a:t>4 </a:t>
            </a:r>
            <a:r>
              <a:rPr lang="zh-CN" altLang="en-US"/>
              <a:t>你要产出什么样的东西（输出格式）</a:t>
            </a:r>
          </a:p>
          <a:p>
            <a:pPr marL="0" indent="0">
              <a:buNone/>
            </a:pPr>
            <a:r>
              <a:rPr lang="en-US" altLang="zh-CN"/>
              <a:t>5 </a:t>
            </a:r>
            <a:r>
              <a:rPr lang="zh-CN" altLang="en-US"/>
              <a:t>有哪些限制和注意事项（约束）</a:t>
            </a:r>
          </a:p>
          <a:p>
            <a:r>
              <a:rPr lang="zh-CN" altLang="en-US"/>
              <a:t>简而言之，</a:t>
            </a:r>
            <a:r>
              <a:rPr lang="en-US" altLang="zh-CN"/>
              <a:t>Prompt = </a:t>
            </a:r>
            <a:r>
              <a:rPr lang="zh-CN" altLang="en-US"/>
              <a:t>任务说明书</a:t>
            </a:r>
            <a:r>
              <a:rPr lang="en-US" altLang="zh-CN"/>
              <a:t> + </a:t>
            </a:r>
            <a:r>
              <a:rPr lang="zh-CN" altLang="en-US"/>
              <a:t>行为规范</a:t>
            </a:r>
            <a:r>
              <a:rPr lang="en-US" altLang="zh-CN"/>
              <a:t> + </a:t>
            </a:r>
            <a:r>
              <a:rPr lang="zh-CN" altLang="en-US"/>
              <a:t>输出模板。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 Prompt Engineering</a:t>
            </a:r>
            <a:r>
              <a:rPr lang="zh-CN" altLang="en-US"/>
              <a:t>（提示词工程）？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提示词工程不是</a:t>
            </a:r>
            <a:r>
              <a:rPr lang="en-US" altLang="zh-CN"/>
              <a:t>“</a:t>
            </a:r>
            <a:r>
              <a:rPr lang="zh-CN" altLang="en-US"/>
              <a:t>随便问问题</a:t>
            </a:r>
            <a:r>
              <a:rPr lang="en-US" altLang="zh-CN"/>
              <a:t>”</a:t>
            </a:r>
            <a:r>
              <a:rPr lang="zh-CN" altLang="en-US"/>
              <a:t>，而是：</a:t>
            </a:r>
          </a:p>
          <a:p>
            <a:r>
              <a:rPr lang="en-US" altLang="zh-CN"/>
              <a:t>1 </a:t>
            </a:r>
            <a:r>
              <a:rPr lang="zh-CN" altLang="en-US"/>
              <a:t>系统化设计：对一个任务建立稳定的</a:t>
            </a:r>
            <a:r>
              <a:rPr lang="en-US" altLang="zh-CN"/>
              <a:t> Prompt </a:t>
            </a:r>
            <a:r>
              <a:rPr lang="zh-CN" altLang="en-US"/>
              <a:t>模板</a:t>
            </a:r>
          </a:p>
          <a:p>
            <a:r>
              <a:rPr lang="en-US" altLang="zh-CN"/>
              <a:t>2 </a:t>
            </a:r>
            <a:r>
              <a:rPr lang="zh-CN" altLang="en-US"/>
              <a:t>工程化拆解：复杂任务拆成多个小任务模块</a:t>
            </a:r>
          </a:p>
          <a:p>
            <a:r>
              <a:rPr lang="en-US" altLang="zh-CN"/>
              <a:t>3 </a:t>
            </a:r>
            <a:r>
              <a:rPr lang="zh-CN" altLang="en-US"/>
              <a:t>可维护：像代码一样可以版本迭代、持续优化</a:t>
            </a:r>
          </a:p>
          <a:p>
            <a:r>
              <a:rPr lang="en-US" altLang="zh-CN"/>
              <a:t>4 </a:t>
            </a:r>
            <a:r>
              <a:rPr lang="zh-CN" altLang="en-US"/>
              <a:t>可复用：换一个项目，只改少数参数就能复用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567055"/>
            <a:ext cx="7886700" cy="1123950"/>
          </a:xfrm>
          <a:ln w="12700" cmpd="sng">
            <a:noFill/>
            <a:prstDash val="sysDot"/>
          </a:ln>
        </p:spPr>
        <p:txBody>
          <a:bodyPr/>
          <a:lstStyle/>
          <a:p>
            <a:r>
              <a:rPr lang="zh-CN" altLang="en-US"/>
              <a:t>为什么需要提示词工程？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83030"/>
            <a:ext cx="7886700" cy="4794250"/>
          </a:xfrm>
          <a:ln>
            <a:noFill/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r>
              <a:rPr lang="zh-CN" altLang="en-US" sz="2200" dirty="0"/>
              <a:t>金融行业任务具有强结构化、强专业性、强重复性。</a:t>
            </a:r>
          </a:p>
          <a:p>
            <a:r>
              <a:rPr lang="zh-CN" altLang="en-US" sz="2200" dirty="0"/>
              <a:t>提示词工程可以帮助提升效率的典型场景包括：</a:t>
            </a:r>
            <a:endParaRPr lang="en-US" altLang="zh-CN" sz="2200" dirty="0"/>
          </a:p>
          <a:p>
            <a:pPr marL="0" indent="457200" fontAlgn="auto">
              <a:buNone/>
            </a:pPr>
            <a:r>
              <a:rPr lang="en-US" altLang="zh-CN" sz="2200" dirty="0"/>
              <a:t>1 </a:t>
            </a:r>
            <a:r>
              <a:rPr lang="zh-CN" altLang="en-US" sz="2200" dirty="0"/>
              <a:t>读取研报、信评报告、募资书，自动抓要点</a:t>
            </a:r>
            <a:r>
              <a:rPr lang="en-US" altLang="zh-CN" sz="2200" dirty="0"/>
              <a:t>  </a:t>
            </a:r>
          </a:p>
          <a:p>
            <a:pPr marL="0" indent="457200" fontAlgn="auto">
              <a:buNone/>
            </a:pPr>
            <a:r>
              <a:rPr lang="en-US" altLang="zh-CN" sz="2200" dirty="0"/>
              <a:t>2 </a:t>
            </a:r>
            <a:r>
              <a:rPr lang="zh-CN" altLang="en-US" sz="2200" dirty="0"/>
              <a:t>自动生成风控意见书</a:t>
            </a:r>
            <a:r>
              <a:rPr lang="en-US" altLang="zh-CN" sz="2200" dirty="0"/>
              <a:t>  </a:t>
            </a:r>
          </a:p>
          <a:p>
            <a:pPr marL="0" indent="457200" fontAlgn="auto">
              <a:buNone/>
            </a:pPr>
            <a:r>
              <a:rPr lang="en-US" altLang="zh-CN" sz="2200" dirty="0"/>
              <a:t>3 </a:t>
            </a:r>
            <a:r>
              <a:rPr lang="zh-CN" altLang="en-US" sz="2200" dirty="0"/>
              <a:t>财务报表自动分析</a:t>
            </a:r>
            <a:r>
              <a:rPr lang="en-US" altLang="zh-CN" sz="2200" dirty="0"/>
              <a:t>  </a:t>
            </a:r>
          </a:p>
          <a:p>
            <a:pPr marL="0" indent="457200" fontAlgn="auto">
              <a:buNone/>
            </a:pPr>
            <a:r>
              <a:rPr lang="en-US" altLang="zh-CN" sz="2200" dirty="0"/>
              <a:t>4 </a:t>
            </a:r>
            <a:r>
              <a:rPr lang="zh-CN" altLang="en-US" sz="2200" dirty="0"/>
              <a:t>快速搭建行业研究框架</a:t>
            </a:r>
            <a:r>
              <a:rPr lang="en-US" altLang="zh-CN" sz="2200" dirty="0"/>
              <a:t>  </a:t>
            </a:r>
          </a:p>
          <a:p>
            <a:pPr marL="0" indent="457200" fontAlgn="auto">
              <a:buNone/>
            </a:pPr>
            <a:r>
              <a:rPr lang="en-US" altLang="zh-CN" sz="2200" dirty="0"/>
              <a:t>5 </a:t>
            </a:r>
            <a:r>
              <a:rPr lang="zh-CN" altLang="en-US" sz="2200" dirty="0"/>
              <a:t>生成企业尽调问题清单</a:t>
            </a:r>
            <a:r>
              <a:rPr lang="en-US" altLang="zh-CN" sz="2200" dirty="0"/>
              <a:t>  </a:t>
            </a:r>
          </a:p>
          <a:p>
            <a:pPr marL="0" indent="457200" fontAlgn="auto">
              <a:buNone/>
            </a:pPr>
            <a:r>
              <a:rPr lang="en-US" altLang="zh-CN" sz="2200" dirty="0"/>
              <a:t>6 </a:t>
            </a:r>
            <a:r>
              <a:rPr lang="zh-CN" altLang="en-US" sz="2200" dirty="0"/>
              <a:t>解读宏观与监管政策</a:t>
            </a:r>
            <a:r>
              <a:rPr lang="en-US" altLang="zh-CN" sz="2200" dirty="0"/>
              <a:t>  </a:t>
            </a:r>
          </a:p>
          <a:p>
            <a:endParaRPr lang="en-US" altLang="zh-CN" sz="2200" dirty="0"/>
          </a:p>
          <a:p>
            <a:r>
              <a:rPr lang="zh-CN" altLang="en-US" sz="2200" dirty="0"/>
              <a:t>提示词工程可以显著提升金融知识处理速度，是金融从业者的新型生产力。</a:t>
            </a:r>
          </a:p>
          <a:p>
            <a:endParaRPr lang="zh-CN" altLang="en-US" sz="2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Prompt </a:t>
            </a:r>
            <a:r>
              <a:rPr lang="zh-CN" altLang="en-US"/>
              <a:t>原理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483360"/>
            <a:ext cx="7886700" cy="420116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提示词策略差异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8010" y="1691005"/>
            <a:ext cx="3375660" cy="2906395"/>
          </a:xfrm>
        </p:spPr>
        <p:txBody>
          <a:bodyPr/>
          <a:lstStyle/>
          <a:p>
            <a:pPr marL="0" indent="0" algn="ctr" fontAlgn="auto">
              <a:lnSpc>
                <a:spcPct val="100000"/>
              </a:lnSpc>
              <a:buFont typeface="Wingdings" panose="05000000000000000000" charset="0"/>
              <a:buNone/>
            </a:pPr>
            <a:r>
              <a:rPr lang="zh-CN" altLang="en-US"/>
              <a:t>通用模型：</a:t>
            </a:r>
          </a:p>
          <a:p>
            <a:pPr fontAlgn="auto"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zh-CN" altLang="en-US" sz="2400"/>
              <a:t>需要显示引导推理步骤，如</a:t>
            </a:r>
            <a:r>
              <a:rPr lang="en-US" altLang="zh-CN" sz="2400"/>
              <a:t>CoT</a:t>
            </a:r>
            <a:r>
              <a:rPr lang="zh-CN" altLang="en-US" sz="2400"/>
              <a:t>提示，否则可能忽略关键逻辑；</a:t>
            </a:r>
          </a:p>
          <a:p>
            <a:pPr fontAlgn="auto"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zh-CN" altLang="en-US" sz="2400"/>
              <a:t>依赖提示词补偿能力短板，需要</a:t>
            </a:r>
            <a:r>
              <a:rPr lang="en-US" altLang="zh-CN" sz="2400"/>
              <a:t>few-shot</a:t>
            </a:r>
            <a:r>
              <a:rPr lang="zh-CN" altLang="en-US" sz="2400"/>
              <a:t>示例。</a:t>
            </a:r>
          </a:p>
          <a:p>
            <a:pPr marL="0" indent="0">
              <a:buNone/>
            </a:pP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22</a:t>
            </a:fld>
            <a:endParaRPr kumimoji="1" lang="zh-CN" altLang="en-US"/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4630420" y="1626870"/>
            <a:ext cx="3375660" cy="290639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100000"/>
              </a:lnSpc>
              <a:buFont typeface="Wingdings" panose="05000000000000000000" charset="0"/>
              <a:buNone/>
            </a:pPr>
            <a:r>
              <a:rPr lang="zh-CN" altLang="en-US"/>
              <a:t>推理模型：</a:t>
            </a:r>
          </a:p>
          <a:p>
            <a:pPr marL="571500" indent="-342900" algn="l" fontAlgn="auto">
              <a:buFont typeface="Wingdings" panose="05000000000000000000" charset="0"/>
              <a:buChar char="ü"/>
            </a:pPr>
            <a:r>
              <a:rPr lang="zh-CN" altLang="en-US" sz="2400">
                <a:sym typeface="+mn-ea"/>
              </a:rPr>
              <a:t>提示语更简洁，只需明确任务目标，推理逻辑已内化无需逐步指令，模型会自动形成结构化推理过程；</a:t>
            </a:r>
          </a:p>
          <a:p>
            <a:pPr marL="571500" indent="-342900" fontAlgn="auto">
              <a:buFont typeface="Wingdings" panose="05000000000000000000" charset="0"/>
              <a:buChar char="ü"/>
            </a:pPr>
            <a:r>
              <a:rPr lang="zh-CN" altLang="en-US" sz="2400">
                <a:sym typeface="+mn-ea"/>
              </a:rPr>
              <a:t>过度分步骤反而降低能力。</a:t>
            </a:r>
          </a:p>
          <a:p>
            <a:pPr fontAlgn="auto">
              <a:lnSpc>
                <a:spcPct val="100000"/>
              </a:lnSpc>
              <a:buFont typeface="Wingdings" panose="05000000000000000000" charset="0"/>
              <a:buChar char="ü"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提示词设计的四大原则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1 </a:t>
            </a:r>
            <a:r>
              <a:rPr lang="zh-CN" altLang="en-US"/>
              <a:t>清晰性：任务描述清楚，不用模糊词</a:t>
            </a:r>
          </a:p>
          <a:p>
            <a:r>
              <a:rPr lang="en-US" altLang="zh-CN"/>
              <a:t>2 </a:t>
            </a:r>
            <a:r>
              <a:rPr lang="zh-CN" altLang="en-US"/>
              <a:t>完整性：给足必要信息，不让模型瞎猜</a:t>
            </a:r>
          </a:p>
          <a:p>
            <a:r>
              <a:rPr lang="en-US" altLang="zh-CN"/>
              <a:t>3 </a:t>
            </a:r>
            <a:r>
              <a:rPr lang="zh-CN" altLang="en-US"/>
              <a:t>可控性：通过格式、结构和约束控制输出</a:t>
            </a:r>
          </a:p>
          <a:p>
            <a:r>
              <a:rPr lang="en-US" altLang="zh-CN"/>
              <a:t>4 </a:t>
            </a:r>
            <a:r>
              <a:rPr lang="zh-CN" altLang="en-US"/>
              <a:t>可扩展性：能模板化、模块化、参数化，方便复用和放大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原则一：清晰性（避免模糊）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181735"/>
            <a:ext cx="7886700" cy="4351338"/>
          </a:xfrm>
        </p:spPr>
        <p:txBody>
          <a:bodyPr/>
          <a:lstStyle/>
          <a:p>
            <a:r>
              <a:rPr lang="zh-CN" altLang="en-US" sz="2400" dirty="0"/>
              <a:t>错误示例：</a:t>
            </a:r>
          </a:p>
          <a:p>
            <a:r>
              <a:rPr lang="zh-CN" altLang="en-US" sz="2400" dirty="0"/>
              <a:t>帮我写好一点。</a:t>
            </a:r>
          </a:p>
          <a:p>
            <a:r>
              <a:rPr lang="zh-CN" altLang="en-US" sz="2400" dirty="0"/>
              <a:t>帮我分析一下这个公司值不值得投。</a:t>
            </a:r>
          </a:p>
          <a:p>
            <a:endParaRPr lang="en-US" altLang="zh-CN" sz="2400" dirty="0"/>
          </a:p>
          <a:p>
            <a:r>
              <a:rPr lang="zh-CN" altLang="en-US" sz="2400" dirty="0"/>
              <a:t>改进示例：</a:t>
            </a:r>
          </a:p>
          <a:p>
            <a:r>
              <a:rPr lang="zh-CN" altLang="en-US" sz="2400" dirty="0"/>
              <a:t>请用不超过</a:t>
            </a:r>
            <a:r>
              <a:rPr lang="en-US" altLang="zh-CN" sz="2400" dirty="0"/>
              <a:t> 300 </a:t>
            </a:r>
            <a:r>
              <a:rPr lang="zh-CN" altLang="en-US" sz="2400" dirty="0"/>
              <a:t>字，面向银行风控人员，</a:t>
            </a:r>
          </a:p>
          <a:p>
            <a:r>
              <a:rPr lang="zh-CN" altLang="en-US" sz="2400" dirty="0"/>
              <a:t>从盈利能力、偿债能力和现金流三个维度，分析该公司当前的信用风险水平，并给出总体结论（偏审慎或偏积极）。</a:t>
            </a:r>
          </a:p>
          <a:p>
            <a:endParaRPr lang="en-US" altLang="zh-CN" sz="2400" dirty="0"/>
          </a:p>
          <a:p>
            <a:r>
              <a:rPr lang="zh-CN" altLang="en-US" sz="2400" dirty="0"/>
              <a:t>关键技巧：</a:t>
            </a:r>
          </a:p>
          <a:p>
            <a:r>
              <a:rPr lang="zh-CN" altLang="en-US" sz="2400" dirty="0"/>
              <a:t>任务要具体、可操作，最好能拆成若干明确的维度。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原则二：完整性（给足关键信息）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47850"/>
            <a:ext cx="7886700" cy="4351338"/>
          </a:xfrm>
        </p:spPr>
        <p:txBody>
          <a:bodyPr/>
          <a:lstStyle/>
          <a:p>
            <a:r>
              <a:rPr lang="zh-CN" altLang="en-US" sz="2400" dirty="0"/>
              <a:t>不完整的</a:t>
            </a:r>
            <a:r>
              <a:rPr lang="en-US" altLang="zh-CN" sz="2400" dirty="0"/>
              <a:t> Prompt</a:t>
            </a:r>
            <a:r>
              <a:rPr lang="zh-CN" altLang="en-US" sz="2400" dirty="0"/>
              <a:t>：</a:t>
            </a:r>
          </a:p>
          <a:p>
            <a:r>
              <a:rPr lang="zh-CN" altLang="en-US" sz="2400" dirty="0"/>
              <a:t>帮我做一下这家公司的信用分析。</a:t>
            </a:r>
          </a:p>
          <a:p>
            <a:endParaRPr lang="en-US" altLang="zh-CN" sz="2400" dirty="0"/>
          </a:p>
          <a:p>
            <a:r>
              <a:rPr lang="zh-CN" altLang="en-US" sz="2400" dirty="0"/>
              <a:t>完整的</a:t>
            </a:r>
            <a:r>
              <a:rPr lang="en-US" altLang="zh-CN" sz="2400" dirty="0"/>
              <a:t> Prompt </a:t>
            </a:r>
            <a:r>
              <a:rPr lang="zh-CN" altLang="en-US" sz="2400" dirty="0"/>
              <a:t>应包含：</a:t>
            </a:r>
          </a:p>
          <a:p>
            <a:r>
              <a:rPr lang="en-US" altLang="zh-CN" sz="2400" dirty="0"/>
              <a:t>1 </a:t>
            </a:r>
            <a:r>
              <a:rPr lang="zh-CN" altLang="en-US" sz="2400" dirty="0"/>
              <a:t>角色：你是一名银行的信贷审批人员</a:t>
            </a:r>
          </a:p>
          <a:p>
            <a:r>
              <a:rPr lang="en-US" altLang="zh-CN" sz="2400" dirty="0"/>
              <a:t>2 </a:t>
            </a:r>
            <a:r>
              <a:rPr lang="zh-CN" altLang="en-US" sz="2400" dirty="0"/>
              <a:t>任务：对企业进行信用风险分析并给出授信建议</a:t>
            </a:r>
          </a:p>
          <a:p>
            <a:r>
              <a:rPr lang="en-US" altLang="zh-CN" sz="2400" dirty="0"/>
              <a:t>3 </a:t>
            </a:r>
            <a:r>
              <a:rPr lang="zh-CN" altLang="en-US" sz="2400" dirty="0"/>
              <a:t>输入：企业的财务数据、经营情况、行业情况</a:t>
            </a:r>
          </a:p>
          <a:p>
            <a:r>
              <a:rPr lang="en-US" altLang="zh-CN" sz="2400" dirty="0"/>
              <a:t>4 </a:t>
            </a:r>
            <a:r>
              <a:rPr lang="zh-CN" altLang="en-US" sz="2400" dirty="0"/>
              <a:t>输出格式：明确写清要输出哪些部分</a:t>
            </a:r>
          </a:p>
          <a:p>
            <a:r>
              <a:rPr lang="en-US" altLang="zh-CN" sz="2400" dirty="0"/>
              <a:t>5 </a:t>
            </a:r>
            <a:r>
              <a:rPr lang="zh-CN" altLang="en-US" sz="2400" dirty="0"/>
              <a:t>约束：不要虚构数据、不超过若干字、风格偏审慎等</a:t>
            </a:r>
          </a:p>
          <a:p>
            <a:endParaRPr lang="en-US" altLang="zh-CN" sz="2400" dirty="0"/>
          </a:p>
          <a:p>
            <a:r>
              <a:rPr lang="zh-CN" altLang="en-US" sz="2400" dirty="0"/>
              <a:t>越重要的任务，</a:t>
            </a:r>
            <a:r>
              <a:rPr lang="en-US" altLang="zh-CN" sz="2400" dirty="0"/>
              <a:t>Prompt </a:t>
            </a:r>
            <a:r>
              <a:rPr lang="zh-CN" altLang="en-US" sz="2400" dirty="0"/>
              <a:t>越不能偷懒。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原则三：可控性（通过结构和约束控制输出）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633855"/>
            <a:ext cx="8347710" cy="4351655"/>
          </a:xfrm>
        </p:spPr>
        <p:txBody>
          <a:bodyPr/>
          <a:lstStyle/>
          <a:p>
            <a:r>
              <a:rPr lang="zh-CN" altLang="en-US" sz="2400"/>
              <a:t>通过以下手段提高可控性：</a:t>
            </a:r>
          </a:p>
          <a:p>
            <a:r>
              <a:rPr lang="en-US" altLang="zh-CN" sz="2400"/>
              <a:t>1 </a:t>
            </a:r>
            <a:r>
              <a:rPr lang="zh-CN" altLang="en-US" sz="2400"/>
              <a:t>指定输出结构：</a:t>
            </a:r>
          </a:p>
          <a:p>
            <a:r>
              <a:rPr lang="en-US" altLang="zh-CN" sz="2400"/>
              <a:t>   </a:t>
            </a:r>
            <a:r>
              <a:rPr lang="zh-CN" altLang="en-US" sz="2400"/>
              <a:t>比如：一</a:t>
            </a:r>
            <a:r>
              <a:rPr lang="en-US" altLang="zh-CN" sz="2400"/>
              <a:t> </a:t>
            </a:r>
            <a:r>
              <a:rPr lang="zh-CN" altLang="en-US" sz="2400"/>
              <a:t>公司概况</a:t>
            </a:r>
            <a:r>
              <a:rPr lang="en-US" altLang="zh-CN" sz="2400"/>
              <a:t> </a:t>
            </a:r>
            <a:r>
              <a:rPr lang="zh-CN" altLang="en-US" sz="2400"/>
              <a:t>二</a:t>
            </a:r>
            <a:r>
              <a:rPr lang="en-US" altLang="zh-CN" sz="2400"/>
              <a:t> </a:t>
            </a:r>
            <a:r>
              <a:rPr lang="zh-CN" altLang="en-US" sz="2400"/>
              <a:t>财务分析</a:t>
            </a:r>
            <a:r>
              <a:rPr lang="en-US" altLang="zh-CN" sz="2400"/>
              <a:t> </a:t>
            </a:r>
            <a:r>
              <a:rPr lang="zh-CN" altLang="en-US" sz="2400"/>
              <a:t>三</a:t>
            </a:r>
            <a:r>
              <a:rPr lang="en-US" altLang="zh-CN" sz="2400"/>
              <a:t> </a:t>
            </a:r>
            <a:r>
              <a:rPr lang="zh-CN" altLang="en-US" sz="2400"/>
              <a:t>风险点</a:t>
            </a:r>
            <a:r>
              <a:rPr lang="en-US" altLang="zh-CN" sz="2400"/>
              <a:t> </a:t>
            </a:r>
            <a:r>
              <a:rPr lang="zh-CN" altLang="en-US" sz="2400"/>
              <a:t>四</a:t>
            </a:r>
            <a:r>
              <a:rPr lang="en-US" altLang="zh-CN" sz="2400"/>
              <a:t> </a:t>
            </a:r>
            <a:r>
              <a:rPr lang="zh-CN" altLang="en-US" sz="2400"/>
              <a:t>授信建议</a:t>
            </a:r>
          </a:p>
          <a:p>
            <a:r>
              <a:rPr lang="en-US" altLang="zh-CN" sz="2400"/>
              <a:t>2 </a:t>
            </a:r>
            <a:r>
              <a:rPr lang="zh-CN" altLang="en-US" sz="2400"/>
              <a:t>指定输出长度：</a:t>
            </a:r>
          </a:p>
          <a:p>
            <a:r>
              <a:rPr lang="en-US" altLang="zh-CN" sz="2400"/>
              <a:t>   </a:t>
            </a:r>
            <a:r>
              <a:rPr lang="zh-CN" altLang="en-US" sz="2400"/>
              <a:t>比如：每个部分</a:t>
            </a:r>
            <a:r>
              <a:rPr lang="en-US" altLang="zh-CN" sz="2400"/>
              <a:t> 3 </a:t>
            </a:r>
            <a:r>
              <a:rPr lang="zh-CN" altLang="en-US" sz="2400"/>
              <a:t>至</a:t>
            </a:r>
            <a:r>
              <a:rPr lang="en-US" altLang="zh-CN" sz="2400"/>
              <a:t> 5 </a:t>
            </a:r>
            <a:r>
              <a:rPr lang="zh-CN" altLang="en-US" sz="2400"/>
              <a:t>句话</a:t>
            </a:r>
          </a:p>
          <a:p>
            <a:r>
              <a:rPr lang="en-US" altLang="zh-CN" sz="2400"/>
              <a:t>3 </a:t>
            </a:r>
            <a:r>
              <a:rPr lang="zh-CN" altLang="en-US" sz="2400"/>
              <a:t>指定风格：</a:t>
            </a:r>
          </a:p>
          <a:p>
            <a:r>
              <a:rPr lang="en-US" altLang="zh-CN" sz="2400"/>
              <a:t>   </a:t>
            </a:r>
            <a:r>
              <a:rPr lang="zh-CN" altLang="en-US" sz="2400"/>
              <a:t>比如：书面、严谨、适合提交给信贷审批委员会</a:t>
            </a:r>
          </a:p>
          <a:p>
            <a:r>
              <a:rPr lang="en-US" altLang="zh-CN" sz="2400"/>
              <a:t>4 </a:t>
            </a:r>
            <a:r>
              <a:rPr lang="zh-CN" altLang="en-US" sz="2400"/>
              <a:t>指定禁止事项：</a:t>
            </a:r>
          </a:p>
          <a:p>
            <a:r>
              <a:rPr lang="en-US" altLang="zh-CN" sz="2400"/>
              <a:t>   </a:t>
            </a:r>
            <a:r>
              <a:rPr lang="zh-CN" altLang="en-US" sz="2400"/>
              <a:t>比如：不得虚构任何未在文本中出现的数据或结论</a:t>
            </a:r>
          </a:p>
          <a:p>
            <a:endParaRPr lang="en-US" altLang="zh-CN" sz="2400"/>
          </a:p>
          <a:p>
            <a:r>
              <a:rPr lang="zh-CN" altLang="en-US" sz="2400"/>
              <a:t>控制得越细，输出越稳定，就越适合业务场景。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原则四：可扩展性（模板化、模块化、参数化）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/>
              <a:t>模板化：常用任务做成模板，如</a:t>
            </a:r>
            <a:r>
              <a:rPr lang="en-US" altLang="zh-CN" sz="2400"/>
              <a:t>“</a:t>
            </a:r>
            <a:r>
              <a:rPr lang="zh-CN" altLang="en-US" sz="2400"/>
              <a:t>信用分析模板</a:t>
            </a:r>
            <a:r>
              <a:rPr lang="en-US" altLang="zh-CN" sz="2400"/>
              <a:t>”“</a:t>
            </a:r>
            <a:r>
              <a:rPr lang="zh-CN" altLang="en-US" sz="2400"/>
              <a:t>行业研究模板</a:t>
            </a:r>
            <a:r>
              <a:rPr lang="en-US" altLang="zh-CN" sz="2400"/>
              <a:t>”</a:t>
            </a:r>
            <a:r>
              <a:rPr lang="zh-CN" altLang="en-US" sz="2400"/>
              <a:t>等。</a:t>
            </a:r>
          </a:p>
          <a:p>
            <a:r>
              <a:rPr lang="zh-CN" altLang="en-US" sz="2400"/>
              <a:t>模块化：一个复杂任务拆成多个子任务，如：</a:t>
            </a:r>
          </a:p>
          <a:p>
            <a:pPr marL="0" indent="0">
              <a:buNone/>
            </a:pPr>
            <a:r>
              <a:rPr lang="en-US" altLang="zh-CN" sz="2400"/>
              <a:t>         </a:t>
            </a:r>
            <a:r>
              <a:rPr lang="zh-CN" altLang="en-US" sz="2400"/>
              <a:t>宏观分析、行业分析、公司分析、估值分析。</a:t>
            </a:r>
          </a:p>
          <a:p>
            <a:r>
              <a:rPr lang="zh-CN" altLang="en-US" sz="2400"/>
              <a:t>参数化：把可变部分抽成参数，例如：</a:t>
            </a:r>
          </a:p>
          <a:p>
            <a:pPr marL="0" indent="0">
              <a:buNone/>
            </a:pPr>
            <a:r>
              <a:rPr lang="en-US" altLang="zh-CN" sz="2400"/>
              <a:t>         </a:t>
            </a:r>
            <a:r>
              <a:rPr lang="zh-CN" altLang="en-US" sz="2400"/>
              <a:t>主题、公司名称、行业、输出语言、目标对象等。</a:t>
            </a:r>
          </a:p>
          <a:p>
            <a:endParaRPr lang="en-US" altLang="zh-CN" sz="2400"/>
          </a:p>
          <a:p>
            <a:r>
              <a:rPr lang="zh-CN" altLang="en-US" sz="2400"/>
              <a:t>目标：</a:t>
            </a:r>
          </a:p>
          <a:p>
            <a:r>
              <a:rPr lang="zh-CN" altLang="en-US" sz="2400"/>
              <a:t>一次设计，多次复用。把</a:t>
            </a:r>
            <a:r>
              <a:rPr lang="en-US" altLang="zh-CN" sz="2400"/>
              <a:t> Prompt </a:t>
            </a:r>
            <a:r>
              <a:rPr lang="zh-CN" altLang="en-US" sz="2400"/>
              <a:t>变成可以不断复制、微调和迭代的资产。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工程化</a:t>
            </a:r>
            <a:r>
              <a:rPr lang="en-US" altLang="zh-CN"/>
              <a:t> Prompt </a:t>
            </a:r>
            <a:r>
              <a:rPr lang="zh-CN" altLang="en-US"/>
              <a:t>的七大模块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一个成熟的</a:t>
            </a:r>
            <a:r>
              <a:rPr lang="en-US" altLang="zh-CN"/>
              <a:t> Prompt </a:t>
            </a:r>
            <a:r>
              <a:rPr lang="zh-CN" altLang="en-US"/>
              <a:t>一般包括：</a:t>
            </a:r>
          </a:p>
          <a:p>
            <a:r>
              <a:rPr lang="en-US" altLang="zh-CN"/>
              <a:t>1 </a:t>
            </a:r>
            <a:r>
              <a:rPr lang="zh-CN" altLang="en-US"/>
              <a:t>角色（</a:t>
            </a:r>
            <a:r>
              <a:rPr lang="en-US" altLang="zh-CN"/>
              <a:t>Role</a:t>
            </a:r>
            <a:r>
              <a:rPr lang="zh-CN" altLang="en-US"/>
              <a:t>）</a:t>
            </a:r>
          </a:p>
          <a:p>
            <a:r>
              <a:rPr lang="en-US" altLang="zh-CN"/>
              <a:t>2 </a:t>
            </a:r>
            <a:r>
              <a:rPr lang="zh-CN" altLang="en-US"/>
              <a:t>任务</a:t>
            </a:r>
            <a:r>
              <a:rPr lang="en-US" altLang="zh-CN"/>
              <a:t>/</a:t>
            </a:r>
            <a:r>
              <a:rPr lang="zh-CN" altLang="en-US"/>
              <a:t>目标（</a:t>
            </a:r>
            <a:r>
              <a:rPr lang="en-US" altLang="zh-CN"/>
              <a:t>Goal/Task</a:t>
            </a:r>
            <a:r>
              <a:rPr lang="zh-CN" altLang="en-US"/>
              <a:t>）</a:t>
            </a:r>
          </a:p>
          <a:p>
            <a:r>
              <a:rPr lang="en-US" altLang="zh-CN"/>
              <a:t>3 </a:t>
            </a:r>
            <a:r>
              <a:rPr lang="zh-CN" altLang="en-US"/>
              <a:t>输入说明（</a:t>
            </a:r>
            <a:r>
              <a:rPr lang="en-US" altLang="zh-CN"/>
              <a:t>Input</a:t>
            </a:r>
            <a:r>
              <a:rPr lang="zh-CN" altLang="en-US"/>
              <a:t>）</a:t>
            </a:r>
          </a:p>
          <a:p>
            <a:r>
              <a:rPr lang="en-US" altLang="zh-CN"/>
              <a:t>4 </a:t>
            </a:r>
            <a:r>
              <a:rPr lang="zh-CN" altLang="en-US"/>
              <a:t>输出格式（</a:t>
            </a:r>
            <a:r>
              <a:rPr lang="en-US" altLang="zh-CN"/>
              <a:t>Output Format</a:t>
            </a:r>
            <a:r>
              <a:rPr lang="zh-CN" altLang="en-US"/>
              <a:t>）</a:t>
            </a:r>
          </a:p>
          <a:p>
            <a:r>
              <a:rPr lang="en-US" altLang="zh-CN"/>
              <a:t>5 </a:t>
            </a:r>
            <a:r>
              <a:rPr lang="zh-CN" altLang="en-US"/>
              <a:t>约束条件（</a:t>
            </a:r>
            <a:r>
              <a:rPr lang="en-US" altLang="zh-CN"/>
              <a:t>Constraints</a:t>
            </a:r>
            <a:r>
              <a:rPr lang="zh-CN" altLang="en-US"/>
              <a:t>）</a:t>
            </a:r>
          </a:p>
          <a:p>
            <a:r>
              <a:rPr lang="en-US" altLang="zh-CN"/>
              <a:t>6 </a:t>
            </a:r>
            <a:r>
              <a:rPr lang="zh-CN" altLang="en-US"/>
              <a:t>思考流程（</a:t>
            </a:r>
            <a:r>
              <a:rPr lang="en-US" altLang="zh-CN"/>
              <a:t>Reasoning Steps</a:t>
            </a:r>
            <a:r>
              <a:rPr lang="zh-CN" altLang="en-US"/>
              <a:t>）</a:t>
            </a:r>
          </a:p>
          <a:p>
            <a:r>
              <a:rPr lang="en-US" altLang="zh-CN"/>
              <a:t>7 </a:t>
            </a:r>
            <a:r>
              <a:rPr lang="zh-CN" altLang="en-US"/>
              <a:t>示例（</a:t>
            </a:r>
            <a:r>
              <a:rPr lang="en-US" altLang="zh-CN"/>
              <a:t>Examples, Few-shot</a:t>
            </a:r>
            <a:r>
              <a:rPr lang="zh-CN" altLang="en-US"/>
              <a:t>）</a:t>
            </a:r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645" y="365125"/>
            <a:ext cx="8973820" cy="1325880"/>
          </a:xfrm>
        </p:spPr>
        <p:txBody>
          <a:bodyPr/>
          <a:lstStyle/>
          <a:p>
            <a:r>
              <a:rPr lang="zh-CN" altLang="en-US"/>
              <a:t>七大模块示例（科研文献综述场景）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555750"/>
            <a:ext cx="7886700" cy="4351338"/>
          </a:xfrm>
        </p:spPr>
        <p:txBody>
          <a:bodyPr/>
          <a:lstStyle/>
          <a:p>
            <a:r>
              <a:rPr lang="zh-CN" altLang="en-US" sz="1800" dirty="0"/>
              <a:t>角色：你是一名金融学教授，熟悉资产定价与绿色金融。</a:t>
            </a:r>
          </a:p>
          <a:p>
            <a:r>
              <a:rPr lang="zh-CN" altLang="en-US" sz="1800" dirty="0"/>
              <a:t>任务：帮助我结构化总结一篇论文的主要内容。</a:t>
            </a:r>
          </a:p>
          <a:p>
            <a:r>
              <a:rPr lang="zh-CN" altLang="en-US" sz="1800" dirty="0"/>
              <a:t>输入：我会提供论文的标题和摘要。</a:t>
            </a:r>
          </a:p>
          <a:p>
            <a:r>
              <a:rPr lang="zh-CN" altLang="en-US" sz="1800" dirty="0"/>
              <a:t>输出格式：</a:t>
            </a:r>
          </a:p>
          <a:p>
            <a:pPr marL="0" indent="0">
              <a:buNone/>
            </a:pPr>
            <a:r>
              <a:rPr lang="en-US" altLang="zh-CN" sz="1800" dirty="0"/>
              <a:t>1 </a:t>
            </a:r>
            <a:r>
              <a:rPr lang="zh-CN" altLang="en-US" sz="1800" dirty="0"/>
              <a:t>研究问题</a:t>
            </a:r>
          </a:p>
          <a:p>
            <a:pPr marL="0" indent="0">
              <a:buNone/>
            </a:pPr>
            <a:r>
              <a:rPr lang="en-US" altLang="zh-CN" sz="1800" dirty="0"/>
              <a:t>2 </a:t>
            </a:r>
            <a:r>
              <a:rPr lang="zh-CN" altLang="en-US" sz="1800" dirty="0"/>
              <a:t>理论与假设</a:t>
            </a:r>
          </a:p>
          <a:p>
            <a:pPr marL="0" indent="0">
              <a:buNone/>
            </a:pPr>
            <a:r>
              <a:rPr lang="en-US" altLang="zh-CN" sz="1800" dirty="0"/>
              <a:t>3 </a:t>
            </a:r>
            <a:r>
              <a:rPr lang="zh-CN" altLang="en-US" sz="1800" dirty="0"/>
              <a:t>数据与样本</a:t>
            </a:r>
          </a:p>
          <a:p>
            <a:pPr marL="0" indent="0">
              <a:buNone/>
            </a:pPr>
            <a:r>
              <a:rPr lang="en-US" altLang="zh-CN" sz="1800" dirty="0"/>
              <a:t>4 </a:t>
            </a:r>
            <a:r>
              <a:rPr lang="zh-CN" altLang="en-US" sz="1800" dirty="0"/>
              <a:t>方法与模型</a:t>
            </a:r>
          </a:p>
          <a:p>
            <a:pPr marL="0" indent="0">
              <a:buNone/>
            </a:pPr>
            <a:r>
              <a:rPr lang="en-US" altLang="zh-CN" sz="1800" dirty="0"/>
              <a:t>5 </a:t>
            </a:r>
            <a:r>
              <a:rPr lang="zh-CN" altLang="en-US" sz="1800" dirty="0"/>
              <a:t>核心发现</a:t>
            </a:r>
          </a:p>
          <a:p>
            <a:pPr marL="0" indent="0">
              <a:buNone/>
            </a:pPr>
            <a:r>
              <a:rPr lang="en-US" altLang="zh-CN" sz="1800" dirty="0"/>
              <a:t>6 </a:t>
            </a:r>
            <a:r>
              <a:rPr lang="zh-CN" altLang="en-US" sz="1800" dirty="0"/>
              <a:t>不足与未来研究</a:t>
            </a:r>
          </a:p>
          <a:p>
            <a:endParaRPr lang="en-US" altLang="zh-CN" sz="1800" dirty="0"/>
          </a:p>
          <a:p>
            <a:r>
              <a:rPr lang="zh-CN" altLang="en-US" sz="1800" dirty="0"/>
              <a:t>约束条件：用中文，每一部分</a:t>
            </a:r>
            <a:r>
              <a:rPr lang="en-US" altLang="zh-CN" sz="1800" dirty="0"/>
              <a:t> 2 </a:t>
            </a:r>
            <a:r>
              <a:rPr lang="zh-CN" altLang="en-US" sz="1800" dirty="0"/>
              <a:t>至</a:t>
            </a:r>
            <a:r>
              <a:rPr lang="en-US" altLang="zh-CN" sz="1800" dirty="0"/>
              <a:t> 4 </a:t>
            </a:r>
            <a:r>
              <a:rPr lang="zh-CN" altLang="en-US" sz="1800" dirty="0"/>
              <a:t>句话，不得虚构文献或数据。</a:t>
            </a:r>
          </a:p>
          <a:p>
            <a:r>
              <a:rPr lang="zh-CN" altLang="en-US" sz="1800" dirty="0"/>
              <a:t>思考流程：先识别研究问题，再找数据和方法，最后总结发现和不足。</a:t>
            </a:r>
          </a:p>
          <a:p>
            <a:r>
              <a:rPr lang="zh-CN" altLang="en-US" sz="1800" dirty="0"/>
              <a:t>示例：可以给出一个自己写好的</a:t>
            </a:r>
            <a:r>
              <a:rPr lang="en-US" altLang="zh-CN" sz="1800" dirty="0"/>
              <a:t>“</a:t>
            </a:r>
            <a:r>
              <a:rPr lang="zh-CN" altLang="en-US" sz="1800" dirty="0"/>
              <a:t>理想输出</a:t>
            </a:r>
            <a:r>
              <a:rPr lang="en-US" altLang="zh-CN" sz="1800" dirty="0"/>
              <a:t>”</a:t>
            </a:r>
            <a:r>
              <a:rPr lang="zh-CN" altLang="en-US" sz="1800" dirty="0"/>
              <a:t>让模型模仿。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984490" cy="1325880"/>
          </a:xfrm>
        </p:spPr>
        <p:txBody>
          <a:bodyPr/>
          <a:lstStyle/>
          <a:p>
            <a:r>
              <a:rPr lang="zh-CN" altLang="en-US" sz="3600"/>
              <a:t>输出格式高级用法：思维导图型结构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252855"/>
            <a:ext cx="7886700" cy="4351338"/>
          </a:xfrm>
        </p:spPr>
        <p:txBody>
          <a:bodyPr/>
          <a:lstStyle/>
          <a:p>
            <a:r>
              <a:rPr lang="zh-CN" altLang="en-US" sz="1600"/>
              <a:t>对于复杂主题，可以让模型输出类似思维导图的结构：</a:t>
            </a:r>
          </a:p>
          <a:p>
            <a:endParaRPr lang="en-US" altLang="zh-CN" sz="1600"/>
          </a:p>
          <a:p>
            <a:r>
              <a:rPr lang="zh-CN" altLang="en-US" sz="1600"/>
              <a:t>示例：</a:t>
            </a:r>
          </a:p>
          <a:p>
            <a:r>
              <a:rPr lang="zh-CN" altLang="en-US" sz="1600"/>
              <a:t>主题：数字金融与宏观韧性</a:t>
            </a:r>
          </a:p>
          <a:p>
            <a:endParaRPr lang="en-US" altLang="zh-CN" sz="1600"/>
          </a:p>
          <a:p>
            <a:r>
              <a:rPr lang="zh-CN" altLang="en-US" sz="1600"/>
              <a:t>一级分支：研究背景</a:t>
            </a:r>
          </a:p>
          <a:p>
            <a:r>
              <a:rPr lang="en-US" altLang="zh-CN" sz="1600"/>
              <a:t>  </a:t>
            </a:r>
            <a:r>
              <a:rPr lang="zh-CN" altLang="en-US" sz="1600"/>
              <a:t>子节点：数字经济发展</a:t>
            </a:r>
          </a:p>
          <a:p>
            <a:r>
              <a:rPr lang="en-US" altLang="zh-CN" sz="1600"/>
              <a:t>  </a:t>
            </a:r>
            <a:r>
              <a:rPr lang="zh-CN" altLang="en-US" sz="1600"/>
              <a:t>子节点：宏观冲击频率增加</a:t>
            </a:r>
          </a:p>
          <a:p>
            <a:endParaRPr lang="en-US" altLang="zh-CN" sz="1600"/>
          </a:p>
          <a:p>
            <a:r>
              <a:rPr lang="zh-CN" altLang="en-US" sz="1600"/>
              <a:t>一级分支：理论机制</a:t>
            </a:r>
          </a:p>
          <a:p>
            <a:r>
              <a:rPr lang="en-US" altLang="zh-CN" sz="1600"/>
              <a:t>  </a:t>
            </a:r>
            <a:r>
              <a:rPr lang="zh-CN" altLang="en-US" sz="1600"/>
              <a:t>子节点：融资渠道多元化</a:t>
            </a:r>
          </a:p>
          <a:p>
            <a:r>
              <a:rPr lang="en-US" altLang="zh-CN" sz="1600"/>
              <a:t>  </a:t>
            </a:r>
            <a:r>
              <a:rPr lang="zh-CN" altLang="en-US" sz="1600"/>
              <a:t>子节点：信息效率提升</a:t>
            </a:r>
          </a:p>
          <a:p>
            <a:endParaRPr lang="en-US" altLang="zh-CN" sz="1600"/>
          </a:p>
          <a:p>
            <a:r>
              <a:rPr lang="zh-CN" altLang="en-US" sz="1600"/>
              <a:t>一级分支：实证研究</a:t>
            </a:r>
          </a:p>
          <a:p>
            <a:r>
              <a:rPr lang="en-US" altLang="zh-CN" sz="1600"/>
              <a:t>  </a:t>
            </a:r>
            <a:r>
              <a:rPr lang="zh-CN" altLang="en-US" sz="1600"/>
              <a:t>子节点：宏观面板数据</a:t>
            </a:r>
          </a:p>
          <a:p>
            <a:r>
              <a:rPr lang="en-US" altLang="zh-CN" sz="1600"/>
              <a:t>  </a:t>
            </a:r>
            <a:r>
              <a:rPr lang="zh-CN" altLang="en-US" sz="1600"/>
              <a:t>子节点：城市层面指标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输出格式高级用法：</a:t>
            </a:r>
            <a:r>
              <a:rPr lang="en-US" altLang="zh-CN"/>
              <a:t>JSON </a:t>
            </a:r>
            <a:r>
              <a:rPr lang="zh-CN" altLang="en-US"/>
              <a:t>和表格结构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/>
              <a:t>JSON </a:t>
            </a:r>
            <a:r>
              <a:rPr lang="zh-CN" altLang="en-US" sz="1800"/>
              <a:t>示例（适合系统录入）：</a:t>
            </a:r>
          </a:p>
          <a:p>
            <a:r>
              <a:rPr lang="en-US" altLang="zh-CN" sz="1800"/>
              <a:t>{</a:t>
            </a:r>
          </a:p>
          <a:p>
            <a:r>
              <a:rPr lang="en-US" altLang="zh-CN" sz="1800"/>
              <a:t>  "</a:t>
            </a:r>
            <a:r>
              <a:rPr lang="zh-CN" altLang="en-US" sz="1800"/>
              <a:t>公司概况</a:t>
            </a:r>
            <a:r>
              <a:rPr lang="en-US" altLang="zh-CN" sz="1800"/>
              <a:t>": "",</a:t>
            </a:r>
          </a:p>
          <a:p>
            <a:r>
              <a:rPr lang="en-US" altLang="zh-CN" sz="1800"/>
              <a:t>  "</a:t>
            </a:r>
            <a:r>
              <a:rPr lang="zh-CN" altLang="en-US" sz="1800"/>
              <a:t>行业地位</a:t>
            </a:r>
            <a:r>
              <a:rPr lang="en-US" altLang="zh-CN" sz="1800"/>
              <a:t>": "",</a:t>
            </a:r>
          </a:p>
          <a:p>
            <a:r>
              <a:rPr lang="en-US" altLang="zh-CN" sz="1800"/>
              <a:t>  "</a:t>
            </a:r>
            <a:r>
              <a:rPr lang="zh-CN" altLang="en-US" sz="1800"/>
              <a:t>财务分析</a:t>
            </a:r>
            <a:r>
              <a:rPr lang="en-US" altLang="zh-CN" sz="1800"/>
              <a:t>": {</a:t>
            </a:r>
          </a:p>
          <a:p>
            <a:r>
              <a:rPr lang="en-US" altLang="zh-CN" sz="1800"/>
              <a:t>    "</a:t>
            </a:r>
            <a:r>
              <a:rPr lang="zh-CN" altLang="en-US" sz="1800"/>
              <a:t>盈利能力</a:t>
            </a:r>
            <a:r>
              <a:rPr lang="en-US" altLang="zh-CN" sz="1800"/>
              <a:t>": "",</a:t>
            </a:r>
          </a:p>
          <a:p>
            <a:r>
              <a:rPr lang="en-US" altLang="zh-CN" sz="1800"/>
              <a:t>    "</a:t>
            </a:r>
            <a:r>
              <a:rPr lang="zh-CN" altLang="en-US" sz="1800"/>
              <a:t>偿债能力</a:t>
            </a:r>
            <a:r>
              <a:rPr lang="en-US" altLang="zh-CN" sz="1800"/>
              <a:t>": "",</a:t>
            </a:r>
          </a:p>
          <a:p>
            <a:r>
              <a:rPr lang="en-US" altLang="zh-CN" sz="1800"/>
              <a:t>    "</a:t>
            </a:r>
            <a:r>
              <a:rPr lang="zh-CN" altLang="en-US" sz="1800"/>
              <a:t>现金流</a:t>
            </a:r>
            <a:r>
              <a:rPr lang="en-US" altLang="zh-CN" sz="1800"/>
              <a:t>": ""</a:t>
            </a:r>
          </a:p>
          <a:p>
            <a:r>
              <a:rPr lang="en-US" altLang="zh-CN" sz="1800"/>
              <a:t>  },</a:t>
            </a:r>
          </a:p>
          <a:p>
            <a:r>
              <a:rPr lang="en-US" altLang="zh-CN" sz="1800"/>
              <a:t>  "</a:t>
            </a:r>
            <a:r>
              <a:rPr lang="zh-CN" altLang="en-US" sz="1800"/>
              <a:t>主要风险</a:t>
            </a:r>
            <a:r>
              <a:rPr lang="en-US" altLang="zh-CN" sz="1800"/>
              <a:t>": [],</a:t>
            </a:r>
          </a:p>
          <a:p>
            <a:r>
              <a:rPr lang="en-US" altLang="zh-CN" sz="1800"/>
              <a:t>  "</a:t>
            </a:r>
            <a:r>
              <a:rPr lang="zh-CN" altLang="en-US" sz="1800"/>
              <a:t>结论建议</a:t>
            </a:r>
            <a:r>
              <a:rPr lang="en-US" altLang="zh-CN" sz="1800"/>
              <a:t>": ""</a:t>
            </a:r>
          </a:p>
          <a:p>
            <a:r>
              <a:rPr lang="en-US" altLang="zh-CN" sz="1800"/>
              <a:t>}</a:t>
            </a:r>
          </a:p>
          <a:p>
            <a:endParaRPr lang="en-US" altLang="zh-CN" sz="1400"/>
          </a:p>
          <a:p>
            <a:endParaRPr lang="en-US" altLang="zh-CN" sz="1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输出格式高级用法：流程图与结构图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示例：贷款审批流程</a:t>
            </a:r>
          </a:p>
          <a:p>
            <a:endParaRPr lang="en-US" altLang="zh-CN" sz="2400" dirty="0"/>
          </a:p>
          <a:p>
            <a:r>
              <a:rPr lang="zh-CN" altLang="en-US" sz="2400" dirty="0"/>
              <a:t>开始</a:t>
            </a:r>
            <a:r>
              <a:rPr lang="en-US" altLang="zh-CN" sz="2400" dirty="0"/>
              <a:t> </a:t>
            </a:r>
            <a:r>
              <a:rPr lang="en-US" altLang="en-US" sz="2400" dirty="0"/>
              <a:t>→</a:t>
            </a:r>
            <a:r>
              <a:rPr lang="en-US" altLang="zh-CN" sz="2400" dirty="0"/>
              <a:t> </a:t>
            </a:r>
            <a:r>
              <a:rPr lang="zh-CN" altLang="en-US" sz="2400" dirty="0"/>
              <a:t>收集资料</a:t>
            </a:r>
            <a:r>
              <a:rPr lang="en-US" altLang="zh-CN" sz="2400" dirty="0"/>
              <a:t> </a:t>
            </a:r>
            <a:r>
              <a:rPr lang="en-US" altLang="en-US" sz="2400" dirty="0"/>
              <a:t>→</a:t>
            </a:r>
            <a:r>
              <a:rPr lang="en-US" altLang="zh-CN" sz="2400" dirty="0"/>
              <a:t> </a:t>
            </a:r>
            <a:r>
              <a:rPr lang="zh-CN" altLang="en-US" sz="2400" dirty="0"/>
              <a:t>初步尽调</a:t>
            </a:r>
            <a:r>
              <a:rPr lang="en-US" altLang="zh-CN" sz="2400" dirty="0"/>
              <a:t> </a:t>
            </a:r>
            <a:r>
              <a:rPr lang="en-US" altLang="en-US" sz="2400" dirty="0"/>
              <a:t>→</a:t>
            </a:r>
            <a:r>
              <a:rPr lang="en-US" altLang="zh-CN" sz="2400" dirty="0"/>
              <a:t> </a:t>
            </a:r>
            <a:r>
              <a:rPr lang="zh-CN" altLang="en-US" sz="2400" dirty="0"/>
              <a:t>财务分析</a:t>
            </a:r>
            <a:r>
              <a:rPr lang="en-US" altLang="zh-CN" sz="2400" dirty="0"/>
              <a:t> </a:t>
            </a:r>
            <a:r>
              <a:rPr lang="en-US" altLang="en-US" sz="2400" dirty="0"/>
              <a:t>→</a:t>
            </a:r>
            <a:r>
              <a:rPr lang="en-US" altLang="zh-CN" sz="2400" dirty="0"/>
              <a:t> </a:t>
            </a:r>
            <a:r>
              <a:rPr lang="zh-CN" altLang="en-US" sz="2400" dirty="0"/>
              <a:t>风险识别</a:t>
            </a:r>
            <a:r>
              <a:rPr lang="en-US" altLang="zh-CN" sz="2400" dirty="0"/>
              <a:t> </a:t>
            </a:r>
            <a:r>
              <a:rPr lang="en-US" altLang="en-US" sz="2400" dirty="0"/>
              <a:t>→</a:t>
            </a:r>
            <a:r>
              <a:rPr lang="en-US" altLang="zh-CN" sz="2400" dirty="0"/>
              <a:t> </a:t>
            </a:r>
            <a:r>
              <a:rPr lang="zh-CN" altLang="en-US" sz="2400" dirty="0"/>
              <a:t>风险缓释设计</a:t>
            </a:r>
            <a:r>
              <a:rPr lang="en-US" altLang="zh-CN" sz="2400" dirty="0"/>
              <a:t> </a:t>
            </a:r>
            <a:r>
              <a:rPr lang="en-US" altLang="en-US" sz="2400" dirty="0"/>
              <a:t>→</a:t>
            </a:r>
            <a:r>
              <a:rPr lang="en-US" altLang="zh-CN" sz="2400" dirty="0"/>
              <a:t> </a:t>
            </a:r>
            <a:r>
              <a:rPr lang="zh-CN" altLang="en-US" sz="2400" dirty="0"/>
              <a:t>形成授信方案</a:t>
            </a:r>
            <a:r>
              <a:rPr lang="en-US" altLang="zh-CN" sz="2400" dirty="0"/>
              <a:t> </a:t>
            </a:r>
            <a:r>
              <a:rPr lang="en-US" altLang="en-US" sz="2400" dirty="0"/>
              <a:t>→</a:t>
            </a:r>
            <a:r>
              <a:rPr lang="en-US" altLang="zh-CN" sz="2400" dirty="0"/>
              <a:t> </a:t>
            </a:r>
            <a:r>
              <a:rPr lang="zh-CN" altLang="en-US" sz="2400" dirty="0"/>
              <a:t>审批</a:t>
            </a:r>
            <a:r>
              <a:rPr lang="en-US" altLang="zh-CN" sz="2400" dirty="0"/>
              <a:t> </a:t>
            </a:r>
            <a:r>
              <a:rPr lang="en-US" altLang="en-US" sz="2400" dirty="0"/>
              <a:t>→</a:t>
            </a:r>
            <a:r>
              <a:rPr lang="en-US" altLang="zh-CN" sz="2400" dirty="0"/>
              <a:t> </a:t>
            </a:r>
            <a:r>
              <a:rPr lang="zh-CN" altLang="en-US" sz="2400" dirty="0"/>
              <a:t>放款</a:t>
            </a:r>
            <a:r>
              <a:rPr lang="en-US" altLang="zh-CN" sz="2400" dirty="0"/>
              <a:t> </a:t>
            </a:r>
            <a:r>
              <a:rPr lang="en-US" altLang="en-US" sz="2400" dirty="0"/>
              <a:t>→</a:t>
            </a:r>
            <a:r>
              <a:rPr lang="en-US" altLang="zh-CN" sz="2400" dirty="0"/>
              <a:t> </a:t>
            </a:r>
            <a:r>
              <a:rPr lang="zh-CN" altLang="en-US" sz="2400" dirty="0"/>
              <a:t>贷后管理</a:t>
            </a:r>
          </a:p>
          <a:p>
            <a:endParaRPr lang="en-US" altLang="zh-CN" sz="2400" dirty="0"/>
          </a:p>
          <a:p>
            <a:r>
              <a:rPr lang="zh-CN" altLang="en-US" sz="2400" dirty="0"/>
              <a:t>模型可以根据提示：</a:t>
            </a:r>
          </a:p>
          <a:p>
            <a:r>
              <a:rPr lang="zh-CN" altLang="en-US" sz="2400" dirty="0"/>
              <a:t>请将以下流程输出为逐步的流程结构，并简要解释每一步的目的。</a:t>
            </a:r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Persona</a:t>
            </a:r>
            <a:r>
              <a:rPr lang="zh-CN" altLang="en-US"/>
              <a:t>（角色扮演）：让模型更</a:t>
            </a:r>
            <a:r>
              <a:rPr lang="en-US" altLang="zh-CN"/>
              <a:t>“</a:t>
            </a:r>
            <a:r>
              <a:rPr lang="zh-CN" altLang="en-US"/>
              <a:t>像一个人</a:t>
            </a:r>
            <a:r>
              <a:rPr lang="en-US" altLang="zh-CN"/>
              <a:t>”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200"/>
              <a:t>Persona </a:t>
            </a:r>
            <a:r>
              <a:rPr lang="zh-CN" altLang="en-US" sz="2200"/>
              <a:t>一般包含：</a:t>
            </a:r>
          </a:p>
          <a:p>
            <a:r>
              <a:rPr lang="en-US" altLang="zh-CN" sz="2200"/>
              <a:t>1 </a:t>
            </a:r>
            <a:r>
              <a:rPr lang="zh-CN" altLang="en-US" sz="2200"/>
              <a:t>职业身份：金融学教授、银行风控经理、券商研究员等</a:t>
            </a:r>
          </a:p>
          <a:p>
            <a:r>
              <a:rPr lang="en-US" altLang="zh-CN" sz="2200"/>
              <a:t>2 </a:t>
            </a:r>
            <a:r>
              <a:rPr lang="zh-CN" altLang="en-US" sz="2200"/>
              <a:t>经验背景：从业年限、研究方向、行业经历</a:t>
            </a:r>
          </a:p>
          <a:p>
            <a:r>
              <a:rPr lang="en-US" altLang="zh-CN" sz="2200"/>
              <a:t>3 </a:t>
            </a:r>
            <a:r>
              <a:rPr lang="zh-CN" altLang="en-US" sz="2200"/>
              <a:t>输出风格：学术严谨、通俗易懂、偏审慎等</a:t>
            </a:r>
          </a:p>
          <a:p>
            <a:r>
              <a:rPr lang="en-US" altLang="zh-CN" sz="2200"/>
              <a:t>4 </a:t>
            </a:r>
            <a:r>
              <a:rPr lang="zh-CN" altLang="en-US" sz="2200"/>
              <a:t>禁止行为：不得虚构数据，不得给出投资建议等</a:t>
            </a:r>
          </a:p>
          <a:p>
            <a:endParaRPr lang="en-US" altLang="zh-CN" sz="2200"/>
          </a:p>
          <a:p>
            <a:r>
              <a:rPr lang="zh-CN" altLang="en-US" sz="2200"/>
              <a:t>示例：</a:t>
            </a:r>
          </a:p>
          <a:p>
            <a:r>
              <a:rPr lang="zh-CN" altLang="en-US" sz="2200"/>
              <a:t>你是一名有</a:t>
            </a:r>
            <a:r>
              <a:rPr lang="en-US" altLang="zh-CN" sz="2200"/>
              <a:t> 10 </a:t>
            </a:r>
            <a:r>
              <a:rPr lang="zh-CN" altLang="en-US" sz="2200"/>
              <a:t>年经验的城投债信用分析师，熟悉地方政府财政状况和平台公司运作模式，风格偏审慎，不得对具体债券给出买卖建议。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提示词核心要素总结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核心要素：</a:t>
            </a:r>
          </a:p>
          <a:p>
            <a:r>
              <a:rPr lang="en-US" altLang="zh-CN"/>
              <a:t>1 </a:t>
            </a:r>
            <a:r>
              <a:rPr lang="zh-CN" altLang="en-US"/>
              <a:t>指令：要做什么任务，如总结、对比、估值解释</a:t>
            </a:r>
          </a:p>
          <a:p>
            <a:r>
              <a:rPr lang="en-US" altLang="zh-CN"/>
              <a:t>2 </a:t>
            </a:r>
            <a:r>
              <a:rPr lang="zh-CN" altLang="en-US"/>
              <a:t>背景：任务的上下文，如在银行风控场景下、在课堂教学场景下</a:t>
            </a:r>
          </a:p>
          <a:p>
            <a:r>
              <a:rPr lang="en-US" altLang="zh-CN"/>
              <a:t>3 </a:t>
            </a:r>
            <a:r>
              <a:rPr lang="zh-CN" altLang="en-US"/>
              <a:t>输入：需要处理的文本、数据、报表等</a:t>
            </a:r>
          </a:p>
          <a:p>
            <a:r>
              <a:rPr lang="en-US" altLang="zh-CN"/>
              <a:t>4 </a:t>
            </a:r>
            <a:r>
              <a:rPr lang="zh-CN" altLang="en-US"/>
              <a:t>输出：期望得到的格式和结构</a:t>
            </a:r>
          </a:p>
          <a:p>
            <a:r>
              <a:rPr lang="en-US" altLang="zh-CN"/>
              <a:t>5 </a:t>
            </a:r>
            <a:r>
              <a:rPr lang="zh-CN" altLang="en-US"/>
              <a:t>约束：长度、风格、禁止虚构等</a:t>
            </a:r>
          </a:p>
          <a:p>
            <a:r>
              <a:rPr lang="en-US" altLang="zh-CN"/>
              <a:t>6 </a:t>
            </a:r>
            <a:r>
              <a:rPr lang="zh-CN" altLang="en-US"/>
              <a:t>思考流程：按步骤推理，减少幻觉</a:t>
            </a:r>
          </a:p>
          <a:p>
            <a:r>
              <a:rPr lang="en-US" altLang="zh-CN"/>
              <a:t>7 </a:t>
            </a:r>
            <a:r>
              <a:rPr lang="zh-CN" altLang="en-US"/>
              <a:t>示例：用</a:t>
            </a:r>
            <a:r>
              <a:rPr lang="en-US" altLang="zh-CN"/>
              <a:t> 1 </a:t>
            </a:r>
            <a:r>
              <a:rPr lang="zh-CN" altLang="en-US"/>
              <a:t>到</a:t>
            </a:r>
            <a:r>
              <a:rPr lang="en-US" altLang="zh-CN"/>
              <a:t> 2 </a:t>
            </a:r>
            <a:r>
              <a:rPr lang="zh-CN" altLang="en-US"/>
              <a:t>个优质样例固定风格和格式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提示词框架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常见框架：</a:t>
            </a:r>
          </a:p>
          <a:p>
            <a:r>
              <a:rPr lang="en-US" altLang="zh-CN" sz="2000"/>
              <a:t>1 Elavis </a:t>
            </a:r>
            <a:r>
              <a:rPr lang="zh-CN" altLang="en-US" sz="2000"/>
              <a:t>框架：指令</a:t>
            </a:r>
            <a:r>
              <a:rPr lang="en-US" altLang="zh-CN" sz="2000"/>
              <a:t> + </a:t>
            </a:r>
            <a:r>
              <a:rPr lang="zh-CN" altLang="en-US" sz="2000"/>
              <a:t>背景信息</a:t>
            </a:r>
            <a:r>
              <a:rPr lang="en-US" altLang="zh-CN" sz="2000"/>
              <a:t> + </a:t>
            </a:r>
            <a:r>
              <a:rPr lang="zh-CN" altLang="en-US" sz="2000"/>
              <a:t>输入数据</a:t>
            </a:r>
            <a:r>
              <a:rPr lang="en-US" altLang="zh-CN" sz="2000"/>
              <a:t> + </a:t>
            </a:r>
            <a:r>
              <a:rPr lang="zh-CN" altLang="en-US" sz="2000"/>
              <a:t>输出指示器</a:t>
            </a:r>
          </a:p>
          <a:p>
            <a:r>
              <a:rPr lang="en-US" altLang="zh-CN" sz="2000"/>
              <a:t>2 CO-STAR </a:t>
            </a:r>
            <a:r>
              <a:rPr lang="zh-CN" altLang="en-US" sz="2000"/>
              <a:t>框架：</a:t>
            </a:r>
            <a:r>
              <a:rPr lang="en-US" altLang="zh-CN" sz="2000"/>
              <a:t>Context </a:t>
            </a:r>
            <a:r>
              <a:rPr lang="zh-CN" altLang="en-US" sz="2000"/>
              <a:t>背景，</a:t>
            </a:r>
            <a:r>
              <a:rPr lang="en-US" altLang="zh-CN" sz="2000"/>
              <a:t>Objective </a:t>
            </a:r>
            <a:r>
              <a:rPr lang="zh-CN" altLang="en-US" sz="2000"/>
              <a:t>目标，</a:t>
            </a:r>
            <a:r>
              <a:rPr lang="en-US" altLang="zh-CN" sz="2000"/>
              <a:t>Style </a:t>
            </a:r>
            <a:r>
              <a:rPr lang="zh-CN" altLang="en-US" sz="2000"/>
              <a:t>风格，</a:t>
            </a:r>
            <a:r>
              <a:rPr lang="en-US" altLang="zh-CN" sz="2000"/>
              <a:t>Tone </a:t>
            </a:r>
            <a:r>
              <a:rPr lang="zh-CN" altLang="en-US" sz="2000"/>
              <a:t>语气，</a:t>
            </a:r>
            <a:r>
              <a:rPr lang="en-US" altLang="zh-CN" sz="2000"/>
              <a:t>Audience </a:t>
            </a:r>
            <a:r>
              <a:rPr lang="zh-CN" altLang="en-US" sz="2000"/>
              <a:t>受众，</a:t>
            </a:r>
            <a:r>
              <a:rPr lang="en-US" altLang="zh-CN" sz="2000"/>
              <a:t>Response </a:t>
            </a:r>
            <a:r>
              <a:rPr lang="zh-CN" altLang="en-US" sz="2000"/>
              <a:t>格式</a:t>
            </a:r>
          </a:p>
          <a:p>
            <a:r>
              <a:rPr lang="en-US" altLang="zh-CN" sz="2000"/>
              <a:t>3 RICCE </a:t>
            </a:r>
            <a:r>
              <a:rPr lang="zh-CN" altLang="en-US" sz="2000"/>
              <a:t>框架：</a:t>
            </a:r>
            <a:r>
              <a:rPr lang="en-US" altLang="zh-CN" sz="2000"/>
              <a:t>Role </a:t>
            </a:r>
            <a:r>
              <a:rPr lang="zh-CN" altLang="en-US" sz="2000"/>
              <a:t>角色，</a:t>
            </a:r>
            <a:r>
              <a:rPr lang="en-US" altLang="zh-CN" sz="2000"/>
              <a:t>Input </a:t>
            </a:r>
            <a:r>
              <a:rPr lang="zh-CN" altLang="en-US" sz="2000"/>
              <a:t>输入，</a:t>
            </a:r>
            <a:r>
              <a:rPr lang="en-US" altLang="zh-CN" sz="2000"/>
              <a:t>Constraints </a:t>
            </a:r>
            <a:r>
              <a:rPr lang="zh-CN" altLang="en-US" sz="2000"/>
              <a:t>约束，</a:t>
            </a:r>
            <a:r>
              <a:rPr lang="en-US" altLang="zh-CN" sz="2000"/>
              <a:t>Command </a:t>
            </a:r>
            <a:r>
              <a:rPr lang="zh-CN" altLang="en-US" sz="2000"/>
              <a:t>指令，</a:t>
            </a:r>
            <a:r>
              <a:rPr lang="en-US" altLang="zh-CN" sz="2000"/>
              <a:t>Examples </a:t>
            </a:r>
            <a:r>
              <a:rPr lang="zh-CN" altLang="en-US" sz="2000"/>
              <a:t>示例</a:t>
            </a:r>
          </a:p>
          <a:p>
            <a:r>
              <a:rPr lang="en-US" altLang="zh-CN" sz="2000"/>
              <a:t>4 </a:t>
            </a:r>
            <a:r>
              <a:rPr lang="zh-CN" altLang="en-US" sz="2000"/>
              <a:t>其他：</a:t>
            </a:r>
            <a:r>
              <a:rPr lang="en-US" altLang="zh-CN" sz="2000"/>
              <a:t>CRAFT</a:t>
            </a:r>
            <a:r>
              <a:rPr lang="zh-CN" altLang="en-US" sz="2000"/>
              <a:t>、</a:t>
            </a:r>
            <a:r>
              <a:rPr lang="en-US" altLang="zh-CN" sz="2000"/>
              <a:t>APG </a:t>
            </a:r>
            <a:r>
              <a:rPr lang="zh-CN" altLang="en-US" sz="2000"/>
              <a:t>等</a:t>
            </a:r>
          </a:p>
          <a:p>
            <a:endParaRPr lang="en-US" altLang="zh-CN" sz="2000"/>
          </a:p>
          <a:p>
            <a:r>
              <a:rPr lang="zh-CN" altLang="en-US" sz="2000"/>
              <a:t>对金融应用的启示：</a:t>
            </a:r>
          </a:p>
          <a:p>
            <a:r>
              <a:rPr lang="zh-CN" altLang="en-US" sz="2000"/>
              <a:t>用框架可以避免漏项，尤其是在写</a:t>
            </a:r>
            <a:r>
              <a:rPr lang="en-US" altLang="zh-CN" sz="2000"/>
              <a:t>“</a:t>
            </a:r>
            <a:r>
              <a:rPr lang="zh-CN" altLang="en-US" sz="2000"/>
              <a:t>信贷分析、行业研究、项目可研</a:t>
            </a:r>
            <a:r>
              <a:rPr lang="en-US" altLang="zh-CN" sz="2000"/>
              <a:t>”</a:t>
            </a:r>
            <a:r>
              <a:rPr lang="zh-CN" altLang="en-US" sz="2000"/>
              <a:t>等复杂</a:t>
            </a:r>
            <a:r>
              <a:rPr lang="en-US" altLang="zh-CN" sz="2000"/>
              <a:t> Prompt </a:t>
            </a:r>
            <a:r>
              <a:rPr lang="zh-CN" altLang="en-US" sz="2000"/>
              <a:t>时，能帮助系统检查是否说明清楚。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35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Elavis </a:t>
            </a:r>
            <a:r>
              <a:rPr lang="zh-CN" altLang="en-US"/>
              <a:t>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组成：</a:t>
            </a:r>
            <a:r>
              <a:rPr lang="en-US" altLang="zh-CN"/>
              <a:t> </a:t>
            </a:r>
          </a:p>
          <a:p>
            <a:pPr marL="0" indent="0">
              <a:buNone/>
            </a:pPr>
            <a:r>
              <a:rPr lang="en-US" altLang="zh-CN"/>
              <a:t>1.  Instruction </a:t>
            </a:r>
            <a:r>
              <a:rPr lang="zh-CN" altLang="en-US"/>
              <a:t>指令：你要</a:t>
            </a:r>
            <a:r>
              <a:rPr lang="en-US" altLang="zh-CN"/>
              <a:t> AI </a:t>
            </a:r>
            <a:r>
              <a:rPr lang="zh-CN" altLang="en-US"/>
              <a:t>做什么</a:t>
            </a:r>
            <a:r>
              <a:rPr lang="en-US" altLang="zh-CN"/>
              <a:t>  </a:t>
            </a:r>
          </a:p>
          <a:p>
            <a:pPr marL="0" indent="0">
              <a:buNone/>
            </a:pPr>
            <a:r>
              <a:rPr lang="en-US" altLang="zh-CN"/>
              <a:t>2.  Background </a:t>
            </a:r>
            <a:r>
              <a:rPr lang="zh-CN" altLang="en-US"/>
              <a:t>背景信息：任务发生在什么场景</a:t>
            </a:r>
            <a:r>
              <a:rPr lang="en-US" altLang="zh-CN"/>
              <a:t>  3.  Input </a:t>
            </a:r>
            <a:r>
              <a:rPr lang="zh-CN" altLang="en-US"/>
              <a:t>输入数据：你提供给</a:t>
            </a:r>
            <a:r>
              <a:rPr lang="en-US" altLang="zh-CN"/>
              <a:t> AI </a:t>
            </a:r>
            <a:r>
              <a:rPr lang="zh-CN" altLang="en-US"/>
              <a:t>的资料</a:t>
            </a:r>
            <a:r>
              <a:rPr lang="en-US" altLang="zh-CN"/>
              <a:t>  </a:t>
            </a:r>
          </a:p>
          <a:p>
            <a:pPr marL="0" indent="0">
              <a:buNone/>
            </a:pPr>
            <a:r>
              <a:rPr lang="en-US" altLang="zh-CN"/>
              <a:t>4.  Output </a:t>
            </a:r>
            <a:r>
              <a:rPr lang="zh-CN" altLang="en-US"/>
              <a:t>要求：希望以什么方式输出</a:t>
            </a:r>
            <a:r>
              <a:rPr lang="en-US" altLang="zh-CN"/>
              <a:t>   </a:t>
            </a:r>
            <a:r>
              <a:rPr lang="zh-CN" altLang="en-US"/>
              <a:t>一句话总结：</a:t>
            </a:r>
          </a:p>
          <a:p>
            <a:r>
              <a:rPr lang="en-US" altLang="zh-CN"/>
              <a:t>Elavis </a:t>
            </a:r>
            <a:r>
              <a:rPr lang="zh-CN" altLang="en-US"/>
              <a:t>强调</a:t>
            </a:r>
            <a:r>
              <a:rPr lang="en-US" altLang="zh-CN"/>
              <a:t>“</a:t>
            </a:r>
            <a:r>
              <a:rPr lang="zh-CN" altLang="en-US"/>
              <a:t>清晰任务</a:t>
            </a:r>
            <a:r>
              <a:rPr lang="en-US" altLang="zh-CN"/>
              <a:t> + </a:t>
            </a:r>
            <a:r>
              <a:rPr lang="zh-CN" altLang="en-US"/>
              <a:t>明确信息</a:t>
            </a:r>
            <a:r>
              <a:rPr lang="en-US" altLang="zh-CN"/>
              <a:t> + </a:t>
            </a:r>
            <a:r>
              <a:rPr lang="zh-CN" altLang="en-US"/>
              <a:t>确定格式</a:t>
            </a:r>
            <a:r>
              <a:rPr lang="en-US" altLang="zh-CN"/>
              <a:t>”</a:t>
            </a:r>
            <a:r>
              <a:rPr lang="zh-CN" altLang="en-US"/>
              <a:t>，适合金融类系统性写作。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36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CO-STAR </a:t>
            </a:r>
            <a:r>
              <a:rPr lang="zh-CN" altLang="en-US"/>
              <a:t>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组成：</a:t>
            </a:r>
            <a:r>
              <a:rPr lang="en-US" altLang="zh-CN"/>
              <a:t>  </a:t>
            </a:r>
          </a:p>
          <a:p>
            <a:pPr marL="0" indent="0">
              <a:buNone/>
            </a:pPr>
            <a:r>
              <a:rPr lang="en-US" altLang="zh-CN"/>
              <a:t>Context </a:t>
            </a:r>
            <a:r>
              <a:rPr lang="zh-CN" altLang="en-US"/>
              <a:t>背景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en-US" altLang="zh-CN"/>
              <a:t>Objective </a:t>
            </a:r>
            <a:r>
              <a:rPr lang="zh-CN" altLang="en-US"/>
              <a:t>目标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en-US" altLang="zh-CN"/>
              <a:t>Style </a:t>
            </a:r>
            <a:r>
              <a:rPr lang="zh-CN" altLang="en-US"/>
              <a:t>风格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en-US" altLang="zh-CN"/>
              <a:t>Tone </a:t>
            </a:r>
            <a:r>
              <a:rPr lang="zh-CN" altLang="en-US"/>
              <a:t>语气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en-US" altLang="zh-CN"/>
              <a:t>Audience </a:t>
            </a:r>
            <a:r>
              <a:rPr lang="zh-CN" altLang="en-US"/>
              <a:t>受众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en-US" altLang="zh-CN"/>
              <a:t>Response Format </a:t>
            </a:r>
            <a:r>
              <a:rPr lang="zh-CN" altLang="en-US"/>
              <a:t>输出格式</a:t>
            </a:r>
            <a:r>
              <a:rPr lang="en-US" altLang="zh-CN"/>
              <a:t>   </a:t>
            </a:r>
            <a:r>
              <a:rPr lang="zh-CN" altLang="en-US"/>
              <a:t>一句话总结：</a:t>
            </a:r>
          </a:p>
          <a:p>
            <a:r>
              <a:rPr lang="en-US" altLang="zh-CN"/>
              <a:t>CO-STAR </a:t>
            </a:r>
            <a:r>
              <a:rPr lang="zh-CN" altLang="en-US"/>
              <a:t>用于控制</a:t>
            </a:r>
            <a:r>
              <a:rPr lang="en-US" altLang="zh-CN"/>
              <a:t>“</a:t>
            </a:r>
            <a:r>
              <a:rPr lang="zh-CN" altLang="en-US"/>
              <a:t>写得像谁写的、给谁看、什么风格</a:t>
            </a:r>
            <a:r>
              <a:rPr lang="en-US" altLang="zh-CN"/>
              <a:t>”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37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RICCE </a:t>
            </a:r>
            <a:r>
              <a:rPr lang="zh-CN" altLang="en-US"/>
              <a:t>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组成：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en-US" altLang="zh-CN"/>
              <a:t>Role </a:t>
            </a:r>
            <a:r>
              <a:rPr lang="zh-CN" altLang="en-US"/>
              <a:t>角色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en-US" altLang="zh-CN"/>
              <a:t>Input </a:t>
            </a:r>
            <a:r>
              <a:rPr lang="zh-CN" altLang="en-US"/>
              <a:t>输入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en-US" altLang="zh-CN"/>
              <a:t>Constraints </a:t>
            </a:r>
            <a:r>
              <a:rPr lang="zh-CN" altLang="en-US"/>
              <a:t>限制条件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en-US" altLang="zh-CN"/>
              <a:t>Command </a:t>
            </a:r>
            <a:r>
              <a:rPr lang="zh-CN" altLang="en-US"/>
              <a:t>命令</a:t>
            </a:r>
            <a:r>
              <a:rPr lang="en-US" altLang="zh-CN"/>
              <a:t>  </a:t>
            </a:r>
          </a:p>
          <a:p>
            <a:pPr marL="0" indent="0">
              <a:buNone/>
            </a:pPr>
            <a:r>
              <a:rPr lang="en-US" altLang="zh-CN"/>
              <a:t>Examples </a:t>
            </a:r>
            <a:r>
              <a:rPr lang="zh-CN" altLang="en-US"/>
              <a:t>示例</a:t>
            </a:r>
            <a:r>
              <a:rPr lang="en-US" altLang="zh-CN"/>
              <a:t>   </a:t>
            </a:r>
          </a:p>
          <a:p>
            <a:r>
              <a:rPr lang="zh-CN" altLang="en-US"/>
              <a:t>一句话总结：</a:t>
            </a:r>
          </a:p>
          <a:p>
            <a:r>
              <a:rPr lang="en-US" altLang="zh-CN"/>
              <a:t>RICCE </a:t>
            </a:r>
            <a:r>
              <a:rPr lang="zh-CN" altLang="en-US"/>
              <a:t>适用于复杂、高要求的金融任务，能保证</a:t>
            </a:r>
            <a:r>
              <a:rPr lang="en-US" altLang="zh-CN"/>
              <a:t>“</a:t>
            </a:r>
            <a:r>
              <a:rPr lang="zh-CN" altLang="en-US"/>
              <a:t>不漏项、不瞎编、格式完整</a:t>
            </a:r>
            <a:r>
              <a:rPr lang="en-US" altLang="zh-CN"/>
              <a:t>”</a:t>
            </a:r>
            <a:r>
              <a:rPr lang="zh-CN" altLang="en-US"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38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辅助类框架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8345" y="1170305"/>
            <a:ext cx="7886700" cy="4351338"/>
          </a:xfrm>
        </p:spPr>
        <p:txBody>
          <a:bodyPr/>
          <a:lstStyle/>
          <a:p>
            <a:r>
              <a:rPr lang="en-US" altLang="zh-CN"/>
              <a:t>CRAFT</a:t>
            </a:r>
            <a:r>
              <a:rPr lang="zh-CN" altLang="en-US"/>
              <a:t>：优化</a:t>
            </a:r>
            <a:r>
              <a:rPr lang="en-US" altLang="zh-CN"/>
              <a:t> Prompt </a:t>
            </a:r>
            <a:r>
              <a:rPr lang="zh-CN" altLang="en-US"/>
              <a:t>的清单</a:t>
            </a:r>
            <a:r>
              <a:rPr lang="en-US" altLang="zh-CN"/>
              <a:t> </a:t>
            </a:r>
          </a:p>
          <a:p>
            <a:pPr marL="0" indent="0">
              <a:buNone/>
            </a:pPr>
            <a:r>
              <a:rPr lang="en-US" altLang="zh-CN"/>
              <a:t> Clarify</a:t>
            </a:r>
            <a:r>
              <a:rPr lang="zh-CN" altLang="en-US"/>
              <a:t>（澄清）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en-US" altLang="zh-CN"/>
              <a:t> Rewrite</a:t>
            </a:r>
            <a:r>
              <a:rPr lang="zh-CN" altLang="en-US"/>
              <a:t>（重写）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en-US" altLang="zh-CN"/>
              <a:t> Add constraints</a:t>
            </a:r>
            <a:r>
              <a:rPr lang="zh-CN" altLang="en-US"/>
              <a:t>（添加约束）</a:t>
            </a:r>
            <a:r>
              <a:rPr lang="en-US" altLang="zh-CN"/>
              <a:t>    </a:t>
            </a:r>
          </a:p>
          <a:p>
            <a:pPr marL="0" indent="0">
              <a:buNone/>
            </a:pPr>
            <a:r>
              <a:rPr lang="en-US" altLang="zh-CN"/>
              <a:t> Format</a:t>
            </a:r>
            <a:r>
              <a:rPr lang="zh-CN" altLang="en-US"/>
              <a:t>（优化格式）</a:t>
            </a:r>
            <a:r>
              <a:rPr lang="en-US" altLang="zh-CN"/>
              <a:t>    </a:t>
            </a:r>
          </a:p>
          <a:p>
            <a:pPr marL="0" indent="0">
              <a:buNone/>
            </a:pPr>
            <a:r>
              <a:rPr lang="en-US" altLang="zh-CN"/>
              <a:t>Test</a:t>
            </a:r>
            <a:r>
              <a:rPr lang="zh-CN" altLang="en-US"/>
              <a:t>（检查输出是否符合要求）</a:t>
            </a:r>
          </a:p>
          <a:p>
            <a:pPr marL="0" indent="0">
              <a:buNone/>
            </a:pPr>
            <a:r>
              <a:rPr lang="en-US" altLang="zh-CN"/>
              <a:t>   </a:t>
            </a:r>
          </a:p>
          <a:p>
            <a:r>
              <a:rPr lang="en-US" altLang="zh-CN"/>
              <a:t>APG</a:t>
            </a:r>
            <a:r>
              <a:rPr lang="zh-CN" altLang="en-US"/>
              <a:t>：任务目标型框架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en-US" altLang="zh-CN"/>
              <a:t>Action</a:t>
            </a:r>
            <a:r>
              <a:rPr lang="zh-CN" altLang="en-US"/>
              <a:t>（动作）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en-US" altLang="zh-CN"/>
              <a:t>Purpose</a:t>
            </a:r>
            <a:r>
              <a:rPr lang="zh-CN" altLang="en-US"/>
              <a:t>（目的）</a:t>
            </a:r>
            <a:r>
              <a:rPr lang="en-US" altLang="zh-CN"/>
              <a:t>   </a:t>
            </a:r>
          </a:p>
          <a:p>
            <a:pPr marL="0" indent="0">
              <a:buNone/>
            </a:pPr>
            <a:r>
              <a:rPr lang="en-US" altLang="zh-CN"/>
              <a:t>Guidance</a:t>
            </a:r>
            <a:r>
              <a:rPr lang="zh-CN" altLang="en-US"/>
              <a:t>（规则）</a:t>
            </a:r>
            <a:r>
              <a:rPr lang="en-US" altLang="zh-CN"/>
              <a:t>   </a:t>
            </a:r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39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Elavis </a:t>
            </a:r>
            <a:r>
              <a:rPr lang="zh-CN" altLang="en-US"/>
              <a:t>框架</a:t>
            </a:r>
            <a:r>
              <a:rPr lang="en-US" altLang="zh-CN"/>
              <a:t> </a:t>
            </a:r>
            <a:r>
              <a:rPr lang="zh-CN" altLang="en-US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任务：写一份制造业企业信贷分析（比如格力电器）</a:t>
            </a:r>
            <a:r>
              <a:rPr lang="en-US" altLang="zh-CN" sz="2400" dirty="0"/>
              <a:t> </a:t>
            </a:r>
          </a:p>
          <a:p>
            <a:endParaRPr lang="en-US" altLang="zh-CN" sz="2400" dirty="0"/>
          </a:p>
          <a:p>
            <a:r>
              <a:rPr lang="en-US" altLang="zh-CN" sz="2400" dirty="0" err="1"/>
              <a:t>Elavis</a:t>
            </a:r>
            <a:r>
              <a:rPr lang="en-US" altLang="zh-CN" sz="2400" dirty="0"/>
              <a:t> Prompt </a:t>
            </a:r>
            <a:r>
              <a:rPr lang="zh-CN" altLang="en-US" sz="2400" dirty="0"/>
              <a:t>示例：</a:t>
            </a:r>
            <a:r>
              <a:rPr lang="en-US" altLang="zh-CN" sz="2400" dirty="0"/>
              <a:t>  </a:t>
            </a:r>
          </a:p>
          <a:p>
            <a:r>
              <a:rPr lang="en-US" altLang="zh-CN" sz="2400" dirty="0"/>
              <a:t>Instruction</a:t>
            </a:r>
            <a:r>
              <a:rPr lang="zh-CN" altLang="en-US" sz="2400" dirty="0"/>
              <a:t>：撰写信贷分析报告</a:t>
            </a:r>
            <a:r>
              <a:rPr lang="en-US" altLang="zh-CN" sz="2400" dirty="0"/>
              <a:t>   </a:t>
            </a:r>
          </a:p>
          <a:p>
            <a:r>
              <a:rPr lang="en-US" altLang="zh-CN" sz="2400" dirty="0"/>
              <a:t>Background</a:t>
            </a:r>
            <a:r>
              <a:rPr lang="zh-CN" altLang="en-US" sz="2400" dirty="0"/>
              <a:t>：企业位于传统制造业，下行周期明显</a:t>
            </a:r>
            <a:r>
              <a:rPr lang="en-US" altLang="zh-CN" sz="2400" dirty="0"/>
              <a:t>   </a:t>
            </a:r>
          </a:p>
          <a:p>
            <a:r>
              <a:rPr lang="en-US" altLang="zh-CN" sz="2400" dirty="0"/>
              <a:t>Input</a:t>
            </a:r>
            <a:r>
              <a:rPr lang="zh-CN" altLang="en-US" sz="2400" dirty="0"/>
              <a:t>：最近三年财务报表、抵押物清单、应收账款账龄</a:t>
            </a:r>
            <a:r>
              <a:rPr lang="en-US" altLang="zh-CN" sz="2400" dirty="0"/>
              <a:t>   </a:t>
            </a:r>
          </a:p>
          <a:p>
            <a:r>
              <a:rPr lang="en-US" altLang="zh-CN" sz="2400" dirty="0"/>
              <a:t>Output</a:t>
            </a:r>
            <a:r>
              <a:rPr lang="zh-CN" altLang="en-US" sz="2400" dirty="0"/>
              <a:t>：按</a:t>
            </a:r>
            <a:r>
              <a:rPr lang="en-US" altLang="zh-CN" sz="2400" dirty="0"/>
              <a:t>“</a:t>
            </a:r>
            <a:r>
              <a:rPr lang="zh-CN" altLang="en-US" sz="2400" dirty="0"/>
              <a:t>基本情况</a:t>
            </a:r>
            <a:r>
              <a:rPr lang="en-US" altLang="zh-CN" sz="2400" dirty="0"/>
              <a:t>—</a:t>
            </a:r>
            <a:r>
              <a:rPr lang="zh-CN" altLang="en-US" sz="2400" dirty="0"/>
              <a:t>财务分析</a:t>
            </a:r>
            <a:r>
              <a:rPr lang="en-US" altLang="zh-CN" sz="2400" dirty="0"/>
              <a:t>—</a:t>
            </a:r>
            <a:r>
              <a:rPr lang="zh-CN" altLang="en-US" sz="2400" dirty="0"/>
              <a:t>现金流测算</a:t>
            </a:r>
            <a:r>
              <a:rPr lang="en-US" altLang="zh-CN" sz="2400" dirty="0"/>
              <a:t>—</a:t>
            </a:r>
            <a:r>
              <a:rPr lang="zh-CN" altLang="en-US" sz="2400" dirty="0"/>
              <a:t>行业</a:t>
            </a:r>
            <a:r>
              <a:rPr lang="en-US" altLang="zh-CN" sz="2400" dirty="0"/>
              <a:t>—</a:t>
            </a:r>
            <a:r>
              <a:rPr lang="zh-CN" altLang="en-US" sz="2400" dirty="0"/>
              <a:t>风险</a:t>
            </a:r>
            <a:r>
              <a:rPr lang="en-US" altLang="zh-CN" sz="2400" dirty="0"/>
              <a:t>—</a:t>
            </a:r>
            <a:r>
              <a:rPr lang="zh-CN" altLang="en-US" sz="2400" dirty="0"/>
              <a:t>授信建议</a:t>
            </a:r>
            <a:r>
              <a:rPr lang="en-US" altLang="zh-CN" sz="2400" dirty="0"/>
              <a:t>”</a:t>
            </a:r>
            <a:r>
              <a:rPr lang="zh-CN" altLang="en-US" sz="2400" dirty="0"/>
              <a:t>结构输出</a:t>
            </a:r>
            <a:r>
              <a:rPr lang="en-US" altLang="zh-CN" sz="2400" dirty="0"/>
              <a:t>   </a:t>
            </a:r>
            <a:r>
              <a:rPr lang="zh-CN" altLang="en-US" sz="2400" dirty="0"/>
              <a:t>结果：</a:t>
            </a:r>
          </a:p>
          <a:p>
            <a:r>
              <a:rPr lang="zh-CN" altLang="en-US" sz="2400" dirty="0"/>
              <a:t>输出内容条理清晰、避免漏项。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40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CO-STAR </a:t>
            </a:r>
            <a:r>
              <a:rPr lang="zh-CN" altLang="en-US"/>
              <a:t>框架</a:t>
            </a:r>
            <a:r>
              <a:rPr lang="en-US" altLang="zh-CN"/>
              <a:t> 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任务：写一份银行行业研究简报</a:t>
            </a:r>
            <a:r>
              <a:rPr lang="en-US" altLang="zh-CN" sz="2400" dirty="0"/>
              <a:t> </a:t>
            </a:r>
          </a:p>
          <a:p>
            <a:endParaRPr lang="en-US" altLang="zh-CN" sz="2400" dirty="0"/>
          </a:p>
          <a:p>
            <a:r>
              <a:rPr lang="en-US" altLang="zh-CN" sz="2400" dirty="0"/>
              <a:t>CO-STAR Prompt </a:t>
            </a:r>
            <a:r>
              <a:rPr lang="zh-CN" altLang="en-US" sz="2400" dirty="0"/>
              <a:t>示例：</a:t>
            </a:r>
            <a:r>
              <a:rPr lang="en-US" altLang="zh-CN" sz="2400" dirty="0"/>
              <a:t>  </a:t>
            </a:r>
          </a:p>
          <a:p>
            <a:pPr marL="0" indent="0">
              <a:buNone/>
            </a:pPr>
            <a:r>
              <a:rPr lang="en-US" altLang="zh-CN" sz="2400" dirty="0"/>
              <a:t>Context</a:t>
            </a:r>
            <a:r>
              <a:rPr lang="zh-CN" altLang="en-US" sz="2400" dirty="0"/>
              <a:t>：用于行内早会</a:t>
            </a:r>
            <a:r>
              <a:rPr lang="en-US" altLang="zh-CN" sz="2400" dirty="0"/>
              <a:t>    </a:t>
            </a:r>
          </a:p>
          <a:p>
            <a:pPr marL="0" indent="0">
              <a:buNone/>
            </a:pPr>
            <a:r>
              <a:rPr lang="en-US" altLang="zh-CN" sz="2400" dirty="0"/>
              <a:t>Objective</a:t>
            </a:r>
            <a:r>
              <a:rPr lang="zh-CN" altLang="en-US" sz="2400" dirty="0"/>
              <a:t>：总结行业景气度与风险点</a:t>
            </a:r>
            <a:r>
              <a:rPr lang="en-US" altLang="zh-CN" sz="2400" dirty="0"/>
              <a:t>    </a:t>
            </a:r>
          </a:p>
          <a:p>
            <a:pPr marL="0" indent="0">
              <a:buNone/>
            </a:pPr>
            <a:r>
              <a:rPr lang="en-US" altLang="zh-CN" sz="2400" dirty="0"/>
              <a:t>Style</a:t>
            </a:r>
            <a:r>
              <a:rPr lang="zh-CN" altLang="en-US" sz="2400" dirty="0"/>
              <a:t>：研究院风格、简洁严谨</a:t>
            </a:r>
            <a:r>
              <a:rPr lang="en-US" altLang="zh-CN" sz="2400" dirty="0"/>
              <a:t>  </a:t>
            </a:r>
          </a:p>
          <a:p>
            <a:pPr marL="0" indent="0">
              <a:buNone/>
            </a:pPr>
            <a:r>
              <a:rPr lang="en-US" altLang="zh-CN" sz="2400" dirty="0"/>
              <a:t>Tone</a:t>
            </a:r>
            <a:r>
              <a:rPr lang="zh-CN" altLang="en-US" sz="2400" dirty="0"/>
              <a:t>：正式</a:t>
            </a:r>
            <a:r>
              <a:rPr lang="en-US" altLang="zh-CN" sz="2400" dirty="0"/>
              <a:t>   </a:t>
            </a:r>
          </a:p>
          <a:p>
            <a:pPr marL="0" indent="0">
              <a:buNone/>
            </a:pPr>
            <a:r>
              <a:rPr lang="en-US" altLang="zh-CN" sz="2400" dirty="0"/>
              <a:t>Audience</a:t>
            </a:r>
            <a:r>
              <a:rPr lang="zh-CN" altLang="en-US" sz="2400" dirty="0"/>
              <a:t>：分行行业分析师</a:t>
            </a:r>
            <a:r>
              <a:rPr lang="en-US" altLang="zh-CN" sz="2400" dirty="0"/>
              <a:t>  </a:t>
            </a:r>
          </a:p>
          <a:p>
            <a:pPr marL="0" indent="0">
              <a:buNone/>
            </a:pPr>
            <a:r>
              <a:rPr lang="en-US" altLang="zh-CN" sz="2400" dirty="0"/>
              <a:t> Response Format</a:t>
            </a:r>
            <a:r>
              <a:rPr lang="zh-CN" altLang="en-US" sz="2400" dirty="0"/>
              <a:t>：分点输出，含政策要点效果：</a:t>
            </a:r>
          </a:p>
          <a:p>
            <a:pPr marL="0" indent="0">
              <a:buNone/>
            </a:pPr>
            <a:r>
              <a:rPr lang="zh-CN" altLang="en-US" sz="2400" dirty="0"/>
              <a:t>输出报告风格接近券商研报。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41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RICCE </a:t>
            </a:r>
            <a:r>
              <a:rPr lang="zh-CN" altLang="en-US"/>
              <a:t>框架</a:t>
            </a:r>
            <a:r>
              <a:rPr lang="en-US" altLang="zh-CN"/>
              <a:t> 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任务：写一个基础设施项目可研报告摘要</a:t>
            </a:r>
            <a:r>
              <a:rPr lang="en-US" altLang="zh-CN" dirty="0"/>
              <a:t> RICCE Prompt </a:t>
            </a:r>
            <a:r>
              <a:rPr lang="zh-CN" altLang="en-US" dirty="0"/>
              <a:t>示例：</a:t>
            </a:r>
            <a:r>
              <a:rPr lang="en-US" altLang="zh-CN" dirty="0"/>
              <a:t>  </a:t>
            </a:r>
          </a:p>
          <a:p>
            <a:pPr marL="0" indent="0">
              <a:buNone/>
            </a:pPr>
            <a:r>
              <a:rPr lang="en-US" altLang="zh-CN" dirty="0"/>
              <a:t>Role</a:t>
            </a:r>
            <a:r>
              <a:rPr lang="zh-CN" altLang="en-US" dirty="0"/>
              <a:t>：项目可研专家（投资银行背景）</a:t>
            </a:r>
            <a:r>
              <a:rPr lang="en-US" altLang="zh-CN" dirty="0"/>
              <a:t>  </a:t>
            </a:r>
          </a:p>
          <a:p>
            <a:pPr marL="0" indent="0">
              <a:buNone/>
            </a:pPr>
            <a:r>
              <a:rPr lang="en-US" altLang="zh-CN" dirty="0"/>
              <a:t>Input</a:t>
            </a:r>
            <a:r>
              <a:rPr lang="zh-CN" altLang="en-US" dirty="0"/>
              <a:t>：项目名称、总投资、资金结构、收益模式</a:t>
            </a:r>
            <a:r>
              <a:rPr lang="en-US" altLang="zh-CN" dirty="0"/>
              <a:t>   </a:t>
            </a:r>
          </a:p>
          <a:p>
            <a:pPr marL="0" indent="0">
              <a:buNone/>
            </a:pPr>
            <a:r>
              <a:rPr lang="en-US" altLang="zh-CN" dirty="0"/>
              <a:t>Constraints</a:t>
            </a:r>
            <a:r>
              <a:rPr lang="zh-CN" altLang="en-US" dirty="0"/>
              <a:t>：不得虚构数据；引用国家政策；字数</a:t>
            </a:r>
            <a:r>
              <a:rPr lang="en-US" altLang="zh-CN" dirty="0"/>
              <a:t> 1500 </a:t>
            </a:r>
            <a:r>
              <a:rPr lang="zh-CN" altLang="en-US" dirty="0"/>
              <a:t>左右</a:t>
            </a:r>
            <a:r>
              <a:rPr lang="en-US" altLang="zh-CN" dirty="0"/>
              <a:t>   </a:t>
            </a:r>
          </a:p>
          <a:p>
            <a:pPr marL="0" indent="0">
              <a:buNone/>
            </a:pPr>
            <a:r>
              <a:rPr lang="en-US" altLang="zh-CN" dirty="0"/>
              <a:t>Command</a:t>
            </a:r>
            <a:r>
              <a:rPr lang="zh-CN" altLang="en-US" dirty="0"/>
              <a:t>：撰写可研摘要</a:t>
            </a:r>
            <a:r>
              <a:rPr lang="en-US" altLang="zh-CN" dirty="0"/>
              <a:t>   </a:t>
            </a:r>
          </a:p>
          <a:p>
            <a:pPr marL="0" indent="0">
              <a:buNone/>
            </a:pPr>
            <a:r>
              <a:rPr lang="en-US" altLang="zh-CN" dirty="0"/>
              <a:t>Examples</a:t>
            </a:r>
            <a:r>
              <a:rPr lang="zh-CN" altLang="en-US" dirty="0"/>
              <a:t>：格式参考发改委可研模板效果：</a:t>
            </a:r>
          </a:p>
          <a:p>
            <a:pPr marL="0" indent="0">
              <a:buNone/>
            </a:pPr>
            <a:r>
              <a:rPr lang="zh-CN" altLang="en-US" dirty="0"/>
              <a:t>输出的内容更</a:t>
            </a:r>
            <a:r>
              <a:rPr lang="en-US" altLang="zh-CN" dirty="0"/>
              <a:t>“</a:t>
            </a:r>
            <a:r>
              <a:rPr lang="zh-CN" altLang="en-US" dirty="0"/>
              <a:t>可落地</a:t>
            </a:r>
            <a:r>
              <a:rPr lang="en-US" altLang="zh-CN" dirty="0"/>
              <a:t>”</a:t>
            </a:r>
            <a:r>
              <a:rPr lang="zh-CN" altLang="en-US" dirty="0"/>
              <a:t>，不再泛泛而谈。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42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CRAFT / APG 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6440" y="1327150"/>
            <a:ext cx="7886700" cy="4351338"/>
          </a:xfrm>
        </p:spPr>
        <p:txBody>
          <a:bodyPr/>
          <a:lstStyle/>
          <a:p>
            <a:r>
              <a:rPr lang="zh-CN" altLang="en-US" sz="2400"/>
              <a:t>例：你写了</a:t>
            </a:r>
            <a:r>
              <a:rPr lang="en-US" altLang="zh-CN" sz="2400"/>
              <a:t>“</a:t>
            </a:r>
            <a:r>
              <a:rPr lang="zh-CN" altLang="en-US" sz="2400"/>
              <a:t>帮我分析某企业财务</a:t>
            </a:r>
            <a:r>
              <a:rPr lang="en-US" altLang="zh-CN" sz="2400"/>
              <a:t>”</a:t>
            </a:r>
            <a:r>
              <a:rPr lang="zh-CN" altLang="en-US" sz="2400"/>
              <a:t>。</a:t>
            </a:r>
          </a:p>
          <a:p>
            <a:r>
              <a:rPr lang="en-US" altLang="en-US" sz="2400"/>
              <a:t>→</a:t>
            </a:r>
            <a:r>
              <a:rPr lang="en-US" altLang="zh-CN" sz="2400"/>
              <a:t> AI </a:t>
            </a:r>
            <a:r>
              <a:rPr lang="zh-CN" altLang="en-US" sz="2400"/>
              <a:t>回答很泛。</a:t>
            </a:r>
            <a:r>
              <a:rPr lang="en-US" altLang="zh-CN" sz="2400"/>
              <a:t> </a:t>
            </a:r>
          </a:p>
          <a:p>
            <a:r>
              <a:rPr lang="zh-CN" altLang="en-US" sz="2400"/>
              <a:t>使用</a:t>
            </a:r>
            <a:r>
              <a:rPr lang="en-US" altLang="zh-CN" sz="2400"/>
              <a:t> CRAFT </a:t>
            </a:r>
            <a:r>
              <a:rPr lang="zh-CN" altLang="en-US" sz="2400"/>
              <a:t>重写后：</a:t>
            </a:r>
            <a:r>
              <a:rPr lang="en-US" altLang="zh-CN" sz="2400"/>
              <a:t>  </a:t>
            </a:r>
          </a:p>
          <a:p>
            <a:pPr marL="0" indent="0">
              <a:buNone/>
            </a:pPr>
            <a:r>
              <a:rPr lang="en-US" altLang="zh-CN" sz="2400"/>
              <a:t>Clarify</a:t>
            </a:r>
            <a:r>
              <a:rPr lang="zh-CN" altLang="en-US" sz="2400"/>
              <a:t>：明确企业行业、规模</a:t>
            </a:r>
            <a:r>
              <a:rPr lang="en-US" altLang="zh-CN" sz="2400"/>
              <a:t>   </a:t>
            </a:r>
          </a:p>
          <a:p>
            <a:pPr marL="0" indent="0">
              <a:buNone/>
            </a:pPr>
            <a:r>
              <a:rPr lang="en-US" altLang="zh-CN" sz="2400"/>
              <a:t>Rewrite</a:t>
            </a:r>
            <a:r>
              <a:rPr lang="zh-CN" altLang="en-US" sz="2400"/>
              <a:t>：重写为结构化需求</a:t>
            </a:r>
            <a:r>
              <a:rPr lang="en-US" altLang="zh-CN" sz="2400"/>
              <a:t>   </a:t>
            </a:r>
          </a:p>
          <a:p>
            <a:pPr marL="0" indent="0">
              <a:buNone/>
            </a:pPr>
            <a:r>
              <a:rPr lang="en-US" altLang="zh-CN" sz="2400"/>
              <a:t>Add Constraints</a:t>
            </a:r>
            <a:r>
              <a:rPr lang="zh-CN" altLang="en-US" sz="2400"/>
              <a:t>：加上</a:t>
            </a:r>
            <a:r>
              <a:rPr lang="en-US" altLang="zh-CN" sz="2400"/>
              <a:t>“</a:t>
            </a:r>
            <a:r>
              <a:rPr lang="zh-CN" altLang="en-US" sz="2400"/>
              <a:t>不虚构数字</a:t>
            </a:r>
            <a:r>
              <a:rPr lang="en-US" altLang="zh-CN" sz="2400"/>
              <a:t>”    </a:t>
            </a:r>
          </a:p>
          <a:p>
            <a:pPr marL="0" indent="0">
              <a:buNone/>
            </a:pPr>
            <a:r>
              <a:rPr lang="en-US" altLang="zh-CN" sz="2400"/>
              <a:t>Format</a:t>
            </a:r>
            <a:r>
              <a:rPr lang="zh-CN" altLang="en-US" sz="2400"/>
              <a:t>：要求表格</a:t>
            </a:r>
            <a:r>
              <a:rPr lang="en-US" altLang="zh-CN" sz="2400"/>
              <a:t>   </a:t>
            </a:r>
          </a:p>
          <a:p>
            <a:pPr marL="0" indent="0">
              <a:buNone/>
            </a:pPr>
            <a:r>
              <a:rPr lang="en-US" altLang="zh-CN" sz="2400"/>
              <a:t>Test</a:t>
            </a:r>
            <a:r>
              <a:rPr lang="zh-CN" altLang="en-US" sz="2400"/>
              <a:t>：检查是否缺项</a:t>
            </a:r>
            <a:r>
              <a:rPr lang="en-US" altLang="zh-CN" sz="2400"/>
              <a:t>   </a:t>
            </a:r>
          </a:p>
          <a:p>
            <a:r>
              <a:rPr lang="en-US" altLang="zh-CN" sz="2400"/>
              <a:t>APG </a:t>
            </a:r>
            <a:r>
              <a:rPr lang="zh-CN" altLang="en-US" sz="2400"/>
              <a:t>框架适合快速任务</a:t>
            </a:r>
            <a:r>
              <a:rPr lang="en-US" altLang="zh-CN" sz="2400"/>
              <a:t>    </a:t>
            </a:r>
          </a:p>
          <a:p>
            <a:pPr marL="0" indent="0">
              <a:buNone/>
            </a:pPr>
            <a:r>
              <a:rPr lang="en-US" altLang="zh-CN" sz="2400"/>
              <a:t>Action</a:t>
            </a:r>
            <a:r>
              <a:rPr lang="zh-CN" altLang="en-US" sz="2400"/>
              <a:t>：分析其偿债能力</a:t>
            </a:r>
            <a:r>
              <a:rPr lang="en-US" altLang="zh-CN" sz="2400"/>
              <a:t>   </a:t>
            </a:r>
          </a:p>
          <a:p>
            <a:pPr marL="0" indent="0">
              <a:buNone/>
            </a:pPr>
            <a:r>
              <a:rPr lang="en-US" altLang="zh-CN" sz="2400"/>
              <a:t>Purpose</a:t>
            </a:r>
            <a:r>
              <a:rPr lang="zh-CN" altLang="en-US" sz="2400"/>
              <a:t>：辅助授信决策</a:t>
            </a:r>
            <a:r>
              <a:rPr lang="en-US" altLang="zh-CN" sz="2400"/>
              <a:t>  </a:t>
            </a:r>
          </a:p>
          <a:p>
            <a:pPr marL="0" indent="0">
              <a:buNone/>
            </a:pPr>
            <a:r>
              <a:rPr lang="en-US" altLang="zh-CN" sz="2400"/>
              <a:t>Guidance</a:t>
            </a:r>
            <a:r>
              <a:rPr lang="zh-CN" altLang="en-US" sz="2400"/>
              <a:t>：使用偿债指标、现金流、行业风险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43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学习与工作效率提升的</a:t>
            </a:r>
            <a:r>
              <a:rPr lang="en-US" altLang="zh-CN"/>
              <a:t> 10 </a:t>
            </a:r>
            <a:r>
              <a:rPr lang="zh-CN" altLang="en-US"/>
              <a:t>大经典指令思路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/>
              <a:t>1 </a:t>
            </a:r>
            <a:r>
              <a:rPr lang="zh-CN" altLang="en-US" sz="1800"/>
              <a:t>费曼学习法：用简单语言讲清复杂概念</a:t>
            </a:r>
          </a:p>
          <a:p>
            <a:r>
              <a:rPr lang="en-US" altLang="zh-CN" sz="1800"/>
              <a:t>2 </a:t>
            </a:r>
            <a:r>
              <a:rPr lang="zh-CN" altLang="en-US" sz="1800"/>
              <a:t>帕累托原则（</a:t>
            </a:r>
            <a:r>
              <a:rPr lang="en-US" altLang="zh-CN" sz="1800"/>
              <a:t>80/20</a:t>
            </a:r>
            <a:r>
              <a:rPr lang="zh-CN" altLang="en-US" sz="1800"/>
              <a:t>）：抓住最重要</a:t>
            </a:r>
            <a:r>
              <a:rPr lang="en-US" altLang="zh-CN" sz="1800"/>
              <a:t> 20% </a:t>
            </a:r>
            <a:r>
              <a:rPr lang="zh-CN" altLang="en-US" sz="1800"/>
              <a:t>内容</a:t>
            </a:r>
          </a:p>
          <a:p>
            <a:r>
              <a:rPr lang="en-US" altLang="zh-CN" sz="1800"/>
              <a:t>3 </a:t>
            </a:r>
            <a:r>
              <a:rPr lang="zh-CN" altLang="en-US" sz="1800"/>
              <a:t>番茄工作法：学习任务切分与时间管理</a:t>
            </a:r>
          </a:p>
          <a:p>
            <a:r>
              <a:rPr lang="en-US" altLang="zh-CN" sz="1800"/>
              <a:t>4 SQ3R </a:t>
            </a:r>
            <a:r>
              <a:rPr lang="zh-CN" altLang="en-US" sz="1800"/>
              <a:t>阅读法：预览、提问、阅读、复述、回顾</a:t>
            </a:r>
          </a:p>
          <a:p>
            <a:r>
              <a:rPr lang="en-US" altLang="zh-CN" sz="1800"/>
              <a:t>5 </a:t>
            </a:r>
            <a:r>
              <a:rPr lang="zh-CN" altLang="en-US" sz="1800"/>
              <a:t>艾宾浩斯遗忘曲线：安排复习计划</a:t>
            </a:r>
          </a:p>
          <a:p>
            <a:r>
              <a:rPr lang="en-US" altLang="zh-CN" sz="1800"/>
              <a:t>6 </a:t>
            </a:r>
            <a:r>
              <a:rPr lang="zh-CN" altLang="en-US" sz="1800"/>
              <a:t>主题交叉法：交叉学习不同主题，加深理解</a:t>
            </a:r>
          </a:p>
          <a:p>
            <a:r>
              <a:rPr lang="en-US" altLang="zh-CN" sz="1800"/>
              <a:t>7 </a:t>
            </a:r>
            <a:r>
              <a:rPr lang="zh-CN" altLang="en-US" sz="1800"/>
              <a:t>双编码理论：文字</a:t>
            </a:r>
            <a:r>
              <a:rPr lang="en-US" altLang="zh-CN" sz="1800"/>
              <a:t> + </a:t>
            </a:r>
            <a:r>
              <a:rPr lang="zh-CN" altLang="en-US" sz="1800"/>
              <a:t>图像共同记忆</a:t>
            </a:r>
          </a:p>
          <a:p>
            <a:r>
              <a:rPr lang="en-US" altLang="zh-CN" sz="1800"/>
              <a:t>8 GROW </a:t>
            </a:r>
            <a:r>
              <a:rPr lang="zh-CN" altLang="en-US" sz="1800"/>
              <a:t>模型：目标、现状、方案、意愿</a:t>
            </a:r>
          </a:p>
          <a:p>
            <a:r>
              <a:rPr lang="en-US" altLang="zh-CN" sz="1800"/>
              <a:t>9 </a:t>
            </a:r>
            <a:r>
              <a:rPr lang="zh-CN" altLang="en-US" sz="1800"/>
              <a:t>分块学习法：将复杂内容拆成小块</a:t>
            </a:r>
          </a:p>
          <a:p>
            <a:r>
              <a:rPr lang="en-US" altLang="zh-CN" sz="1800"/>
              <a:t>10 </a:t>
            </a:r>
            <a:r>
              <a:rPr lang="zh-CN" altLang="en-US" sz="1800"/>
              <a:t>多感官学习法：结合听、说、读、写多种方式</a:t>
            </a:r>
          </a:p>
          <a:p>
            <a:endParaRPr lang="en-US" altLang="zh-CN" sz="1800"/>
          </a:p>
          <a:p>
            <a:r>
              <a:rPr lang="zh-CN" altLang="en-US" sz="1800"/>
              <a:t>这些方法都可以用</a:t>
            </a:r>
            <a:r>
              <a:rPr lang="en-US" altLang="zh-CN" sz="1800"/>
              <a:t> Prompt </a:t>
            </a:r>
            <a:r>
              <a:rPr lang="zh-CN" altLang="en-US" sz="1800"/>
              <a:t>变成</a:t>
            </a:r>
            <a:r>
              <a:rPr lang="en-US" altLang="zh-CN" sz="1800"/>
              <a:t>“</a:t>
            </a:r>
            <a:r>
              <a:rPr lang="zh-CN" altLang="en-US" sz="1800"/>
              <a:t>个人学习教练</a:t>
            </a:r>
            <a:r>
              <a:rPr lang="en-US" altLang="zh-CN" sz="1800"/>
              <a:t>”</a:t>
            </a:r>
            <a:r>
              <a:rPr lang="zh-CN" altLang="en-US" sz="180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44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Zero-shot </a:t>
            </a:r>
            <a:r>
              <a:rPr lang="zh-CN" altLang="en-US"/>
              <a:t>与</a:t>
            </a:r>
            <a:r>
              <a:rPr lang="en-US" altLang="zh-CN"/>
              <a:t> Few-shot </a:t>
            </a:r>
            <a:r>
              <a:rPr lang="zh-CN" altLang="en-US"/>
              <a:t>提示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451610"/>
            <a:ext cx="7886700" cy="4351338"/>
          </a:xfrm>
        </p:spPr>
        <p:txBody>
          <a:bodyPr/>
          <a:lstStyle/>
          <a:p>
            <a:r>
              <a:rPr lang="en-US" altLang="zh-CN" sz="2000"/>
              <a:t>Zero-shot</a:t>
            </a:r>
            <a:r>
              <a:rPr lang="zh-CN" altLang="en-US" sz="2000"/>
              <a:t>（零样本）：</a:t>
            </a:r>
          </a:p>
          <a:p>
            <a:r>
              <a:rPr lang="zh-CN" altLang="en-US" sz="2000"/>
              <a:t>不提供示例，直接给任务说明。</a:t>
            </a:r>
          </a:p>
          <a:p>
            <a:r>
              <a:rPr lang="zh-CN" altLang="en-US" sz="2000"/>
              <a:t>例：请判断以下客户评价的情感倾向（正向、负向或中性），只输出类别，不要解释。</a:t>
            </a:r>
          </a:p>
          <a:p>
            <a:endParaRPr lang="en-US" altLang="zh-CN" sz="2000"/>
          </a:p>
          <a:p>
            <a:r>
              <a:rPr lang="en-US" altLang="zh-CN" sz="2000"/>
              <a:t>Few-shot</a:t>
            </a:r>
            <a:r>
              <a:rPr lang="zh-CN" altLang="en-US" sz="2000"/>
              <a:t>（少样本）：</a:t>
            </a:r>
          </a:p>
          <a:p>
            <a:r>
              <a:rPr lang="zh-CN" altLang="en-US" sz="2000"/>
              <a:t>先给</a:t>
            </a:r>
            <a:r>
              <a:rPr lang="en-US" altLang="zh-CN" sz="2000"/>
              <a:t> 1 </a:t>
            </a:r>
            <a:r>
              <a:rPr lang="zh-CN" altLang="en-US" sz="2000"/>
              <a:t>至</a:t>
            </a:r>
            <a:r>
              <a:rPr lang="en-US" altLang="zh-CN" sz="2000"/>
              <a:t> 3 </a:t>
            </a:r>
            <a:r>
              <a:rPr lang="zh-CN" altLang="en-US" sz="2000"/>
              <a:t>个示例，再提供新输入。</a:t>
            </a:r>
          </a:p>
          <a:p>
            <a:r>
              <a:rPr lang="zh-CN" altLang="en-US" sz="2000"/>
              <a:t>例：</a:t>
            </a:r>
          </a:p>
          <a:p>
            <a:r>
              <a:rPr lang="zh-CN" altLang="en-US" sz="2000"/>
              <a:t>示例：这本理财书讲得很清晰。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正向</a:t>
            </a:r>
          </a:p>
          <a:p>
            <a:r>
              <a:rPr lang="zh-CN" altLang="en-US" sz="2000"/>
              <a:t>示例：这款产品设计太差了。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负向</a:t>
            </a:r>
          </a:p>
          <a:p>
            <a:r>
              <a:rPr lang="zh-CN" altLang="en-US" sz="2000"/>
              <a:t>请判断以下文本的情感：</a:t>
            </a:r>
            <a:r>
              <a:rPr lang="en-US" altLang="zh-CN" sz="2000"/>
              <a:t>……</a:t>
            </a:r>
          </a:p>
          <a:p>
            <a:endParaRPr lang="en-US" altLang="zh-CN" sz="2000"/>
          </a:p>
          <a:p>
            <a:r>
              <a:rPr lang="zh-CN" altLang="en-US" sz="2000"/>
              <a:t>对金融人来说，处理客服评价、舆情、公告等时，</a:t>
            </a:r>
            <a:r>
              <a:rPr lang="en-US" altLang="zh-CN" sz="2000"/>
              <a:t>Few-shot </a:t>
            </a:r>
            <a:r>
              <a:rPr lang="zh-CN" altLang="en-US" sz="2000"/>
              <a:t>能大幅提升稳定性。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思维链</a:t>
            </a:r>
            <a:r>
              <a:rPr lang="en-US" altLang="zh-CN"/>
              <a:t> CoT</a:t>
            </a:r>
            <a:r>
              <a:rPr lang="zh-CN" altLang="en-US"/>
              <a:t>、自洽性</a:t>
            </a:r>
            <a:r>
              <a:rPr lang="en-US" altLang="zh-CN"/>
              <a:t> Self-Consistency</a:t>
            </a:r>
            <a:r>
              <a:rPr lang="zh-CN" altLang="en-US"/>
              <a:t>、思维树</a:t>
            </a:r>
            <a:r>
              <a:rPr lang="en-US" altLang="zh-CN"/>
              <a:t> ToT </a:t>
            </a:r>
            <a:r>
              <a:rPr lang="zh-CN" altLang="en-US"/>
              <a:t>概览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/>
              <a:t>CoT</a:t>
            </a:r>
            <a:r>
              <a:rPr lang="zh-CN" altLang="en-US" sz="2000"/>
              <a:t>（</a:t>
            </a:r>
            <a:r>
              <a:rPr lang="en-US" altLang="zh-CN" sz="2000"/>
              <a:t>Chain-of-Thought</a:t>
            </a:r>
            <a:r>
              <a:rPr lang="zh-CN" altLang="en-US" sz="2000"/>
              <a:t>）：</a:t>
            </a:r>
          </a:p>
          <a:p>
            <a:r>
              <a:rPr lang="zh-CN" altLang="en-US" sz="2000"/>
              <a:t>要求模型按步骤展示推理过程，适用于估值、信用判断、项目可研。</a:t>
            </a:r>
          </a:p>
          <a:p>
            <a:endParaRPr lang="en-US" altLang="zh-CN" sz="2000"/>
          </a:p>
          <a:p>
            <a:r>
              <a:rPr lang="en-US" altLang="zh-CN" sz="2000"/>
              <a:t>Self-Consistency</a:t>
            </a:r>
            <a:r>
              <a:rPr lang="zh-CN" altLang="en-US" sz="2000"/>
              <a:t>：</a:t>
            </a:r>
          </a:p>
          <a:p>
            <a:r>
              <a:rPr lang="zh-CN" altLang="en-US" sz="2000"/>
              <a:t>让模型生成多条不同推理链，再从中选多数答案，减少偶然错误。</a:t>
            </a:r>
          </a:p>
          <a:p>
            <a:endParaRPr lang="en-US" altLang="zh-CN" sz="2000"/>
          </a:p>
          <a:p>
            <a:r>
              <a:rPr lang="en-US" altLang="zh-CN" sz="2000"/>
              <a:t>ToT</a:t>
            </a:r>
            <a:r>
              <a:rPr lang="zh-CN" altLang="en-US" sz="2000"/>
              <a:t>（</a:t>
            </a:r>
            <a:r>
              <a:rPr lang="en-US" altLang="zh-CN" sz="2000"/>
              <a:t>Tree-of-Thought</a:t>
            </a:r>
            <a:r>
              <a:rPr lang="zh-CN" altLang="en-US" sz="2000"/>
              <a:t>）：</a:t>
            </a:r>
          </a:p>
          <a:p>
            <a:r>
              <a:rPr lang="zh-CN" altLang="en-US" sz="2000"/>
              <a:t>让模型生成多条不同思路分支，探索多种方案，适用于复杂决策，如项目投资、重组方案等。</a:t>
            </a:r>
          </a:p>
          <a:p>
            <a:endParaRPr lang="en-US" altLang="zh-CN" sz="2000"/>
          </a:p>
          <a:p>
            <a:r>
              <a:rPr lang="zh-CN" altLang="en-US" sz="2000"/>
              <a:t>在金融场景中的核心价值：提高推理透明度和决策稳健性。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46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1305" y="365125"/>
            <a:ext cx="8764270" cy="1325880"/>
          </a:xfrm>
        </p:spPr>
        <p:txBody>
          <a:bodyPr/>
          <a:lstStyle/>
          <a:p>
            <a:r>
              <a:rPr lang="zh-CN" altLang="en-US"/>
              <a:t>参数调优（</a:t>
            </a:r>
            <a:r>
              <a:rPr lang="en-US" altLang="zh-CN"/>
              <a:t>max_tokens</a:t>
            </a:r>
            <a:r>
              <a:rPr lang="zh-CN" altLang="en-US"/>
              <a:t>、</a:t>
            </a:r>
            <a:r>
              <a:rPr lang="en-US" altLang="zh-CN"/>
              <a:t>temperature</a:t>
            </a:r>
            <a:r>
              <a:rPr lang="zh-CN" altLang="en-US"/>
              <a:t>、</a:t>
            </a:r>
            <a:r>
              <a:rPr lang="en-US" altLang="zh-CN"/>
              <a:t>top_p</a:t>
            </a:r>
            <a:r>
              <a:rPr lang="zh-CN" altLang="en-US"/>
              <a:t>、</a:t>
            </a:r>
            <a:r>
              <a:rPr lang="en-US" altLang="zh-CN"/>
              <a:t>penalties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691005"/>
            <a:ext cx="7886700" cy="4351338"/>
          </a:xfrm>
        </p:spPr>
        <p:txBody>
          <a:bodyPr/>
          <a:lstStyle/>
          <a:p>
            <a:r>
              <a:rPr lang="zh-CN" altLang="en-US" sz="2300" dirty="0"/>
              <a:t>常用参数含义：</a:t>
            </a:r>
          </a:p>
          <a:p>
            <a:r>
              <a:rPr lang="en-US" altLang="zh-CN" sz="2300" dirty="0"/>
              <a:t>1 </a:t>
            </a:r>
            <a:r>
              <a:rPr lang="en-US" altLang="zh-CN" sz="2300" dirty="0" err="1"/>
              <a:t>max_tokens</a:t>
            </a:r>
            <a:r>
              <a:rPr lang="zh-CN" altLang="en-US" sz="2300" dirty="0"/>
              <a:t>：最大输出长度（控制</a:t>
            </a:r>
            <a:r>
              <a:rPr lang="en-US" altLang="zh-CN" sz="2300" dirty="0"/>
              <a:t>“</a:t>
            </a:r>
            <a:r>
              <a:rPr lang="zh-CN" altLang="en-US" sz="2300" dirty="0"/>
              <a:t>说多长</a:t>
            </a:r>
            <a:r>
              <a:rPr lang="en-US" altLang="zh-CN" sz="2300" dirty="0"/>
              <a:t>”</a:t>
            </a:r>
            <a:r>
              <a:rPr lang="zh-CN" altLang="en-US" sz="2300" dirty="0"/>
              <a:t>）</a:t>
            </a:r>
          </a:p>
          <a:p>
            <a:r>
              <a:rPr lang="en-US" altLang="zh-CN" sz="2300" dirty="0"/>
              <a:t>2 temperature</a:t>
            </a:r>
            <a:r>
              <a:rPr lang="zh-CN" altLang="en-US" sz="2300" dirty="0"/>
              <a:t>：温度，控制随机性，越高越有创意，越低越稳定</a:t>
            </a:r>
          </a:p>
          <a:p>
            <a:r>
              <a:rPr lang="en-US" altLang="zh-CN" sz="2300" dirty="0"/>
              <a:t>3 </a:t>
            </a:r>
            <a:r>
              <a:rPr lang="en-US" altLang="zh-CN" sz="2300" dirty="0" err="1"/>
              <a:t>top_p</a:t>
            </a:r>
            <a:r>
              <a:rPr lang="zh-CN" altLang="en-US" sz="2300" dirty="0"/>
              <a:t>：核采样，一般与</a:t>
            </a:r>
            <a:r>
              <a:rPr lang="en-US" altLang="zh-CN" sz="2300" dirty="0"/>
              <a:t> temperature </a:t>
            </a:r>
            <a:r>
              <a:rPr lang="zh-CN" altLang="en-US" sz="2300" dirty="0"/>
              <a:t>配合使用</a:t>
            </a:r>
          </a:p>
          <a:p>
            <a:r>
              <a:rPr lang="en-US" altLang="zh-CN" sz="2300" dirty="0"/>
              <a:t>4 </a:t>
            </a:r>
            <a:r>
              <a:rPr lang="en-US" altLang="zh-CN" sz="2300" dirty="0" err="1"/>
              <a:t>frequency_penalty</a:t>
            </a:r>
            <a:r>
              <a:rPr lang="zh-CN" altLang="en-US" sz="2300" dirty="0"/>
              <a:t>：降低重复用词</a:t>
            </a:r>
          </a:p>
          <a:p>
            <a:r>
              <a:rPr lang="en-US" altLang="zh-CN" sz="2300" dirty="0"/>
              <a:t>5 </a:t>
            </a:r>
            <a:r>
              <a:rPr lang="en-US" altLang="zh-CN" sz="2300" dirty="0" err="1"/>
              <a:t>presence_penalty</a:t>
            </a:r>
            <a:r>
              <a:rPr lang="zh-CN" altLang="en-US" sz="2300" dirty="0"/>
              <a:t>：抑制或鼓励引入新话题</a:t>
            </a:r>
          </a:p>
          <a:p>
            <a:endParaRPr lang="en-US" altLang="zh-CN" sz="2300" dirty="0"/>
          </a:p>
          <a:p>
            <a:r>
              <a:rPr lang="zh-CN" altLang="en-US" sz="2300" dirty="0"/>
              <a:t>金融场景推荐：</a:t>
            </a:r>
          </a:p>
          <a:p>
            <a:r>
              <a:rPr lang="zh-CN" altLang="en-US" sz="2300" dirty="0"/>
              <a:t>代码、估值、财报分析：</a:t>
            </a:r>
            <a:r>
              <a:rPr lang="en-US" altLang="zh-CN" sz="2300" dirty="0"/>
              <a:t>temperature </a:t>
            </a:r>
            <a:r>
              <a:rPr lang="zh-CN" altLang="en-US" sz="2300" dirty="0"/>
              <a:t>建议</a:t>
            </a:r>
            <a:r>
              <a:rPr lang="en-US" altLang="zh-CN" sz="2300" dirty="0"/>
              <a:t> 0.1 </a:t>
            </a:r>
            <a:r>
              <a:rPr lang="zh-CN" altLang="en-US" sz="2300" dirty="0"/>
              <a:t>至</a:t>
            </a:r>
            <a:r>
              <a:rPr lang="en-US" altLang="zh-CN" sz="2300" dirty="0"/>
              <a:t> 0.3</a:t>
            </a:r>
          </a:p>
          <a:p>
            <a:r>
              <a:rPr lang="zh-CN" altLang="en-US" sz="2300" dirty="0"/>
              <a:t>行业研究、文字润色：</a:t>
            </a:r>
            <a:r>
              <a:rPr lang="en-US" altLang="zh-CN" sz="2300" dirty="0"/>
              <a:t>temperature </a:t>
            </a:r>
            <a:r>
              <a:rPr lang="zh-CN" altLang="en-US" sz="2300" dirty="0"/>
              <a:t>可</a:t>
            </a:r>
            <a:r>
              <a:rPr lang="en-US" altLang="zh-CN" sz="2300" dirty="0"/>
              <a:t> 0.5 </a:t>
            </a:r>
            <a:r>
              <a:rPr lang="zh-CN" altLang="en-US" sz="2300" dirty="0"/>
              <a:t>左右</a:t>
            </a:r>
          </a:p>
          <a:p>
            <a:r>
              <a:rPr lang="zh-CN" altLang="en-US" sz="2300" dirty="0"/>
              <a:t>策略观点、创意方案：</a:t>
            </a:r>
            <a:r>
              <a:rPr lang="en-US" altLang="zh-CN" sz="2300" dirty="0"/>
              <a:t>temperature </a:t>
            </a:r>
            <a:r>
              <a:rPr lang="zh-CN" altLang="en-US" sz="2300" dirty="0"/>
              <a:t>可</a:t>
            </a:r>
            <a:r>
              <a:rPr lang="en-US" altLang="zh-CN" sz="2300" dirty="0"/>
              <a:t> 0.7 </a:t>
            </a:r>
            <a:r>
              <a:rPr lang="zh-CN" altLang="en-US" sz="2300" dirty="0"/>
              <a:t>左右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47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通过前面的内容，我们建立了这样一个认识：</a:t>
            </a:r>
          </a:p>
          <a:p>
            <a:r>
              <a:rPr lang="en-US" altLang="zh-CN"/>
              <a:t>1 Prompt </a:t>
            </a:r>
            <a:r>
              <a:rPr lang="zh-CN" altLang="en-US"/>
              <a:t>不只是问题，而是任务设计</a:t>
            </a:r>
          </a:p>
          <a:p>
            <a:r>
              <a:rPr lang="en-US" altLang="zh-CN"/>
              <a:t>2 </a:t>
            </a:r>
            <a:r>
              <a:rPr lang="zh-CN" altLang="en-US"/>
              <a:t>高质量</a:t>
            </a:r>
            <a:r>
              <a:rPr lang="en-US" altLang="zh-CN"/>
              <a:t> Prompt </a:t>
            </a:r>
            <a:r>
              <a:rPr lang="zh-CN" altLang="en-US"/>
              <a:t>需要结构、约束和示例</a:t>
            </a:r>
          </a:p>
          <a:p>
            <a:r>
              <a:rPr lang="en-US" altLang="zh-CN"/>
              <a:t>3 </a:t>
            </a:r>
            <a:r>
              <a:rPr lang="zh-CN" altLang="en-US"/>
              <a:t>工程化</a:t>
            </a:r>
            <a:r>
              <a:rPr lang="en-US" altLang="zh-CN"/>
              <a:t> Prompt </a:t>
            </a:r>
            <a:r>
              <a:rPr lang="zh-CN" altLang="en-US"/>
              <a:t>可以模板化、模块化和参数化</a:t>
            </a:r>
          </a:p>
          <a:p>
            <a:r>
              <a:rPr lang="en-US" altLang="zh-CN"/>
              <a:t>4 </a:t>
            </a:r>
            <a:r>
              <a:rPr lang="zh-CN" altLang="en-US"/>
              <a:t>对我们来说，这是把大模型变成</a:t>
            </a:r>
            <a:r>
              <a:rPr lang="en-US" altLang="zh-CN"/>
              <a:t>“</a:t>
            </a:r>
            <a:r>
              <a:rPr lang="zh-CN" altLang="en-US"/>
              <a:t>可控工具</a:t>
            </a:r>
            <a:r>
              <a:rPr lang="en-US" altLang="zh-CN"/>
              <a:t>”</a:t>
            </a:r>
            <a:r>
              <a:rPr lang="zh-CN" altLang="en-US"/>
              <a:t>的关键步骤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48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应用场景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典型金融场景：</a:t>
            </a:r>
          </a:p>
          <a:p>
            <a:r>
              <a:rPr lang="en-US" altLang="zh-CN"/>
              <a:t>1 </a:t>
            </a:r>
            <a:r>
              <a:rPr lang="zh-CN" altLang="en-US"/>
              <a:t>银行信贷：客户尽调、财务分析、风控意见书</a:t>
            </a:r>
          </a:p>
          <a:p>
            <a:r>
              <a:rPr lang="en-US" altLang="zh-CN"/>
              <a:t>2 </a:t>
            </a:r>
            <a:r>
              <a:rPr lang="zh-CN" altLang="en-US"/>
              <a:t>证券与基金：行业研究、公司研究、投资逻辑撰写</a:t>
            </a:r>
          </a:p>
          <a:p>
            <a:r>
              <a:rPr lang="en-US" altLang="zh-CN"/>
              <a:t>3 </a:t>
            </a:r>
            <a:r>
              <a:rPr lang="zh-CN" altLang="en-US"/>
              <a:t>城投与地方融资平台：城投债信用分析、区域经济分析</a:t>
            </a:r>
          </a:p>
          <a:p>
            <a:r>
              <a:rPr lang="en-US" altLang="zh-CN"/>
              <a:t>4 </a:t>
            </a:r>
            <a:r>
              <a:rPr lang="zh-CN" altLang="en-US"/>
              <a:t>企业财务：项目投资可行性分析、估值说明</a:t>
            </a:r>
          </a:p>
          <a:p>
            <a:r>
              <a:rPr lang="en-US" altLang="zh-CN"/>
              <a:t>5 </a:t>
            </a:r>
            <a:r>
              <a:rPr lang="zh-CN" altLang="en-US"/>
              <a:t>政府与监管相关：政策解读、报告撰写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49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金融场景映射到</a:t>
            </a:r>
            <a:r>
              <a:rPr lang="en-US" altLang="zh-CN"/>
              <a:t> Prompt </a:t>
            </a:r>
            <a:r>
              <a:rPr lang="zh-CN" altLang="en-US"/>
              <a:t>结构的思路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例如：银行信贷分析</a:t>
            </a:r>
          </a:p>
          <a:p>
            <a:r>
              <a:rPr lang="zh-CN" altLang="en-US"/>
              <a:t>角色：信贷审查人员</a:t>
            </a:r>
          </a:p>
          <a:p>
            <a:r>
              <a:rPr lang="zh-CN" altLang="en-US"/>
              <a:t>任务：对企业进行信用风险分析并提供授信意见</a:t>
            </a:r>
          </a:p>
          <a:p>
            <a:r>
              <a:rPr lang="zh-CN" altLang="en-US"/>
              <a:t>输入：财务报表摘要、行业情况、抵押担保情况</a:t>
            </a:r>
          </a:p>
          <a:p>
            <a:r>
              <a:rPr lang="zh-CN" altLang="en-US"/>
              <a:t>输出格式：公司概况、财务分析、风险点、风险缓释、授信意见</a:t>
            </a:r>
          </a:p>
          <a:p>
            <a:r>
              <a:rPr lang="zh-CN" altLang="en-US"/>
              <a:t>约束：风格审慎、不得虚构数据、字数适中</a:t>
            </a:r>
          </a:p>
          <a:p>
            <a:r>
              <a:rPr lang="zh-CN" altLang="en-US"/>
              <a:t>流程：先财务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再现金流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再行业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最后综合结论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50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角色示例一：银行信贷审批岗</a:t>
            </a:r>
            <a:r>
              <a:rPr lang="en-US" altLang="zh-CN"/>
              <a:t> Prompt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/>
              <a:t>你现在是商业银行公司金融部的一名信贷审批人员，</a:t>
            </a:r>
          </a:p>
          <a:p>
            <a:r>
              <a:rPr lang="zh-CN" altLang="en-US" sz="1800"/>
              <a:t>熟悉财务报表分析、现金流评估、抵押担保与尽调流程。</a:t>
            </a:r>
          </a:p>
          <a:p>
            <a:endParaRPr lang="en-US" altLang="zh-CN" sz="1800"/>
          </a:p>
          <a:p>
            <a:r>
              <a:rPr lang="zh-CN" altLang="en-US" sz="1800"/>
              <a:t>任务：根据以下企业信息，形成一份内部信用分析意见稿。</a:t>
            </a:r>
          </a:p>
          <a:p>
            <a:endParaRPr lang="en-US" altLang="zh-CN" sz="1800"/>
          </a:p>
          <a:p>
            <a:r>
              <a:rPr lang="zh-CN" altLang="en-US" sz="1800"/>
              <a:t>输出结构：</a:t>
            </a:r>
          </a:p>
          <a:p>
            <a:r>
              <a:rPr lang="zh-CN" altLang="en-US" sz="1800"/>
              <a:t>一</a:t>
            </a:r>
            <a:r>
              <a:rPr lang="en-US" altLang="zh-CN" sz="1800"/>
              <a:t> </a:t>
            </a:r>
            <a:r>
              <a:rPr lang="zh-CN" altLang="en-US" sz="1800"/>
              <a:t>企业基本情况</a:t>
            </a:r>
          </a:p>
          <a:p>
            <a:r>
              <a:rPr lang="zh-CN" altLang="en-US" sz="1800"/>
              <a:t>二</a:t>
            </a:r>
            <a:r>
              <a:rPr lang="en-US" altLang="zh-CN" sz="1800"/>
              <a:t> </a:t>
            </a:r>
            <a:r>
              <a:rPr lang="zh-CN" altLang="en-US" sz="1800"/>
              <a:t>财务状况分析（盈利、偿债、现金流）</a:t>
            </a:r>
          </a:p>
          <a:p>
            <a:r>
              <a:rPr lang="zh-CN" altLang="en-US" sz="1800"/>
              <a:t>三</a:t>
            </a:r>
            <a:r>
              <a:rPr lang="en-US" altLang="zh-CN" sz="1800"/>
              <a:t> </a:t>
            </a:r>
            <a:r>
              <a:rPr lang="zh-CN" altLang="en-US" sz="1800"/>
              <a:t>主要风险点</a:t>
            </a:r>
          </a:p>
          <a:p>
            <a:r>
              <a:rPr lang="zh-CN" altLang="en-US" sz="1800"/>
              <a:t>四</a:t>
            </a:r>
            <a:r>
              <a:rPr lang="en-US" altLang="zh-CN" sz="1800"/>
              <a:t> </a:t>
            </a:r>
            <a:r>
              <a:rPr lang="zh-CN" altLang="en-US" sz="1800"/>
              <a:t>风险缓释措施建议</a:t>
            </a:r>
          </a:p>
          <a:p>
            <a:r>
              <a:rPr lang="zh-CN" altLang="en-US" sz="1800"/>
              <a:t>五</a:t>
            </a:r>
            <a:r>
              <a:rPr lang="en-US" altLang="zh-CN" sz="1800"/>
              <a:t> </a:t>
            </a:r>
            <a:r>
              <a:rPr lang="zh-CN" altLang="en-US" sz="1800"/>
              <a:t>授信建议（是否授信及额度区间）</a:t>
            </a:r>
          </a:p>
          <a:p>
            <a:endParaRPr lang="en-US" altLang="zh-CN" sz="1800"/>
          </a:p>
          <a:p>
            <a:r>
              <a:rPr lang="zh-CN" altLang="en-US" sz="1800"/>
              <a:t>要求：语言审慎、条理清晰，不得凭空编造数据。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51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角色示例二：券商或基金行业研究员</a:t>
            </a:r>
            <a:r>
              <a:rPr lang="en-US" altLang="zh-CN"/>
              <a:t> Prompt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/>
              <a:t>你是一名券商研究所的行业分析师，</a:t>
            </a:r>
          </a:p>
          <a:p>
            <a:r>
              <a:rPr lang="zh-CN" altLang="en-US" sz="1800"/>
              <a:t>需要为买方客户提供行业研究框架。</a:t>
            </a:r>
          </a:p>
          <a:p>
            <a:endParaRPr lang="en-US" altLang="zh-CN" sz="1800"/>
          </a:p>
          <a:p>
            <a:r>
              <a:rPr lang="zh-CN" altLang="en-US" sz="1800"/>
              <a:t>请围绕</a:t>
            </a:r>
            <a:r>
              <a:rPr lang="en-US" altLang="zh-CN" sz="1800"/>
              <a:t>“</a:t>
            </a:r>
            <a:r>
              <a:rPr lang="zh-CN" altLang="en-US" sz="1800"/>
              <a:t>光伏逆变器行业</a:t>
            </a:r>
            <a:r>
              <a:rPr lang="en-US" altLang="zh-CN" sz="1800"/>
              <a:t>”</a:t>
            </a:r>
            <a:r>
              <a:rPr lang="zh-CN" altLang="en-US" sz="1800"/>
              <a:t>输出一份研究框架，结构包括：</a:t>
            </a:r>
          </a:p>
          <a:p>
            <a:r>
              <a:rPr lang="zh-CN" altLang="en-US" sz="1800"/>
              <a:t>一</a:t>
            </a:r>
            <a:r>
              <a:rPr lang="en-US" altLang="zh-CN" sz="1800"/>
              <a:t> </a:t>
            </a:r>
            <a:r>
              <a:rPr lang="zh-CN" altLang="en-US" sz="1800"/>
              <a:t>行业概况与发展阶段</a:t>
            </a:r>
          </a:p>
          <a:p>
            <a:r>
              <a:rPr lang="zh-CN" altLang="en-US" sz="1800"/>
              <a:t>二</a:t>
            </a:r>
            <a:r>
              <a:rPr lang="en-US" altLang="zh-CN" sz="1800"/>
              <a:t> </a:t>
            </a:r>
            <a:r>
              <a:rPr lang="zh-CN" altLang="en-US" sz="1800"/>
              <a:t>需求端与装机规模</a:t>
            </a:r>
          </a:p>
          <a:p>
            <a:r>
              <a:rPr lang="zh-CN" altLang="en-US" sz="1800"/>
              <a:t>三</a:t>
            </a:r>
            <a:r>
              <a:rPr lang="en-US" altLang="zh-CN" sz="1800"/>
              <a:t> </a:t>
            </a:r>
            <a:r>
              <a:rPr lang="zh-CN" altLang="en-US" sz="1800"/>
              <a:t>供给端与竞争格局（龙头公司、</a:t>
            </a:r>
            <a:r>
              <a:rPr lang="en-US" altLang="zh-CN" sz="1800"/>
              <a:t>CR3 </a:t>
            </a:r>
            <a:r>
              <a:rPr lang="zh-CN" altLang="en-US" sz="1800"/>
              <a:t>等）</a:t>
            </a:r>
          </a:p>
          <a:p>
            <a:r>
              <a:rPr lang="zh-CN" altLang="en-US" sz="1800"/>
              <a:t>四</a:t>
            </a:r>
            <a:r>
              <a:rPr lang="en-US" altLang="zh-CN" sz="1800"/>
              <a:t> </a:t>
            </a:r>
            <a:r>
              <a:rPr lang="zh-CN" altLang="en-US" sz="1800"/>
              <a:t>盈利模式与毛利率水平</a:t>
            </a:r>
          </a:p>
          <a:p>
            <a:r>
              <a:rPr lang="zh-CN" altLang="en-US" sz="1800"/>
              <a:t>五</a:t>
            </a:r>
            <a:r>
              <a:rPr lang="en-US" altLang="zh-CN" sz="1800"/>
              <a:t> </a:t>
            </a:r>
            <a:r>
              <a:rPr lang="zh-CN" altLang="en-US" sz="1800"/>
              <a:t>行业主要风险</a:t>
            </a:r>
          </a:p>
          <a:p>
            <a:r>
              <a:rPr lang="zh-CN" altLang="en-US" sz="1800"/>
              <a:t>六</a:t>
            </a:r>
            <a:r>
              <a:rPr lang="en-US" altLang="zh-CN" sz="1800"/>
              <a:t> </a:t>
            </a:r>
            <a:r>
              <a:rPr lang="zh-CN" altLang="en-US" sz="1800"/>
              <a:t>投资逻辑与关键跟踪指标</a:t>
            </a:r>
          </a:p>
          <a:p>
            <a:endParaRPr lang="en-US" altLang="zh-CN" sz="1800"/>
          </a:p>
          <a:p>
            <a:r>
              <a:rPr lang="zh-CN" altLang="en-US" sz="1800"/>
              <a:t>要求：适合放入行业深度报告的提纲。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52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角色示例三：城投债信用分析师</a:t>
            </a:r>
            <a:r>
              <a:rPr lang="en-US" altLang="zh-CN"/>
              <a:t> Prompt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你是一名城投债信用分析师，熟悉地方政府财政与平台公司运作。</a:t>
            </a:r>
          </a:p>
          <a:p>
            <a:endParaRPr lang="en-US" altLang="zh-CN" sz="2000"/>
          </a:p>
          <a:p>
            <a:r>
              <a:rPr lang="zh-CN" altLang="en-US" sz="2000"/>
              <a:t>请根据以下材料，对某城投平台进行结构化分析，输出结构为：</a:t>
            </a:r>
          </a:p>
          <a:p>
            <a:r>
              <a:rPr lang="zh-CN" altLang="en-US" sz="2000"/>
              <a:t>一</a:t>
            </a:r>
            <a:r>
              <a:rPr lang="en-US" altLang="zh-CN" sz="2000"/>
              <a:t> </a:t>
            </a:r>
            <a:r>
              <a:rPr lang="zh-CN" altLang="en-US" sz="2000"/>
              <a:t>区域经济与财政状况</a:t>
            </a:r>
          </a:p>
          <a:p>
            <a:r>
              <a:rPr lang="zh-CN" altLang="en-US" sz="2000"/>
              <a:t>二</a:t>
            </a:r>
            <a:r>
              <a:rPr lang="en-US" altLang="zh-CN" sz="2000"/>
              <a:t> </a:t>
            </a:r>
            <a:r>
              <a:rPr lang="zh-CN" altLang="en-US" sz="2000"/>
              <a:t>平台功能定位（功能类、经营类或混合型）</a:t>
            </a:r>
          </a:p>
          <a:p>
            <a:r>
              <a:rPr lang="zh-CN" altLang="en-US" sz="2000"/>
              <a:t>三</a:t>
            </a:r>
            <a:r>
              <a:rPr lang="en-US" altLang="zh-CN" sz="2000"/>
              <a:t> </a:t>
            </a:r>
            <a:r>
              <a:rPr lang="zh-CN" altLang="en-US" sz="2000"/>
              <a:t>财务指标分析（资产负债率、现金流、投资性支出）</a:t>
            </a:r>
          </a:p>
          <a:p>
            <a:r>
              <a:rPr lang="zh-CN" altLang="en-US" sz="2000"/>
              <a:t>四</a:t>
            </a:r>
            <a:r>
              <a:rPr lang="en-US" altLang="zh-CN" sz="2000"/>
              <a:t> </a:t>
            </a:r>
            <a:r>
              <a:rPr lang="zh-CN" altLang="en-US" sz="2000"/>
              <a:t>政府支持力度（显性支持与隐性支持）</a:t>
            </a:r>
          </a:p>
          <a:p>
            <a:r>
              <a:rPr lang="zh-CN" altLang="en-US" sz="2000"/>
              <a:t>五</a:t>
            </a:r>
            <a:r>
              <a:rPr lang="en-US" altLang="zh-CN" sz="2000"/>
              <a:t> </a:t>
            </a:r>
            <a:r>
              <a:rPr lang="zh-CN" altLang="en-US" sz="2000"/>
              <a:t>本次债券资金用途与偿债来源</a:t>
            </a:r>
          </a:p>
          <a:p>
            <a:r>
              <a:rPr lang="zh-CN" altLang="en-US" sz="2000"/>
              <a:t>六</a:t>
            </a:r>
            <a:r>
              <a:rPr lang="en-US" altLang="zh-CN" sz="2000"/>
              <a:t> </a:t>
            </a:r>
            <a:r>
              <a:rPr lang="zh-CN" altLang="en-US" sz="2000"/>
              <a:t>核心信用风险与展望</a:t>
            </a:r>
          </a:p>
          <a:p>
            <a:endParaRPr lang="en-US" altLang="zh-CN" sz="2000"/>
          </a:p>
          <a:p>
            <a:r>
              <a:rPr lang="zh-CN" altLang="en-US" sz="2000"/>
              <a:t>要求：语言审慎，适合用于内部信用评审。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53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金融</a:t>
            </a:r>
            <a:r>
              <a:rPr lang="en-US" altLang="zh-CN"/>
              <a:t> JSON </a:t>
            </a:r>
            <a:r>
              <a:rPr lang="zh-CN" altLang="en-US"/>
              <a:t>输出结构模板示例（便于系统录入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400"/>
              <a:t>可以让模型按如下</a:t>
            </a:r>
            <a:r>
              <a:rPr lang="en-US" altLang="zh-CN" sz="1400"/>
              <a:t> JSON </a:t>
            </a:r>
            <a:r>
              <a:rPr lang="zh-CN" altLang="en-US" sz="1400"/>
              <a:t>结构输出分析结果：</a:t>
            </a:r>
          </a:p>
          <a:p>
            <a:endParaRPr lang="en-US" altLang="zh-CN" sz="1400"/>
          </a:p>
          <a:p>
            <a:r>
              <a:rPr lang="en-US" altLang="zh-CN" sz="1400"/>
              <a:t>{</a:t>
            </a:r>
          </a:p>
          <a:p>
            <a:r>
              <a:rPr lang="en-US" altLang="zh-CN" sz="1400"/>
              <a:t>  "</a:t>
            </a:r>
            <a:r>
              <a:rPr lang="zh-CN" altLang="en-US" sz="1400"/>
              <a:t>企业基本面</a:t>
            </a:r>
            <a:r>
              <a:rPr lang="en-US" altLang="zh-CN" sz="1400"/>
              <a:t>": {</a:t>
            </a:r>
          </a:p>
          <a:p>
            <a:r>
              <a:rPr lang="en-US" altLang="zh-CN" sz="1400"/>
              <a:t>    "</a:t>
            </a:r>
            <a:r>
              <a:rPr lang="zh-CN" altLang="en-US" sz="1400"/>
              <a:t>行业</a:t>
            </a:r>
            <a:r>
              <a:rPr lang="en-US" altLang="zh-CN" sz="1400"/>
              <a:t>": "",</a:t>
            </a:r>
          </a:p>
          <a:p>
            <a:r>
              <a:rPr lang="en-US" altLang="zh-CN" sz="1400"/>
              <a:t>    "</a:t>
            </a:r>
            <a:r>
              <a:rPr lang="zh-CN" altLang="en-US" sz="1400"/>
              <a:t>区域</a:t>
            </a:r>
            <a:r>
              <a:rPr lang="en-US" altLang="zh-CN" sz="1400"/>
              <a:t>": "",</a:t>
            </a:r>
          </a:p>
          <a:p>
            <a:r>
              <a:rPr lang="en-US" altLang="zh-CN" sz="1400"/>
              <a:t>    "</a:t>
            </a:r>
            <a:r>
              <a:rPr lang="zh-CN" altLang="en-US" sz="1400"/>
              <a:t>竞争地位</a:t>
            </a:r>
            <a:r>
              <a:rPr lang="en-US" altLang="zh-CN" sz="1400"/>
              <a:t>": "",</a:t>
            </a:r>
          </a:p>
          <a:p>
            <a:r>
              <a:rPr lang="en-US" altLang="zh-CN" sz="1400"/>
              <a:t>    "</a:t>
            </a:r>
            <a:r>
              <a:rPr lang="zh-CN" altLang="en-US" sz="1400"/>
              <a:t>商业模式</a:t>
            </a:r>
            <a:r>
              <a:rPr lang="en-US" altLang="zh-CN" sz="1400"/>
              <a:t>": ""</a:t>
            </a:r>
          </a:p>
          <a:p>
            <a:r>
              <a:rPr lang="en-US" altLang="zh-CN" sz="1400"/>
              <a:t>  },</a:t>
            </a:r>
          </a:p>
          <a:p>
            <a:r>
              <a:rPr lang="en-US" altLang="zh-CN" sz="1400"/>
              <a:t>  "</a:t>
            </a:r>
            <a:r>
              <a:rPr lang="zh-CN" altLang="en-US" sz="1400"/>
              <a:t>财务分析</a:t>
            </a:r>
            <a:r>
              <a:rPr lang="en-US" altLang="zh-CN" sz="1400"/>
              <a:t>": {</a:t>
            </a:r>
          </a:p>
          <a:p>
            <a:r>
              <a:rPr lang="en-US" altLang="zh-CN" sz="1400"/>
              <a:t>    "</a:t>
            </a:r>
            <a:r>
              <a:rPr lang="zh-CN" altLang="en-US" sz="1400"/>
              <a:t>盈利能力</a:t>
            </a:r>
            <a:r>
              <a:rPr lang="en-US" altLang="zh-CN" sz="1400"/>
              <a:t>": "",</a:t>
            </a:r>
          </a:p>
          <a:p>
            <a:r>
              <a:rPr lang="en-US" altLang="zh-CN" sz="1400"/>
              <a:t>    "</a:t>
            </a:r>
            <a:r>
              <a:rPr lang="zh-CN" altLang="en-US" sz="1400"/>
              <a:t>偿债能力</a:t>
            </a:r>
            <a:r>
              <a:rPr lang="en-US" altLang="zh-CN" sz="1400"/>
              <a:t>": "",</a:t>
            </a:r>
          </a:p>
          <a:p>
            <a:r>
              <a:rPr lang="en-US" altLang="zh-CN" sz="1400"/>
              <a:t>    "</a:t>
            </a:r>
            <a:r>
              <a:rPr lang="zh-CN" altLang="en-US" sz="1400"/>
              <a:t>现金流分析</a:t>
            </a:r>
            <a:r>
              <a:rPr lang="en-US" altLang="zh-CN" sz="1400"/>
              <a:t>": ""</a:t>
            </a:r>
          </a:p>
          <a:p>
            <a:r>
              <a:rPr lang="en-US" altLang="zh-CN" sz="1400"/>
              <a:t>  },</a:t>
            </a:r>
          </a:p>
          <a:p>
            <a:r>
              <a:rPr lang="en-US" altLang="zh-CN" sz="1400"/>
              <a:t>  "</a:t>
            </a:r>
            <a:r>
              <a:rPr lang="zh-CN" altLang="en-US" sz="1400"/>
              <a:t>风险分析</a:t>
            </a:r>
            <a:r>
              <a:rPr lang="en-US" altLang="zh-CN" sz="1400"/>
              <a:t>": [</a:t>
            </a:r>
          </a:p>
          <a:p>
            <a:r>
              <a:rPr lang="en-US" altLang="zh-CN" sz="1400"/>
              <a:t>    "</a:t>
            </a:r>
            <a:r>
              <a:rPr lang="zh-CN" altLang="en-US" sz="1400"/>
              <a:t>风险点</a:t>
            </a:r>
            <a:r>
              <a:rPr lang="en-US" altLang="zh-CN" sz="1400"/>
              <a:t>1",</a:t>
            </a:r>
          </a:p>
          <a:p>
            <a:r>
              <a:rPr lang="en-US" altLang="zh-CN" sz="1400"/>
              <a:t>    "</a:t>
            </a:r>
            <a:r>
              <a:rPr lang="zh-CN" altLang="en-US" sz="1400"/>
              <a:t>风险点</a:t>
            </a:r>
            <a:r>
              <a:rPr lang="en-US" altLang="zh-CN" sz="1400"/>
              <a:t>2"</a:t>
            </a:r>
          </a:p>
          <a:p>
            <a:r>
              <a:rPr lang="en-US" altLang="zh-CN" sz="1400"/>
              <a:t>  ],</a:t>
            </a:r>
          </a:p>
          <a:p>
            <a:r>
              <a:rPr lang="en-US" altLang="zh-CN" sz="1400"/>
              <a:t>  "</a:t>
            </a:r>
            <a:r>
              <a:rPr lang="zh-CN" altLang="en-US" sz="1400"/>
              <a:t>缓释措施</a:t>
            </a:r>
            <a:r>
              <a:rPr lang="en-US" altLang="zh-CN" sz="1400"/>
              <a:t>": "",</a:t>
            </a:r>
          </a:p>
          <a:p>
            <a:r>
              <a:rPr lang="en-US" altLang="zh-CN" sz="1400"/>
              <a:t>  "</a:t>
            </a:r>
            <a:r>
              <a:rPr lang="zh-CN" altLang="en-US" sz="1400"/>
              <a:t>综合结论</a:t>
            </a:r>
            <a:r>
              <a:rPr lang="en-US" altLang="zh-CN" sz="1400"/>
              <a:t>": ""</a:t>
            </a:r>
          </a:p>
          <a:p>
            <a:r>
              <a:rPr lang="en-US" altLang="zh-CN" sz="1400"/>
              <a:t>}</a:t>
            </a:r>
          </a:p>
          <a:p>
            <a:endParaRPr lang="en-US" altLang="zh-CN" sz="1400"/>
          </a:p>
          <a:p>
            <a:r>
              <a:rPr lang="zh-CN" altLang="en-US" sz="1400"/>
              <a:t>好处：可以直接复制进系统或转换为表格。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54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Few-shot </a:t>
            </a:r>
            <a:r>
              <a:rPr lang="zh-CN" altLang="en-US"/>
              <a:t>示例：财务分析任务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7865" y="1120775"/>
            <a:ext cx="7886700" cy="4351338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r>
              <a:rPr lang="zh-CN" altLang="en-US" sz="2000" dirty="0"/>
              <a:t>示例：</a:t>
            </a:r>
          </a:p>
          <a:p>
            <a:r>
              <a:rPr lang="zh-CN" altLang="en-US" sz="2000" dirty="0"/>
              <a:t>该公司营收</a:t>
            </a:r>
            <a:r>
              <a:rPr lang="en-US" altLang="zh-CN" sz="2000" dirty="0"/>
              <a:t> 5 </a:t>
            </a:r>
            <a:r>
              <a:rPr lang="zh-CN" altLang="en-US" sz="2000" dirty="0"/>
              <a:t>亿，净利润</a:t>
            </a:r>
            <a:r>
              <a:rPr lang="en-US" altLang="zh-CN" sz="2000" dirty="0"/>
              <a:t> 0.3 </a:t>
            </a:r>
            <a:r>
              <a:rPr lang="zh-CN" altLang="en-US" sz="2000" dirty="0"/>
              <a:t>亿，净利率约</a:t>
            </a:r>
            <a:r>
              <a:rPr lang="en-US" altLang="zh-CN" sz="2000" dirty="0"/>
              <a:t> 6%</a:t>
            </a:r>
            <a:r>
              <a:rPr lang="zh-CN" altLang="en-US" sz="2000" dirty="0"/>
              <a:t>。盈利能力一般，近两年增长放缓。</a:t>
            </a:r>
          </a:p>
          <a:p>
            <a:r>
              <a:rPr lang="zh-CN" altLang="en-US" sz="2000" dirty="0"/>
              <a:t>资产负债率为</a:t>
            </a:r>
            <a:r>
              <a:rPr lang="en-US" altLang="zh-CN" sz="2000" dirty="0"/>
              <a:t> 70%</a:t>
            </a:r>
            <a:r>
              <a:rPr lang="zh-CN" altLang="en-US" sz="2000" dirty="0"/>
              <a:t>，有一定杠杆风险。短期借款规模较大，对短期偿债带来压力。</a:t>
            </a:r>
          </a:p>
          <a:p>
            <a:r>
              <a:rPr lang="zh-CN" altLang="en-US" sz="2000" dirty="0"/>
              <a:t>经营性现金流波动较大，部分原因是应收账款回款较慢。</a:t>
            </a:r>
          </a:p>
          <a:p>
            <a:r>
              <a:rPr lang="zh-CN" altLang="en-US" sz="2000" dirty="0"/>
              <a:t>主要风险在于盈利质量和现金流稳定性。</a:t>
            </a:r>
          </a:p>
          <a:p>
            <a:endParaRPr lang="en-US" altLang="zh-CN" sz="2000" dirty="0"/>
          </a:p>
          <a:p>
            <a:r>
              <a:rPr lang="zh-CN" altLang="en-US" sz="2000" dirty="0"/>
              <a:t>然后</a:t>
            </a:r>
            <a:r>
              <a:rPr lang="en-US" altLang="zh-CN" sz="2000" dirty="0"/>
              <a:t> Prompt </a:t>
            </a:r>
            <a:r>
              <a:rPr lang="zh-CN" altLang="en-US" sz="2000" dirty="0"/>
              <a:t>里写：</a:t>
            </a:r>
          </a:p>
          <a:p>
            <a:r>
              <a:rPr lang="zh-CN" altLang="en-US" sz="2000" dirty="0"/>
              <a:t>请模仿上述分析风格和层次，对下面这家企业的财务情况进行分析。</a:t>
            </a:r>
          </a:p>
          <a:p>
            <a:r>
              <a:rPr lang="zh-CN" altLang="en-US" sz="2000" dirty="0"/>
              <a:t>并提供企业的主要财务风险。</a:t>
            </a:r>
            <a:endParaRPr lang="en-US" altLang="zh-CN" sz="2000" dirty="0"/>
          </a:p>
          <a:p>
            <a:r>
              <a:rPr lang="zh-CN" altLang="en-US" sz="2000" dirty="0"/>
              <a:t>然后把新企业的财务数据贴进去。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55</a:t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生成投资逻辑的</a:t>
            </a:r>
            <a:r>
              <a:rPr lang="en-US" altLang="zh-CN"/>
              <a:t> Prompt </a:t>
            </a:r>
            <a:r>
              <a:rPr lang="zh-CN" altLang="en-US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8350" y="1364615"/>
            <a:ext cx="7886700" cy="4351338"/>
          </a:xfrm>
        </p:spPr>
        <p:txBody>
          <a:bodyPr/>
          <a:lstStyle/>
          <a:p>
            <a:r>
              <a:rPr lang="zh-CN" altLang="en-US" sz="1800"/>
              <a:t>你是一名券商策略分析师，请根据给定数据，为某上市公司生成投资逻辑。</a:t>
            </a:r>
          </a:p>
          <a:p>
            <a:endParaRPr lang="en-US" altLang="zh-CN" sz="1800"/>
          </a:p>
          <a:p>
            <a:r>
              <a:rPr lang="zh-CN" altLang="en-US" sz="1800"/>
              <a:t>输入数据包括：</a:t>
            </a:r>
          </a:p>
          <a:p>
            <a:r>
              <a:rPr lang="zh-CN" altLang="en-US" sz="1800"/>
              <a:t>行业增速、公司</a:t>
            </a:r>
            <a:r>
              <a:rPr lang="en-US" altLang="zh-CN" sz="1800"/>
              <a:t> ROE</a:t>
            </a:r>
            <a:r>
              <a:rPr lang="zh-CN" altLang="en-US" sz="1800"/>
              <a:t>、估值水平（</a:t>
            </a:r>
            <a:r>
              <a:rPr lang="en-US" altLang="zh-CN" sz="1800"/>
              <a:t>PE </a:t>
            </a:r>
            <a:r>
              <a:rPr lang="zh-CN" altLang="en-US" sz="1800"/>
              <a:t>或</a:t>
            </a:r>
            <a:r>
              <a:rPr lang="en-US" altLang="zh-CN" sz="1800"/>
              <a:t> PB</a:t>
            </a:r>
            <a:r>
              <a:rPr lang="zh-CN" altLang="en-US" sz="1800"/>
              <a:t>）、公司竞争地位（如龙头、跟随者）、盈利模式等。</a:t>
            </a:r>
          </a:p>
          <a:p>
            <a:endParaRPr lang="en-US" altLang="zh-CN" sz="1800"/>
          </a:p>
          <a:p>
            <a:r>
              <a:rPr lang="zh-CN" altLang="en-US" sz="1800"/>
              <a:t>输出结构：</a:t>
            </a:r>
          </a:p>
          <a:p>
            <a:r>
              <a:rPr lang="zh-CN" altLang="en-US" sz="1800"/>
              <a:t>一</a:t>
            </a:r>
            <a:r>
              <a:rPr lang="en-US" altLang="zh-CN" sz="1800"/>
              <a:t> </a:t>
            </a:r>
            <a:r>
              <a:rPr lang="zh-CN" altLang="en-US" sz="1800"/>
              <a:t>看多或看空的总体立场</a:t>
            </a:r>
          </a:p>
          <a:p>
            <a:r>
              <a:rPr lang="zh-CN" altLang="en-US" sz="1800"/>
              <a:t>二</a:t>
            </a:r>
            <a:r>
              <a:rPr lang="en-US" altLang="zh-CN" sz="1800"/>
              <a:t> </a:t>
            </a:r>
            <a:r>
              <a:rPr lang="zh-CN" altLang="en-US" sz="1800"/>
              <a:t>核心看多（或看空）理由</a:t>
            </a:r>
          </a:p>
          <a:p>
            <a:r>
              <a:rPr lang="zh-CN" altLang="en-US" sz="1800"/>
              <a:t>三</a:t>
            </a:r>
            <a:r>
              <a:rPr lang="en-US" altLang="zh-CN" sz="1800"/>
              <a:t> </a:t>
            </a:r>
            <a:r>
              <a:rPr lang="zh-CN" altLang="en-US" sz="1800"/>
              <a:t>关键驱动因素与跟踪指标</a:t>
            </a:r>
          </a:p>
          <a:p>
            <a:r>
              <a:rPr lang="zh-CN" altLang="en-US" sz="1800"/>
              <a:t>四</a:t>
            </a:r>
            <a:r>
              <a:rPr lang="en-US" altLang="zh-CN" sz="1800"/>
              <a:t> </a:t>
            </a:r>
            <a:r>
              <a:rPr lang="zh-CN" altLang="en-US" sz="1800"/>
              <a:t>主要风险点</a:t>
            </a:r>
          </a:p>
          <a:p>
            <a:r>
              <a:rPr lang="zh-CN" altLang="en-US" sz="1800"/>
              <a:t>五</a:t>
            </a:r>
            <a:r>
              <a:rPr lang="en-US" altLang="zh-CN" sz="1800"/>
              <a:t> </a:t>
            </a:r>
            <a:r>
              <a:rPr lang="zh-CN" altLang="en-US" sz="1800"/>
              <a:t>当前估值与性价比结论</a:t>
            </a:r>
          </a:p>
          <a:p>
            <a:endParaRPr lang="en-US" altLang="zh-CN" sz="1800"/>
          </a:p>
          <a:p>
            <a:r>
              <a:rPr lang="zh-CN" altLang="en-US" sz="1800"/>
              <a:t>要求：语言可以用于写入研报或路演材料中。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56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政策解读</a:t>
            </a:r>
            <a:r>
              <a:rPr lang="en-US" altLang="zh-CN"/>
              <a:t> Prompt </a:t>
            </a:r>
            <a:r>
              <a:rPr lang="zh-CN" altLang="en-US"/>
              <a:t>示例（宏观与监管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你是一名银行宏观研究员，请解读以下监管或货币政策文件。</a:t>
            </a:r>
          </a:p>
          <a:p>
            <a:endParaRPr lang="en-US" altLang="zh-CN" sz="2000"/>
          </a:p>
          <a:p>
            <a:r>
              <a:rPr lang="zh-CN" altLang="en-US" sz="2000"/>
              <a:t>输出结构：</a:t>
            </a:r>
          </a:p>
          <a:p>
            <a:r>
              <a:rPr lang="zh-CN" altLang="en-US" sz="2000"/>
              <a:t>一</a:t>
            </a:r>
            <a:r>
              <a:rPr lang="en-US" altLang="zh-CN" sz="2000"/>
              <a:t> </a:t>
            </a:r>
            <a:r>
              <a:rPr lang="zh-CN" altLang="en-US" sz="2000"/>
              <a:t>政策背景与出台动机</a:t>
            </a:r>
          </a:p>
          <a:p>
            <a:r>
              <a:rPr lang="zh-CN" altLang="en-US" sz="2000"/>
              <a:t>二</a:t>
            </a:r>
            <a:r>
              <a:rPr lang="en-US" altLang="zh-CN" sz="2000"/>
              <a:t> </a:t>
            </a:r>
            <a:r>
              <a:rPr lang="zh-CN" altLang="en-US" sz="2000"/>
              <a:t>政策的核心条款和变化点</a:t>
            </a:r>
          </a:p>
          <a:p>
            <a:r>
              <a:rPr lang="zh-CN" altLang="en-US" sz="2000"/>
              <a:t>三</a:t>
            </a:r>
            <a:r>
              <a:rPr lang="en-US" altLang="zh-CN" sz="2000"/>
              <a:t> </a:t>
            </a:r>
            <a:r>
              <a:rPr lang="zh-CN" altLang="en-US" sz="2000"/>
              <a:t>对宏观经济的潜在影响（如利率、信贷、房地产等）</a:t>
            </a:r>
          </a:p>
          <a:p>
            <a:r>
              <a:rPr lang="zh-CN" altLang="en-US" sz="2000"/>
              <a:t>四</a:t>
            </a:r>
            <a:r>
              <a:rPr lang="en-US" altLang="zh-CN" sz="2000"/>
              <a:t> </a:t>
            </a:r>
            <a:r>
              <a:rPr lang="zh-CN" altLang="en-US" sz="2000"/>
              <a:t>对银行或金融机构业务的影响</a:t>
            </a:r>
          </a:p>
          <a:p>
            <a:r>
              <a:rPr lang="zh-CN" altLang="en-US" sz="2000"/>
              <a:t>五</a:t>
            </a:r>
            <a:r>
              <a:rPr lang="en-US" altLang="zh-CN" sz="2000"/>
              <a:t> </a:t>
            </a:r>
            <a:r>
              <a:rPr lang="zh-CN" altLang="en-US" sz="2000"/>
              <a:t>风险提示与后续观察重点</a:t>
            </a:r>
          </a:p>
          <a:p>
            <a:endParaRPr lang="en-US" altLang="zh-CN" sz="2000"/>
          </a:p>
          <a:p>
            <a:r>
              <a:rPr lang="zh-CN" altLang="en-US" sz="2000"/>
              <a:t>要求：语言适合内部简报或汇报</a:t>
            </a:r>
            <a:r>
              <a:rPr lang="en-US" altLang="zh-CN" sz="2000"/>
              <a:t> PPT</a:t>
            </a:r>
            <a:r>
              <a:rPr lang="zh-CN" altLang="en-US" sz="2000"/>
              <a:t>。</a:t>
            </a:r>
          </a:p>
          <a:p>
            <a:r>
              <a:rPr lang="zh-CN" altLang="en-US" sz="2000"/>
              <a:t>输入为政策原文或摘要。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57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CoT </a:t>
            </a:r>
            <a:r>
              <a:rPr lang="zh-CN" altLang="en-US"/>
              <a:t>在信用风险分析中的应用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600"/>
              <a:t>请按以下步骤分析企业信用风险：</a:t>
            </a:r>
          </a:p>
          <a:p>
            <a:r>
              <a:rPr lang="zh-CN" altLang="en-US" sz="2600"/>
              <a:t>第一步：根据财务数据评估盈利能力、偿债能力和现金流水平</a:t>
            </a:r>
          </a:p>
          <a:p>
            <a:r>
              <a:rPr lang="zh-CN" altLang="en-US" sz="2600"/>
              <a:t>第二步：结合行业特征和行业景气度评估外部风险</a:t>
            </a:r>
          </a:p>
          <a:p>
            <a:r>
              <a:rPr lang="zh-CN" altLang="en-US" sz="2600"/>
              <a:t>第三步：评估企业治理和股权结构对信用的影响</a:t>
            </a:r>
          </a:p>
          <a:p>
            <a:r>
              <a:rPr lang="zh-CN" altLang="en-US" sz="2600"/>
              <a:t>第四步：综合上述因素，给出信用风险等级判断和主要风险来源</a:t>
            </a:r>
          </a:p>
          <a:p>
            <a:endParaRPr lang="en-US" altLang="zh-CN" sz="2600"/>
          </a:p>
          <a:p>
            <a:r>
              <a:rPr lang="zh-CN" altLang="en-US" sz="2600"/>
              <a:t>要求：每一步都简要说明推理过程，而不是只给结论。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58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自洽性</a:t>
            </a:r>
            <a:r>
              <a:rPr lang="en-US" altLang="zh-CN"/>
              <a:t> Self-Consistency </a:t>
            </a:r>
            <a:r>
              <a:rPr lang="zh-CN" altLang="en-US"/>
              <a:t>在估值场景中的应用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请从三个不同的视角分别对该公司合理</a:t>
            </a:r>
            <a:r>
              <a:rPr lang="en-US" altLang="zh-CN"/>
              <a:t> PE </a:t>
            </a:r>
            <a:r>
              <a:rPr lang="zh-CN" altLang="en-US"/>
              <a:t>区间进行估计：</a:t>
            </a:r>
          </a:p>
          <a:p>
            <a:r>
              <a:rPr lang="zh-CN" altLang="en-US"/>
              <a:t>视角一：与同行可比公司对比</a:t>
            </a:r>
          </a:p>
          <a:p>
            <a:r>
              <a:rPr lang="zh-CN" altLang="en-US"/>
              <a:t>视角二：根据公司</a:t>
            </a:r>
            <a:r>
              <a:rPr lang="en-US" altLang="zh-CN"/>
              <a:t> ROE </a:t>
            </a:r>
            <a:r>
              <a:rPr lang="zh-CN" altLang="en-US"/>
              <a:t>与成长性推导</a:t>
            </a:r>
          </a:p>
          <a:p>
            <a:r>
              <a:rPr lang="zh-CN" altLang="en-US"/>
              <a:t>视角三：根据历史估值区间与当前景气度判断</a:t>
            </a:r>
          </a:p>
          <a:p>
            <a:endParaRPr lang="en-US" altLang="zh-CN"/>
          </a:p>
          <a:p>
            <a:r>
              <a:rPr lang="zh-CN" altLang="en-US"/>
              <a:t>每个视角给出一个估值区间和推理过程。</a:t>
            </a:r>
          </a:p>
          <a:p>
            <a:r>
              <a:rPr lang="zh-CN" altLang="en-US"/>
              <a:t>最后综合三种视角，给出一个综合建议估值区间，并说明主要依据。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59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思维树</a:t>
            </a:r>
            <a:r>
              <a:rPr lang="en-US" altLang="zh-CN"/>
              <a:t> ToT </a:t>
            </a:r>
            <a:r>
              <a:rPr lang="zh-CN" altLang="en-US"/>
              <a:t>在项目投资决策中的应用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请从以下三个不同路径评估该项目是否值得投资：</a:t>
            </a:r>
          </a:p>
          <a:p>
            <a:r>
              <a:rPr lang="zh-CN" altLang="en-US"/>
              <a:t>路径一：基于</a:t>
            </a:r>
            <a:r>
              <a:rPr lang="en-US" altLang="zh-CN"/>
              <a:t> IRR</a:t>
            </a:r>
            <a:r>
              <a:rPr lang="zh-CN" altLang="en-US"/>
              <a:t>、</a:t>
            </a:r>
            <a:r>
              <a:rPr lang="en-US" altLang="zh-CN"/>
              <a:t>NPV </a:t>
            </a:r>
            <a:r>
              <a:rPr lang="zh-CN" altLang="en-US"/>
              <a:t>和回收期的静态财务指标</a:t>
            </a:r>
          </a:p>
          <a:p>
            <a:r>
              <a:rPr lang="zh-CN" altLang="en-US"/>
              <a:t>路径二：基于行业周期、竞争态势和政策风险的动态分析</a:t>
            </a:r>
          </a:p>
          <a:p>
            <a:r>
              <a:rPr lang="zh-CN" altLang="en-US"/>
              <a:t>路径三：基于现金流敏感性分析（销售价格、销量、成本）的压力测试</a:t>
            </a:r>
          </a:p>
          <a:p>
            <a:endParaRPr lang="en-US" altLang="zh-CN"/>
          </a:p>
          <a:p>
            <a:r>
              <a:rPr lang="zh-CN" altLang="en-US"/>
              <a:t>每条路径给出结论与关键风险。</a:t>
            </a:r>
          </a:p>
          <a:p>
            <a:r>
              <a:rPr lang="zh-CN" altLang="en-US"/>
              <a:t>最后综合三条路径的结论，给出项目是否建议投资的综合意见。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60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实战案例：自动生成信贷风控意见书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输入：企业基本资料、三大财务报表摘要、行业情况、担保抵押信息。</a:t>
            </a:r>
          </a:p>
          <a:p>
            <a:endParaRPr lang="en-US" altLang="zh-CN"/>
          </a:p>
          <a:p>
            <a:r>
              <a:rPr lang="en-US" altLang="zh-CN"/>
              <a:t>Prompt </a:t>
            </a:r>
            <a:r>
              <a:rPr lang="zh-CN" altLang="en-US"/>
              <a:t>要求输出：</a:t>
            </a:r>
          </a:p>
          <a:p>
            <a:r>
              <a:rPr lang="zh-CN" altLang="en-US"/>
              <a:t>一</a:t>
            </a:r>
            <a:r>
              <a:rPr lang="en-US" altLang="zh-CN"/>
              <a:t> </a:t>
            </a:r>
            <a:r>
              <a:rPr lang="zh-CN" altLang="en-US"/>
              <a:t>客户基本情况</a:t>
            </a:r>
          </a:p>
          <a:p>
            <a:r>
              <a:rPr lang="zh-CN" altLang="en-US"/>
              <a:t>二</a:t>
            </a:r>
            <a:r>
              <a:rPr lang="en-US" altLang="zh-CN"/>
              <a:t> </a:t>
            </a:r>
            <a:r>
              <a:rPr lang="zh-CN" altLang="en-US"/>
              <a:t>经营与财务状况分析</a:t>
            </a:r>
          </a:p>
          <a:p>
            <a:r>
              <a:rPr lang="zh-CN" altLang="en-US"/>
              <a:t>三</a:t>
            </a:r>
            <a:r>
              <a:rPr lang="en-US" altLang="zh-CN"/>
              <a:t> </a:t>
            </a:r>
            <a:r>
              <a:rPr lang="zh-CN" altLang="en-US"/>
              <a:t>融资需求及资金用途</a:t>
            </a:r>
          </a:p>
          <a:p>
            <a:r>
              <a:rPr lang="zh-CN" altLang="en-US"/>
              <a:t>四</a:t>
            </a:r>
            <a:r>
              <a:rPr lang="en-US" altLang="zh-CN"/>
              <a:t> </a:t>
            </a:r>
            <a:r>
              <a:rPr lang="zh-CN" altLang="en-US"/>
              <a:t>主要风险点（列出</a:t>
            </a:r>
            <a:r>
              <a:rPr lang="en-US" altLang="zh-CN"/>
              <a:t> 3 </a:t>
            </a:r>
            <a:r>
              <a:rPr lang="zh-CN" altLang="en-US"/>
              <a:t>至</a:t>
            </a:r>
            <a:r>
              <a:rPr lang="en-US" altLang="zh-CN"/>
              <a:t> 5 </a:t>
            </a:r>
            <a:r>
              <a:rPr lang="zh-CN" altLang="en-US"/>
              <a:t>条）</a:t>
            </a:r>
          </a:p>
          <a:p>
            <a:r>
              <a:rPr lang="zh-CN" altLang="en-US"/>
              <a:t>五</a:t>
            </a:r>
            <a:r>
              <a:rPr lang="en-US" altLang="zh-CN"/>
              <a:t> </a:t>
            </a:r>
            <a:r>
              <a:rPr lang="zh-CN" altLang="en-US"/>
              <a:t>风险缓释措施建议</a:t>
            </a:r>
          </a:p>
          <a:p>
            <a:r>
              <a:rPr lang="zh-CN" altLang="en-US"/>
              <a:t>六</a:t>
            </a:r>
            <a:r>
              <a:rPr lang="en-US" altLang="zh-CN"/>
              <a:t> </a:t>
            </a:r>
            <a:r>
              <a:rPr lang="zh-CN" altLang="en-US"/>
              <a:t>授信建议（授信品种、额度区间、期限建议）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61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实战案例：行业研究报告框架生成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/>
              <a:t>输入：若干关键行业数据（产量、价格、政策、集中度、龙头公司等）。</a:t>
            </a:r>
          </a:p>
          <a:p>
            <a:endParaRPr lang="en-US" altLang="zh-CN" sz="2000"/>
          </a:p>
          <a:p>
            <a:r>
              <a:rPr lang="en-US" altLang="zh-CN" sz="2000"/>
              <a:t>Prompt </a:t>
            </a:r>
            <a:r>
              <a:rPr lang="zh-CN" altLang="en-US" sz="2000"/>
              <a:t>要求输出：</a:t>
            </a:r>
          </a:p>
          <a:p>
            <a:r>
              <a:rPr lang="zh-CN" altLang="en-US" sz="2000"/>
              <a:t>行业深度报告提纲，结构包括：</a:t>
            </a:r>
          </a:p>
          <a:p>
            <a:r>
              <a:rPr lang="zh-CN" altLang="en-US" sz="2000"/>
              <a:t>一</a:t>
            </a:r>
            <a:r>
              <a:rPr lang="en-US" altLang="zh-CN" sz="2000"/>
              <a:t> </a:t>
            </a:r>
            <a:r>
              <a:rPr lang="zh-CN" altLang="en-US" sz="2000"/>
              <a:t>行业概况与发展历程</a:t>
            </a:r>
          </a:p>
          <a:p>
            <a:r>
              <a:rPr lang="zh-CN" altLang="en-US" sz="2000"/>
              <a:t>二</a:t>
            </a:r>
            <a:r>
              <a:rPr lang="en-US" altLang="zh-CN" sz="2000"/>
              <a:t> </a:t>
            </a:r>
            <a:r>
              <a:rPr lang="zh-CN" altLang="en-US" sz="2000"/>
              <a:t>下游需求结构与景气度</a:t>
            </a:r>
          </a:p>
          <a:p>
            <a:r>
              <a:rPr lang="zh-CN" altLang="en-US" sz="2000"/>
              <a:t>三</a:t>
            </a:r>
            <a:r>
              <a:rPr lang="en-US" altLang="zh-CN" sz="2000"/>
              <a:t> </a:t>
            </a:r>
            <a:r>
              <a:rPr lang="zh-CN" altLang="en-US" sz="2000"/>
              <a:t>供给端格局与竞争态势</a:t>
            </a:r>
          </a:p>
          <a:p>
            <a:r>
              <a:rPr lang="zh-CN" altLang="en-US" sz="2000"/>
              <a:t>四</a:t>
            </a:r>
            <a:r>
              <a:rPr lang="en-US" altLang="zh-CN" sz="2000"/>
              <a:t> </a:t>
            </a:r>
            <a:r>
              <a:rPr lang="zh-CN" altLang="en-US" sz="2000"/>
              <a:t>盈利模式和成本结构</a:t>
            </a:r>
          </a:p>
          <a:p>
            <a:r>
              <a:rPr lang="zh-CN" altLang="en-US" sz="2000"/>
              <a:t>五</a:t>
            </a:r>
            <a:r>
              <a:rPr lang="en-US" altLang="zh-CN" sz="2000"/>
              <a:t> </a:t>
            </a:r>
            <a:r>
              <a:rPr lang="zh-CN" altLang="en-US" sz="2000"/>
              <a:t>估值水平与相对比较</a:t>
            </a:r>
          </a:p>
          <a:p>
            <a:r>
              <a:rPr lang="zh-CN" altLang="en-US" sz="2000"/>
              <a:t>六</a:t>
            </a:r>
            <a:r>
              <a:rPr lang="en-US" altLang="zh-CN" sz="2000"/>
              <a:t> </a:t>
            </a:r>
            <a:r>
              <a:rPr lang="zh-CN" altLang="en-US" sz="2000"/>
              <a:t>行业机会与风险点</a:t>
            </a:r>
          </a:p>
          <a:p>
            <a:endParaRPr lang="en-US" altLang="zh-CN" sz="2000"/>
          </a:p>
          <a:p>
            <a:r>
              <a:rPr lang="zh-CN" altLang="en-US" sz="2000"/>
              <a:t>研究员可以在此基础上填充数据和图表，大幅节省框架搭建时间。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62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1655" y="860425"/>
            <a:ext cx="7886700" cy="5495925"/>
          </a:xfrm>
        </p:spPr>
        <p:txBody>
          <a:bodyPr/>
          <a:lstStyle/>
          <a:p>
            <a:r>
              <a:rPr lang="zh-CN" altLang="en-US" sz="2000" dirty="0"/>
              <a:t>课堂练习示例：</a:t>
            </a:r>
          </a:p>
          <a:p>
            <a:r>
              <a:rPr lang="zh-CN" altLang="en-US" sz="2000" dirty="0"/>
              <a:t>练习一：选择一家你熟悉的上市公司，设计一个用于</a:t>
            </a:r>
            <a:r>
              <a:rPr lang="en-US" altLang="zh-CN" sz="2000" dirty="0"/>
              <a:t>“</a:t>
            </a:r>
            <a:r>
              <a:rPr lang="zh-CN" altLang="en-US" sz="2000" dirty="0"/>
              <a:t>公司研究</a:t>
            </a:r>
            <a:r>
              <a:rPr lang="en-US" altLang="zh-CN" sz="2000" dirty="0"/>
              <a:t>”</a:t>
            </a:r>
            <a:r>
              <a:rPr lang="zh-CN" altLang="en-US" sz="2000" dirty="0"/>
              <a:t>的</a:t>
            </a:r>
            <a:r>
              <a:rPr lang="en-US" altLang="zh-CN" sz="2000" dirty="0"/>
              <a:t> Prompt</a:t>
            </a:r>
            <a:r>
              <a:rPr lang="zh-CN" altLang="en-US" sz="2000" dirty="0"/>
              <a:t>。</a:t>
            </a:r>
          </a:p>
          <a:p>
            <a:r>
              <a:rPr lang="zh-CN" altLang="en-US" sz="2000" dirty="0"/>
              <a:t>练习二：选择一个你所在行业的监管文件，设计一个</a:t>
            </a:r>
            <a:r>
              <a:rPr lang="en-US" altLang="zh-CN" sz="2000" dirty="0"/>
              <a:t>“</a:t>
            </a:r>
            <a:r>
              <a:rPr lang="zh-CN" altLang="en-US" sz="2000" dirty="0"/>
              <a:t>政策解读</a:t>
            </a:r>
            <a:r>
              <a:rPr lang="en-US" altLang="zh-CN" sz="2000" dirty="0"/>
              <a:t> Prompt”</a:t>
            </a:r>
            <a:r>
              <a:rPr lang="zh-CN" altLang="en-US" sz="2000" dirty="0"/>
              <a:t>。</a:t>
            </a:r>
          </a:p>
          <a:p>
            <a:endParaRPr lang="en-US" altLang="zh-CN" sz="2000" dirty="0"/>
          </a:p>
          <a:p>
            <a:r>
              <a:rPr lang="zh-CN" altLang="en-US" sz="2000" dirty="0"/>
              <a:t>课后作业示例：</a:t>
            </a:r>
          </a:p>
          <a:p>
            <a:r>
              <a:rPr lang="zh-CN" altLang="en-US" sz="2000" dirty="0"/>
              <a:t>作业一：选择你工作中真实遇到的一个任务（例如：写一份授信调查报告），</a:t>
            </a:r>
          </a:p>
          <a:p>
            <a:r>
              <a:rPr lang="zh-CN" altLang="en-US" sz="2000" dirty="0"/>
              <a:t>用</a:t>
            </a:r>
            <a:r>
              <a:rPr lang="en-US" altLang="zh-CN" sz="2000" dirty="0"/>
              <a:t>“</a:t>
            </a:r>
            <a:r>
              <a:rPr lang="zh-CN" altLang="en-US" sz="2000" dirty="0"/>
              <a:t>角色、任务、输入、输出、约束、流程、示例</a:t>
            </a:r>
            <a:r>
              <a:rPr lang="en-US" altLang="zh-CN" sz="2000" dirty="0"/>
              <a:t>”</a:t>
            </a:r>
            <a:r>
              <a:rPr lang="zh-CN" altLang="en-US" sz="2000" dirty="0"/>
              <a:t>七要素写出工程化</a:t>
            </a:r>
            <a:r>
              <a:rPr lang="en-US" altLang="zh-CN" sz="2000" dirty="0"/>
              <a:t> Prompt</a:t>
            </a:r>
            <a:r>
              <a:rPr lang="zh-CN" altLang="en-US" sz="2000"/>
              <a:t>，并</a:t>
            </a:r>
            <a:r>
              <a:rPr lang="zh-CN" altLang="en-US" sz="2000" dirty="0"/>
              <a:t>附上模型生成的结果和你的修改意见。</a:t>
            </a:r>
          </a:p>
          <a:p>
            <a:endParaRPr lang="en-US" altLang="zh-CN" sz="2000" dirty="0"/>
          </a:p>
          <a:p>
            <a:r>
              <a:rPr lang="zh-CN" altLang="en-US" sz="2000" dirty="0"/>
              <a:t>通过多次迭代，让</a:t>
            </a:r>
            <a:r>
              <a:rPr lang="en-US" altLang="zh-CN" sz="2000" dirty="0"/>
              <a:t> Prompt </a:t>
            </a:r>
            <a:r>
              <a:rPr lang="zh-CN" altLang="en-US" sz="2000" dirty="0"/>
              <a:t>真正变成你的工作工具。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63</a:t>
            </a:fld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5220</Words>
  <Application>Microsoft Office PowerPoint</Application>
  <PresentationFormat>全屏显示(4:3)</PresentationFormat>
  <Paragraphs>677</Paragraphs>
  <Slides>63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1" baseType="lpstr">
      <vt:lpstr>华文楷体</vt:lpstr>
      <vt:lpstr>宋体</vt:lpstr>
      <vt:lpstr>幼圆</vt:lpstr>
      <vt:lpstr>Arial</vt:lpstr>
      <vt:lpstr>Calibri</vt:lpstr>
      <vt:lpstr>Franklin Gothic Book</vt:lpstr>
      <vt:lpstr>Wingdings</vt:lpstr>
      <vt:lpstr>Office theme</vt:lpstr>
      <vt:lpstr>PowerPoint 演示文稿</vt:lpstr>
      <vt:lpstr>核心问题：</vt:lpstr>
      <vt:lpstr>人工智能时代</vt:lpstr>
      <vt:lpstr>AI 的核心能力</vt:lpstr>
      <vt:lpstr>AI 在全球的行业应用概况</vt:lpstr>
      <vt:lpstr>AI 的三类典型应用路径</vt:lpstr>
      <vt:lpstr>大模型发展概况（国外）</vt:lpstr>
      <vt:lpstr>大模型发展概况（国内）</vt:lpstr>
      <vt:lpstr>为什么金融与 AI 的结合最紧密？</vt:lpstr>
      <vt:lpstr>AI 在金融行业中的总体应用</vt:lpstr>
      <vt:lpstr>2. 规则驱动（Rule-Driven）</vt:lpstr>
      <vt:lpstr>3. 决策依赖分析（Insight-Driven）</vt:lpstr>
      <vt:lpstr>金融行业 AI 应用的五大方向</vt:lpstr>
      <vt:lpstr>② 智能投研（分析师的生产力倍增器</vt:lpstr>
      <vt:lpstr>③ 智能合规</vt:lpstr>
      <vt:lpstr>④ 智能运营与 IT 运维</vt:lpstr>
      <vt:lpstr>⑤ 智能客服</vt:lpstr>
      <vt:lpstr>什么是 Prompt？</vt:lpstr>
      <vt:lpstr>什么是 Prompt Engineering（提示词工程）？</vt:lpstr>
      <vt:lpstr>为什么需要提示词工程？</vt:lpstr>
      <vt:lpstr>Prompt 原理</vt:lpstr>
      <vt:lpstr>提示词策略差异</vt:lpstr>
      <vt:lpstr>提示词设计的四大原则</vt:lpstr>
      <vt:lpstr>原则一：清晰性（避免模糊）</vt:lpstr>
      <vt:lpstr>原则二：完整性（给足关键信息）</vt:lpstr>
      <vt:lpstr>原则三：可控性（通过结构和约束控制输出）</vt:lpstr>
      <vt:lpstr>原则四：可扩展性（模板化、模块化、参数化）</vt:lpstr>
      <vt:lpstr>工程化 Prompt 的七大模块</vt:lpstr>
      <vt:lpstr>七大模块示例（科研文献综述场景）</vt:lpstr>
      <vt:lpstr>输出格式高级用法：思维导图型结构</vt:lpstr>
      <vt:lpstr>输出格式高级用法：JSON 和表格结构</vt:lpstr>
      <vt:lpstr>输出格式高级用法：流程图与结构图</vt:lpstr>
      <vt:lpstr>Persona（角色扮演）：让模型更“像一个人”</vt:lpstr>
      <vt:lpstr>提示词核心要素总结</vt:lpstr>
      <vt:lpstr>提示词框架</vt:lpstr>
      <vt:lpstr>Elavis 框架</vt:lpstr>
      <vt:lpstr>CO-STAR 框架</vt:lpstr>
      <vt:lpstr>RICCE 框架</vt:lpstr>
      <vt:lpstr>辅助类框架</vt:lpstr>
      <vt:lpstr>Elavis 框架 示例</vt:lpstr>
      <vt:lpstr>CO-STAR 框架 </vt:lpstr>
      <vt:lpstr>RICCE 框架 </vt:lpstr>
      <vt:lpstr>CRAFT / APG </vt:lpstr>
      <vt:lpstr>学习与工作效率提升的 10 大经典指令思路</vt:lpstr>
      <vt:lpstr>Zero-shot 与 Few-shot 提示</vt:lpstr>
      <vt:lpstr>思维链 CoT、自洽性 Self-Consistency、思维树 ToT 概览</vt:lpstr>
      <vt:lpstr>参数调优（max_tokens、temperature、top_p、penalties</vt:lpstr>
      <vt:lpstr>PowerPoint 演示文稿</vt:lpstr>
      <vt:lpstr>应用场景</vt:lpstr>
      <vt:lpstr>金融场景映射到 Prompt 结构的思路</vt:lpstr>
      <vt:lpstr>角色示例一：银行信贷审批岗 Prompt</vt:lpstr>
      <vt:lpstr>角色示例二：券商或基金行业研究员 Prompt</vt:lpstr>
      <vt:lpstr>角色示例三：城投债信用分析师 Prompt</vt:lpstr>
      <vt:lpstr>金融 JSON 输出结构模板示例（便于系统录入</vt:lpstr>
      <vt:lpstr>Few-shot 示例：财务分析任务</vt:lpstr>
      <vt:lpstr>生成投资逻辑的 Prompt 示例</vt:lpstr>
      <vt:lpstr>政策解读 Prompt 示例（宏观与监管</vt:lpstr>
      <vt:lpstr>CoT 在信用风险分析中的应用</vt:lpstr>
      <vt:lpstr>自洽性 Self-Consistency 在估值场景中的应用</vt:lpstr>
      <vt:lpstr>思维树 ToT 在项目投资决策中的应用</vt:lpstr>
      <vt:lpstr>实战案例：自动生成信贷风控意见书</vt:lpstr>
      <vt:lpstr>实战案例：行业研究报告框架生成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地方政府融资、债务及风险防范</dc:title>
  <dc:creator>gongfeng</dc:creator>
  <cp:lastModifiedBy>hu_liqin@whu.edu.cn</cp:lastModifiedBy>
  <cp:revision>44</cp:revision>
  <dcterms:created xsi:type="dcterms:W3CDTF">2025-11-10T13:37:00Z</dcterms:created>
  <dcterms:modified xsi:type="dcterms:W3CDTF">2025-12-07T03:10:50Z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wqlLaW5nc29mdCBQREYgdG8gV1BTIDExMA</vt:lpwstr>
  </property>
  <property fmtid="{D5CDD505-2E9C-101B-9397-08002B2CF9AE}" pid="3" name="Created">
    <vt:filetime>2025-11-13T03:09:37Z</vt:filetime>
  </property>
  <property fmtid="{D5CDD505-2E9C-101B-9397-08002B2CF9AE}" pid="4" name="ICV">
    <vt:lpwstr>F7BE21DA017543D9841E068837582F02_13</vt:lpwstr>
  </property>
  <property fmtid="{D5CDD505-2E9C-101B-9397-08002B2CF9AE}" pid="5" name="KSOProductBuildVer">
    <vt:lpwstr>2052-12.1.0.19302</vt:lpwstr>
  </property>
</Properties>
</file>