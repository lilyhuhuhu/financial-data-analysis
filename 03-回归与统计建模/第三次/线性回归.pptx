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0" r:id="rId3"/>
  </p:sldMasterIdLst>
  <p:notesMasterIdLst>
    <p:notesMasterId r:id="rId67"/>
  </p:notesMasterIdLst>
  <p:sldIdLst>
    <p:sldId id="256" r:id="rId4"/>
    <p:sldId id="257" r:id="rId5"/>
    <p:sldId id="258" r:id="rId6"/>
    <p:sldId id="259" r:id="rId7"/>
    <p:sldId id="260" r:id="rId8"/>
    <p:sldId id="261" r:id="rId9"/>
    <p:sldId id="262" r:id="rId10"/>
    <p:sldId id="263" r:id="rId11"/>
    <p:sldId id="264" r:id="rId12"/>
    <p:sldId id="266" r:id="rId13"/>
    <p:sldId id="267" r:id="rId14"/>
    <p:sldId id="273" r:id="rId15"/>
    <p:sldId id="274" r:id="rId16"/>
    <p:sldId id="275" r:id="rId17"/>
    <p:sldId id="276" r:id="rId18"/>
    <p:sldId id="277" r:id="rId19"/>
    <p:sldId id="630"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3" r:id="rId33"/>
    <p:sldId id="294" r:id="rId34"/>
    <p:sldId id="297" r:id="rId35"/>
    <p:sldId id="298" r:id="rId36"/>
    <p:sldId id="299" r:id="rId37"/>
    <p:sldId id="300" r:id="rId38"/>
    <p:sldId id="325" r:id="rId39"/>
    <p:sldId id="327" r:id="rId40"/>
    <p:sldId id="328" r:id="rId41"/>
    <p:sldId id="334" r:id="rId42"/>
    <p:sldId id="335" r:id="rId43"/>
    <p:sldId id="336" r:id="rId44"/>
    <p:sldId id="337" r:id="rId45"/>
    <p:sldId id="338" r:id="rId46"/>
    <p:sldId id="339" r:id="rId47"/>
    <p:sldId id="340" r:id="rId48"/>
    <p:sldId id="342" r:id="rId49"/>
    <p:sldId id="347" r:id="rId50"/>
    <p:sldId id="348" r:id="rId51"/>
    <p:sldId id="350" r:id="rId52"/>
    <p:sldId id="351" r:id="rId53"/>
    <p:sldId id="352" r:id="rId54"/>
    <p:sldId id="353" r:id="rId55"/>
    <p:sldId id="354" r:id="rId56"/>
    <p:sldId id="355" r:id="rId57"/>
    <p:sldId id="357" r:id="rId58"/>
    <p:sldId id="358" r:id="rId59"/>
    <p:sldId id="359" r:id="rId60"/>
    <p:sldId id="360" r:id="rId61"/>
    <p:sldId id="362" r:id="rId62"/>
    <p:sldId id="363" r:id="rId63"/>
    <p:sldId id="364" r:id="rId64"/>
    <p:sldId id="365" r:id="rId65"/>
    <p:sldId id="366" r:id="rId66"/>
    <p:sldId id="367" r:id="rId68"/>
    <p:sldId id="380" r:id="rId69"/>
    <p:sldId id="387" r:id="rId70"/>
    <p:sldId id="388" r:id="rId71"/>
    <p:sldId id="389" r:id="rId72"/>
    <p:sldId id="390" r:id="rId73"/>
    <p:sldId id="395" r:id="rId74"/>
    <p:sldId id="396" r:id="rId75"/>
    <p:sldId id="629" r:id="rId76"/>
    <p:sldId id="411" r:id="rId77"/>
    <p:sldId id="412" r:id="rId78"/>
    <p:sldId id="413" r:id="rId79"/>
    <p:sldId id="414" r:id="rId80"/>
    <p:sldId id="415" r:id="rId81"/>
    <p:sldId id="416" r:id="rId82"/>
    <p:sldId id="418" r:id="rId83"/>
    <p:sldId id="421" r:id="rId84"/>
    <p:sldId id="422" r:id="rId85"/>
    <p:sldId id="423" r:id="rId86"/>
    <p:sldId id="424" r:id="rId87"/>
    <p:sldId id="425" r:id="rId88"/>
    <p:sldId id="427" r:id="rId89"/>
    <p:sldId id="428" r:id="rId90"/>
    <p:sldId id="431" r:id="rId91"/>
    <p:sldId id="432" r:id="rId92"/>
    <p:sldId id="433" r:id="rId93"/>
    <p:sldId id="434" r:id="rId94"/>
    <p:sldId id="435" r:id="rId95"/>
    <p:sldId id="436" r:id="rId96"/>
    <p:sldId id="437" r:id="rId97"/>
    <p:sldId id="438" r:id="rId98"/>
    <p:sldId id="439" r:id="rId99"/>
    <p:sldId id="440" r:id="rId100"/>
    <p:sldId id="441" r:id="rId101"/>
    <p:sldId id="442" r:id="rId102"/>
    <p:sldId id="443" r:id="rId103"/>
    <p:sldId id="444" r:id="rId104"/>
    <p:sldId id="445" r:id="rId105"/>
    <p:sldId id="447" r:id="rId106"/>
    <p:sldId id="448" r:id="rId107"/>
    <p:sldId id="449" r:id="rId108"/>
    <p:sldId id="450" r:id="rId109"/>
    <p:sldId id="451" r:id="rId110"/>
    <p:sldId id="452" r:id="rId111"/>
    <p:sldId id="453" r:id="rId112"/>
    <p:sldId id="454" r:id="rId113"/>
    <p:sldId id="455" r:id="rId114"/>
    <p:sldId id="461" r:id="rId115"/>
    <p:sldId id="462" r:id="rId116"/>
    <p:sldId id="463" r:id="rId117"/>
    <p:sldId id="494" r:id="rId118"/>
    <p:sldId id="495" r:id="rId119"/>
    <p:sldId id="496" r:id="rId120"/>
    <p:sldId id="497" r:id="rId121"/>
    <p:sldId id="498" r:id="rId122"/>
    <p:sldId id="499" r:id="rId123"/>
    <p:sldId id="500" r:id="rId124"/>
    <p:sldId id="501" r:id="rId125"/>
    <p:sldId id="502" r:id="rId126"/>
    <p:sldId id="504" r:id="rId127"/>
    <p:sldId id="505" r:id="rId128"/>
    <p:sldId id="506" r:id="rId129"/>
    <p:sldId id="507" r:id="rId130"/>
    <p:sldId id="508" r:id="rId131"/>
    <p:sldId id="511" r:id="rId132"/>
    <p:sldId id="512" r:id="rId133"/>
    <p:sldId id="513" r:id="rId134"/>
    <p:sldId id="514" r:id="rId135"/>
    <p:sldId id="515" r:id="rId136"/>
    <p:sldId id="516" r:id="rId137"/>
    <p:sldId id="518" r:id="rId138"/>
    <p:sldId id="519" r:id="rId139"/>
    <p:sldId id="520" r:id="rId140"/>
    <p:sldId id="541" r:id="rId141"/>
    <p:sldId id="542" r:id="rId142"/>
    <p:sldId id="543" r:id="rId143"/>
    <p:sldId id="544" r:id="rId144"/>
    <p:sldId id="563" r:id="rId145"/>
    <p:sldId id="564" r:id="rId146"/>
    <p:sldId id="565" r:id="rId147"/>
    <p:sldId id="566" r:id="rId148"/>
    <p:sldId id="567" r:id="rId149"/>
    <p:sldId id="568" r:id="rId150"/>
    <p:sldId id="569" r:id="rId151"/>
    <p:sldId id="570" r:id="rId152"/>
    <p:sldId id="573" r:id="rId153"/>
    <p:sldId id="582" r:id="rId154"/>
    <p:sldId id="583" r:id="rId155"/>
    <p:sldId id="584" r:id="rId156"/>
    <p:sldId id="585" r:id="rId157"/>
    <p:sldId id="602" r:id="rId158"/>
    <p:sldId id="603" r:id="rId159"/>
    <p:sldId id="604" r:id="rId160"/>
    <p:sldId id="605" r:id="rId161"/>
    <p:sldId id="606" r:id="rId162"/>
    <p:sldId id="607" r:id="rId163"/>
    <p:sldId id="608" r:id="rId164"/>
    <p:sldId id="609" r:id="rId165"/>
    <p:sldId id="610" r:id="rId166"/>
    <p:sldId id="611" r:id="rId167"/>
    <p:sldId id="612" r:id="rId168"/>
    <p:sldId id="623" r:id="rId169"/>
    <p:sldId id="624" r:id="rId170"/>
    <p:sldId id="625" r:id="rId171"/>
    <p:sldId id="626" r:id="rId172"/>
    <p:sldId id="627" r:id="rId17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25" d="100"/>
          <a:sy n="125" d="100"/>
        </p:scale>
        <p:origin x="140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notesMaster" Target="notesMasters/notesMaster1.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6" Type="http://schemas.openxmlformats.org/officeDocument/2006/relationships/tableStyles" Target="tableStyles.xml"/><Relationship Id="rId175" Type="http://schemas.openxmlformats.org/officeDocument/2006/relationships/viewProps" Target="viewProps.xml"/><Relationship Id="rId174" Type="http://schemas.openxmlformats.org/officeDocument/2006/relationships/presProps" Target="presProps.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60.wmf"/><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5684C9F-6108-4929-873C-091498E4B26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noFill/>
        <a:effectLst/>
      </p:bgPr>
    </p:bg>
    <p:spTree>
      <p:nvGrpSpPr>
        <p:cNvPr id="1" name=""/>
        <p:cNvGrpSpPr/>
        <p:nvPr/>
      </p:nvGrpSpPr>
      <p:grpSpPr>
        <a:xfrm>
          <a:off x="0" y="0"/>
          <a:ext cx="0" cy="0"/>
          <a:chOff x="0" y="0"/>
          <a:chExt cx="0" cy="0"/>
        </a:xfrm>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圆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p:txBody>
          <a:bodyPr/>
          <a:lstStyle/>
          <a:p>
            <a:fld id="{D4F282E3-6CDF-41E5-8782-54AF2B1FFF82}" type="datetime1">
              <a:rPr lang="zh-CN" altLang="en-US" smtClean="0"/>
            </a:fld>
            <a:endParaRPr lang="zh-CN" altLang="en-US"/>
          </a:p>
        </p:txBody>
      </p:sp>
      <p:sp>
        <p:nvSpPr>
          <p:cNvPr id="17" name="页脚占位符 16"/>
          <p:cNvSpPr>
            <a:spLocks noGrp="1"/>
          </p:cNvSpPr>
          <p:nvPr>
            <p:ph type="ftr" sz="quarter" idx="11"/>
          </p:nvPr>
        </p:nvSpPr>
        <p:spPr/>
        <p:txBody>
          <a:bodyPr/>
          <a:lstStyle/>
          <a:p>
            <a:endParaRPr lang="zh-CN" altLang="en-US"/>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CN" altLang="en-US"/>
              <a:t>单击此处编辑母版标题样式</a:t>
            </a:r>
            <a:endParaRPr kumimoji="0" lang="en-US"/>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fld id="{E290B5E0-96CD-4BEA-8C64-1BE706384B3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8" name="内容占位符 7"/>
          <p:cNvSpPr>
            <a:spLocks noGrp="1"/>
          </p:cNvSpPr>
          <p:nvPr>
            <p:ph sz="quarter" idx="1"/>
          </p:nvPr>
        </p:nvSpPr>
        <p:spPr>
          <a:xfrm>
            <a:off x="914400" y="1447800"/>
            <a:ext cx="7772400" cy="45720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圆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fld id="{45FED5D0-B454-4C51-A5BB-18714AE62BB3}" type="datetime1">
              <a:rPr lang="zh-CN" altLang="en-US" smtClean="0"/>
            </a:fld>
            <a:endParaRPr lang="zh-CN" altLang="en-US"/>
          </a:p>
        </p:txBody>
      </p:sp>
      <p:sp>
        <p:nvSpPr>
          <p:cNvPr id="5" name="页脚占位符 4"/>
          <p:cNvSpPr>
            <a:spLocks noGrp="1"/>
          </p:cNvSpPr>
          <p:nvPr>
            <p:ph type="ftr" sz="quarter" idx="11"/>
          </p:nvPr>
        </p:nvSpPr>
        <p:spPr>
          <a:xfrm>
            <a:off x="800100" y="6172200"/>
            <a:ext cx="4000500" cy="457200"/>
          </a:xfrm>
        </p:spPr>
        <p:txBody>
          <a:bodyPr/>
          <a:lstStyle/>
          <a:p>
            <a:endParaRPr lang="zh-CN" altLang="en-US"/>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08777C07-FB08-4A1F-A172-A6239CE43EA2}"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9" name="内容占位符 8"/>
          <p:cNvSpPr>
            <a:spLocks noGrp="1"/>
          </p:cNvSpPr>
          <p:nvPr>
            <p:ph sz="quarter" idx="1"/>
          </p:nvPr>
        </p:nvSpPr>
        <p:spPr>
          <a:xfrm>
            <a:off x="914400" y="1447800"/>
            <a:ext cx="3749040" cy="45720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933950" y="1447800"/>
            <a:ext cx="3749040" cy="45720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nchor="b" anchorCtr="0"/>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7" name="日期占位符 6"/>
          <p:cNvSpPr>
            <a:spLocks noGrp="1"/>
          </p:cNvSpPr>
          <p:nvPr>
            <p:ph type="dt" sz="half" idx="10"/>
          </p:nvPr>
        </p:nvSpPr>
        <p:spPr/>
        <p:txBody>
          <a:bodyPr/>
          <a:lstStyle/>
          <a:p>
            <a:fld id="{38190936-5C8E-48ED-BAD6-C4F29625FE01}"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11" name="内容占位符 10"/>
          <p:cNvSpPr>
            <a:spLocks noGrp="1"/>
          </p:cNvSpPr>
          <p:nvPr>
            <p:ph sz="half" idx="2"/>
          </p:nvPr>
        </p:nvSpPr>
        <p:spPr>
          <a:xfrm>
            <a:off x="914400" y="2247900"/>
            <a:ext cx="3733800" cy="38862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13" name="内容占位符 12"/>
          <p:cNvSpPr>
            <a:spLocks noGrp="1"/>
          </p:cNvSpPr>
          <p:nvPr>
            <p:ph sz="half" idx="4"/>
          </p:nvPr>
        </p:nvSpPr>
        <p:spPr>
          <a:xfrm>
            <a:off x="4953000" y="2247900"/>
            <a:ext cx="3733800" cy="38862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A0F6A1BE-4CF5-457B-835F-9830BED6558E}"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0E8E6D-EFB4-4523-8CC9-35648A93DC9E}"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圆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914400" y="273050"/>
            <a:ext cx="7772400" cy="1143000"/>
          </a:xfrm>
        </p:spPr>
        <p:txBody>
          <a:bodyPr anchor="b" anchorCtr="0"/>
          <a:lstStyle>
            <a:lvl1pPr algn="l">
              <a:buNone/>
              <a:defRPr sz="4000" b="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5" name="日期占位符 4"/>
          <p:cNvSpPr>
            <a:spLocks noGrp="1"/>
          </p:cNvSpPr>
          <p:nvPr>
            <p:ph type="dt" sz="half" idx="10"/>
          </p:nvPr>
        </p:nvSpPr>
        <p:spPr/>
        <p:txBody>
          <a:bodyPr/>
          <a:lstStyle/>
          <a:p>
            <a:fld id="{31D306B5-59D6-4232-AB00-706DCA8C4066}"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11" name="内容占位符 10"/>
          <p:cNvSpPr>
            <a:spLocks noGrp="1"/>
          </p:cNvSpPr>
          <p:nvPr>
            <p:ph sz="quarter" idx="1"/>
          </p:nvPr>
        </p:nvSpPr>
        <p:spPr>
          <a:xfrm>
            <a:off x="2971800" y="1600200"/>
            <a:ext cx="5715000" cy="44958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5" name="日期占位符 4"/>
          <p:cNvSpPr>
            <a:spLocks noGrp="1"/>
          </p:cNvSpPr>
          <p:nvPr>
            <p:ph type="dt" sz="half" idx="10"/>
          </p:nvPr>
        </p:nvSpPr>
        <p:spPr/>
        <p:txBody>
          <a:bodyPr/>
          <a:lstStyle/>
          <a:p>
            <a:fld id="{07923EA2-AC49-4346-AF8B-1C3AE6F717A2}" type="datetime1">
              <a:rPr lang="zh-CN" altLang="en-US" smtClean="0"/>
            </a:fld>
            <a:endParaRPr lang="zh-CN" altLang="en-US"/>
          </a:p>
        </p:txBody>
      </p:sp>
      <p:sp>
        <p:nvSpPr>
          <p:cNvPr id="6" name="页脚占位符 5"/>
          <p:cNvSpPr>
            <a:spLocks noGrp="1"/>
          </p:cNvSpPr>
          <p:nvPr>
            <p:ph type="ftr" sz="quarter" idx="11"/>
          </p:nvPr>
        </p:nvSpPr>
        <p:spPr>
          <a:xfrm>
            <a:off x="914400" y="6172200"/>
            <a:ext cx="3886200" cy="457200"/>
          </a:xfrm>
        </p:spPr>
        <p:txBody>
          <a:bodyPr/>
          <a:lstStyle/>
          <a:p>
            <a:endParaRPr lang="zh-CN" altLang="en-US"/>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ADFECF41-FF8D-4536-828C-428010A69B8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914400" y="274640"/>
            <a:ext cx="556260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4B440C47-35FF-45A0-9603-9E719EDF541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2" Type="http://schemas.openxmlformats.org/officeDocument/2006/relationships/theme" Target="../theme/theme2.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圆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标题占位符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A237B8B-E0F2-40F2-AFA0-FA5374CB0C22}" type="datetime1">
              <a:rPr lang="zh-CN" altLang="en-US" smtClean="0"/>
            </a:fld>
            <a:endParaRPr lang="zh-CN" altLang="en-US"/>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zh-CN" alt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jpeg"/><Relationship Id="rId1" Type="http://schemas.openxmlformats.org/officeDocument/2006/relationships/image" Target="../media/image15.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jpe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jpe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jpe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image" Target="../media/image3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image" Target="../media/image43.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9.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3.xml"/><Relationship Id="rId3" Type="http://schemas.openxmlformats.org/officeDocument/2006/relationships/image" Target="../media/image51.wmf"/><Relationship Id="rId2" Type="http://schemas.openxmlformats.org/officeDocument/2006/relationships/oleObject" Target="../embeddings/oleObject1.bin"/><Relationship Id="rId1" Type="http://schemas.openxmlformats.org/officeDocument/2006/relationships/image" Target="../media/image50.emf"/></Relationships>
</file>

<file path=ppt/slides/_rels/slide5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3.xml"/><Relationship Id="rId6" Type="http://schemas.openxmlformats.org/officeDocument/2006/relationships/image" Target="../media/image54.wmf"/><Relationship Id="rId5" Type="http://schemas.openxmlformats.org/officeDocument/2006/relationships/oleObject" Target="../embeddings/oleObject4.bin"/><Relationship Id="rId4" Type="http://schemas.openxmlformats.org/officeDocument/2006/relationships/image" Target="../media/image53.wmf"/><Relationship Id="rId3" Type="http://schemas.openxmlformats.org/officeDocument/2006/relationships/oleObject" Target="../embeddings/oleObject3.bin"/><Relationship Id="rId2" Type="http://schemas.openxmlformats.org/officeDocument/2006/relationships/image" Target="../media/image52.wmf"/><Relationship Id="rId1" Type="http://schemas.openxmlformats.org/officeDocument/2006/relationships/oleObject" Target="../embeddings/oleObject2.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55.wmf"/><Relationship Id="rId1" Type="http://schemas.openxmlformats.org/officeDocument/2006/relationships/oleObject" Target="../embeddings/oleObject5.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59.wmf"/><Relationship Id="rId7" Type="http://schemas.openxmlformats.org/officeDocument/2006/relationships/oleObject" Target="../embeddings/oleObject9.bin"/><Relationship Id="rId6" Type="http://schemas.openxmlformats.org/officeDocument/2006/relationships/image" Target="../media/image58.wmf"/><Relationship Id="rId5" Type="http://schemas.openxmlformats.org/officeDocument/2006/relationships/oleObject" Target="../embeddings/oleObject8.bin"/><Relationship Id="rId4" Type="http://schemas.openxmlformats.org/officeDocument/2006/relationships/image" Target="../media/image57.wmf"/><Relationship Id="rId3" Type="http://schemas.openxmlformats.org/officeDocument/2006/relationships/oleObject" Target="../embeddings/oleObject7.bin"/><Relationship Id="rId2" Type="http://schemas.openxmlformats.org/officeDocument/2006/relationships/image" Target="../media/image56.wmf"/><Relationship Id="rId12" Type="http://schemas.openxmlformats.org/officeDocument/2006/relationships/vmlDrawing" Target="../drawings/vmlDrawing4.vml"/><Relationship Id="rId11" Type="http://schemas.openxmlformats.org/officeDocument/2006/relationships/slideLayout" Target="../slideLayouts/slideLayout3.xml"/><Relationship Id="rId10" Type="http://schemas.openxmlformats.org/officeDocument/2006/relationships/image" Target="../media/image60.wmf"/><Relationship Id="rId1" Type="http://schemas.openxmlformats.org/officeDocument/2006/relationships/oleObject" Target="../embeddings/oleObject6.bin"/></Relationships>
</file>

<file path=ppt/slides/_rels/slide53.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3.xml"/><Relationship Id="rId3" Type="http://schemas.openxmlformats.org/officeDocument/2006/relationships/image" Target="../media/image62.png"/><Relationship Id="rId2" Type="http://schemas.openxmlformats.org/officeDocument/2006/relationships/image" Target="../media/image61.wmf"/><Relationship Id="rId1" Type="http://schemas.openxmlformats.org/officeDocument/2006/relationships/oleObject" Target="../embeddings/oleObject11.bin"/></Relationships>
</file>

<file path=ppt/slides/_rels/slide54.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3.xml"/><Relationship Id="rId6" Type="http://schemas.openxmlformats.org/officeDocument/2006/relationships/image" Target="../media/image65.wmf"/><Relationship Id="rId5" Type="http://schemas.openxmlformats.org/officeDocument/2006/relationships/oleObject" Target="../embeddings/oleObject14.bin"/><Relationship Id="rId4" Type="http://schemas.openxmlformats.org/officeDocument/2006/relationships/image" Target="../media/image64.wmf"/><Relationship Id="rId3" Type="http://schemas.openxmlformats.org/officeDocument/2006/relationships/oleObject" Target="../embeddings/oleObject13.bin"/><Relationship Id="rId2" Type="http://schemas.openxmlformats.org/officeDocument/2006/relationships/image" Target="../media/image63.wmf"/><Relationship Id="rId1" Type="http://schemas.openxmlformats.org/officeDocument/2006/relationships/oleObject" Target="../embeddings/oleObject12.bin"/></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3.xml"/><Relationship Id="rId4" Type="http://schemas.openxmlformats.org/officeDocument/2006/relationships/image" Target="../media/image67.wmf"/><Relationship Id="rId3" Type="http://schemas.openxmlformats.org/officeDocument/2006/relationships/oleObject" Target="../embeddings/oleObject16.bin"/><Relationship Id="rId2" Type="http://schemas.openxmlformats.org/officeDocument/2006/relationships/image" Target="../media/image66.wmf"/><Relationship Id="rId1" Type="http://schemas.openxmlformats.org/officeDocument/2006/relationships/oleObject" Target="../embeddings/oleObject15.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3.xml"/><Relationship Id="rId2" Type="http://schemas.openxmlformats.org/officeDocument/2006/relationships/image" Target="../media/image68.wmf"/><Relationship Id="rId1" Type="http://schemas.openxmlformats.org/officeDocument/2006/relationships/oleObject" Target="../embeddings/oleObject17.bin"/></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0.png"/><Relationship Id="rId1"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3.xml"/><Relationship Id="rId4" Type="http://schemas.openxmlformats.org/officeDocument/2006/relationships/image" Target="../media/image72.wmf"/><Relationship Id="rId3" Type="http://schemas.openxmlformats.org/officeDocument/2006/relationships/oleObject" Target="../embeddings/oleObject19.bin"/><Relationship Id="rId2" Type="http://schemas.openxmlformats.org/officeDocument/2006/relationships/image" Target="../media/image71.wmf"/><Relationship Id="rId1" Type="http://schemas.openxmlformats.org/officeDocument/2006/relationships/oleObject" Target="../embeddings/oleObject18.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3.xml"/><Relationship Id="rId2" Type="http://schemas.openxmlformats.org/officeDocument/2006/relationships/image" Target="../media/image73.wmf"/><Relationship Id="rId1" Type="http://schemas.openxmlformats.org/officeDocument/2006/relationships/oleObject" Target="../embeddings/oleObject20.bin"/></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wmf"/><Relationship Id="rId3" Type="http://schemas.openxmlformats.org/officeDocument/2006/relationships/oleObject" Target="../embeddings/oleObject22.bin"/><Relationship Id="rId2" Type="http://schemas.openxmlformats.org/officeDocument/2006/relationships/image" Target="../media/image75.wmf"/><Relationship Id="rId1" Type="http://schemas.openxmlformats.org/officeDocument/2006/relationships/oleObject" Target="../embeddings/oleObject21.bin"/></Relationships>
</file>

<file path=ppt/slides/_rels/slide71.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3.xml"/><Relationship Id="rId5" Type="http://schemas.openxmlformats.org/officeDocument/2006/relationships/image" Target="../media/image74.png"/><Relationship Id="rId4" Type="http://schemas.openxmlformats.org/officeDocument/2006/relationships/image" Target="../media/image79.wmf"/><Relationship Id="rId3" Type="http://schemas.openxmlformats.org/officeDocument/2006/relationships/oleObject" Target="../embeddings/oleObject24.bin"/><Relationship Id="rId2" Type="http://schemas.openxmlformats.org/officeDocument/2006/relationships/image" Target="../media/image78.wmf"/><Relationship Id="rId1" Type="http://schemas.openxmlformats.org/officeDocument/2006/relationships/oleObject" Target="../embeddings/oleObject23.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0.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1.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7.jpeg"/><Relationship Id="rId1" Type="http://schemas.openxmlformats.org/officeDocument/2006/relationships/image" Target="../media/image86.png"/></Relationships>
</file>

<file path=ppt/slides/_rels/slide8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8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3.png"/><Relationship Id="rId1" Type="http://schemas.openxmlformats.org/officeDocument/2006/relationships/image" Target="../media/image92.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4.pn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9.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0.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2.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3.png"/></Relationships>
</file>

<file path=ppt/slides/_rels/slide10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image" Target="../media/image104.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7.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8.jpe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9.jpe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0.jpe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1.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2.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16.png"/><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11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7.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9.jpeg"/><Relationship Id="rId1" Type="http://schemas.openxmlformats.org/officeDocument/2006/relationships/image" Target="../media/image118.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0.png"/></Relationships>
</file>

<file path=ppt/slides/_rels/slide12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27.png"/><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image" Target="../media/image121.png"/></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9.png"/><Relationship Id="rId1" Type="http://schemas.openxmlformats.org/officeDocument/2006/relationships/image" Target="../media/image128.png"/></Relationships>
</file>

<file path=ppt/slides/_rels/slide12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image" Target="../media/image130.png"/></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7.png"/><Relationship Id="rId1" Type="http://schemas.openxmlformats.org/officeDocument/2006/relationships/image" Target="../media/image13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image" Target="../media/image138.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4.jpe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7.png"/><Relationship Id="rId1" Type="http://schemas.openxmlformats.org/officeDocument/2006/relationships/image" Target="../media/image146.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52.png"/><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image" Target="../media/image149.png"/></Relationships>
</file>

<file path=ppt/slides/_rels/slide13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image" Target="../media/image15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9.png"/></Relationships>
</file>

<file path=ppt/slides/_rels/slide14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image" Target="../media/image16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image" Target="../media/image16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image" Target="../media/image166.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image" Target="../media/image169.png"/></Relationships>
</file>

<file path=ppt/slides/_rels/slide1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3.png"/><Relationship Id="rId1" Type="http://schemas.openxmlformats.org/officeDocument/2006/relationships/image" Target="../media/image17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4.png"/></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5.jpe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image" Target="../media/image176.png"/></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9.jpe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83.png"/><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image" Target="../media/image180.png"/></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4.png"/></Relationships>
</file>

<file path=ppt/slides/_rels/slide1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6.jpeg"/><Relationship Id="rId1" Type="http://schemas.openxmlformats.org/officeDocument/2006/relationships/image" Target="../media/image185.png"/></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63246" y="1449323"/>
            <a:ext cx="9021317" cy="1527047"/>
          </a:xfrm>
          <a:prstGeom prst="rect">
            <a:avLst/>
          </a:prstGeom>
          <a:solidFill>
            <a:srgbClr val="D34817">
              <a:alpha val="100000"/>
            </a:srgbClr>
          </a:solidFill>
          <a:ln w="0" cap="flat">
            <a:noFill/>
            <a:prstDash val="solid"/>
            <a:miter lim="0"/>
          </a:ln>
        </p:spPr>
        <p:txBody>
          <a:bodyPr rtlCol="0"/>
          <a:lstStyle/>
          <a:p>
            <a:pPr algn="ctr"/>
            <a:endParaRPr lang="zh-CN" altLang="en-US"/>
          </a:p>
        </p:txBody>
      </p:sp>
      <p:sp>
        <p:nvSpPr>
          <p:cNvPr id="6" name="rect 6"/>
          <p:cNvSpPr/>
          <p:nvPr/>
        </p:nvSpPr>
        <p:spPr>
          <a:xfrm>
            <a:off x="63246" y="1396745"/>
            <a:ext cx="9021317" cy="120396"/>
          </a:xfrm>
          <a:prstGeom prst="rect">
            <a:avLst/>
          </a:prstGeom>
          <a:solidFill>
            <a:srgbClr val="E6B1AB">
              <a:alpha val="100000"/>
            </a:srgbClr>
          </a:solidFill>
          <a:ln w="0" cap="flat">
            <a:noFill/>
            <a:prstDash val="solid"/>
            <a:miter lim="0"/>
          </a:ln>
        </p:spPr>
        <p:txBody>
          <a:bodyPr rtlCol="0"/>
          <a:lstStyle/>
          <a:p>
            <a:pPr algn="ctr"/>
            <a:endParaRPr lang="zh-CN" altLang="en-US"/>
          </a:p>
        </p:txBody>
      </p:sp>
      <p:sp>
        <p:nvSpPr>
          <p:cNvPr id="8" name="rect 8"/>
          <p:cNvSpPr/>
          <p:nvPr/>
        </p:nvSpPr>
        <p:spPr>
          <a:xfrm>
            <a:off x="63246" y="2976371"/>
            <a:ext cx="9021317" cy="110490"/>
          </a:xfrm>
          <a:prstGeom prst="rect">
            <a:avLst/>
          </a:prstGeom>
          <a:solidFill>
            <a:srgbClr val="918485">
              <a:alpha val="100000"/>
            </a:srgbClr>
          </a:solidFill>
          <a:ln w="0" cap="flat">
            <a:noFill/>
            <a:prstDash val="solid"/>
            <a:miter lim="0"/>
          </a:ln>
        </p:spPr>
        <p:txBody>
          <a:bodyPr rtlCol="0"/>
          <a:lstStyle/>
          <a:p>
            <a:pPr algn="ctr"/>
            <a:endParaRPr lang="zh-CN" altLang="en-US"/>
          </a:p>
        </p:txBody>
      </p:sp>
      <p:graphicFrame>
        <p:nvGraphicFramePr>
          <p:cNvPr id="10" name="table 10"/>
          <p:cNvGraphicFramePr>
            <a:graphicFrameLocks noGrp="1"/>
          </p:cNvGraphicFramePr>
          <p:nvPr/>
        </p:nvGraphicFramePr>
        <p:xfrm>
          <a:off x="60832" y="66928"/>
          <a:ext cx="9019540" cy="6699250"/>
        </p:xfrm>
        <a:graphic>
          <a:graphicData uri="http://schemas.openxmlformats.org/drawingml/2006/table">
            <a:tbl>
              <a:tblPr/>
              <a:tblGrid>
                <a:gridCol w="9019540"/>
              </a:tblGrid>
              <a:tr h="5019040">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3769995" algn="l" rtl="0" eaLnBrk="0">
                        <a:lnSpc>
                          <a:spcPct val="86000"/>
                        </a:lnSpc>
                      </a:pPr>
                      <a:endParaRPr sz="40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80210">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71145" algn="l" rtl="0" eaLnBrk="0">
                        <a:lnSpc>
                          <a:spcPct val="80000"/>
                        </a:lnSpc>
                        <a:spcBef>
                          <a:spcPts val="5"/>
                        </a:spcBef>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11" name="文本框 10"/>
          <p:cNvSpPr txBox="1"/>
          <p:nvPr/>
        </p:nvSpPr>
        <p:spPr>
          <a:xfrm>
            <a:off x="2247900" y="1831340"/>
            <a:ext cx="6953885" cy="829945"/>
          </a:xfrm>
          <a:prstGeom prst="rect">
            <a:avLst/>
          </a:prstGeom>
        </p:spPr>
        <p:txBody>
          <a:bodyPr wrap="square">
            <a:spAutoFit/>
            <a:extLst>
              <a:ext uri="{4A0BC546-FE56-4ADE-93B0-CB8AF2F6F144}">
                <wpsdc:textFrameExt xmlns:wpsdc="http://www.wps.cn/officeDocument/2022/drawingmlCustomData" type="text"/>
              </a:ext>
            </a:extLst>
          </a:bodyPr>
          <a:lstStyle/>
          <a:p>
            <a:pPr algn="l"/>
            <a:r>
              <a:rPr sz="4800" b="1" kern="0" spc="-30" dirty="0">
                <a:solidFill>
                  <a:srgbClr val="FFFFFF">
                    <a:alpha val="100000"/>
                  </a:srgbClr>
                </a:solidFill>
                <a:latin typeface="幼圆" panose="02010509060101010101" charset="-122"/>
                <a:ea typeface="幼圆" panose="02010509060101010101" charset="-122"/>
                <a:cs typeface="幼圆" panose="02010509060101010101" charset="-122"/>
              </a:rPr>
              <a:t>第</a:t>
            </a:r>
            <a:r>
              <a:rPr lang="zh-CN" sz="4800" b="1" kern="0" spc="-30" dirty="0">
                <a:solidFill>
                  <a:srgbClr val="FFFFFF">
                    <a:alpha val="100000"/>
                  </a:srgbClr>
                </a:solidFill>
                <a:latin typeface="幼圆" panose="02010509060101010101" charset="-122"/>
                <a:ea typeface="幼圆" panose="02010509060101010101" charset="-122"/>
                <a:cs typeface="幼圆" panose="02010509060101010101" charset="-122"/>
              </a:rPr>
              <a:t>二</a:t>
            </a:r>
            <a:r>
              <a:rPr sz="4800" b="1" kern="0" spc="-30" dirty="0">
                <a:solidFill>
                  <a:srgbClr val="FFFFFF">
                    <a:alpha val="100000"/>
                  </a:srgbClr>
                </a:solidFill>
                <a:latin typeface="幼圆" panose="02010509060101010101" charset="-122"/>
                <a:ea typeface="幼圆" panose="02010509060101010101" charset="-122"/>
                <a:cs typeface="幼圆" panose="02010509060101010101" charset="-122"/>
              </a:rPr>
              <a:t>讲 </a:t>
            </a:r>
            <a:r>
              <a:rPr lang="zh-CN" sz="4800" b="1" kern="0" spc="-30" dirty="0">
                <a:solidFill>
                  <a:srgbClr val="FFFFFF">
                    <a:alpha val="100000"/>
                  </a:srgbClr>
                </a:solidFill>
                <a:latin typeface="幼圆" panose="02010509060101010101" charset="-122"/>
                <a:ea typeface="幼圆" panose="02010509060101010101" charset="-122"/>
                <a:cs typeface="幼圆" panose="02010509060101010101" charset="-122"/>
              </a:rPr>
              <a:t>线性回归</a:t>
            </a:r>
            <a:endParaRPr lang="zh-CN" sz="4800" b="1" kern="0" spc="-30" dirty="0">
              <a:solidFill>
                <a:srgbClr val="FFFFFF">
                  <a:alpha val="100000"/>
                </a:srgbClr>
              </a:solidFill>
              <a:latin typeface="幼圆" panose="02010509060101010101" charset="-122"/>
              <a:ea typeface="幼圆" panose="02010509060101010101" charset="-122"/>
              <a:cs typeface="幼圆" panose="02010509060101010101" charset="-122"/>
            </a:endParaRPr>
          </a:p>
        </p:txBody>
      </p:sp>
      <p:sp>
        <p:nvSpPr>
          <p:cNvPr id="12" name="文本框 11"/>
          <p:cNvSpPr txBox="1"/>
          <p:nvPr/>
        </p:nvSpPr>
        <p:spPr>
          <a:xfrm>
            <a:off x="2435225" y="3802380"/>
            <a:ext cx="4603750" cy="829945"/>
          </a:xfrm>
          <a:prstGeom prst="rect">
            <a:avLst/>
          </a:prstGeom>
        </p:spPr>
        <p:txBody>
          <a:bodyPr wrap="square">
            <a:spAutoFit/>
            <a:extLst>
              <a:ext uri="{4A0BC546-FE56-4ADE-93B0-CB8AF2F6F144}">
                <wpsdc:textFrameExt xmlns:wpsdc="http://www.wps.cn/officeDocument/2022/drawingmlCustomData" type="text"/>
              </a:ext>
            </a:extLst>
          </a:bodyPr>
          <a:lstStyle/>
          <a:p>
            <a:pPr algn="ctr"/>
            <a:r>
              <a:rPr lang="zh-CN" altLang="en-US" sz="2400" b="1">
                <a:latin typeface="华文楷体" panose="02010600040101010101" charset="-122"/>
                <a:ea typeface="华文楷体" panose="02010600040101010101" charset="-122"/>
                <a:cs typeface="华文楷体" panose="02010600040101010101" charset="-122"/>
              </a:rPr>
              <a:t>胡利琴</a:t>
            </a:r>
            <a:r>
              <a:rPr lang="en-US" altLang="zh-CN" sz="2400" b="1">
                <a:latin typeface="华文楷体" panose="02010600040101010101" charset="-122"/>
                <a:ea typeface="华文楷体" panose="02010600040101010101" charset="-122"/>
                <a:cs typeface="华文楷体" panose="02010600040101010101" charset="-122"/>
              </a:rPr>
              <a:t> </a:t>
            </a:r>
            <a:endParaRPr lang="en-US" altLang="zh-CN" sz="2400" b="1">
              <a:latin typeface="华文楷体" panose="02010600040101010101" charset="-122"/>
              <a:ea typeface="华文楷体" panose="02010600040101010101" charset="-122"/>
              <a:cs typeface="华文楷体" panose="02010600040101010101" charset="-122"/>
            </a:endParaRPr>
          </a:p>
          <a:p>
            <a:pPr algn="ctr"/>
            <a:r>
              <a:rPr lang="zh-CN" altLang="en-US" sz="2400" b="1">
                <a:latin typeface="华文楷体" panose="02010600040101010101" charset="-122"/>
                <a:ea typeface="华文楷体" panose="02010600040101010101" charset="-122"/>
                <a:cs typeface="华文楷体" panose="02010600040101010101" charset="-122"/>
              </a:rPr>
              <a:t>武汉大学经济与管理学院金融系</a:t>
            </a:r>
            <a:endParaRPr lang="zh-CN" altLang="en-US" sz="2400" b="1">
              <a:latin typeface="华文楷体" panose="02010600040101010101" charset="-122"/>
              <a:ea typeface="华文楷体" panose="02010600040101010101" charset="-122"/>
              <a:cs typeface="华文楷体" panose="0201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p:cNvGraphicFramePr>
            <a:graphicFrameLocks noGrp="1"/>
          </p:cNvGraphicFramePr>
          <p:nvPr/>
        </p:nvGraphicFramePr>
        <p:xfrm>
          <a:off x="60832" y="66928"/>
          <a:ext cx="9019540" cy="6699250"/>
        </p:xfrm>
        <a:graphic>
          <a:graphicData uri="http://schemas.openxmlformats.org/drawingml/2006/table">
            <a:tbl>
              <a:tblPr/>
              <a:tblGrid>
                <a:gridCol w="9019540"/>
              </a:tblGrid>
              <a:tr h="5019040">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3769995" algn="l" rtl="0" eaLnBrk="0">
                        <a:lnSpc>
                          <a:spcPct val="86000"/>
                        </a:lnSpc>
                      </a:pPr>
                      <a:r>
                        <a:rPr sz="4000" b="1" kern="0" spc="-30" dirty="0">
                          <a:solidFill>
                            <a:srgbClr val="000000">
                              <a:alpha val="100000"/>
                            </a:srgbClr>
                          </a:solidFill>
                          <a:latin typeface="幼圆" panose="02010509060101010101" charset="-122"/>
                          <a:ea typeface="幼圆" panose="02010509060101010101" charset="-122"/>
                          <a:cs typeface="幼圆" panose="02010509060101010101" charset="-122"/>
                        </a:rPr>
                        <a:t>第一章</a:t>
                      </a:r>
                      <a:endParaRPr sz="4000" dirty="0">
                        <a:latin typeface="幼圆" panose="02010509060101010101" charset="-122"/>
                        <a:ea typeface="幼圆" panose="02010509060101010101" charset="-122"/>
                        <a:cs typeface="幼圆" panose="02010509060101010101" charset="-122"/>
                      </a:endParaRPr>
                    </a:p>
                    <a:p>
                      <a:pPr algn="l" rtl="0" eaLnBrk="0">
                        <a:lnSpc>
                          <a:spcPct val="159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marL="1174115" algn="l" rtl="0" eaLnBrk="0">
                        <a:lnSpc>
                          <a:spcPct val="87000"/>
                        </a:lnSpc>
                        <a:spcBef>
                          <a:spcPts val="5"/>
                        </a:spcBef>
                      </a:pPr>
                      <a:r>
                        <a:rPr sz="4000" b="1" kern="0" spc="-20" dirty="0">
                          <a:solidFill>
                            <a:srgbClr val="000000">
                              <a:alpha val="100000"/>
                            </a:srgbClr>
                          </a:solidFill>
                          <a:latin typeface="幼圆" panose="02010509060101010101" charset="-122"/>
                          <a:ea typeface="幼圆" panose="02010509060101010101" charset="-122"/>
                          <a:cs typeface="幼圆" panose="02010509060101010101" charset="-122"/>
                        </a:rPr>
                        <a:t>简单线性回归</a:t>
                      </a:r>
                      <a:r>
                        <a:rPr sz="4000" b="1" kern="0" spc="-20" dirty="0">
                          <a:solidFill>
                            <a:srgbClr val="000000">
                              <a:alpha val="100000"/>
                            </a:srgbClr>
                          </a:solidFill>
                          <a:latin typeface="Franklin Gothic Book" panose="020B0503020102020204"/>
                          <a:ea typeface="Franklin Gothic Book" panose="020B0503020102020204"/>
                          <a:cs typeface="Franklin Gothic Book" panose="020B0503020102020204"/>
                        </a:rPr>
                        <a:t>:</a:t>
                      </a:r>
                      <a:r>
                        <a:rPr sz="4000" kern="0" spc="-20" dirty="0">
                          <a:solidFill>
                            <a:srgbClr val="000000">
                              <a:alpha val="100000"/>
                            </a:srgbClr>
                          </a:solidFill>
                          <a:latin typeface="Franklin Gothic Book" panose="020B0503020102020204"/>
                          <a:ea typeface="Franklin Gothic Book" panose="020B0503020102020204"/>
                          <a:cs typeface="Franklin Gothic Book" panose="020B0503020102020204"/>
                        </a:rPr>
                        <a:t> </a:t>
                      </a:r>
                      <a:r>
                        <a:rPr sz="4000" b="1" kern="0" spc="-20" dirty="0">
                          <a:solidFill>
                            <a:srgbClr val="000000">
                              <a:alpha val="100000"/>
                            </a:srgbClr>
                          </a:solidFill>
                          <a:latin typeface="幼圆" panose="02010509060101010101" charset="-122"/>
                          <a:ea typeface="幼圆" panose="02010509060101010101" charset="-122"/>
                          <a:cs typeface="幼圆" panose="02010509060101010101" charset="-122"/>
                        </a:rPr>
                        <a:t>设定与检验</a:t>
                      </a:r>
                      <a:endParaRPr sz="40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80210">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71145" algn="l" rtl="0" eaLnBrk="0">
                        <a:lnSpc>
                          <a:spcPct val="80000"/>
                        </a:lnSpc>
                        <a:spcBef>
                          <a:spcPts val="5"/>
                        </a:spcBef>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4"/>
          <p:cNvPicPr>
            <a:picLocks noChangeAspect="1"/>
          </p:cNvPicPr>
          <p:nvPr/>
        </p:nvPicPr>
        <p:blipFill>
          <a:blip r:embed="rId1"/>
          <a:stretch>
            <a:fillRect/>
          </a:stretch>
        </p:blipFill>
        <p:spPr>
          <a:xfrm rot="21600000">
            <a:off x="2405760" y="3828415"/>
            <a:ext cx="4109973" cy="1322577"/>
          </a:xfrm>
          <a:prstGeom prst="rect">
            <a:avLst/>
          </a:prstGeom>
        </p:spPr>
      </p:pic>
      <p:pic>
        <p:nvPicPr>
          <p:cNvPr id="16" name="picture 16"/>
          <p:cNvPicPr>
            <a:picLocks noChangeAspect="1"/>
          </p:cNvPicPr>
          <p:nvPr/>
        </p:nvPicPr>
        <p:blipFill>
          <a:blip r:embed="rId2"/>
          <a:stretch>
            <a:fillRect/>
          </a:stretch>
        </p:blipFill>
        <p:spPr>
          <a:xfrm rot="21600000">
            <a:off x="2405760" y="5662548"/>
            <a:ext cx="4116831" cy="554482"/>
          </a:xfrm>
          <a:prstGeom prst="rect">
            <a:avLst/>
          </a:prstGeom>
        </p:spPr>
      </p:pic>
      <p:graphicFrame>
        <p:nvGraphicFramePr>
          <p:cNvPr id="18" name="table 18"/>
          <p:cNvGraphicFramePr>
            <a:graphicFrameLocks noGrp="1"/>
          </p:cNvGraphicFramePr>
          <p:nvPr/>
        </p:nvGraphicFramePr>
        <p:xfrm>
          <a:off x="60832" y="79628"/>
          <a:ext cx="9019540" cy="6699248"/>
        </p:xfrm>
        <a:graphic>
          <a:graphicData uri="http://schemas.openxmlformats.org/drawingml/2006/table">
            <a:tbl>
              <a:tblPr/>
              <a:tblGrid>
                <a:gridCol w="1006475"/>
                <a:gridCol w="8013065"/>
              </a:tblGrid>
              <a:tr h="3361689">
                <a:tc>
                  <a:txBody>
                    <a:bodyPr/>
                    <a:lstStyle/>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38000"/>
                        </a:lnSpc>
                      </a:pPr>
                      <a:endParaRPr sz="1000" dirty="0">
                        <a:latin typeface="Arial" panose="020B0604020202020204"/>
                        <a:ea typeface="Arial" panose="020B0604020202020204"/>
                        <a:cs typeface="Arial" panose="020B0604020202020204"/>
                      </a:endParaRPr>
                    </a:p>
                    <a:p>
                      <a:pPr marL="809625" algn="l" rtl="0" eaLnBrk="0">
                        <a:lnSpc>
                          <a:spcPts val="1535"/>
                        </a:lnSpc>
                        <a:spcBef>
                          <a:spcPts val="5"/>
                        </a:spcBef>
                      </a:pPr>
                      <a:r>
                        <a:rPr sz="22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endParaRPr sz="2200" dirty="0">
                        <a:latin typeface="微软雅黑" panose="020B0503020204020204" charset="-122"/>
                        <a:ea typeface="微软雅黑" panose="020B0503020204020204" charset="-122"/>
                        <a:cs typeface="微软雅黑" panose="020B0503020204020204" charset="-122"/>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rowSpan="2">
                  <a:txBody>
                    <a:bodyPr/>
                    <a:lstStyle/>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marL="590550" algn="l" rtl="0" eaLnBrk="0">
                        <a:lnSpc>
                          <a:spcPct val="83000"/>
                        </a:lnSpc>
                        <a:spcBef>
                          <a:spcPts val="0"/>
                        </a:spcBef>
                      </a:pP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回归分析是研究一个叫做</a:t>
                      </a:r>
                      <a:r>
                        <a:rPr sz="24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因变量</a:t>
                      </a:r>
                      <a:r>
                        <a:rPr sz="24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（被解释变量）</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a:t>
                      </a:r>
                      <a:endParaRPr sz="2400" dirty="0">
                        <a:latin typeface="宋体" panose="02010600030101010101" pitchFamily="2" charset="-122"/>
                        <a:ea typeface="宋体" panose="02010600030101010101" pitchFamily="2" charset="-122"/>
                        <a:cs typeface="宋体" panose="02010600030101010101" pitchFamily="2" charset="-122"/>
                      </a:endParaRPr>
                    </a:p>
                    <a:p>
                      <a:pPr marL="65405" algn="l" rtl="0" eaLnBrk="0">
                        <a:lnSpc>
                          <a:spcPct val="152000"/>
                        </a:lnSpc>
                        <a:spcBef>
                          <a:spcPts val="120"/>
                        </a:spcBef>
                      </a:pP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变量对另</a:t>
                      </a:r>
                      <a:r>
                        <a:rPr sz="24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一个或多个</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叫</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做</a:t>
                      </a:r>
                      <a:r>
                        <a:rPr sz="24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自变量（解释变量）</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的变量       </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a:t>
                      </a:r>
                      <a:r>
                        <a:rPr sz="2400" b="1" kern="0" spc="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依赖关系</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，目的在于通过</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解释变量（在重复抽样中）     </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的已知或给定值，去估计和</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（或）预测前者的总体均</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值，从而实现对具有随机性</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特征的经济变量之间的关</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系进行结构估计、经济预</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测和政策评价。</a:t>
                      </a:r>
                      <a:endParaRPr sz="24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236854">
                <a:tc rowSpan="3">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66700" algn="l" rtl="0" eaLnBrk="0">
                        <a:lnSpc>
                          <a:spcPct val="80000"/>
                        </a:lnSpc>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3</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vMerge="1">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741170">
                <a:tc vMerge="1">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4238625" algn="l" rtl="0" eaLnBrk="0">
                        <a:lnSpc>
                          <a:spcPct val="86000"/>
                        </a:lnSpc>
                      </a:pPr>
                      <a:r>
                        <a:rPr sz="18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回归分析</a:t>
                      </a:r>
                      <a:endParaRPr sz="1800" dirty="0">
                        <a:latin typeface="宋体" panose="02010600030101010101" pitchFamily="2" charset="-122"/>
                        <a:ea typeface="宋体" panose="02010600030101010101" pitchFamily="2" charset="-122"/>
                        <a:cs typeface="宋体" panose="02010600030101010101" pitchFamily="2" charset="-122"/>
                      </a:endParaRPr>
                    </a:p>
                    <a:p>
                      <a:pPr marL="1666240" algn="l" rtl="0" eaLnBrk="0">
                        <a:lnSpc>
                          <a:spcPct val="86000"/>
                        </a:lnSpc>
                        <a:spcBef>
                          <a:spcPts val="1355"/>
                        </a:spcBef>
                      </a:pPr>
                      <a:r>
                        <a:rPr sz="1800" b="1" kern="0" spc="-4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统计关系</a:t>
                      </a:r>
                      <a:endParaRPr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2000"/>
                        </a:lnSpc>
                      </a:pPr>
                      <a:endParaRPr sz="800" dirty="0">
                        <a:latin typeface="Arial" panose="020B0604020202020204"/>
                        <a:ea typeface="Arial" panose="020B0604020202020204"/>
                        <a:cs typeface="Arial" panose="020B0604020202020204"/>
                      </a:endParaRPr>
                    </a:p>
                    <a:p>
                      <a:pPr marL="4110990" algn="l" rtl="0" eaLnBrk="0">
                        <a:lnSpc>
                          <a:spcPct val="86000"/>
                        </a:lnSpc>
                        <a:spcBef>
                          <a:spcPts val="5"/>
                        </a:spcBef>
                      </a:pPr>
                      <a:r>
                        <a:rPr sz="18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相关性分析</a:t>
                      </a:r>
                      <a:endParaRPr sz="18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1359535">
                <a:tc vMerge="1">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33000"/>
                        </a:lnSpc>
                      </a:pP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marL="1678940" algn="l" rtl="0" eaLnBrk="0">
                        <a:lnSpc>
                          <a:spcPct val="86000"/>
                        </a:lnSpc>
                        <a:spcBef>
                          <a:spcPts val="5"/>
                        </a:spcBef>
                      </a:pPr>
                      <a:r>
                        <a:rPr sz="1800" b="1" kern="0" spc="-3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因果关系</a:t>
                      </a:r>
                      <a:r>
                        <a:rPr sz="1800" kern="0" spc="-3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因果</a:t>
                      </a:r>
                      <a:r>
                        <a:rPr sz="1800" b="1"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分析</a:t>
                      </a:r>
                      <a:endParaRPr sz="18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2"/>
          <p:cNvGraphicFramePr>
            <a:graphicFrameLocks noGrp="1"/>
          </p:cNvGraphicFramePr>
          <p:nvPr/>
        </p:nvGraphicFramePr>
        <p:xfrm>
          <a:off x="60832" y="66928"/>
          <a:ext cx="9019540" cy="6699250"/>
        </p:xfrm>
        <a:graphic>
          <a:graphicData uri="http://schemas.openxmlformats.org/drawingml/2006/table">
            <a:tbl>
              <a:tblPr/>
              <a:tblGrid>
                <a:gridCol w="9019540"/>
              </a:tblGrid>
              <a:tr h="4827270">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658620" algn="l" rtl="0" eaLnBrk="0">
                        <a:lnSpc>
                          <a:spcPct val="87000"/>
                        </a:lnSpc>
                      </a:pP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第一节</a:t>
                      </a:r>
                      <a:r>
                        <a:rPr sz="3600" kern="0" spc="-10" dirty="0">
                          <a:solidFill>
                            <a:srgbClr val="000000">
                              <a:alpha val="100000"/>
                            </a:srgbClr>
                          </a:solidFill>
                          <a:latin typeface="幼圆" panose="02010509060101010101" charset="-122"/>
                          <a:ea typeface="幼圆" panose="02010509060101010101" charset="-122"/>
                          <a:cs typeface="幼圆" panose="02010509060101010101" charset="-122"/>
                        </a:rPr>
                        <a:t> </a:t>
                      </a: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回归分析的基本思</a:t>
                      </a:r>
                      <a:r>
                        <a:rPr sz="3600" b="1" kern="0" spc="-20" dirty="0">
                          <a:solidFill>
                            <a:srgbClr val="000000">
                              <a:alpha val="100000"/>
                            </a:srgbClr>
                          </a:solidFill>
                          <a:latin typeface="幼圆" panose="02010509060101010101" charset="-122"/>
                          <a:ea typeface="幼圆" panose="02010509060101010101" charset="-122"/>
                          <a:cs typeface="幼圆" panose="02010509060101010101" charset="-122"/>
                        </a:rPr>
                        <a:t>想</a:t>
                      </a:r>
                      <a:endParaRPr sz="36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871980">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267335" algn="l" rtl="0" eaLnBrk="0">
                        <a:lnSpc>
                          <a:spcPct val="80000"/>
                        </a:lnSpc>
                        <a:spcBef>
                          <a:spcPts val="0"/>
                        </a:spcBef>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4</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table 26"/>
          <p:cNvGraphicFramePr>
            <a:graphicFrameLocks noGrp="1"/>
          </p:cNvGraphicFramePr>
          <p:nvPr/>
        </p:nvGraphicFramePr>
        <p:xfrm>
          <a:off x="60832" y="66928"/>
          <a:ext cx="9019538" cy="6699249"/>
        </p:xfrm>
        <a:graphic>
          <a:graphicData uri="http://schemas.openxmlformats.org/drawingml/2006/table">
            <a:tbl>
              <a:tblPr/>
              <a:tblGrid>
                <a:gridCol w="791844"/>
                <a:gridCol w="8227694"/>
              </a:tblGrid>
              <a:tr h="2045970">
                <a:tc gridSpan="2">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经济理论：</a:t>
                      </a:r>
                      <a:r>
                        <a:rPr sz="22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家庭收入</a:t>
                      </a:r>
                      <a:r>
                        <a:rPr sz="2200" kern="0" spc="-2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1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家庭消费</a:t>
                      </a:r>
                      <a:r>
                        <a:rPr sz="2200" kern="0" spc="-2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3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7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回归分析的目的：</a:t>
                      </a:r>
                      <a:r>
                        <a:rPr sz="22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检验家庭收入</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对家庭消费支出</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的影响。</a:t>
                      </a:r>
                      <a:r>
                        <a:rPr sz="2200" kern="0" spc="-30" dirty="0">
                          <a:solidFill>
                            <a:srgbClr val="000000">
                              <a:alpha val="100000"/>
                            </a:srgbClr>
                          </a:solidFill>
                          <a:latin typeface="Times New Roman" panose="02020603050405020304"/>
                          <a:ea typeface="Times New Roman" panose="02020603050405020304"/>
                          <a:cs typeface="Times New Roman" panose="02020603050405020304"/>
                        </a:rPr>
                        <a:t>X</a:t>
                      </a:r>
                      <a:endParaRPr sz="2200" dirty="0">
                        <a:latin typeface="Times New Roman" panose="02020603050405020304"/>
                        <a:ea typeface="Times New Roman" panose="02020603050405020304"/>
                        <a:cs typeface="Times New Roman" panose="02020603050405020304"/>
                      </a:endParaRPr>
                    </a:p>
                    <a:p>
                      <a:pPr algn="l" rtl="0" eaLnBrk="0">
                        <a:lnSpc>
                          <a:spcPct val="106000"/>
                        </a:lnSpc>
                      </a:pPr>
                      <a:endParaRPr sz="13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924560" algn="l" rtl="0" eaLnBrk="0">
                        <a:lnSpc>
                          <a:spcPct val="87000"/>
                        </a:lnSpc>
                      </a:pPr>
                      <a:r>
                        <a:rPr sz="2200"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外生固定；</a:t>
                      </a:r>
                      <a:r>
                        <a:rPr sz="2200" kern="0" spc="-12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随机变量。</a:t>
                      </a:r>
                      <a:endParaRPr sz="22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4653279">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marL="269240" algn="l" rtl="0" eaLnBrk="0">
                        <a:lnSpc>
                          <a:spcPct val="80000"/>
                        </a:lnSpc>
                        <a:spcBef>
                          <a:spcPts val="5"/>
                        </a:spcBef>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5</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8" name="picture 28"/>
          <p:cNvPicPr>
            <a:picLocks noChangeAspect="1"/>
          </p:cNvPicPr>
          <p:nvPr/>
        </p:nvPicPr>
        <p:blipFill>
          <a:blip r:embed="rId1"/>
          <a:stretch>
            <a:fillRect/>
          </a:stretch>
        </p:blipFill>
        <p:spPr>
          <a:xfrm rot="21600000">
            <a:off x="1102613" y="2276855"/>
            <a:ext cx="7342631" cy="43654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table 32"/>
          <p:cNvGraphicFramePr>
            <a:graphicFrameLocks noGrp="1"/>
          </p:cNvGraphicFramePr>
          <p:nvPr/>
        </p:nvGraphicFramePr>
        <p:xfrm>
          <a:off x="60832" y="66928"/>
          <a:ext cx="9019538" cy="6699250"/>
        </p:xfrm>
        <a:graphic>
          <a:graphicData uri="http://schemas.openxmlformats.org/drawingml/2006/table">
            <a:tbl>
              <a:tblPr/>
              <a:tblGrid>
                <a:gridCol w="852169"/>
                <a:gridCol w="816736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70510" algn="l" rtl="0" eaLnBrk="0">
                        <a:lnSpc>
                          <a:spcPct val="80000"/>
                        </a:lnSpc>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6</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309880" algn="l" rtl="0" eaLnBrk="0">
                        <a:lnSpc>
                          <a:spcPct val="83000"/>
                        </a:lnSpc>
                      </a:pPr>
                      <a:r>
                        <a:rPr sz="2000" b="1" kern="0" spc="-150" dirty="0">
                          <a:solidFill>
                            <a:srgbClr val="000000">
                              <a:alpha val="100000"/>
                            </a:srgbClr>
                          </a:solidFill>
                          <a:latin typeface="华文仿宋" panose="02010600040101010101" charset="-122"/>
                          <a:ea typeface="华文仿宋" panose="02010600040101010101" charset="-122"/>
                          <a:cs typeface="华文仿宋" panose="02010600040101010101" charset="-122"/>
                        </a:rPr>
                        <a:t>将上表用图形呈现：</a:t>
                      </a:r>
                      <a:endParaRPr sz="2000" dirty="0">
                        <a:latin typeface="华文仿宋" panose="02010600040101010101" charset="-122"/>
                        <a:ea typeface="华文仿宋" panose="02010600040101010101" charset="-122"/>
                        <a:cs typeface="华文仿宋" panose="0201060004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649605" algn="l" rtl="0" eaLnBrk="0">
                        <a:lnSpc>
                          <a:spcPts val="3055"/>
                        </a:lnSpc>
                        <a:spcBef>
                          <a:spcPts val="0"/>
                        </a:spcBef>
                      </a:pP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E(YIX)</a:t>
                      </a:r>
                      <a:r>
                        <a:rPr sz="2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600" kern="0" spc="-80" baseline="-100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r>
                        <a:rPr sz="2600" kern="0" spc="-80" baseline="-200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sz="1600" kern="0" spc="3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600" kern="0" spc="-80" baseline="20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600" kern="0" spc="-80" baseline="200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r>
                        <a:rPr sz="2600" kern="0" spc="-80" baseline="2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3600" kern="0" spc="-80" baseline="2000" dirty="0">
                          <a:solidFill>
                            <a:srgbClr val="000000">
                              <a:alpha val="100000"/>
                            </a:srgbClr>
                          </a:solidFill>
                          <a:latin typeface="微软雅黑" panose="020B0503020204020204" charset="-122"/>
                          <a:ea typeface="微软雅黑" panose="020B0503020204020204" charset="-122"/>
                          <a:cs typeface="微软雅黑" panose="020B0503020204020204" charset="-122"/>
                        </a:rPr>
                        <a:t>X</a:t>
                      </a:r>
                      <a:r>
                        <a:rPr sz="23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r>
                        <a:rPr sz="17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400" kern="0" spc="-80" dirty="0">
                          <a:solidFill>
                            <a:srgbClr val="000000">
                              <a:alpha val="100000"/>
                            </a:srgbClr>
                          </a:solidFill>
                          <a:latin typeface="仿宋" panose="02010609060101010101" charset="-122"/>
                          <a:ea typeface="仿宋" panose="02010609060101010101" charset="-122"/>
                          <a:cs typeface="仿宋" panose="02010609060101010101" charset="-122"/>
                        </a:rPr>
                        <a:t>是未知的，</a:t>
                      </a:r>
                      <a:r>
                        <a:rPr sz="2400" kern="0" spc="-90" dirty="0">
                          <a:solidFill>
                            <a:srgbClr val="000000">
                              <a:alpha val="100000"/>
                            </a:srgbClr>
                          </a:solidFill>
                          <a:latin typeface="仿宋" panose="02010609060101010101" charset="-122"/>
                          <a:ea typeface="仿宋" panose="02010609060101010101" charset="-122"/>
                          <a:cs typeface="仿宋" panose="02010609060101010101" charset="-122"/>
                        </a:rPr>
                        <a:t>因为总体未知</a:t>
                      </a:r>
                      <a:endParaRPr sz="2400" dirty="0">
                        <a:latin typeface="仿宋" panose="02010609060101010101" charset="-122"/>
                        <a:ea typeface="仿宋" panose="02010609060101010101" charset="-122"/>
                        <a:cs typeface="仿宋"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4" name="picture 34"/>
          <p:cNvPicPr>
            <a:picLocks noChangeAspect="1"/>
          </p:cNvPicPr>
          <p:nvPr/>
        </p:nvPicPr>
        <p:blipFill>
          <a:blip r:embed="rId1"/>
          <a:stretch>
            <a:fillRect/>
          </a:stretch>
        </p:blipFill>
        <p:spPr>
          <a:xfrm rot="21600000">
            <a:off x="1367789" y="1268729"/>
            <a:ext cx="6408419" cy="43205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able 38"/>
          <p:cNvGraphicFramePr>
            <a:graphicFrameLocks noGrp="1"/>
          </p:cNvGraphicFramePr>
          <p:nvPr/>
        </p:nvGraphicFramePr>
        <p:xfrm>
          <a:off x="60832" y="66928"/>
          <a:ext cx="9019539" cy="6699250"/>
        </p:xfrm>
        <a:graphic>
          <a:graphicData uri="http://schemas.openxmlformats.org/drawingml/2006/table">
            <a:tbl>
              <a:tblPr/>
              <a:tblGrid>
                <a:gridCol w="726440"/>
                <a:gridCol w="878205"/>
                <a:gridCol w="7414894"/>
              </a:tblGrid>
              <a:tr h="4178300">
                <a:tc gridSpan="2">
                  <a:txBody>
                    <a:bodyPr/>
                    <a:lstStyle/>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350010" algn="l" rtl="0" eaLnBrk="0">
                        <a:lnSpc>
                          <a:spcPct val="76000"/>
                        </a:lnSpc>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200</a:t>
                      </a:r>
                      <a:endParaRPr sz="1200" dirty="0">
                        <a:latin typeface="Times New Roman" panose="02020603050405020304"/>
                        <a:ea typeface="Times New Roman" panose="02020603050405020304"/>
                        <a:cs typeface="Times New Roman" panose="02020603050405020304"/>
                      </a:endParaRPr>
                    </a:p>
                    <a:p>
                      <a:pPr algn="l" rtl="0" eaLnBrk="0">
                        <a:lnSpc>
                          <a:spcPct val="130000"/>
                        </a:lnSpc>
                      </a:pPr>
                      <a:endParaRPr sz="1000" dirty="0">
                        <a:latin typeface="Arial" panose="020B0604020202020204"/>
                        <a:ea typeface="Arial" panose="020B0604020202020204"/>
                        <a:cs typeface="Arial" panose="020B0604020202020204"/>
                      </a:endParaRPr>
                    </a:p>
                    <a:p>
                      <a:pPr marL="1364615" algn="l" rtl="0" eaLnBrk="0">
                        <a:lnSpc>
                          <a:spcPct val="76000"/>
                        </a:lnSpc>
                        <a:spcBef>
                          <a:spcPts val="370"/>
                        </a:spcBef>
                      </a:pPr>
                      <a:r>
                        <a:rPr sz="1200" kern="0" spc="-40" dirty="0">
                          <a:solidFill>
                            <a:srgbClr val="000000">
                              <a:alpha val="100000"/>
                            </a:srgbClr>
                          </a:solidFill>
                          <a:latin typeface="Times New Roman" panose="02020603050405020304"/>
                          <a:ea typeface="Times New Roman" panose="02020603050405020304"/>
                          <a:cs typeface="Times New Roman" panose="02020603050405020304"/>
                        </a:rPr>
                        <a:t>180</a:t>
                      </a:r>
                      <a:endParaRPr sz="1200" dirty="0">
                        <a:latin typeface="Times New Roman" panose="02020603050405020304"/>
                        <a:ea typeface="Times New Roman" panose="02020603050405020304"/>
                        <a:cs typeface="Times New Roman" panose="02020603050405020304"/>
                      </a:endParaRPr>
                    </a:p>
                    <a:p>
                      <a:pPr algn="l" rtl="0" eaLnBrk="0">
                        <a:lnSpc>
                          <a:spcPct val="131000"/>
                        </a:lnSpc>
                      </a:pPr>
                      <a:endParaRPr sz="1000" dirty="0">
                        <a:latin typeface="Arial" panose="020B0604020202020204"/>
                        <a:ea typeface="Arial" panose="020B0604020202020204"/>
                        <a:cs typeface="Arial" panose="020B0604020202020204"/>
                      </a:endParaRPr>
                    </a:p>
                    <a:p>
                      <a:pPr marL="1364615" algn="l" rtl="0" eaLnBrk="0">
                        <a:lnSpc>
                          <a:spcPct val="76000"/>
                        </a:lnSpc>
                        <a:spcBef>
                          <a:spcPts val="360"/>
                        </a:spcBef>
                      </a:pPr>
                      <a:r>
                        <a:rPr sz="1200" kern="0" spc="-40" dirty="0">
                          <a:solidFill>
                            <a:srgbClr val="000000">
                              <a:alpha val="100000"/>
                            </a:srgbClr>
                          </a:solidFill>
                          <a:latin typeface="Times New Roman" panose="02020603050405020304"/>
                          <a:ea typeface="Times New Roman" panose="02020603050405020304"/>
                          <a:cs typeface="Times New Roman" panose="02020603050405020304"/>
                        </a:rPr>
                        <a:t>160</a:t>
                      </a:r>
                      <a:endParaRPr sz="1200" dirty="0">
                        <a:latin typeface="Times New Roman" panose="02020603050405020304"/>
                        <a:ea typeface="Times New Roman" panose="02020603050405020304"/>
                        <a:cs typeface="Times New Roman" panose="02020603050405020304"/>
                      </a:endParaRPr>
                    </a:p>
                    <a:p>
                      <a:pPr algn="l" rtl="0" eaLnBrk="0">
                        <a:lnSpc>
                          <a:spcPct val="131000"/>
                        </a:lnSpc>
                      </a:pPr>
                      <a:endParaRPr sz="1000" dirty="0">
                        <a:latin typeface="Arial" panose="020B0604020202020204"/>
                        <a:ea typeface="Arial" panose="020B0604020202020204"/>
                        <a:cs typeface="Arial" panose="020B0604020202020204"/>
                      </a:endParaRPr>
                    </a:p>
                    <a:p>
                      <a:pPr marL="1364615" algn="l" rtl="0" eaLnBrk="0">
                        <a:lnSpc>
                          <a:spcPct val="76000"/>
                        </a:lnSpc>
                        <a:spcBef>
                          <a:spcPts val="360"/>
                        </a:spcBef>
                      </a:pPr>
                      <a:r>
                        <a:rPr sz="1200" kern="0" spc="-40" dirty="0">
                          <a:solidFill>
                            <a:srgbClr val="000000">
                              <a:alpha val="100000"/>
                            </a:srgbClr>
                          </a:solidFill>
                          <a:latin typeface="Times New Roman" panose="02020603050405020304"/>
                          <a:ea typeface="Times New Roman" panose="02020603050405020304"/>
                          <a:cs typeface="Times New Roman" panose="02020603050405020304"/>
                        </a:rPr>
                        <a:t>140</a:t>
                      </a:r>
                      <a:endParaRPr sz="1200" dirty="0">
                        <a:latin typeface="Times New Roman" panose="02020603050405020304"/>
                        <a:ea typeface="Times New Roman" panose="02020603050405020304"/>
                        <a:cs typeface="Times New Roman" panose="02020603050405020304"/>
                      </a:endParaRPr>
                    </a:p>
                    <a:p>
                      <a:pPr algn="l" rtl="0" eaLnBrk="0">
                        <a:lnSpc>
                          <a:spcPct val="130000"/>
                        </a:lnSpc>
                      </a:pPr>
                      <a:endParaRPr sz="1000" dirty="0">
                        <a:latin typeface="Arial" panose="020B0604020202020204"/>
                        <a:ea typeface="Arial" panose="020B0604020202020204"/>
                        <a:cs typeface="Arial" panose="020B0604020202020204"/>
                      </a:endParaRPr>
                    </a:p>
                    <a:p>
                      <a:pPr marL="1364615" algn="l" rtl="0" eaLnBrk="0">
                        <a:lnSpc>
                          <a:spcPct val="76000"/>
                        </a:lnSpc>
                        <a:spcBef>
                          <a:spcPts val="370"/>
                        </a:spcBef>
                      </a:pPr>
                      <a:r>
                        <a:rPr sz="1200" kern="0" spc="-40" dirty="0">
                          <a:solidFill>
                            <a:srgbClr val="000000">
                              <a:alpha val="100000"/>
                            </a:srgbClr>
                          </a:solidFill>
                          <a:latin typeface="Times New Roman" panose="02020603050405020304"/>
                          <a:ea typeface="Times New Roman" panose="02020603050405020304"/>
                          <a:cs typeface="Times New Roman" panose="02020603050405020304"/>
                        </a:rPr>
                        <a:t>120</a:t>
                      </a:r>
                      <a:endParaRPr sz="1200" dirty="0">
                        <a:latin typeface="Times New Roman" panose="02020603050405020304"/>
                        <a:ea typeface="Times New Roman" panose="02020603050405020304"/>
                        <a:cs typeface="Times New Roman" panose="02020603050405020304"/>
                      </a:endParaRPr>
                    </a:p>
                    <a:p>
                      <a:pPr algn="l" rtl="0" eaLnBrk="0">
                        <a:lnSpc>
                          <a:spcPct val="131000"/>
                        </a:lnSpc>
                      </a:pPr>
                      <a:endParaRPr sz="1000" dirty="0">
                        <a:latin typeface="Arial" panose="020B0604020202020204"/>
                        <a:ea typeface="Arial" panose="020B0604020202020204"/>
                        <a:cs typeface="Arial" panose="020B0604020202020204"/>
                      </a:endParaRPr>
                    </a:p>
                    <a:p>
                      <a:pPr marL="1364615" algn="l" rtl="0" eaLnBrk="0">
                        <a:lnSpc>
                          <a:spcPct val="76000"/>
                        </a:lnSpc>
                        <a:spcBef>
                          <a:spcPts val="360"/>
                        </a:spcBef>
                      </a:pPr>
                      <a:r>
                        <a:rPr sz="1200" kern="0" spc="-40" dirty="0">
                          <a:solidFill>
                            <a:srgbClr val="000000">
                              <a:alpha val="100000"/>
                            </a:srgbClr>
                          </a:solidFill>
                          <a:latin typeface="Times New Roman" panose="02020603050405020304"/>
                          <a:ea typeface="Times New Roman" panose="02020603050405020304"/>
                          <a:cs typeface="Times New Roman" panose="02020603050405020304"/>
                        </a:rPr>
                        <a:t>100</a:t>
                      </a:r>
                      <a:endParaRPr sz="1200" dirty="0">
                        <a:latin typeface="Times New Roman" panose="02020603050405020304"/>
                        <a:ea typeface="Times New Roman" panose="02020603050405020304"/>
                        <a:cs typeface="Times New Roman" panose="02020603050405020304"/>
                      </a:endParaRPr>
                    </a:p>
                    <a:p>
                      <a:pPr algn="l" rtl="0" eaLnBrk="0">
                        <a:lnSpc>
                          <a:spcPct val="130000"/>
                        </a:lnSpc>
                      </a:pPr>
                      <a:endParaRPr sz="1000" dirty="0">
                        <a:latin typeface="Arial" panose="020B0604020202020204"/>
                        <a:ea typeface="Arial" panose="020B0604020202020204"/>
                        <a:cs typeface="Arial" panose="020B0604020202020204"/>
                      </a:endParaRPr>
                    </a:p>
                    <a:p>
                      <a:pPr marL="1432560" algn="l" rtl="0" eaLnBrk="0">
                        <a:lnSpc>
                          <a:spcPct val="76000"/>
                        </a:lnSpc>
                        <a:spcBef>
                          <a:spcPts val="370"/>
                        </a:spcBef>
                      </a:pPr>
                      <a:r>
                        <a:rPr sz="1200" kern="0" spc="-30" dirty="0">
                          <a:solidFill>
                            <a:srgbClr val="000000">
                              <a:alpha val="100000"/>
                            </a:srgbClr>
                          </a:solidFill>
                          <a:latin typeface="Times New Roman" panose="02020603050405020304"/>
                          <a:ea typeface="Times New Roman" panose="02020603050405020304"/>
                          <a:cs typeface="Times New Roman" panose="02020603050405020304"/>
                        </a:rPr>
                        <a:t>80</a:t>
                      </a:r>
                      <a:endParaRPr sz="1200" dirty="0">
                        <a:latin typeface="Times New Roman" panose="02020603050405020304"/>
                        <a:ea typeface="Times New Roman" panose="02020603050405020304"/>
                        <a:cs typeface="Times New Roman" panose="02020603050405020304"/>
                      </a:endParaRPr>
                    </a:p>
                    <a:p>
                      <a:pPr algn="l" rtl="0" eaLnBrk="0">
                        <a:lnSpc>
                          <a:spcPct val="130000"/>
                        </a:lnSpc>
                      </a:pPr>
                      <a:endParaRPr sz="1000" dirty="0">
                        <a:latin typeface="Arial" panose="020B0604020202020204"/>
                        <a:ea typeface="Arial" panose="020B0604020202020204"/>
                        <a:cs typeface="Arial" panose="020B0604020202020204"/>
                      </a:endParaRPr>
                    </a:p>
                    <a:p>
                      <a:pPr marL="1429385" algn="l" rtl="0" eaLnBrk="0">
                        <a:lnSpc>
                          <a:spcPct val="76000"/>
                        </a:lnSpc>
                        <a:spcBef>
                          <a:spcPts val="370"/>
                        </a:spcBef>
                      </a:pPr>
                      <a:r>
                        <a:rPr sz="1200" kern="0" spc="-20" dirty="0">
                          <a:solidFill>
                            <a:srgbClr val="000000">
                              <a:alpha val="100000"/>
                            </a:srgbClr>
                          </a:solidFill>
                          <a:latin typeface="Times New Roman" panose="02020603050405020304"/>
                          <a:ea typeface="Times New Roman" panose="02020603050405020304"/>
                          <a:cs typeface="Times New Roman" panose="02020603050405020304"/>
                        </a:rPr>
                        <a:t>60</a:t>
                      </a:r>
                      <a:endParaRPr sz="1200" dirty="0">
                        <a:latin typeface="Times New Roman" panose="02020603050405020304"/>
                        <a:ea typeface="Times New Roman" panose="02020603050405020304"/>
                        <a:cs typeface="Times New Roman" panose="020206030504050203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00000"/>
                        </a:lnSpc>
                      </a:pPr>
                      <a:endParaRPr sz="300" dirty="0">
                        <a:latin typeface="Arial" panose="020B0604020202020204"/>
                        <a:ea typeface="Arial" panose="020B0604020202020204"/>
                        <a:cs typeface="Arial" panose="020B0604020202020204"/>
                      </a:endParaRPr>
                    </a:p>
                    <a:p>
                      <a:pPr marL="1425575" algn="l" rtl="0" eaLnBrk="0">
                        <a:lnSpc>
                          <a:spcPct val="76000"/>
                        </a:lnSpc>
                        <a:spcBef>
                          <a:spcPts val="0"/>
                        </a:spcBef>
                      </a:pPr>
                      <a:r>
                        <a:rPr sz="1200" kern="0" spc="-10" dirty="0">
                          <a:solidFill>
                            <a:srgbClr val="000000">
                              <a:alpha val="100000"/>
                            </a:srgbClr>
                          </a:solidFill>
                          <a:latin typeface="Times New Roman" panose="02020603050405020304"/>
                          <a:ea typeface="Times New Roman" panose="02020603050405020304"/>
                          <a:cs typeface="Times New Roman" panose="02020603050405020304"/>
                        </a:rPr>
                        <a:t>40</a:t>
                      </a:r>
                      <a:endParaRPr sz="12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9210" algn="l" rtl="0" eaLnBrk="0">
                        <a:lnSpc>
                          <a:spcPct val="74000"/>
                        </a:lnSpc>
                      </a:pPr>
                      <a:r>
                        <a:rPr sz="1200" b="1" kern="0" spc="0" dirty="0">
                          <a:solidFill>
                            <a:srgbClr val="000000">
                              <a:alpha val="100000"/>
                            </a:srgbClr>
                          </a:solidFill>
                          <a:latin typeface="Times New Roman" panose="02020603050405020304"/>
                          <a:ea typeface="Times New Roman" panose="02020603050405020304"/>
                          <a:cs typeface="Times New Roman" panose="02020603050405020304"/>
                        </a:rPr>
                        <a:t>50                      </a:t>
                      </a:r>
                      <a:r>
                        <a:rPr sz="1200" b="1" kern="0" spc="-10" dirty="0">
                          <a:solidFill>
                            <a:srgbClr val="000000">
                              <a:alpha val="100000"/>
                            </a:srgbClr>
                          </a:solidFill>
                          <a:latin typeface="Times New Roman" panose="02020603050405020304"/>
                          <a:ea typeface="Times New Roman" panose="02020603050405020304"/>
                          <a:cs typeface="Times New Roman" panose="02020603050405020304"/>
                        </a:rPr>
                        <a:t>       100                            150                            200                            250</a:t>
                      </a:r>
                      <a:endParaRPr sz="12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2520950">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73685" algn="l" rtl="0" eaLnBrk="0">
                        <a:lnSpc>
                          <a:spcPct val="80000"/>
                        </a:lnSpc>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7</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gridSpan="2">
                  <a:txBody>
                    <a:bodyPr/>
                    <a:lstStyle/>
                    <a:p>
                      <a:pPr algn="l" rtl="0" eaLnBrk="0">
                        <a:lnSpc>
                          <a:spcPct val="129000"/>
                        </a:lnSpc>
                      </a:pPr>
                      <a:endParaRPr sz="1000" dirty="0">
                        <a:latin typeface="Arial" panose="020B0604020202020204"/>
                        <a:ea typeface="Arial" panose="020B0604020202020204"/>
                        <a:cs typeface="Arial" panose="020B0604020202020204"/>
                      </a:endParaRPr>
                    </a:p>
                    <a:p>
                      <a:pPr marL="184150" algn="l" rtl="0" eaLnBrk="0">
                        <a:lnSpc>
                          <a:spcPct val="85000"/>
                        </a:lnSpc>
                        <a:spcBef>
                          <a:spcPts val="5"/>
                        </a:spcBef>
                      </a:pP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黄线：</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OLS</a:t>
                      </a: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拟合线</a:t>
                      </a:r>
                      <a:r>
                        <a:rPr sz="1900" kern="0" spc="200" dirty="0">
                          <a:solidFill>
                            <a:srgbClr val="000000">
                              <a:alpha val="100000"/>
                            </a:srgbClr>
                          </a:solidFill>
                          <a:latin typeface="仿宋" panose="02010609060101010101" charset="-122"/>
                          <a:ea typeface="仿宋" panose="02010609060101010101" charset="-122"/>
                          <a:cs typeface="仿宋" panose="02010609060101010101" charset="-122"/>
                        </a:rPr>
                        <a:t>    </a:t>
                      </a:r>
                      <a:r>
                        <a:rPr sz="2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Y</a:t>
                      </a:r>
                      <a:r>
                        <a:rPr sz="20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0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10.842 + 0.6</a:t>
                      </a:r>
                      <a:r>
                        <a:rPr sz="20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615X</a:t>
                      </a:r>
                      <a:endParaRPr sz="2000" dirty="0">
                        <a:latin typeface="微软雅黑" panose="020B0503020204020204" charset="-122"/>
                        <a:ea typeface="微软雅黑" panose="020B0503020204020204" charset="-122"/>
                        <a:cs typeface="微软雅黑" panose="020B0503020204020204" charset="-122"/>
                      </a:endParaRPr>
                    </a:p>
                    <a:p>
                      <a:pPr marL="652145" indent="-466725" algn="l" rtl="0" eaLnBrk="0">
                        <a:lnSpc>
                          <a:spcPct val="156000"/>
                        </a:lnSpc>
                        <a:spcBef>
                          <a:spcPts val="400"/>
                        </a:spcBef>
                      </a:pPr>
                      <a:r>
                        <a:rPr sz="1900" kern="0" spc="40" dirty="0">
                          <a:solidFill>
                            <a:srgbClr val="000000">
                              <a:alpha val="100000"/>
                            </a:srgbClr>
                          </a:solidFill>
                          <a:latin typeface="仿宋" panose="02010609060101010101" charset="-122"/>
                          <a:ea typeface="仿宋" panose="02010609060101010101" charset="-122"/>
                          <a:cs typeface="仿宋" panose="02010609060101010101" charset="-122"/>
                        </a:rPr>
                        <a:t>红线：第一个样本点与最后一个样本点的</a:t>
                      </a: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连线</a:t>
                      </a:r>
                      <a:r>
                        <a:rPr sz="19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19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Y</a:t>
                      </a:r>
                      <a:r>
                        <a:rPr sz="19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11.645 + 0.6389X</a:t>
                      </a:r>
                      <a:r>
                        <a:rPr sz="1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90" dirty="0">
                          <a:solidFill>
                            <a:srgbClr val="000000">
                              <a:alpha val="100000"/>
                            </a:srgbClr>
                          </a:solidFill>
                          <a:latin typeface="仿宋" panose="02010609060101010101" charset="-122"/>
                          <a:ea typeface="仿宋" panose="02010609060101010101" charset="-122"/>
                          <a:cs typeface="仿宋" panose="02010609060101010101" charset="-122"/>
                        </a:rPr>
                        <a:t>黄线和红线哪个能够更好的代表</a:t>
                      </a:r>
                      <a:r>
                        <a:rPr sz="1900" kern="0" spc="80" dirty="0">
                          <a:solidFill>
                            <a:srgbClr val="000000">
                              <a:alpha val="100000"/>
                            </a:srgbClr>
                          </a:solidFill>
                          <a:latin typeface="仿宋" panose="02010609060101010101" charset="-122"/>
                          <a:ea typeface="仿宋" panose="02010609060101010101" charset="-122"/>
                          <a:cs typeface="仿宋" panose="02010609060101010101" charset="-122"/>
                        </a:rPr>
                        <a:t>上图的蓝线？</a:t>
                      </a:r>
                      <a:endParaRPr sz="1900" dirty="0">
                        <a:latin typeface="仿宋" panose="02010609060101010101" charset="-122"/>
                        <a:ea typeface="仿宋" panose="02010609060101010101" charset="-122"/>
                        <a:cs typeface="仿宋" panose="02010609060101010101" charset="-122"/>
                      </a:endParaRPr>
                    </a:p>
                    <a:p>
                      <a:pPr algn="l" rtl="0" eaLnBrk="0">
                        <a:lnSpc>
                          <a:spcPct val="103000"/>
                        </a:lnSpc>
                      </a:pPr>
                      <a:endParaRPr sz="1100" dirty="0">
                        <a:latin typeface="Arial" panose="020B0604020202020204"/>
                        <a:ea typeface="Arial" panose="020B0604020202020204"/>
                        <a:cs typeface="Arial" panose="020B0604020202020204"/>
                      </a:endParaRPr>
                    </a:p>
                    <a:p>
                      <a:pPr marL="656590" algn="l" rtl="0" eaLnBrk="0">
                        <a:lnSpc>
                          <a:spcPts val="2445"/>
                        </a:lnSpc>
                        <a:spcBef>
                          <a:spcPts val="0"/>
                        </a:spcBef>
                      </a:pP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或者，</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0.6615</a:t>
                      </a: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和</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0.6389</a:t>
                      </a: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哪个能够更好的代表</a:t>
                      </a:r>
                      <a:r>
                        <a:rPr sz="19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a:t>
                      </a:r>
                      <a:endParaRPr sz="1900" dirty="0">
                        <a:latin typeface="仿宋" panose="02010609060101010101" charset="-122"/>
                        <a:ea typeface="仿宋" panose="02010609060101010101" charset="-122"/>
                        <a:cs typeface="仿宋"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pSp>
        <p:nvGrpSpPr>
          <p:cNvPr id="2" name="group 2"/>
          <p:cNvGrpSpPr/>
          <p:nvPr/>
        </p:nvGrpSpPr>
        <p:grpSpPr>
          <a:xfrm rot="21600000">
            <a:off x="1761172" y="710819"/>
            <a:ext cx="5820347" cy="3082226"/>
            <a:chOff x="0" y="0"/>
            <a:chExt cx="5820347" cy="3082226"/>
          </a:xfrm>
        </p:grpSpPr>
        <p:sp>
          <p:nvSpPr>
            <p:cNvPr id="40" name="path 40"/>
            <p:cNvSpPr/>
            <p:nvPr/>
          </p:nvSpPr>
          <p:spPr>
            <a:xfrm>
              <a:off x="5143" y="0"/>
              <a:ext cx="5814821" cy="3077844"/>
            </a:xfrm>
            <a:custGeom>
              <a:avLst/>
              <a:gdLst/>
              <a:ahLst/>
              <a:cxnLst/>
              <a:rect l="0" t="0" r="0" b="0"/>
              <a:pathLst>
                <a:path w="9157" h="4846">
                  <a:moveTo>
                    <a:pt x="0" y="4242"/>
                  </a:moveTo>
                  <a:lnTo>
                    <a:pt x="9157" y="4242"/>
                  </a:lnTo>
                  <a:moveTo>
                    <a:pt x="0" y="3636"/>
                  </a:moveTo>
                  <a:lnTo>
                    <a:pt x="9157" y="3636"/>
                  </a:lnTo>
                  <a:moveTo>
                    <a:pt x="0" y="3031"/>
                  </a:moveTo>
                  <a:lnTo>
                    <a:pt x="9157" y="3031"/>
                  </a:lnTo>
                  <a:moveTo>
                    <a:pt x="0" y="2425"/>
                  </a:moveTo>
                  <a:lnTo>
                    <a:pt x="9157" y="2425"/>
                  </a:lnTo>
                  <a:moveTo>
                    <a:pt x="0" y="1820"/>
                  </a:moveTo>
                  <a:lnTo>
                    <a:pt x="9157" y="1820"/>
                  </a:lnTo>
                  <a:moveTo>
                    <a:pt x="0" y="1214"/>
                  </a:moveTo>
                  <a:lnTo>
                    <a:pt x="9157" y="1214"/>
                  </a:lnTo>
                  <a:moveTo>
                    <a:pt x="0" y="609"/>
                  </a:moveTo>
                  <a:lnTo>
                    <a:pt x="9157" y="609"/>
                  </a:lnTo>
                  <a:moveTo>
                    <a:pt x="0" y="5"/>
                  </a:moveTo>
                  <a:lnTo>
                    <a:pt x="9157" y="5"/>
                  </a:lnTo>
                  <a:moveTo>
                    <a:pt x="1990" y="5"/>
                  </a:moveTo>
                  <a:lnTo>
                    <a:pt x="1990" y="4846"/>
                  </a:lnTo>
                  <a:moveTo>
                    <a:pt x="3981" y="5"/>
                  </a:moveTo>
                  <a:lnTo>
                    <a:pt x="3981" y="4846"/>
                  </a:lnTo>
                  <a:moveTo>
                    <a:pt x="5972" y="5"/>
                  </a:moveTo>
                  <a:lnTo>
                    <a:pt x="5972" y="4846"/>
                  </a:lnTo>
                  <a:moveTo>
                    <a:pt x="7963" y="5"/>
                  </a:moveTo>
                  <a:lnTo>
                    <a:pt x="7963" y="4846"/>
                  </a:lnTo>
                </a:path>
              </a:pathLst>
            </a:custGeom>
            <a:noFill/>
            <a:ln w="6350" cap="flat">
              <a:solidFill>
                <a:srgbClr val="000000"/>
              </a:solidFill>
              <a:prstDash val="solid"/>
              <a:round/>
            </a:ln>
          </p:spPr>
          <p:txBody>
            <a:bodyPr rtlCol="0"/>
            <a:lstStyle/>
            <a:p>
              <a:pPr algn="ctr"/>
              <a:endParaRPr lang="zh-CN" altLang="en-US"/>
            </a:p>
          </p:txBody>
        </p:sp>
        <p:sp>
          <p:nvSpPr>
            <p:cNvPr id="42" name="path 42"/>
            <p:cNvSpPr/>
            <p:nvPr/>
          </p:nvSpPr>
          <p:spPr>
            <a:xfrm>
              <a:off x="0" y="2794"/>
              <a:ext cx="5820347" cy="3079432"/>
            </a:xfrm>
            <a:custGeom>
              <a:avLst/>
              <a:gdLst/>
              <a:ahLst/>
              <a:cxnLst/>
              <a:rect l="0" t="0" r="0" b="0"/>
              <a:pathLst>
                <a:path w="9165" h="4849">
                  <a:moveTo>
                    <a:pt x="7" y="4842"/>
                  </a:moveTo>
                  <a:lnTo>
                    <a:pt x="7" y="0"/>
                  </a:lnTo>
                  <a:moveTo>
                    <a:pt x="7" y="4842"/>
                  </a:moveTo>
                  <a:lnTo>
                    <a:pt x="9165" y="4842"/>
                  </a:lnTo>
                  <a:moveTo>
                    <a:pt x="7" y="4789"/>
                  </a:moveTo>
                  <a:lnTo>
                    <a:pt x="7" y="4842"/>
                  </a:lnTo>
                  <a:moveTo>
                    <a:pt x="804" y="4789"/>
                  </a:moveTo>
                  <a:lnTo>
                    <a:pt x="804" y="4842"/>
                  </a:lnTo>
                  <a:moveTo>
                    <a:pt x="1599" y="4789"/>
                  </a:moveTo>
                  <a:lnTo>
                    <a:pt x="1599" y="4842"/>
                  </a:lnTo>
                  <a:moveTo>
                    <a:pt x="2396" y="4789"/>
                  </a:moveTo>
                  <a:lnTo>
                    <a:pt x="2396" y="4842"/>
                  </a:lnTo>
                  <a:moveTo>
                    <a:pt x="3193" y="4789"/>
                  </a:moveTo>
                  <a:lnTo>
                    <a:pt x="3193" y="4842"/>
                  </a:lnTo>
                  <a:moveTo>
                    <a:pt x="3989" y="4789"/>
                  </a:moveTo>
                  <a:lnTo>
                    <a:pt x="3989" y="4842"/>
                  </a:lnTo>
                  <a:moveTo>
                    <a:pt x="4785" y="4789"/>
                  </a:moveTo>
                  <a:lnTo>
                    <a:pt x="4785" y="4842"/>
                  </a:lnTo>
                  <a:moveTo>
                    <a:pt x="5581" y="4789"/>
                  </a:moveTo>
                  <a:lnTo>
                    <a:pt x="5581" y="4842"/>
                  </a:lnTo>
                  <a:moveTo>
                    <a:pt x="6378" y="4789"/>
                  </a:moveTo>
                  <a:lnTo>
                    <a:pt x="6378" y="4842"/>
                  </a:lnTo>
                  <a:moveTo>
                    <a:pt x="7175" y="4789"/>
                  </a:moveTo>
                  <a:lnTo>
                    <a:pt x="7175" y="4842"/>
                  </a:lnTo>
                  <a:moveTo>
                    <a:pt x="7970" y="4789"/>
                  </a:moveTo>
                  <a:lnTo>
                    <a:pt x="7970" y="4842"/>
                  </a:lnTo>
                  <a:moveTo>
                    <a:pt x="8767" y="4789"/>
                  </a:moveTo>
                  <a:lnTo>
                    <a:pt x="8767" y="4842"/>
                  </a:lnTo>
                  <a:moveTo>
                    <a:pt x="7" y="4771"/>
                  </a:moveTo>
                  <a:lnTo>
                    <a:pt x="7" y="4842"/>
                  </a:lnTo>
                  <a:moveTo>
                    <a:pt x="1998" y="4771"/>
                  </a:moveTo>
                  <a:lnTo>
                    <a:pt x="1998" y="4842"/>
                  </a:lnTo>
                  <a:moveTo>
                    <a:pt x="3989" y="4771"/>
                  </a:moveTo>
                  <a:lnTo>
                    <a:pt x="3989" y="4842"/>
                  </a:lnTo>
                  <a:moveTo>
                    <a:pt x="5979" y="4771"/>
                  </a:moveTo>
                  <a:lnTo>
                    <a:pt x="5979" y="4842"/>
                  </a:lnTo>
                  <a:moveTo>
                    <a:pt x="7970" y="4771"/>
                  </a:moveTo>
                  <a:lnTo>
                    <a:pt x="7970" y="4842"/>
                  </a:lnTo>
                </a:path>
              </a:pathLst>
            </a:custGeom>
            <a:noFill/>
            <a:ln w="9525" cap="flat">
              <a:solidFill>
                <a:srgbClr val="BFBFBF"/>
              </a:solidFill>
              <a:prstDash val="solid"/>
              <a:round/>
            </a:ln>
          </p:spPr>
          <p:txBody>
            <a:bodyPr rtlCol="0"/>
            <a:lstStyle/>
            <a:p>
              <a:pPr algn="ctr"/>
              <a:endParaRPr lang="zh-CN" altLang="en-US"/>
            </a:p>
          </p:txBody>
        </p:sp>
        <p:sp>
          <p:nvSpPr>
            <p:cNvPr id="44" name="path 44"/>
            <p:cNvSpPr/>
            <p:nvPr/>
          </p:nvSpPr>
          <p:spPr>
            <a:xfrm>
              <a:off x="712152" y="163195"/>
              <a:ext cx="4652009" cy="2580894"/>
            </a:xfrm>
            <a:custGeom>
              <a:avLst/>
              <a:gdLst/>
              <a:ahLst/>
              <a:cxnLst/>
              <a:rect l="0" t="0" r="0" b="0"/>
              <a:pathLst>
                <a:path w="7325" h="4064">
                  <a:moveTo>
                    <a:pt x="129" y="3984"/>
                  </a:moveTo>
                  <a:cubicBezTo>
                    <a:pt x="129" y="4012"/>
                    <a:pt x="107" y="4034"/>
                    <a:pt x="79" y="4034"/>
                  </a:cubicBezTo>
                  <a:cubicBezTo>
                    <a:pt x="52" y="4034"/>
                    <a:pt x="30" y="4012"/>
                    <a:pt x="30" y="3984"/>
                  </a:cubicBezTo>
                  <a:cubicBezTo>
                    <a:pt x="30" y="3957"/>
                    <a:pt x="52" y="3934"/>
                    <a:pt x="79" y="3934"/>
                  </a:cubicBezTo>
                  <a:cubicBezTo>
                    <a:pt x="107" y="3934"/>
                    <a:pt x="129" y="3957"/>
                    <a:pt x="129" y="3984"/>
                  </a:cubicBezTo>
                  <a:moveTo>
                    <a:pt x="926" y="3227"/>
                  </a:moveTo>
                  <a:cubicBezTo>
                    <a:pt x="926" y="3255"/>
                    <a:pt x="903" y="3277"/>
                    <a:pt x="876" y="3277"/>
                  </a:cubicBezTo>
                  <a:cubicBezTo>
                    <a:pt x="848" y="3277"/>
                    <a:pt x="826" y="3255"/>
                    <a:pt x="826" y="3227"/>
                  </a:cubicBezTo>
                  <a:cubicBezTo>
                    <a:pt x="826" y="3200"/>
                    <a:pt x="848" y="3177"/>
                    <a:pt x="876" y="3177"/>
                  </a:cubicBezTo>
                  <a:cubicBezTo>
                    <a:pt x="903" y="3177"/>
                    <a:pt x="926" y="3200"/>
                    <a:pt x="926" y="3227"/>
                  </a:cubicBezTo>
                  <a:moveTo>
                    <a:pt x="1721" y="2833"/>
                  </a:moveTo>
                  <a:cubicBezTo>
                    <a:pt x="1721" y="2861"/>
                    <a:pt x="1699" y="2883"/>
                    <a:pt x="1672" y="2883"/>
                  </a:cubicBezTo>
                  <a:cubicBezTo>
                    <a:pt x="1644" y="2883"/>
                    <a:pt x="1622" y="2861"/>
                    <a:pt x="1622" y="2833"/>
                  </a:cubicBezTo>
                  <a:cubicBezTo>
                    <a:pt x="1622" y="2806"/>
                    <a:pt x="1644" y="2784"/>
                    <a:pt x="1672" y="2784"/>
                  </a:cubicBezTo>
                  <a:cubicBezTo>
                    <a:pt x="1699" y="2784"/>
                    <a:pt x="1721" y="2806"/>
                    <a:pt x="1721" y="2833"/>
                  </a:cubicBezTo>
                  <a:moveTo>
                    <a:pt x="2518" y="2985"/>
                  </a:moveTo>
                  <a:cubicBezTo>
                    <a:pt x="2518" y="3012"/>
                    <a:pt x="2496" y="3034"/>
                    <a:pt x="2469" y="3034"/>
                  </a:cubicBezTo>
                  <a:cubicBezTo>
                    <a:pt x="2441" y="3034"/>
                    <a:pt x="2419" y="3012"/>
                    <a:pt x="2419" y="2985"/>
                  </a:cubicBezTo>
                  <a:cubicBezTo>
                    <a:pt x="2419" y="2957"/>
                    <a:pt x="2441" y="2935"/>
                    <a:pt x="2469" y="2935"/>
                  </a:cubicBezTo>
                  <a:cubicBezTo>
                    <a:pt x="2496" y="2935"/>
                    <a:pt x="2518" y="2957"/>
                    <a:pt x="2518" y="2985"/>
                  </a:cubicBezTo>
                  <a:moveTo>
                    <a:pt x="3314" y="2288"/>
                  </a:moveTo>
                  <a:cubicBezTo>
                    <a:pt x="3314" y="2316"/>
                    <a:pt x="3291" y="2338"/>
                    <a:pt x="3264" y="2338"/>
                  </a:cubicBezTo>
                  <a:cubicBezTo>
                    <a:pt x="3237" y="2338"/>
                    <a:pt x="3214" y="2316"/>
                    <a:pt x="3214" y="2288"/>
                  </a:cubicBezTo>
                  <a:cubicBezTo>
                    <a:pt x="3214" y="2261"/>
                    <a:pt x="3237" y="2239"/>
                    <a:pt x="3264" y="2239"/>
                  </a:cubicBezTo>
                  <a:cubicBezTo>
                    <a:pt x="3291" y="2239"/>
                    <a:pt x="3314" y="2261"/>
                    <a:pt x="3314" y="2288"/>
                  </a:cubicBezTo>
                  <a:moveTo>
                    <a:pt x="4111" y="1714"/>
                  </a:moveTo>
                  <a:cubicBezTo>
                    <a:pt x="4111" y="1741"/>
                    <a:pt x="4088" y="1764"/>
                    <a:pt x="4061" y="1764"/>
                  </a:cubicBezTo>
                  <a:cubicBezTo>
                    <a:pt x="4033" y="1764"/>
                    <a:pt x="4011" y="1741"/>
                    <a:pt x="4011" y="1714"/>
                  </a:cubicBezTo>
                  <a:cubicBezTo>
                    <a:pt x="4011" y="1686"/>
                    <a:pt x="4033" y="1664"/>
                    <a:pt x="4061" y="1664"/>
                  </a:cubicBezTo>
                  <a:cubicBezTo>
                    <a:pt x="4088" y="1664"/>
                    <a:pt x="4111" y="1686"/>
                    <a:pt x="4111" y="1714"/>
                  </a:cubicBezTo>
                  <a:moveTo>
                    <a:pt x="4907" y="2167"/>
                  </a:moveTo>
                  <a:cubicBezTo>
                    <a:pt x="4907" y="2195"/>
                    <a:pt x="4885" y="2217"/>
                    <a:pt x="4858" y="2217"/>
                  </a:cubicBezTo>
                  <a:cubicBezTo>
                    <a:pt x="4830" y="2217"/>
                    <a:pt x="4808" y="2195"/>
                    <a:pt x="4808" y="2167"/>
                  </a:cubicBezTo>
                  <a:cubicBezTo>
                    <a:pt x="4808" y="2140"/>
                    <a:pt x="4830" y="2117"/>
                    <a:pt x="4858" y="2117"/>
                  </a:cubicBezTo>
                  <a:cubicBezTo>
                    <a:pt x="4885" y="2117"/>
                    <a:pt x="4907" y="2140"/>
                    <a:pt x="4907" y="2167"/>
                  </a:cubicBezTo>
                  <a:moveTo>
                    <a:pt x="5703" y="897"/>
                  </a:moveTo>
                  <a:cubicBezTo>
                    <a:pt x="5703" y="924"/>
                    <a:pt x="5681" y="946"/>
                    <a:pt x="5653" y="946"/>
                  </a:cubicBezTo>
                  <a:cubicBezTo>
                    <a:pt x="5626" y="946"/>
                    <a:pt x="5603" y="924"/>
                    <a:pt x="5603" y="897"/>
                  </a:cubicBezTo>
                  <a:cubicBezTo>
                    <a:pt x="5603" y="869"/>
                    <a:pt x="5626" y="847"/>
                    <a:pt x="5653" y="847"/>
                  </a:cubicBezTo>
                  <a:cubicBezTo>
                    <a:pt x="5681" y="847"/>
                    <a:pt x="5703" y="869"/>
                    <a:pt x="5703" y="897"/>
                  </a:cubicBezTo>
                  <a:moveTo>
                    <a:pt x="6500" y="79"/>
                  </a:moveTo>
                  <a:cubicBezTo>
                    <a:pt x="6500" y="107"/>
                    <a:pt x="6477" y="129"/>
                    <a:pt x="6450" y="129"/>
                  </a:cubicBezTo>
                  <a:cubicBezTo>
                    <a:pt x="6423" y="129"/>
                    <a:pt x="6400" y="107"/>
                    <a:pt x="6400" y="79"/>
                  </a:cubicBezTo>
                  <a:cubicBezTo>
                    <a:pt x="6400" y="52"/>
                    <a:pt x="6423" y="30"/>
                    <a:pt x="6450" y="30"/>
                  </a:cubicBezTo>
                  <a:cubicBezTo>
                    <a:pt x="6477" y="30"/>
                    <a:pt x="6500" y="52"/>
                    <a:pt x="6500" y="79"/>
                  </a:cubicBezTo>
                  <a:moveTo>
                    <a:pt x="7295" y="503"/>
                  </a:moveTo>
                  <a:cubicBezTo>
                    <a:pt x="7295" y="530"/>
                    <a:pt x="7273" y="553"/>
                    <a:pt x="7246" y="553"/>
                  </a:cubicBezTo>
                  <a:cubicBezTo>
                    <a:pt x="7218" y="553"/>
                    <a:pt x="7196" y="530"/>
                    <a:pt x="7196" y="503"/>
                  </a:cubicBezTo>
                  <a:cubicBezTo>
                    <a:pt x="7196" y="476"/>
                    <a:pt x="7218" y="453"/>
                    <a:pt x="7246" y="453"/>
                  </a:cubicBezTo>
                  <a:cubicBezTo>
                    <a:pt x="7273" y="453"/>
                    <a:pt x="7295" y="476"/>
                    <a:pt x="7295" y="503"/>
                  </a:cubicBezTo>
                </a:path>
              </a:pathLst>
            </a:custGeom>
            <a:noFill/>
            <a:ln w="38100" cap="flat">
              <a:solidFill>
                <a:srgbClr val="00B050"/>
              </a:solidFill>
              <a:prstDash val="solid"/>
              <a:round/>
            </a:ln>
          </p:spPr>
          <p:txBody>
            <a:bodyPr rtlCol="0"/>
            <a:lstStyle/>
            <a:p>
              <a:pPr algn="ctr"/>
              <a:endParaRPr lang="zh-CN" altLang="en-US"/>
            </a:p>
          </p:txBody>
        </p:sp>
        <p:sp>
          <p:nvSpPr>
            <p:cNvPr id="46" name="path 46"/>
            <p:cNvSpPr/>
            <p:nvPr/>
          </p:nvSpPr>
          <p:spPr>
            <a:xfrm>
              <a:off x="751014" y="320040"/>
              <a:ext cx="4576064" cy="2313685"/>
            </a:xfrm>
            <a:custGeom>
              <a:avLst/>
              <a:gdLst/>
              <a:ahLst/>
              <a:cxnLst/>
              <a:rect l="0" t="0" r="0" b="0"/>
              <a:pathLst>
                <a:path w="7206" h="3643">
                  <a:moveTo>
                    <a:pt x="20" y="3623"/>
                  </a:moveTo>
                  <a:lnTo>
                    <a:pt x="7186" y="20"/>
                  </a:lnTo>
                </a:path>
              </a:pathLst>
            </a:custGeom>
            <a:noFill/>
            <a:ln w="25400" cap="rnd">
              <a:solidFill>
                <a:srgbClr val="FFC000"/>
              </a:solidFill>
              <a:prstDash val="solid"/>
              <a:round/>
            </a:ln>
          </p:spPr>
          <p:txBody>
            <a:bodyPr rtlCol="0"/>
            <a:lstStyle/>
            <a:p>
              <a:pPr algn="ctr"/>
              <a:endParaRPr lang="zh-CN" altLang="en-US"/>
            </a:p>
          </p:txBody>
        </p:sp>
        <p:sp>
          <p:nvSpPr>
            <p:cNvPr id="48" name="path 48"/>
            <p:cNvSpPr/>
            <p:nvPr/>
          </p:nvSpPr>
          <p:spPr>
            <a:xfrm>
              <a:off x="536362" y="405670"/>
              <a:ext cx="5011465" cy="2393504"/>
            </a:xfrm>
            <a:custGeom>
              <a:avLst/>
              <a:gdLst/>
              <a:ahLst/>
              <a:cxnLst/>
              <a:rect l="0" t="0" r="0" b="0"/>
              <a:pathLst>
                <a:path w="7892" h="3769">
                  <a:moveTo>
                    <a:pt x="7885" y="13"/>
                  </a:moveTo>
                  <a:lnTo>
                    <a:pt x="6" y="3755"/>
                  </a:lnTo>
                </a:path>
              </a:pathLst>
            </a:custGeom>
            <a:noFill/>
            <a:ln w="19050" cap="flat">
              <a:solidFill>
                <a:srgbClr val="FF0000"/>
              </a:solidFill>
              <a:prstDash val="solid"/>
              <a:round/>
            </a:ln>
          </p:spPr>
          <p:txBody>
            <a:bodyPr rtlCol="0"/>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table 52"/>
          <p:cNvGraphicFramePr>
            <a:graphicFrameLocks noGrp="1"/>
          </p:cNvGraphicFramePr>
          <p:nvPr/>
        </p:nvGraphicFramePr>
        <p:xfrm>
          <a:off x="60832" y="66928"/>
          <a:ext cx="9019539" cy="6699248"/>
        </p:xfrm>
        <a:graphic>
          <a:graphicData uri="http://schemas.openxmlformats.org/drawingml/2006/table">
            <a:tbl>
              <a:tblPr/>
              <a:tblGrid>
                <a:gridCol w="992505"/>
                <a:gridCol w="1152525"/>
                <a:gridCol w="6874509"/>
              </a:tblGrid>
              <a:tr h="759459">
                <a:tc gridSpan="3">
                  <a:txBody>
                    <a:bodyPr/>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654050" algn="l" rtl="0" eaLnBrk="0">
                        <a:lnSpc>
                          <a:spcPct val="87000"/>
                        </a:lnSpc>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kern="0" spc="-30" dirty="0">
                          <a:solidFill>
                            <a:srgbClr val="000000">
                              <a:alpha val="100000"/>
                            </a:srgbClr>
                          </a:solidFill>
                          <a:latin typeface="仿宋" panose="02010609060101010101" charset="-122"/>
                          <a:ea typeface="仿宋" panose="02010609060101010101" charset="-122"/>
                          <a:cs typeface="仿宋" panose="02010609060101010101" charset="-122"/>
                        </a:rPr>
                        <a:t>重新抽样，换个样本</a:t>
                      </a:r>
                      <a:r>
                        <a:rPr sz="2200" kern="0" spc="-40" dirty="0">
                          <a:solidFill>
                            <a:srgbClr val="000000">
                              <a:alpha val="100000"/>
                            </a:srgbClr>
                          </a:solidFill>
                          <a:latin typeface="仿宋" panose="02010609060101010101" charset="-122"/>
                          <a:ea typeface="仿宋" panose="02010609060101010101" charset="-122"/>
                          <a:cs typeface="仿宋" panose="02010609060101010101" charset="-122"/>
                        </a:rPr>
                        <a:t>，重新估计！</a:t>
                      </a:r>
                      <a:endParaRPr sz="2200" dirty="0">
                        <a:latin typeface="仿宋" panose="02010609060101010101" charset="-122"/>
                        <a:ea typeface="仿宋" panose="02010609060101010101" charset="-122"/>
                        <a:cs typeface="仿宋"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3379469">
                <a:tc rowSpan="2">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67970" algn="l" rtl="0" eaLnBrk="0">
                        <a:lnSpc>
                          <a:spcPct val="80000"/>
                        </a:lnSpc>
                        <a:spcBef>
                          <a:spcPts val="5"/>
                        </a:spcBef>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8</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7000"/>
                        </a:lnSpc>
                      </a:pPr>
                      <a:endParaRPr sz="300" dirty="0">
                        <a:latin typeface="Arial" panose="020B0604020202020204"/>
                        <a:ea typeface="Arial" panose="020B0604020202020204"/>
                        <a:cs typeface="Arial" panose="020B0604020202020204"/>
                      </a:endParaRPr>
                    </a:p>
                    <a:p>
                      <a:pPr marL="960755" algn="l" rtl="0" eaLnBrk="0">
                        <a:lnSpc>
                          <a:spcPct val="76000"/>
                        </a:lnSpc>
                        <a:spcBef>
                          <a:spcPts val="5"/>
                        </a:spcBef>
                      </a:pPr>
                      <a:r>
                        <a:rPr sz="900" kern="0" spc="-10" dirty="0">
                          <a:solidFill>
                            <a:srgbClr val="000000">
                              <a:alpha val="100000"/>
                            </a:srgbClr>
                          </a:solidFill>
                          <a:latin typeface="Times New Roman" panose="02020603050405020304"/>
                          <a:ea typeface="Times New Roman" panose="02020603050405020304"/>
                          <a:cs typeface="Times New Roman" panose="02020603050405020304"/>
                        </a:rPr>
                        <a:t>200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972185" algn="l" rtl="0" eaLnBrk="0">
                        <a:lnSpc>
                          <a:spcPct val="76000"/>
                        </a:lnSpc>
                        <a:spcBef>
                          <a:spcPts val="270"/>
                        </a:spcBef>
                      </a:pPr>
                      <a:r>
                        <a:rPr sz="900" kern="0" spc="-30" dirty="0">
                          <a:solidFill>
                            <a:srgbClr val="000000">
                              <a:alpha val="100000"/>
                            </a:srgbClr>
                          </a:solidFill>
                          <a:latin typeface="Times New Roman" panose="02020603050405020304"/>
                          <a:ea typeface="Times New Roman" panose="02020603050405020304"/>
                          <a:cs typeface="Times New Roman" panose="02020603050405020304"/>
                        </a:rPr>
                        <a:t>180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972185" algn="l" rtl="0" eaLnBrk="0">
                        <a:lnSpc>
                          <a:spcPct val="76000"/>
                        </a:lnSpc>
                        <a:spcBef>
                          <a:spcPts val="270"/>
                        </a:spcBef>
                      </a:pPr>
                      <a:r>
                        <a:rPr sz="900" kern="0" spc="-30" dirty="0">
                          <a:solidFill>
                            <a:srgbClr val="000000">
                              <a:alpha val="100000"/>
                            </a:srgbClr>
                          </a:solidFill>
                          <a:latin typeface="Times New Roman" panose="02020603050405020304"/>
                          <a:ea typeface="Times New Roman" panose="02020603050405020304"/>
                          <a:cs typeface="Times New Roman" panose="02020603050405020304"/>
                        </a:rPr>
                        <a:t>160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972185" algn="l" rtl="0" eaLnBrk="0">
                        <a:lnSpc>
                          <a:spcPct val="76000"/>
                        </a:lnSpc>
                        <a:spcBef>
                          <a:spcPts val="270"/>
                        </a:spcBef>
                      </a:pPr>
                      <a:r>
                        <a:rPr sz="900" kern="0" spc="-30" dirty="0">
                          <a:solidFill>
                            <a:srgbClr val="000000">
                              <a:alpha val="100000"/>
                            </a:srgbClr>
                          </a:solidFill>
                          <a:latin typeface="Times New Roman" panose="02020603050405020304"/>
                          <a:ea typeface="Times New Roman" panose="02020603050405020304"/>
                          <a:cs typeface="Times New Roman" panose="02020603050405020304"/>
                        </a:rPr>
                        <a:t>140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972185" algn="l" rtl="0" eaLnBrk="0">
                        <a:lnSpc>
                          <a:spcPct val="76000"/>
                        </a:lnSpc>
                        <a:spcBef>
                          <a:spcPts val="270"/>
                        </a:spcBef>
                      </a:pPr>
                      <a:r>
                        <a:rPr sz="900" kern="0" spc="-30" dirty="0">
                          <a:solidFill>
                            <a:srgbClr val="000000">
                              <a:alpha val="100000"/>
                            </a:srgbClr>
                          </a:solidFill>
                          <a:latin typeface="Times New Roman" panose="02020603050405020304"/>
                          <a:ea typeface="Times New Roman" panose="02020603050405020304"/>
                          <a:cs typeface="Times New Roman" panose="02020603050405020304"/>
                        </a:rPr>
                        <a:t>120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972185" algn="l" rtl="0" eaLnBrk="0">
                        <a:lnSpc>
                          <a:spcPct val="76000"/>
                        </a:lnSpc>
                        <a:spcBef>
                          <a:spcPts val="275"/>
                        </a:spcBef>
                      </a:pPr>
                      <a:r>
                        <a:rPr sz="900" kern="0" spc="-30" dirty="0">
                          <a:solidFill>
                            <a:srgbClr val="000000">
                              <a:alpha val="100000"/>
                            </a:srgbClr>
                          </a:solidFill>
                          <a:latin typeface="Times New Roman" panose="02020603050405020304"/>
                          <a:ea typeface="Times New Roman" panose="02020603050405020304"/>
                          <a:cs typeface="Times New Roman" panose="02020603050405020304"/>
                        </a:rPr>
                        <a:t>100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1022350" algn="l" rtl="0" eaLnBrk="0">
                        <a:lnSpc>
                          <a:spcPct val="76000"/>
                        </a:lnSpc>
                        <a:spcBef>
                          <a:spcPts val="270"/>
                        </a:spcBef>
                      </a:pPr>
                      <a:r>
                        <a:rPr sz="900" kern="0" spc="-20" dirty="0">
                          <a:solidFill>
                            <a:srgbClr val="000000">
                              <a:alpha val="100000"/>
                            </a:srgbClr>
                          </a:solidFill>
                          <a:latin typeface="Times New Roman" panose="02020603050405020304"/>
                          <a:ea typeface="Times New Roman" panose="02020603050405020304"/>
                          <a:cs typeface="Times New Roman" panose="02020603050405020304"/>
                        </a:rPr>
                        <a:t>80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1020445" algn="l" rtl="0" eaLnBrk="0">
                        <a:lnSpc>
                          <a:spcPct val="76000"/>
                        </a:lnSpc>
                        <a:spcBef>
                          <a:spcPts val="270"/>
                        </a:spcBef>
                      </a:pPr>
                      <a:r>
                        <a:rPr sz="900" kern="0" spc="-20" dirty="0">
                          <a:solidFill>
                            <a:srgbClr val="000000">
                              <a:alpha val="100000"/>
                            </a:srgbClr>
                          </a:solidFill>
                          <a:latin typeface="Times New Roman" panose="02020603050405020304"/>
                          <a:ea typeface="Times New Roman" panose="02020603050405020304"/>
                          <a:cs typeface="Times New Roman" panose="02020603050405020304"/>
                        </a:rPr>
                        <a:t>60</a:t>
                      </a:r>
                      <a:endParaRPr sz="9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algn="l" rtl="0" eaLnBrk="0">
                        <a:lnSpc>
                          <a:spcPct val="113000"/>
                        </a:lnSpc>
                      </a:pPr>
                      <a:endParaRPr sz="200" dirty="0">
                        <a:latin typeface="Arial" panose="020B0604020202020204"/>
                        <a:ea typeface="Arial" panose="020B0604020202020204"/>
                        <a:cs typeface="Arial" panose="020B0604020202020204"/>
                      </a:endParaRPr>
                    </a:p>
                    <a:p>
                      <a:pPr marL="1017270" algn="l" rtl="0" eaLnBrk="0">
                        <a:lnSpc>
                          <a:spcPct val="76000"/>
                        </a:lnSpc>
                      </a:pPr>
                      <a:r>
                        <a:rPr sz="900" kern="0" spc="-10" dirty="0">
                          <a:solidFill>
                            <a:srgbClr val="000000">
                              <a:alpha val="100000"/>
                            </a:srgbClr>
                          </a:solidFill>
                          <a:latin typeface="Times New Roman" panose="02020603050405020304"/>
                          <a:ea typeface="Times New Roman" panose="02020603050405020304"/>
                          <a:cs typeface="Times New Roman" panose="02020603050405020304"/>
                        </a:rPr>
                        <a:t>40</a:t>
                      </a:r>
                      <a:endParaRPr sz="900" dirty="0">
                        <a:latin typeface="Times New Roman" panose="02020603050405020304"/>
                        <a:ea typeface="Times New Roman" panose="02020603050405020304"/>
                        <a:cs typeface="Times New Roman" panose="02020603050405020304"/>
                      </a:endParaRPr>
                    </a:p>
                  </a:txBody>
                  <a:tcPr marL="0" marR="0" marT="0" marB="0">
                    <a:lnL>
                      <a:noFill/>
                    </a:lnL>
                    <a:lnR>
                      <a:noFill/>
                    </a:lnR>
                    <a:lnT>
                      <a:noFill/>
                    </a:lnT>
                    <a:lnB>
                      <a:noFill/>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2860" algn="l" rtl="0" eaLnBrk="0">
                        <a:lnSpc>
                          <a:spcPct val="76000"/>
                        </a:lnSpc>
                      </a:pPr>
                      <a:r>
                        <a:rPr sz="900" kern="0" spc="-10" dirty="0">
                          <a:solidFill>
                            <a:srgbClr val="000000">
                              <a:alpha val="100000"/>
                            </a:srgbClr>
                          </a:solidFill>
                          <a:latin typeface="Times New Roman" panose="02020603050405020304"/>
                          <a:ea typeface="Times New Roman" panose="02020603050405020304"/>
                          <a:cs typeface="Times New Roman" panose="02020603050405020304"/>
                        </a:rPr>
                        <a:t>50                                     100                                     150                                    200                               </a:t>
                      </a:r>
                      <a:r>
                        <a:rPr sz="900" kern="0" spc="-20" dirty="0">
                          <a:solidFill>
                            <a:srgbClr val="000000">
                              <a:alpha val="100000"/>
                            </a:srgbClr>
                          </a:solidFill>
                          <a:latin typeface="Times New Roman" panose="02020603050405020304"/>
                          <a:ea typeface="Times New Roman" panose="02020603050405020304"/>
                          <a:cs typeface="Times New Roman" panose="02020603050405020304"/>
                        </a:rPr>
                        <a:t>     250</a:t>
                      </a:r>
                      <a:endParaRPr sz="9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2560320">
                <a:tc vMerge="1">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gridSpan="2">
                  <a:txBody>
                    <a:bodyPr/>
                    <a:lstStyle/>
                    <a:p>
                      <a:pPr algn="l" rtl="0" eaLnBrk="0">
                        <a:lnSpc>
                          <a:spcPct val="108000"/>
                        </a:lnSpc>
                      </a:pPr>
                      <a:endParaRPr sz="1000" dirty="0">
                        <a:latin typeface="Arial" panose="020B0604020202020204"/>
                        <a:ea typeface="Arial" panose="020B0604020202020204"/>
                        <a:cs typeface="Arial" panose="020B0604020202020204"/>
                      </a:endParaRPr>
                    </a:p>
                    <a:p>
                      <a:pPr marL="458470" algn="l" rtl="0" eaLnBrk="0">
                        <a:lnSpc>
                          <a:spcPct val="95000"/>
                        </a:lnSpc>
                        <a:spcBef>
                          <a:spcPts val="5"/>
                        </a:spcBef>
                      </a:pPr>
                      <a:r>
                        <a:rPr sz="1900" kern="0" spc="10" dirty="0">
                          <a:solidFill>
                            <a:srgbClr val="000000">
                              <a:alpha val="100000"/>
                            </a:srgbClr>
                          </a:solidFill>
                          <a:latin typeface="仿宋" panose="02010609060101010101" charset="-122"/>
                          <a:ea typeface="仿宋" panose="02010609060101010101" charset="-122"/>
                          <a:cs typeface="仿宋" panose="02010609060101010101" charset="-122"/>
                        </a:rPr>
                        <a:t>黄线：</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OLS</a:t>
                      </a:r>
                      <a:r>
                        <a:rPr sz="1900" kern="0" spc="10" dirty="0">
                          <a:solidFill>
                            <a:srgbClr val="000000">
                              <a:alpha val="100000"/>
                            </a:srgbClr>
                          </a:solidFill>
                          <a:latin typeface="仿宋" panose="02010609060101010101" charset="-122"/>
                          <a:ea typeface="仿宋" panose="02010609060101010101" charset="-122"/>
                          <a:cs typeface="仿宋" panose="02010609060101010101" charset="-122"/>
                        </a:rPr>
                        <a:t>拟合线</a:t>
                      </a:r>
                      <a:r>
                        <a:rPr sz="19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1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Y</a:t>
                      </a:r>
                      <a:r>
                        <a:rPr sz="190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27.776 + 0.5548X</a:t>
                      </a:r>
                      <a:endParaRPr sz="1900" dirty="0">
                        <a:latin typeface="微软雅黑" panose="020B0503020204020204" charset="-122"/>
                        <a:ea typeface="微软雅黑" panose="020B0503020204020204" charset="-122"/>
                        <a:cs typeface="微软雅黑" panose="020B0503020204020204" charset="-122"/>
                      </a:endParaRPr>
                    </a:p>
                    <a:p>
                      <a:pPr marL="457200" indent="1905" algn="l" rtl="0" eaLnBrk="0">
                        <a:lnSpc>
                          <a:spcPct val="170000"/>
                        </a:lnSpc>
                        <a:spcBef>
                          <a:spcPts val="95"/>
                        </a:spcBef>
                      </a:pPr>
                      <a:r>
                        <a:rPr sz="1900" kern="0" spc="40" dirty="0">
                          <a:solidFill>
                            <a:srgbClr val="000000">
                              <a:alpha val="100000"/>
                            </a:srgbClr>
                          </a:solidFill>
                          <a:latin typeface="仿宋" panose="02010609060101010101" charset="-122"/>
                          <a:ea typeface="仿宋" panose="02010609060101010101" charset="-122"/>
                          <a:cs typeface="仿宋" panose="02010609060101010101" charset="-122"/>
                        </a:rPr>
                        <a:t>红线：第一个样本点与第二个样本点的连线</a:t>
                      </a:r>
                      <a:r>
                        <a:rPr sz="19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1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Y</a:t>
                      </a:r>
                      <a:r>
                        <a:rPr sz="19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 29.4</a:t>
                      </a:r>
                      <a:r>
                        <a:rPr sz="19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35 + 0.4278X</a:t>
                      </a:r>
                      <a:r>
                        <a:rPr sz="19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000000">
                              <a:alpha val="100000"/>
                            </a:srgbClr>
                          </a:solidFill>
                          <a:latin typeface="仿宋" panose="02010609060101010101" charset="-122"/>
                          <a:ea typeface="仿宋" panose="02010609060101010101" charset="-122"/>
                          <a:cs typeface="仿宋" panose="02010609060101010101" charset="-122"/>
                        </a:rPr>
                        <a:t>重复上述过程</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10000</a:t>
                      </a:r>
                      <a:r>
                        <a:rPr sz="1900" kern="0" spc="70" dirty="0">
                          <a:solidFill>
                            <a:srgbClr val="000000">
                              <a:alpha val="100000"/>
                            </a:srgbClr>
                          </a:solidFill>
                          <a:latin typeface="仿宋" panose="02010609060101010101" charset="-122"/>
                          <a:ea typeface="仿宋" panose="02010609060101010101" charset="-122"/>
                          <a:cs typeface="仿宋" panose="02010609060101010101" charset="-122"/>
                        </a:rPr>
                        <a:t>次，得到</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10000</a:t>
                      </a:r>
                      <a:r>
                        <a:rPr sz="1900" kern="0" spc="70" dirty="0">
                          <a:solidFill>
                            <a:srgbClr val="000000">
                              <a:alpha val="100000"/>
                            </a:srgbClr>
                          </a:solidFill>
                          <a:latin typeface="仿宋" panose="02010609060101010101" charset="-122"/>
                          <a:ea typeface="仿宋" panose="02010609060101010101" charset="-122"/>
                          <a:cs typeface="仿宋" panose="02010609060101010101" charset="-122"/>
                        </a:rPr>
                        <a:t>个斜率系数估计值。</a:t>
                      </a:r>
                      <a:endParaRPr sz="1900" dirty="0">
                        <a:latin typeface="仿宋" panose="02010609060101010101" charset="-122"/>
                        <a:ea typeface="仿宋" panose="02010609060101010101" charset="-122"/>
                        <a:cs typeface="仿宋" panose="02010609060101010101" charset="-122"/>
                      </a:endParaRPr>
                    </a:p>
                    <a:p>
                      <a:pPr marL="450215" algn="l" rtl="0" eaLnBrk="0">
                        <a:lnSpc>
                          <a:spcPts val="2445"/>
                        </a:lnSpc>
                        <a:spcBef>
                          <a:spcPts val="1375"/>
                        </a:spcBef>
                      </a:pPr>
                      <a:r>
                        <a:rPr sz="1900" kern="0" spc="40" dirty="0">
                          <a:solidFill>
                            <a:srgbClr val="000000">
                              <a:alpha val="100000"/>
                            </a:srgbClr>
                          </a:solidFill>
                          <a:latin typeface="仿宋" panose="02010609060101010101" charset="-122"/>
                          <a:ea typeface="仿宋" panose="02010609060101010101" charset="-122"/>
                          <a:cs typeface="仿宋" panose="02010609060101010101" charset="-122"/>
                        </a:rPr>
                        <a:t>得到：</a:t>
                      </a:r>
                      <a:r>
                        <a:rPr sz="1900" kern="0" spc="420" dirty="0">
                          <a:solidFill>
                            <a:srgbClr val="000000">
                              <a:alpha val="100000"/>
                            </a:srgbClr>
                          </a:solidFill>
                          <a:latin typeface="仿宋" panose="02010609060101010101" charset="-122"/>
                          <a:ea typeface="仿宋" panose="02010609060101010101" charset="-122"/>
                          <a:cs typeface="仿宋" panose="02010609060101010101" charset="-122"/>
                        </a:rPr>
                        <a:t>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kern="0" spc="40" dirty="0">
                          <a:solidFill>
                            <a:srgbClr val="000000">
                              <a:alpha val="100000"/>
                            </a:srgbClr>
                          </a:solidFill>
                          <a:latin typeface="Times New Roman" panose="02020603050405020304"/>
                          <a:ea typeface="Times New Roman" panose="02020603050405020304"/>
                          <a:cs typeface="Times New Roman" panose="02020603050405020304"/>
                        </a:rPr>
                        <a:t>=(0.6615,0.5548,…);    </a:t>
                      </a:r>
                      <a:r>
                        <a:rPr sz="14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900" kern="0" spc="40" dirty="0">
                          <a:solidFill>
                            <a:srgbClr val="000000">
                              <a:alpha val="100000"/>
                            </a:srgbClr>
                          </a:solidFill>
                          <a:latin typeface="Times New Roman" panose="02020603050405020304"/>
                          <a:ea typeface="Times New Roman" panose="02020603050405020304"/>
                          <a:cs typeface="Times New Roman" panose="02020603050405020304"/>
                        </a:rPr>
                        <a:t>=(0.6</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389,0.4278,…)</a:t>
                      </a:r>
                      <a:r>
                        <a:rPr sz="1900" kern="0" spc="30" dirty="0">
                          <a:solidFill>
                            <a:srgbClr val="000000">
                              <a:alpha val="100000"/>
                            </a:srgbClr>
                          </a:solidFill>
                          <a:latin typeface="仿宋" panose="02010609060101010101" charset="-122"/>
                          <a:ea typeface="仿宋" panose="02010609060101010101" charset="-122"/>
                          <a:cs typeface="仿宋" panose="02010609060101010101" charset="-122"/>
                        </a:rPr>
                        <a:t>。</a:t>
                      </a:r>
                      <a:endParaRPr sz="1900" dirty="0">
                        <a:latin typeface="仿宋" panose="02010609060101010101" charset="-122"/>
                        <a:ea typeface="仿宋" panose="02010609060101010101" charset="-122"/>
                        <a:cs typeface="仿宋" panose="02010609060101010101" charset="-122"/>
                      </a:endParaRPr>
                    </a:p>
                    <a:p>
                      <a:pPr algn="l" rtl="0" eaLnBrk="0">
                        <a:lnSpc>
                          <a:spcPct val="110000"/>
                        </a:lnSpc>
                      </a:pPr>
                      <a:endParaRPr sz="9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54" name="textbox 54"/>
          <p:cNvSpPr/>
          <p:nvPr/>
        </p:nvSpPr>
        <p:spPr>
          <a:xfrm>
            <a:off x="4767832" y="5825179"/>
            <a:ext cx="177800" cy="279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00"/>
              </a:lnSpc>
            </a:pP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endParaRPr sz="1300" dirty="0">
              <a:latin typeface="微软雅黑" panose="020B0503020204020204" charset="-122"/>
              <a:ea typeface="微软雅黑" panose="020B0503020204020204" charset="-122"/>
              <a:cs typeface="微软雅黑" panose="020B0503020204020204" charset="-122"/>
            </a:endParaRPr>
          </a:p>
        </p:txBody>
      </p:sp>
      <p:sp>
        <p:nvSpPr>
          <p:cNvPr id="56" name="textbox 56"/>
          <p:cNvSpPr/>
          <p:nvPr/>
        </p:nvSpPr>
        <p:spPr>
          <a:xfrm>
            <a:off x="4798550" y="5795435"/>
            <a:ext cx="125095" cy="9969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585"/>
              </a:lnSpc>
            </a:pPr>
            <a:r>
              <a:rPr sz="1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100" dirty="0">
              <a:latin typeface="微软雅黑" panose="020B0503020204020204" charset="-122"/>
              <a:ea typeface="微软雅黑" panose="020B0503020204020204" charset="-122"/>
              <a:cs typeface="微软雅黑" panose="020B0503020204020204" charset="-122"/>
            </a:endParaRPr>
          </a:p>
        </p:txBody>
      </p:sp>
      <p:sp>
        <p:nvSpPr>
          <p:cNvPr id="58" name="textbox 58"/>
          <p:cNvSpPr/>
          <p:nvPr/>
        </p:nvSpPr>
        <p:spPr>
          <a:xfrm>
            <a:off x="2238500" y="5825179"/>
            <a:ext cx="177800" cy="279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00"/>
              </a:lnSpc>
            </a:pPr>
            <a:r>
              <a:rPr sz="13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endParaRPr sz="1300" dirty="0">
              <a:latin typeface="微软雅黑" panose="020B0503020204020204" charset="-122"/>
              <a:ea typeface="微软雅黑" panose="020B0503020204020204" charset="-122"/>
              <a:cs typeface="微软雅黑" panose="020B0503020204020204" charset="-122"/>
            </a:endParaRPr>
          </a:p>
        </p:txBody>
      </p:sp>
      <p:sp>
        <p:nvSpPr>
          <p:cNvPr id="60" name="textbox 60"/>
          <p:cNvSpPr/>
          <p:nvPr/>
        </p:nvSpPr>
        <p:spPr>
          <a:xfrm>
            <a:off x="2266440" y="5768791"/>
            <a:ext cx="100330" cy="279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00"/>
              </a:lnSpc>
            </a:pPr>
            <a:r>
              <a:rPr sz="8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800" dirty="0">
              <a:latin typeface="微软雅黑" panose="020B0503020204020204" charset="-122"/>
              <a:ea typeface="微软雅黑" panose="020B0503020204020204" charset="-122"/>
              <a:cs typeface="微软雅黑" panose="020B0503020204020204" charset="-122"/>
            </a:endParaRPr>
          </a:p>
        </p:txBody>
      </p:sp>
      <p:grpSp>
        <p:nvGrpSpPr>
          <p:cNvPr id="4" name="group 4"/>
          <p:cNvGrpSpPr/>
          <p:nvPr/>
        </p:nvGrpSpPr>
        <p:grpSpPr>
          <a:xfrm rot="21600000">
            <a:off x="2276284" y="916559"/>
            <a:ext cx="5323921" cy="2933636"/>
            <a:chOff x="0" y="0"/>
            <a:chExt cx="5323921" cy="2933636"/>
          </a:xfrm>
        </p:grpSpPr>
        <p:sp>
          <p:nvSpPr>
            <p:cNvPr id="62" name="path 62"/>
            <p:cNvSpPr/>
            <p:nvPr/>
          </p:nvSpPr>
          <p:spPr>
            <a:xfrm>
              <a:off x="4381" y="0"/>
              <a:ext cx="5314950" cy="2929254"/>
            </a:xfrm>
            <a:custGeom>
              <a:avLst/>
              <a:gdLst/>
              <a:ahLst/>
              <a:cxnLst/>
              <a:rect l="0" t="0" r="0" b="0"/>
              <a:pathLst>
                <a:path w="8370" h="4612">
                  <a:moveTo>
                    <a:pt x="0" y="4037"/>
                  </a:moveTo>
                  <a:lnTo>
                    <a:pt x="8370" y="4037"/>
                  </a:lnTo>
                  <a:moveTo>
                    <a:pt x="0" y="3460"/>
                  </a:moveTo>
                  <a:lnTo>
                    <a:pt x="8370" y="3460"/>
                  </a:lnTo>
                  <a:moveTo>
                    <a:pt x="0" y="2885"/>
                  </a:moveTo>
                  <a:lnTo>
                    <a:pt x="8370" y="2885"/>
                  </a:lnTo>
                  <a:moveTo>
                    <a:pt x="0" y="2309"/>
                  </a:moveTo>
                  <a:lnTo>
                    <a:pt x="8370" y="2309"/>
                  </a:lnTo>
                  <a:moveTo>
                    <a:pt x="0" y="1732"/>
                  </a:moveTo>
                  <a:lnTo>
                    <a:pt x="8370" y="1732"/>
                  </a:lnTo>
                  <a:moveTo>
                    <a:pt x="0" y="1157"/>
                  </a:moveTo>
                  <a:lnTo>
                    <a:pt x="8370" y="1157"/>
                  </a:lnTo>
                  <a:moveTo>
                    <a:pt x="0" y="580"/>
                  </a:moveTo>
                  <a:lnTo>
                    <a:pt x="8370" y="580"/>
                  </a:lnTo>
                  <a:moveTo>
                    <a:pt x="0" y="5"/>
                  </a:moveTo>
                  <a:lnTo>
                    <a:pt x="8370" y="5"/>
                  </a:lnTo>
                  <a:moveTo>
                    <a:pt x="1819" y="5"/>
                  </a:moveTo>
                  <a:lnTo>
                    <a:pt x="1819" y="4612"/>
                  </a:lnTo>
                  <a:moveTo>
                    <a:pt x="3639" y="5"/>
                  </a:moveTo>
                  <a:lnTo>
                    <a:pt x="3639" y="4612"/>
                  </a:lnTo>
                  <a:moveTo>
                    <a:pt x="5458" y="5"/>
                  </a:moveTo>
                  <a:lnTo>
                    <a:pt x="5458" y="4612"/>
                  </a:lnTo>
                  <a:moveTo>
                    <a:pt x="7278" y="5"/>
                  </a:moveTo>
                  <a:lnTo>
                    <a:pt x="7278" y="4612"/>
                  </a:lnTo>
                </a:path>
              </a:pathLst>
            </a:custGeom>
            <a:noFill/>
            <a:ln w="6350" cap="flat">
              <a:solidFill>
                <a:srgbClr val="000000"/>
              </a:solidFill>
              <a:prstDash val="solid"/>
              <a:round/>
            </a:ln>
          </p:spPr>
          <p:txBody>
            <a:bodyPr rtlCol="0"/>
            <a:lstStyle/>
            <a:p>
              <a:pPr algn="ctr"/>
              <a:endParaRPr lang="zh-CN" altLang="en-US"/>
            </a:p>
          </p:txBody>
        </p:sp>
        <p:sp>
          <p:nvSpPr>
            <p:cNvPr id="64" name="path 64"/>
            <p:cNvSpPr/>
            <p:nvPr/>
          </p:nvSpPr>
          <p:spPr>
            <a:xfrm>
              <a:off x="0" y="2793"/>
              <a:ext cx="5319712" cy="2930842"/>
            </a:xfrm>
            <a:custGeom>
              <a:avLst/>
              <a:gdLst/>
              <a:ahLst/>
              <a:cxnLst/>
              <a:rect l="0" t="0" r="0" b="0"/>
              <a:pathLst>
                <a:path w="8377" h="4615">
                  <a:moveTo>
                    <a:pt x="7" y="4608"/>
                  </a:moveTo>
                  <a:lnTo>
                    <a:pt x="7" y="0"/>
                  </a:lnTo>
                  <a:moveTo>
                    <a:pt x="7" y="4608"/>
                  </a:moveTo>
                  <a:lnTo>
                    <a:pt x="8377" y="4608"/>
                  </a:lnTo>
                  <a:moveTo>
                    <a:pt x="7" y="4568"/>
                  </a:moveTo>
                  <a:lnTo>
                    <a:pt x="7" y="4608"/>
                  </a:lnTo>
                  <a:moveTo>
                    <a:pt x="734" y="4568"/>
                  </a:moveTo>
                  <a:lnTo>
                    <a:pt x="734" y="4608"/>
                  </a:lnTo>
                  <a:moveTo>
                    <a:pt x="1463" y="4568"/>
                  </a:moveTo>
                  <a:lnTo>
                    <a:pt x="1463" y="4608"/>
                  </a:lnTo>
                  <a:moveTo>
                    <a:pt x="2190" y="4568"/>
                  </a:moveTo>
                  <a:lnTo>
                    <a:pt x="2190" y="4608"/>
                  </a:lnTo>
                  <a:moveTo>
                    <a:pt x="2918" y="4568"/>
                  </a:moveTo>
                  <a:lnTo>
                    <a:pt x="2918" y="4608"/>
                  </a:lnTo>
                  <a:moveTo>
                    <a:pt x="3645" y="4568"/>
                  </a:moveTo>
                  <a:lnTo>
                    <a:pt x="3645" y="4608"/>
                  </a:lnTo>
                  <a:moveTo>
                    <a:pt x="4374" y="4568"/>
                  </a:moveTo>
                  <a:lnTo>
                    <a:pt x="4374" y="4608"/>
                  </a:lnTo>
                  <a:moveTo>
                    <a:pt x="5101" y="4568"/>
                  </a:moveTo>
                  <a:lnTo>
                    <a:pt x="5101" y="4608"/>
                  </a:lnTo>
                  <a:moveTo>
                    <a:pt x="5829" y="4568"/>
                  </a:moveTo>
                  <a:lnTo>
                    <a:pt x="5829" y="4608"/>
                  </a:lnTo>
                  <a:moveTo>
                    <a:pt x="6557" y="4568"/>
                  </a:moveTo>
                  <a:lnTo>
                    <a:pt x="6557" y="4608"/>
                  </a:lnTo>
                  <a:moveTo>
                    <a:pt x="7285" y="4568"/>
                  </a:moveTo>
                  <a:lnTo>
                    <a:pt x="7285" y="4608"/>
                  </a:lnTo>
                  <a:moveTo>
                    <a:pt x="8012" y="4568"/>
                  </a:moveTo>
                  <a:lnTo>
                    <a:pt x="8012" y="4608"/>
                  </a:lnTo>
                  <a:moveTo>
                    <a:pt x="7" y="4555"/>
                  </a:moveTo>
                  <a:lnTo>
                    <a:pt x="7" y="4608"/>
                  </a:lnTo>
                  <a:moveTo>
                    <a:pt x="1826" y="4555"/>
                  </a:moveTo>
                  <a:lnTo>
                    <a:pt x="1826" y="4608"/>
                  </a:lnTo>
                  <a:moveTo>
                    <a:pt x="3645" y="4555"/>
                  </a:moveTo>
                  <a:lnTo>
                    <a:pt x="3645" y="4608"/>
                  </a:lnTo>
                  <a:moveTo>
                    <a:pt x="5466" y="4555"/>
                  </a:moveTo>
                  <a:lnTo>
                    <a:pt x="5466" y="4608"/>
                  </a:lnTo>
                  <a:moveTo>
                    <a:pt x="7285" y="4555"/>
                  </a:moveTo>
                  <a:lnTo>
                    <a:pt x="7285" y="4608"/>
                  </a:lnTo>
                </a:path>
              </a:pathLst>
            </a:custGeom>
            <a:noFill/>
            <a:ln w="9525" cap="flat">
              <a:solidFill>
                <a:srgbClr val="BFBFBF"/>
              </a:solidFill>
              <a:prstDash val="solid"/>
              <a:round/>
            </a:ln>
          </p:spPr>
          <p:txBody>
            <a:bodyPr rtlCol="0"/>
            <a:lstStyle/>
            <a:p>
              <a:pPr algn="ctr"/>
              <a:endParaRPr lang="zh-CN" altLang="en-US"/>
            </a:p>
          </p:txBody>
        </p:sp>
        <p:sp>
          <p:nvSpPr>
            <p:cNvPr id="66" name="path 66"/>
            <p:cNvSpPr/>
            <p:nvPr/>
          </p:nvSpPr>
          <p:spPr>
            <a:xfrm>
              <a:off x="646366" y="408939"/>
              <a:ext cx="4261103" cy="1948433"/>
            </a:xfrm>
            <a:custGeom>
              <a:avLst/>
              <a:gdLst/>
              <a:ahLst/>
              <a:cxnLst/>
              <a:rect l="0" t="0" r="0" b="0"/>
              <a:pathLst>
                <a:path w="6710" h="3068">
                  <a:moveTo>
                    <a:pt x="129" y="2959"/>
                  </a:moveTo>
                  <a:cubicBezTo>
                    <a:pt x="129" y="2987"/>
                    <a:pt x="107" y="3009"/>
                    <a:pt x="79" y="3009"/>
                  </a:cubicBezTo>
                  <a:cubicBezTo>
                    <a:pt x="52" y="3009"/>
                    <a:pt x="30" y="2987"/>
                    <a:pt x="30" y="2959"/>
                  </a:cubicBezTo>
                  <a:cubicBezTo>
                    <a:pt x="30" y="2932"/>
                    <a:pt x="52" y="2910"/>
                    <a:pt x="79" y="2910"/>
                  </a:cubicBezTo>
                  <a:cubicBezTo>
                    <a:pt x="107" y="2910"/>
                    <a:pt x="129" y="2932"/>
                    <a:pt x="129" y="2959"/>
                  </a:cubicBezTo>
                  <a:moveTo>
                    <a:pt x="856" y="2988"/>
                  </a:moveTo>
                  <a:cubicBezTo>
                    <a:pt x="856" y="3016"/>
                    <a:pt x="834" y="3038"/>
                    <a:pt x="806" y="3038"/>
                  </a:cubicBezTo>
                  <a:cubicBezTo>
                    <a:pt x="779" y="3038"/>
                    <a:pt x="757" y="3016"/>
                    <a:pt x="757" y="2988"/>
                  </a:cubicBezTo>
                  <a:cubicBezTo>
                    <a:pt x="757" y="2961"/>
                    <a:pt x="779" y="2938"/>
                    <a:pt x="806" y="2938"/>
                  </a:cubicBezTo>
                  <a:cubicBezTo>
                    <a:pt x="834" y="2938"/>
                    <a:pt x="856" y="2961"/>
                    <a:pt x="856" y="2988"/>
                  </a:cubicBezTo>
                  <a:moveTo>
                    <a:pt x="1585" y="2412"/>
                  </a:moveTo>
                  <a:cubicBezTo>
                    <a:pt x="1585" y="2440"/>
                    <a:pt x="1562" y="2462"/>
                    <a:pt x="1535" y="2462"/>
                  </a:cubicBezTo>
                  <a:cubicBezTo>
                    <a:pt x="1507" y="2462"/>
                    <a:pt x="1485" y="2440"/>
                    <a:pt x="1485" y="2412"/>
                  </a:cubicBezTo>
                  <a:cubicBezTo>
                    <a:pt x="1485" y="2385"/>
                    <a:pt x="1507" y="2362"/>
                    <a:pt x="1535" y="2362"/>
                  </a:cubicBezTo>
                  <a:cubicBezTo>
                    <a:pt x="1562" y="2362"/>
                    <a:pt x="1585" y="2385"/>
                    <a:pt x="1585" y="2412"/>
                  </a:cubicBezTo>
                  <a:moveTo>
                    <a:pt x="2312" y="1865"/>
                  </a:moveTo>
                  <a:cubicBezTo>
                    <a:pt x="2312" y="1893"/>
                    <a:pt x="2290" y="1915"/>
                    <a:pt x="2262" y="1915"/>
                  </a:cubicBezTo>
                  <a:cubicBezTo>
                    <a:pt x="2235" y="1915"/>
                    <a:pt x="2212" y="1893"/>
                    <a:pt x="2212" y="1865"/>
                  </a:cubicBezTo>
                  <a:cubicBezTo>
                    <a:pt x="2212" y="1837"/>
                    <a:pt x="2235" y="1815"/>
                    <a:pt x="2262" y="1815"/>
                  </a:cubicBezTo>
                  <a:cubicBezTo>
                    <a:pt x="2290" y="1815"/>
                    <a:pt x="2312" y="1837"/>
                    <a:pt x="2312" y="1865"/>
                  </a:cubicBezTo>
                  <a:moveTo>
                    <a:pt x="3040" y="2038"/>
                  </a:moveTo>
                  <a:cubicBezTo>
                    <a:pt x="3040" y="2065"/>
                    <a:pt x="3018" y="2087"/>
                    <a:pt x="2990" y="2087"/>
                  </a:cubicBezTo>
                  <a:cubicBezTo>
                    <a:pt x="2963" y="2087"/>
                    <a:pt x="2941" y="2065"/>
                    <a:pt x="2941" y="2038"/>
                  </a:cubicBezTo>
                  <a:cubicBezTo>
                    <a:pt x="2941" y="2010"/>
                    <a:pt x="2963" y="1988"/>
                    <a:pt x="2990" y="1988"/>
                  </a:cubicBezTo>
                  <a:cubicBezTo>
                    <a:pt x="3018" y="1988"/>
                    <a:pt x="3040" y="2010"/>
                    <a:pt x="3040" y="2038"/>
                  </a:cubicBezTo>
                  <a:moveTo>
                    <a:pt x="3769" y="1375"/>
                  </a:moveTo>
                  <a:cubicBezTo>
                    <a:pt x="3769" y="1403"/>
                    <a:pt x="3746" y="1425"/>
                    <a:pt x="3719" y="1425"/>
                  </a:cubicBezTo>
                  <a:cubicBezTo>
                    <a:pt x="3692" y="1425"/>
                    <a:pt x="3669" y="1403"/>
                    <a:pt x="3669" y="1375"/>
                  </a:cubicBezTo>
                  <a:cubicBezTo>
                    <a:pt x="3669" y="1348"/>
                    <a:pt x="3692" y="1326"/>
                    <a:pt x="3719" y="1326"/>
                  </a:cubicBezTo>
                  <a:cubicBezTo>
                    <a:pt x="3746" y="1326"/>
                    <a:pt x="3769" y="1348"/>
                    <a:pt x="3769" y="1375"/>
                  </a:cubicBezTo>
                  <a:moveTo>
                    <a:pt x="4496" y="972"/>
                  </a:moveTo>
                  <a:cubicBezTo>
                    <a:pt x="4496" y="1000"/>
                    <a:pt x="4474" y="1022"/>
                    <a:pt x="4446" y="1022"/>
                  </a:cubicBezTo>
                  <a:cubicBezTo>
                    <a:pt x="4419" y="1022"/>
                    <a:pt x="4396" y="1000"/>
                    <a:pt x="4396" y="972"/>
                  </a:cubicBezTo>
                  <a:cubicBezTo>
                    <a:pt x="4396" y="945"/>
                    <a:pt x="4419" y="922"/>
                    <a:pt x="4446" y="922"/>
                  </a:cubicBezTo>
                  <a:cubicBezTo>
                    <a:pt x="4474" y="922"/>
                    <a:pt x="4496" y="945"/>
                    <a:pt x="4496" y="972"/>
                  </a:cubicBezTo>
                  <a:moveTo>
                    <a:pt x="5224" y="598"/>
                  </a:moveTo>
                  <a:cubicBezTo>
                    <a:pt x="5224" y="625"/>
                    <a:pt x="5202" y="647"/>
                    <a:pt x="5174" y="647"/>
                  </a:cubicBezTo>
                  <a:cubicBezTo>
                    <a:pt x="5147" y="647"/>
                    <a:pt x="5125" y="625"/>
                    <a:pt x="5125" y="598"/>
                  </a:cubicBezTo>
                  <a:cubicBezTo>
                    <a:pt x="5125" y="570"/>
                    <a:pt x="5147" y="548"/>
                    <a:pt x="5174" y="548"/>
                  </a:cubicBezTo>
                  <a:cubicBezTo>
                    <a:pt x="5202" y="548"/>
                    <a:pt x="5224" y="570"/>
                    <a:pt x="5224" y="598"/>
                  </a:cubicBezTo>
                  <a:moveTo>
                    <a:pt x="5952" y="79"/>
                  </a:moveTo>
                  <a:cubicBezTo>
                    <a:pt x="5952" y="107"/>
                    <a:pt x="5929" y="129"/>
                    <a:pt x="5902" y="129"/>
                  </a:cubicBezTo>
                  <a:cubicBezTo>
                    <a:pt x="5874" y="129"/>
                    <a:pt x="5852" y="107"/>
                    <a:pt x="5852" y="79"/>
                  </a:cubicBezTo>
                  <a:cubicBezTo>
                    <a:pt x="5852" y="52"/>
                    <a:pt x="5874" y="30"/>
                    <a:pt x="5902" y="30"/>
                  </a:cubicBezTo>
                  <a:cubicBezTo>
                    <a:pt x="5929" y="30"/>
                    <a:pt x="5952" y="52"/>
                    <a:pt x="5952" y="79"/>
                  </a:cubicBezTo>
                  <a:moveTo>
                    <a:pt x="6680" y="742"/>
                  </a:moveTo>
                  <a:cubicBezTo>
                    <a:pt x="6680" y="769"/>
                    <a:pt x="6658" y="792"/>
                    <a:pt x="6630" y="792"/>
                  </a:cubicBezTo>
                  <a:cubicBezTo>
                    <a:pt x="6603" y="792"/>
                    <a:pt x="6580" y="769"/>
                    <a:pt x="6580" y="742"/>
                  </a:cubicBezTo>
                  <a:cubicBezTo>
                    <a:pt x="6580" y="714"/>
                    <a:pt x="6603" y="692"/>
                    <a:pt x="6630" y="692"/>
                  </a:cubicBezTo>
                  <a:cubicBezTo>
                    <a:pt x="6658" y="692"/>
                    <a:pt x="6680" y="714"/>
                    <a:pt x="6680" y="742"/>
                  </a:cubicBezTo>
                </a:path>
              </a:pathLst>
            </a:custGeom>
            <a:noFill/>
            <a:ln w="38100" cap="flat">
              <a:solidFill>
                <a:srgbClr val="00B050"/>
              </a:solidFill>
              <a:prstDash val="solid"/>
              <a:round/>
            </a:ln>
          </p:spPr>
          <p:txBody>
            <a:bodyPr rtlCol="0"/>
            <a:lstStyle/>
            <a:p>
              <a:pPr algn="ctr"/>
              <a:endParaRPr lang="zh-CN" altLang="en-US"/>
            </a:p>
          </p:txBody>
        </p:sp>
        <p:sp>
          <p:nvSpPr>
            <p:cNvPr id="68" name="path 68"/>
            <p:cNvSpPr/>
            <p:nvPr/>
          </p:nvSpPr>
          <p:spPr>
            <a:xfrm>
              <a:off x="686308" y="502983"/>
              <a:ext cx="4181982" cy="1848738"/>
            </a:xfrm>
            <a:custGeom>
              <a:avLst/>
              <a:gdLst/>
              <a:ahLst/>
              <a:cxnLst/>
              <a:rect l="0" t="0" r="0" b="0"/>
              <a:pathLst>
                <a:path w="6585" h="2911">
                  <a:moveTo>
                    <a:pt x="17" y="2893"/>
                  </a:moveTo>
                  <a:lnTo>
                    <a:pt x="6568" y="17"/>
                  </a:lnTo>
                </a:path>
              </a:pathLst>
            </a:custGeom>
            <a:noFill/>
            <a:ln w="22225" cap="rnd">
              <a:solidFill>
                <a:srgbClr val="FFC000"/>
              </a:solidFill>
              <a:prstDash val="solid"/>
              <a:round/>
            </a:ln>
          </p:spPr>
          <p:txBody>
            <a:bodyPr rtlCol="0"/>
            <a:lstStyle/>
            <a:p>
              <a:pPr algn="ctr"/>
              <a:endParaRPr lang="zh-CN" altLang="en-US"/>
            </a:p>
          </p:txBody>
        </p:sp>
        <p:sp>
          <p:nvSpPr>
            <p:cNvPr id="70" name="path 70"/>
            <p:cNvSpPr/>
            <p:nvPr/>
          </p:nvSpPr>
          <p:spPr>
            <a:xfrm>
              <a:off x="690163" y="691144"/>
              <a:ext cx="4633757" cy="1813792"/>
            </a:xfrm>
            <a:custGeom>
              <a:avLst/>
              <a:gdLst/>
              <a:ahLst/>
              <a:cxnLst/>
              <a:rect l="0" t="0" r="0" b="0"/>
              <a:pathLst>
                <a:path w="7297" h="2856">
                  <a:moveTo>
                    <a:pt x="5" y="2842"/>
                  </a:moveTo>
                  <a:lnTo>
                    <a:pt x="7291" y="13"/>
                  </a:lnTo>
                </a:path>
              </a:pathLst>
            </a:custGeom>
            <a:noFill/>
            <a:ln w="19050" cap="flat">
              <a:solidFill>
                <a:srgbClr val="AF3408"/>
              </a:solidFill>
              <a:prstDash val="solid"/>
              <a:round/>
            </a:ln>
          </p:spPr>
          <p:txBody>
            <a:bodyPr rtlCol="0"/>
            <a:lstStyle/>
            <a:p>
              <a:pPr algn="ctr"/>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ath 74"/>
          <p:cNvSpPr/>
          <p:nvPr/>
        </p:nvSpPr>
        <p:spPr>
          <a:xfrm>
            <a:off x="3757675" y="2242566"/>
            <a:ext cx="1807718" cy="337820"/>
          </a:xfrm>
          <a:custGeom>
            <a:avLst/>
            <a:gdLst/>
            <a:ahLst/>
            <a:cxnLst/>
            <a:rect l="0" t="0" r="0" b="0"/>
            <a:pathLst>
              <a:path w="2846" h="532">
                <a:moveTo>
                  <a:pt x="611" y="0"/>
                </a:moveTo>
                <a:cubicBezTo>
                  <a:pt x="656" y="11"/>
                  <a:pt x="691" y="42"/>
                  <a:pt x="715" y="91"/>
                </a:cubicBezTo>
                <a:cubicBezTo>
                  <a:pt x="739" y="140"/>
                  <a:pt x="751" y="198"/>
                  <a:pt x="751" y="265"/>
                </a:cubicBezTo>
                <a:cubicBezTo>
                  <a:pt x="751" y="333"/>
                  <a:pt x="739" y="391"/>
                  <a:pt x="715" y="440"/>
                </a:cubicBezTo>
                <a:cubicBezTo>
                  <a:pt x="691" y="489"/>
                  <a:pt x="656" y="520"/>
                  <a:pt x="611" y="532"/>
                </a:cubicBezTo>
                <a:lnTo>
                  <a:pt x="606" y="514"/>
                </a:lnTo>
                <a:cubicBezTo>
                  <a:pt x="641" y="501"/>
                  <a:pt x="667" y="472"/>
                  <a:pt x="685" y="429"/>
                </a:cubicBezTo>
                <a:cubicBezTo>
                  <a:pt x="703" y="385"/>
                  <a:pt x="712" y="330"/>
                  <a:pt x="712" y="266"/>
                </a:cubicBezTo>
                <a:cubicBezTo>
                  <a:pt x="712" y="201"/>
                  <a:pt x="703" y="146"/>
                  <a:pt x="685" y="102"/>
                </a:cubicBezTo>
                <a:cubicBezTo>
                  <a:pt x="667" y="59"/>
                  <a:pt x="641" y="30"/>
                  <a:pt x="606" y="17"/>
                </a:cubicBezTo>
                <a:lnTo>
                  <a:pt x="611" y="0"/>
                </a:lnTo>
                <a:close/>
                <a:moveTo>
                  <a:pt x="139" y="0"/>
                </a:moveTo>
                <a:lnTo>
                  <a:pt x="145" y="17"/>
                </a:lnTo>
                <a:cubicBezTo>
                  <a:pt x="110" y="30"/>
                  <a:pt x="84" y="59"/>
                  <a:pt x="66" y="102"/>
                </a:cubicBezTo>
                <a:cubicBezTo>
                  <a:pt x="48" y="146"/>
                  <a:pt x="39" y="201"/>
                  <a:pt x="39" y="266"/>
                </a:cubicBezTo>
                <a:cubicBezTo>
                  <a:pt x="39" y="330"/>
                  <a:pt x="48" y="385"/>
                  <a:pt x="66" y="429"/>
                </a:cubicBezTo>
                <a:cubicBezTo>
                  <a:pt x="84" y="472"/>
                  <a:pt x="110" y="501"/>
                  <a:pt x="145" y="514"/>
                </a:cubicBezTo>
                <a:lnTo>
                  <a:pt x="139" y="532"/>
                </a:lnTo>
                <a:cubicBezTo>
                  <a:pt x="95" y="520"/>
                  <a:pt x="60" y="489"/>
                  <a:pt x="36" y="440"/>
                </a:cubicBezTo>
                <a:cubicBezTo>
                  <a:pt x="12" y="391"/>
                  <a:pt x="0" y="333"/>
                  <a:pt x="0" y="265"/>
                </a:cubicBezTo>
                <a:cubicBezTo>
                  <a:pt x="0" y="198"/>
                  <a:pt x="12" y="140"/>
                  <a:pt x="36" y="91"/>
                </a:cubicBezTo>
                <a:cubicBezTo>
                  <a:pt x="60" y="42"/>
                  <a:pt x="95" y="11"/>
                  <a:pt x="139" y="0"/>
                </a:cubicBezTo>
              </a:path>
              <a:path w="2846" h="532">
                <a:moveTo>
                  <a:pt x="2707" y="0"/>
                </a:moveTo>
                <a:cubicBezTo>
                  <a:pt x="2751" y="11"/>
                  <a:pt x="2786" y="42"/>
                  <a:pt x="2810" y="91"/>
                </a:cubicBezTo>
                <a:cubicBezTo>
                  <a:pt x="2834" y="140"/>
                  <a:pt x="2846" y="198"/>
                  <a:pt x="2846" y="265"/>
                </a:cubicBezTo>
                <a:cubicBezTo>
                  <a:pt x="2846" y="333"/>
                  <a:pt x="2834" y="391"/>
                  <a:pt x="2810" y="440"/>
                </a:cubicBezTo>
                <a:cubicBezTo>
                  <a:pt x="2786" y="489"/>
                  <a:pt x="2751" y="520"/>
                  <a:pt x="2707" y="532"/>
                </a:cubicBezTo>
                <a:lnTo>
                  <a:pt x="2701" y="514"/>
                </a:lnTo>
                <a:cubicBezTo>
                  <a:pt x="2736" y="501"/>
                  <a:pt x="2762" y="472"/>
                  <a:pt x="2780" y="429"/>
                </a:cubicBezTo>
                <a:cubicBezTo>
                  <a:pt x="2798" y="385"/>
                  <a:pt x="2807" y="330"/>
                  <a:pt x="2807" y="266"/>
                </a:cubicBezTo>
                <a:cubicBezTo>
                  <a:pt x="2807" y="201"/>
                  <a:pt x="2798" y="146"/>
                  <a:pt x="2780" y="102"/>
                </a:cubicBezTo>
                <a:cubicBezTo>
                  <a:pt x="2762" y="59"/>
                  <a:pt x="2736" y="30"/>
                  <a:pt x="2701" y="17"/>
                </a:cubicBezTo>
                <a:lnTo>
                  <a:pt x="2707" y="0"/>
                </a:lnTo>
                <a:close/>
                <a:moveTo>
                  <a:pt x="2234" y="0"/>
                </a:moveTo>
                <a:lnTo>
                  <a:pt x="2240" y="17"/>
                </a:lnTo>
                <a:cubicBezTo>
                  <a:pt x="2205" y="30"/>
                  <a:pt x="2179" y="59"/>
                  <a:pt x="2161" y="102"/>
                </a:cubicBezTo>
                <a:cubicBezTo>
                  <a:pt x="2143" y="146"/>
                  <a:pt x="2134" y="201"/>
                  <a:pt x="2134" y="266"/>
                </a:cubicBezTo>
                <a:cubicBezTo>
                  <a:pt x="2134" y="330"/>
                  <a:pt x="2143" y="385"/>
                  <a:pt x="2161" y="429"/>
                </a:cubicBezTo>
                <a:cubicBezTo>
                  <a:pt x="2179" y="472"/>
                  <a:pt x="2205" y="501"/>
                  <a:pt x="2240" y="514"/>
                </a:cubicBezTo>
                <a:lnTo>
                  <a:pt x="2234" y="532"/>
                </a:lnTo>
                <a:cubicBezTo>
                  <a:pt x="2190" y="520"/>
                  <a:pt x="2155" y="489"/>
                  <a:pt x="2131" y="440"/>
                </a:cubicBezTo>
                <a:cubicBezTo>
                  <a:pt x="2107" y="391"/>
                  <a:pt x="2095" y="333"/>
                  <a:pt x="2095" y="265"/>
                </a:cubicBezTo>
                <a:cubicBezTo>
                  <a:pt x="2095" y="198"/>
                  <a:pt x="2107" y="140"/>
                  <a:pt x="2131" y="91"/>
                </a:cubicBezTo>
                <a:cubicBezTo>
                  <a:pt x="2155" y="42"/>
                  <a:pt x="2190" y="11"/>
                  <a:pt x="2234" y="0"/>
                </a:cubicBezTo>
              </a:path>
            </a:pathLst>
          </a:custGeom>
          <a:solidFill>
            <a:srgbClr val="000000">
              <a:alpha val="100000"/>
            </a:srgbClr>
          </a:solidFill>
          <a:ln w="0" cap="flat">
            <a:noFill/>
            <a:prstDash val="solid"/>
            <a:miter lim="0"/>
          </a:ln>
        </p:spPr>
        <p:txBody>
          <a:bodyPr rtlCol="0"/>
          <a:lstStyle/>
          <a:p>
            <a:pPr algn="ctr"/>
            <a:endParaRPr lang="zh-CN" altLang="en-US"/>
          </a:p>
        </p:txBody>
      </p:sp>
      <p:sp>
        <p:nvSpPr>
          <p:cNvPr id="76" name="path 76"/>
          <p:cNvSpPr/>
          <p:nvPr/>
        </p:nvSpPr>
        <p:spPr>
          <a:xfrm>
            <a:off x="3455161" y="1596390"/>
            <a:ext cx="1941067" cy="337819"/>
          </a:xfrm>
          <a:custGeom>
            <a:avLst/>
            <a:gdLst/>
            <a:ahLst/>
            <a:cxnLst/>
            <a:rect l="0" t="0" r="0" b="0"/>
            <a:pathLst>
              <a:path w="3056" h="531">
                <a:moveTo>
                  <a:pt x="610" y="0"/>
                </a:moveTo>
                <a:cubicBezTo>
                  <a:pt x="655" y="11"/>
                  <a:pt x="689" y="42"/>
                  <a:pt x="714" y="91"/>
                </a:cubicBezTo>
                <a:cubicBezTo>
                  <a:pt x="738" y="140"/>
                  <a:pt x="750" y="198"/>
                  <a:pt x="750" y="265"/>
                </a:cubicBezTo>
                <a:cubicBezTo>
                  <a:pt x="750" y="333"/>
                  <a:pt x="738" y="391"/>
                  <a:pt x="714" y="440"/>
                </a:cubicBezTo>
                <a:cubicBezTo>
                  <a:pt x="689" y="489"/>
                  <a:pt x="655" y="520"/>
                  <a:pt x="610" y="531"/>
                </a:cubicBezTo>
                <a:lnTo>
                  <a:pt x="605" y="514"/>
                </a:lnTo>
                <a:cubicBezTo>
                  <a:pt x="639" y="501"/>
                  <a:pt x="666" y="472"/>
                  <a:pt x="684" y="429"/>
                </a:cubicBezTo>
                <a:cubicBezTo>
                  <a:pt x="701" y="385"/>
                  <a:pt x="710" y="330"/>
                  <a:pt x="710" y="266"/>
                </a:cubicBezTo>
                <a:cubicBezTo>
                  <a:pt x="710" y="201"/>
                  <a:pt x="701" y="147"/>
                  <a:pt x="684" y="102"/>
                </a:cubicBezTo>
                <a:cubicBezTo>
                  <a:pt x="666" y="59"/>
                  <a:pt x="639" y="30"/>
                  <a:pt x="605" y="17"/>
                </a:cubicBezTo>
                <a:lnTo>
                  <a:pt x="610" y="0"/>
                </a:lnTo>
                <a:close/>
                <a:moveTo>
                  <a:pt x="139" y="0"/>
                </a:moveTo>
                <a:lnTo>
                  <a:pt x="145" y="17"/>
                </a:lnTo>
                <a:cubicBezTo>
                  <a:pt x="110" y="30"/>
                  <a:pt x="84" y="59"/>
                  <a:pt x="66" y="102"/>
                </a:cubicBezTo>
                <a:cubicBezTo>
                  <a:pt x="48" y="147"/>
                  <a:pt x="39" y="201"/>
                  <a:pt x="39" y="266"/>
                </a:cubicBezTo>
                <a:cubicBezTo>
                  <a:pt x="39" y="330"/>
                  <a:pt x="48" y="385"/>
                  <a:pt x="66" y="429"/>
                </a:cubicBezTo>
                <a:cubicBezTo>
                  <a:pt x="84" y="472"/>
                  <a:pt x="110" y="501"/>
                  <a:pt x="145" y="514"/>
                </a:cubicBezTo>
                <a:lnTo>
                  <a:pt x="139" y="531"/>
                </a:lnTo>
                <a:cubicBezTo>
                  <a:pt x="95" y="520"/>
                  <a:pt x="60" y="489"/>
                  <a:pt x="36" y="440"/>
                </a:cubicBezTo>
                <a:cubicBezTo>
                  <a:pt x="12" y="391"/>
                  <a:pt x="0" y="333"/>
                  <a:pt x="0" y="265"/>
                </a:cubicBezTo>
                <a:cubicBezTo>
                  <a:pt x="0" y="198"/>
                  <a:pt x="12" y="140"/>
                  <a:pt x="36" y="91"/>
                </a:cubicBezTo>
                <a:cubicBezTo>
                  <a:pt x="60" y="42"/>
                  <a:pt x="95" y="11"/>
                  <a:pt x="139" y="0"/>
                </a:cubicBezTo>
              </a:path>
              <a:path w="3056" h="531">
                <a:moveTo>
                  <a:pt x="2917" y="0"/>
                </a:moveTo>
                <a:cubicBezTo>
                  <a:pt x="2961" y="11"/>
                  <a:pt x="2996" y="42"/>
                  <a:pt x="3020" y="91"/>
                </a:cubicBezTo>
                <a:cubicBezTo>
                  <a:pt x="3044" y="140"/>
                  <a:pt x="3056" y="198"/>
                  <a:pt x="3056" y="265"/>
                </a:cubicBezTo>
                <a:cubicBezTo>
                  <a:pt x="3056" y="333"/>
                  <a:pt x="3044" y="391"/>
                  <a:pt x="3020" y="440"/>
                </a:cubicBezTo>
                <a:cubicBezTo>
                  <a:pt x="2996" y="489"/>
                  <a:pt x="2961" y="520"/>
                  <a:pt x="2917" y="531"/>
                </a:cubicBezTo>
                <a:lnTo>
                  <a:pt x="2911" y="514"/>
                </a:lnTo>
                <a:cubicBezTo>
                  <a:pt x="2946" y="501"/>
                  <a:pt x="2972" y="472"/>
                  <a:pt x="2990" y="429"/>
                </a:cubicBezTo>
                <a:cubicBezTo>
                  <a:pt x="3008" y="385"/>
                  <a:pt x="3017" y="330"/>
                  <a:pt x="3017" y="266"/>
                </a:cubicBezTo>
                <a:cubicBezTo>
                  <a:pt x="3017" y="201"/>
                  <a:pt x="3008" y="147"/>
                  <a:pt x="2990" y="102"/>
                </a:cubicBezTo>
                <a:cubicBezTo>
                  <a:pt x="2972" y="59"/>
                  <a:pt x="2946" y="30"/>
                  <a:pt x="2911" y="17"/>
                </a:cubicBezTo>
                <a:lnTo>
                  <a:pt x="2917" y="0"/>
                </a:lnTo>
                <a:close/>
                <a:moveTo>
                  <a:pt x="2445" y="0"/>
                </a:moveTo>
                <a:lnTo>
                  <a:pt x="2451" y="17"/>
                </a:lnTo>
                <a:cubicBezTo>
                  <a:pt x="2416" y="30"/>
                  <a:pt x="2390" y="59"/>
                  <a:pt x="2372" y="102"/>
                </a:cubicBezTo>
                <a:cubicBezTo>
                  <a:pt x="2354" y="147"/>
                  <a:pt x="2345" y="201"/>
                  <a:pt x="2345" y="266"/>
                </a:cubicBezTo>
                <a:cubicBezTo>
                  <a:pt x="2345" y="330"/>
                  <a:pt x="2354" y="385"/>
                  <a:pt x="2372" y="429"/>
                </a:cubicBezTo>
                <a:cubicBezTo>
                  <a:pt x="2390" y="472"/>
                  <a:pt x="2416" y="501"/>
                  <a:pt x="2451" y="514"/>
                </a:cubicBezTo>
                <a:lnTo>
                  <a:pt x="2445" y="531"/>
                </a:lnTo>
                <a:cubicBezTo>
                  <a:pt x="2401" y="520"/>
                  <a:pt x="2366" y="489"/>
                  <a:pt x="2342" y="440"/>
                </a:cubicBezTo>
                <a:cubicBezTo>
                  <a:pt x="2318" y="391"/>
                  <a:pt x="2306" y="333"/>
                  <a:pt x="2306" y="265"/>
                </a:cubicBezTo>
                <a:cubicBezTo>
                  <a:pt x="2306" y="198"/>
                  <a:pt x="2318" y="140"/>
                  <a:pt x="2342" y="91"/>
                </a:cubicBezTo>
                <a:cubicBezTo>
                  <a:pt x="2366" y="42"/>
                  <a:pt x="2401" y="11"/>
                  <a:pt x="2445" y="0"/>
                </a:cubicBezTo>
              </a:path>
            </a:pathLst>
          </a:custGeom>
          <a:solidFill>
            <a:srgbClr val="000000">
              <a:alpha val="100000"/>
            </a:srgbClr>
          </a:solidFill>
          <a:ln w="0" cap="flat">
            <a:noFill/>
            <a:prstDash val="solid"/>
            <a:miter lim="0"/>
          </a:ln>
        </p:spPr>
        <p:txBody>
          <a:bodyPr rtlCol="0"/>
          <a:lstStyle/>
          <a:p>
            <a:pPr algn="ctr"/>
            <a:endParaRPr lang="zh-CN" altLang="en-US"/>
          </a:p>
        </p:txBody>
      </p:sp>
      <p:graphicFrame>
        <p:nvGraphicFramePr>
          <p:cNvPr id="78" name="table 78"/>
          <p:cNvGraphicFramePr>
            <a:graphicFrameLocks noGrp="1"/>
          </p:cNvGraphicFramePr>
          <p:nvPr/>
        </p:nvGraphicFramePr>
        <p:xfrm>
          <a:off x="60832" y="66928"/>
          <a:ext cx="9019538" cy="6699250"/>
        </p:xfrm>
        <a:graphic>
          <a:graphicData uri="http://schemas.openxmlformats.org/drawingml/2006/table">
            <a:tbl>
              <a:tblPr/>
              <a:tblGrid>
                <a:gridCol w="598169"/>
                <a:gridCol w="842136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69240" algn="l" rtl="0" eaLnBrk="0">
                        <a:lnSpc>
                          <a:spcPct val="80000"/>
                        </a:lnSpc>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9</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55880" algn="l" rtl="0" eaLnBrk="0">
                        <a:lnSpc>
                          <a:spcPts val="2700"/>
                        </a:lnSpc>
                        <a:spcBef>
                          <a:spcPts val="5"/>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kern="0" spc="-20" dirty="0">
                          <a:solidFill>
                            <a:srgbClr val="000000">
                              <a:alpha val="100000"/>
                            </a:srgbClr>
                          </a:solidFill>
                          <a:latin typeface="仿宋" panose="02010609060101010101" charset="-122"/>
                          <a:ea typeface="仿宋" panose="02010609060101010101" charset="-122"/>
                          <a:cs typeface="仿宋" panose="02010609060101010101" charset="-122"/>
                        </a:rPr>
                        <a:t>判断</a:t>
                      </a:r>
                      <a:r>
                        <a:rPr sz="2200" kern="0" spc="2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baseline="-2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3300" kern="0" spc="-20" baseline="-2000" dirty="0">
                          <a:solidFill>
                            <a:srgbClr val="000000">
                              <a:alpha val="100000"/>
                            </a:srgbClr>
                          </a:solidFill>
                          <a:latin typeface="仿宋" panose="02010609060101010101" charset="-122"/>
                          <a:ea typeface="仿宋" panose="02010609060101010101" charset="-122"/>
                          <a:cs typeface="仿宋" panose="02010609060101010101" charset="-122"/>
                        </a:rPr>
                        <a:t>和</a:t>
                      </a:r>
                      <a:r>
                        <a:rPr sz="2100" kern="0" spc="280" dirty="0">
                          <a:solidFill>
                            <a:srgbClr val="000000">
                              <a:alpha val="100000"/>
                            </a:srgbClr>
                          </a:solidFill>
                          <a:latin typeface="仿宋" panose="02010609060101010101" charset="-122"/>
                          <a:ea typeface="仿宋" panose="02010609060101010101" charset="-122"/>
                          <a:cs typeface="仿宋" panose="02010609060101010101" charset="-122"/>
                        </a:rPr>
                        <a:t> </a:t>
                      </a:r>
                      <a:r>
                        <a:rPr sz="16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200" kern="0" spc="-20" dirty="0">
                          <a:solidFill>
                            <a:srgbClr val="000000">
                              <a:alpha val="100000"/>
                            </a:srgbClr>
                          </a:solidFill>
                          <a:latin typeface="仿宋" panose="02010609060101010101" charset="-122"/>
                          <a:ea typeface="仿宋" panose="02010609060101010101" charset="-122"/>
                          <a:cs typeface="仿宋" panose="02010609060101010101" charset="-122"/>
                        </a:rPr>
                        <a:t>哪</a:t>
                      </a:r>
                      <a:r>
                        <a:rPr sz="2200" kern="0" spc="-30" dirty="0">
                          <a:solidFill>
                            <a:srgbClr val="000000">
                              <a:alpha val="100000"/>
                            </a:srgbClr>
                          </a:solidFill>
                          <a:latin typeface="仿宋" panose="02010609060101010101" charset="-122"/>
                          <a:ea typeface="仿宋" panose="02010609060101010101" charset="-122"/>
                          <a:cs typeface="仿宋" panose="02010609060101010101" charset="-122"/>
                        </a:rPr>
                        <a:t>个更好的标准：</a:t>
                      </a:r>
                      <a:endParaRPr sz="2200" dirty="0">
                        <a:latin typeface="仿宋" panose="02010609060101010101" charset="-122"/>
                        <a:ea typeface="仿宋" panose="02010609060101010101" charset="-122"/>
                        <a:cs typeface="仿宋" panose="02010609060101010101" charset="-122"/>
                      </a:endParaRPr>
                    </a:p>
                    <a:p>
                      <a:pPr algn="l" rtl="0" eaLnBrk="0">
                        <a:lnSpc>
                          <a:spcPct val="138000"/>
                        </a:lnSpc>
                      </a:pPr>
                      <a:endParaRPr sz="1000" dirty="0">
                        <a:latin typeface="Arial" panose="020B0604020202020204"/>
                        <a:ea typeface="Arial" panose="020B0604020202020204"/>
                        <a:cs typeface="Arial" panose="020B0604020202020204"/>
                      </a:endParaRPr>
                    </a:p>
                    <a:p>
                      <a:pPr marL="55880" algn="l" rtl="0" eaLnBrk="0">
                        <a:lnSpc>
                          <a:spcPts val="2700"/>
                        </a:lnSpc>
                        <a:spcBef>
                          <a:spcPts val="66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kern="0" spc="-50" dirty="0">
                          <a:solidFill>
                            <a:srgbClr val="000000">
                              <a:alpha val="100000"/>
                            </a:srgbClr>
                          </a:solidFill>
                          <a:latin typeface="仿宋" panose="02010609060101010101" charset="-122"/>
                          <a:ea typeface="仿宋" panose="02010609060101010101" charset="-122"/>
                          <a:cs typeface="仿宋" panose="02010609060101010101" charset="-122"/>
                        </a:rPr>
                        <a:t>（1）无偏性：</a:t>
                      </a:r>
                      <a:r>
                        <a:rPr sz="2200" kern="0" spc="-420" dirty="0">
                          <a:solidFill>
                            <a:srgbClr val="000000">
                              <a:alpha val="100000"/>
                            </a:srgbClr>
                          </a:solidFill>
                          <a:latin typeface="仿宋" panose="02010609060101010101" charset="-122"/>
                          <a:ea typeface="仿宋" panose="02010609060101010101" charset="-122"/>
                          <a:cs typeface="仿宋" panose="02010609060101010101" charset="-122"/>
                        </a:rPr>
                        <a:t> </a:t>
                      </a:r>
                      <a:r>
                        <a:rPr sz="22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E</a:t>
                      </a:r>
                      <a:r>
                        <a:rPr sz="2200" kern="0" spc="1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300" kern="0" spc="-50" baseline="400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r>
                        <a:rPr sz="2400" kern="0" spc="-50" baseline="6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50" dirty="0">
                          <a:solidFill>
                            <a:srgbClr val="000000">
                              <a:alpha val="100000"/>
                            </a:srgbClr>
                          </a:solidFill>
                          <a:latin typeface="仿宋" panose="02010609060101010101" charset="-122"/>
                          <a:ea typeface="仿宋" panose="02010609060101010101" charset="-122"/>
                          <a:cs typeface="仿宋" panose="02010609060101010101" charset="-122"/>
                        </a:rPr>
                        <a:t>,</a:t>
                      </a:r>
                      <a:r>
                        <a:rPr sz="22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E</a:t>
                      </a:r>
                      <a:r>
                        <a:rPr sz="22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50" baseline="-7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5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β</a:t>
                      </a:r>
                      <a:r>
                        <a:rPr sz="16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2200" kern="0" spc="-60" dirty="0">
                          <a:solidFill>
                            <a:srgbClr val="000000">
                              <a:alpha val="100000"/>
                            </a:srgbClr>
                          </a:solidFill>
                          <a:latin typeface="仿宋" panose="02010609060101010101" charset="-122"/>
                          <a:ea typeface="仿宋" panose="02010609060101010101" charset="-122"/>
                          <a:cs typeface="仿宋" panose="02010609060101010101" charset="-122"/>
                        </a:rPr>
                        <a:t>?</a:t>
                      </a:r>
                      <a:endParaRPr sz="2200" dirty="0">
                        <a:latin typeface="仿宋" panose="02010609060101010101" charset="-122"/>
                        <a:ea typeface="仿宋" panose="02010609060101010101" charset="-122"/>
                        <a:cs typeface="仿宋"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10000"/>
                        </a:lnSpc>
                      </a:pPr>
                      <a:endParaRPr sz="500" dirty="0">
                        <a:latin typeface="Arial" panose="020B0604020202020204"/>
                        <a:ea typeface="Arial" panose="020B0604020202020204"/>
                        <a:cs typeface="Arial" panose="020B0604020202020204"/>
                      </a:endParaRPr>
                    </a:p>
                    <a:p>
                      <a:pPr marL="55880" algn="l" rtl="0" eaLnBrk="0">
                        <a:lnSpc>
                          <a:spcPts val="2700"/>
                        </a:lnSpc>
                        <a:spcBef>
                          <a:spcPts val="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kern="0" spc="-60" dirty="0">
                          <a:solidFill>
                            <a:srgbClr val="000000">
                              <a:alpha val="100000"/>
                            </a:srgbClr>
                          </a:solidFill>
                          <a:latin typeface="仿宋" panose="02010609060101010101" charset="-122"/>
                          <a:ea typeface="仿宋" panose="02010609060101010101" charset="-122"/>
                          <a:cs typeface="仿宋" panose="02010609060101010101" charset="-122"/>
                        </a:rPr>
                        <a:t>（2）有效性：</a:t>
                      </a:r>
                      <a:r>
                        <a:rPr sz="2200" kern="0" spc="-530" dirty="0">
                          <a:solidFill>
                            <a:srgbClr val="000000">
                              <a:alpha val="100000"/>
                            </a:srgbClr>
                          </a:solidFill>
                          <a:latin typeface="仿宋" panose="02010609060101010101" charset="-122"/>
                          <a:ea typeface="仿宋" panose="02010609060101010101" charset="-122"/>
                          <a:cs typeface="仿宋" panose="02010609060101010101" charset="-122"/>
                        </a:rPr>
                        <a:t> </a:t>
                      </a:r>
                      <a:r>
                        <a:rPr sz="22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Var</a:t>
                      </a:r>
                      <a:r>
                        <a:rPr sz="22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70" baseline="-14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baseline="-14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5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70" dirty="0">
                          <a:solidFill>
                            <a:srgbClr val="000000">
                              <a:alpha val="100000"/>
                            </a:srgbClr>
                          </a:solidFill>
                          <a:latin typeface="仿宋" panose="02010609060101010101" charset="-122"/>
                          <a:ea typeface="仿宋" panose="02010609060101010101" charset="-122"/>
                          <a:cs typeface="仿宋" panose="02010609060101010101" charset="-122"/>
                        </a:rPr>
                        <a:t>哪个更小？</a:t>
                      </a:r>
                      <a:endParaRPr sz="2200" dirty="0">
                        <a:latin typeface="仿宋" panose="02010609060101010101" charset="-122"/>
                        <a:ea typeface="仿宋" panose="02010609060101010101" charset="-122"/>
                        <a:cs typeface="仿宋"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80" name="picture 80"/>
          <p:cNvPicPr>
            <a:picLocks noChangeAspect="1"/>
          </p:cNvPicPr>
          <p:nvPr/>
        </p:nvPicPr>
        <p:blipFill>
          <a:blip r:embed="rId1"/>
          <a:stretch>
            <a:fillRect/>
          </a:stretch>
        </p:blipFill>
        <p:spPr>
          <a:xfrm rot="21600000">
            <a:off x="4563038" y="2241048"/>
            <a:ext cx="755674" cy="312774"/>
          </a:xfrm>
          <a:prstGeom prst="rect">
            <a:avLst/>
          </a:prstGeom>
        </p:spPr>
      </p:pic>
      <p:sp>
        <p:nvSpPr>
          <p:cNvPr id="82" name="textbox 82"/>
          <p:cNvSpPr/>
          <p:nvPr/>
        </p:nvSpPr>
        <p:spPr>
          <a:xfrm>
            <a:off x="3848279" y="2261469"/>
            <a:ext cx="193039" cy="362584"/>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endParaRPr sz="2200" dirty="0">
              <a:latin typeface="微软雅黑" panose="020B0503020204020204" charset="-122"/>
              <a:ea typeface="微软雅黑" panose="020B0503020204020204" charset="-122"/>
              <a:cs typeface="微软雅黑" panose="020B0503020204020204" charset="-122"/>
            </a:endParaRPr>
          </a:p>
        </p:txBody>
      </p:sp>
      <p:sp>
        <p:nvSpPr>
          <p:cNvPr id="84" name="textbox 84"/>
          <p:cNvSpPr/>
          <p:nvPr/>
        </p:nvSpPr>
        <p:spPr>
          <a:xfrm>
            <a:off x="3809300" y="2198985"/>
            <a:ext cx="107950" cy="30543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00"/>
              </a:lnSpc>
            </a:pPr>
            <a:r>
              <a:rPr sz="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900" dirty="0">
              <a:latin typeface="微软雅黑" panose="020B0503020204020204" charset="-122"/>
              <a:ea typeface="微软雅黑" panose="020B0503020204020204" charset="-122"/>
              <a:cs typeface="微软雅黑" panose="020B0503020204020204" charset="-122"/>
            </a:endParaRPr>
          </a:p>
        </p:txBody>
      </p:sp>
      <p:pic>
        <p:nvPicPr>
          <p:cNvPr id="86" name="picture 86"/>
          <p:cNvPicPr>
            <a:picLocks noChangeAspect="1"/>
          </p:cNvPicPr>
          <p:nvPr/>
        </p:nvPicPr>
        <p:blipFill>
          <a:blip r:embed="rId2"/>
          <a:stretch>
            <a:fillRect/>
          </a:stretch>
        </p:blipFill>
        <p:spPr>
          <a:xfrm rot="21600000">
            <a:off x="5030979" y="1594618"/>
            <a:ext cx="167512" cy="312773"/>
          </a:xfrm>
          <a:prstGeom prst="rect">
            <a:avLst/>
          </a:prstGeom>
        </p:spPr>
      </p:pic>
      <p:sp>
        <p:nvSpPr>
          <p:cNvPr id="88" name="textbox 88"/>
          <p:cNvSpPr/>
          <p:nvPr/>
        </p:nvSpPr>
        <p:spPr>
          <a:xfrm>
            <a:off x="3545765" y="1615039"/>
            <a:ext cx="193039" cy="362584"/>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endParaRPr sz="2200" dirty="0">
              <a:latin typeface="微软雅黑" panose="020B0503020204020204" charset="-122"/>
              <a:ea typeface="微软雅黑" panose="020B0503020204020204" charset="-122"/>
              <a:cs typeface="微软雅黑" panose="020B0503020204020204" charset="-122"/>
            </a:endParaRPr>
          </a:p>
        </p:txBody>
      </p:sp>
      <p:sp>
        <p:nvSpPr>
          <p:cNvPr id="90" name="textbox 90"/>
          <p:cNvSpPr/>
          <p:nvPr/>
        </p:nvSpPr>
        <p:spPr>
          <a:xfrm>
            <a:off x="3547365" y="1552555"/>
            <a:ext cx="107950" cy="30543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00"/>
              </a:lnSpc>
            </a:pPr>
            <a:r>
              <a:rPr sz="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900" dirty="0">
              <a:latin typeface="微软雅黑" panose="020B0503020204020204" charset="-122"/>
              <a:ea typeface="微软雅黑" panose="020B0503020204020204" charset="-122"/>
              <a:cs typeface="微软雅黑" panose="020B0503020204020204" charset="-122"/>
            </a:endParaRPr>
          </a:p>
        </p:txBody>
      </p:sp>
      <p:pic>
        <p:nvPicPr>
          <p:cNvPr id="92" name="picture 92"/>
          <p:cNvPicPr>
            <a:picLocks noChangeAspect="1"/>
          </p:cNvPicPr>
          <p:nvPr/>
        </p:nvPicPr>
        <p:blipFill>
          <a:blip r:embed="rId3"/>
          <a:stretch>
            <a:fillRect/>
          </a:stretch>
        </p:blipFill>
        <p:spPr>
          <a:xfrm rot="21600000">
            <a:off x="2100537" y="957586"/>
            <a:ext cx="167512" cy="312774"/>
          </a:xfrm>
          <a:prstGeom prst="rect">
            <a:avLst/>
          </a:prstGeom>
        </p:spPr>
      </p:pic>
      <p:sp>
        <p:nvSpPr>
          <p:cNvPr id="94" name="textbox 94"/>
          <p:cNvSpPr/>
          <p:nvPr/>
        </p:nvSpPr>
        <p:spPr>
          <a:xfrm>
            <a:off x="1517067" y="978007"/>
            <a:ext cx="193039" cy="362584"/>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22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endParaRPr sz="2200" dirty="0">
              <a:latin typeface="微软雅黑" panose="020B0503020204020204" charset="-122"/>
              <a:ea typeface="微软雅黑" panose="020B0503020204020204" charset="-122"/>
              <a:cs typeface="微软雅黑" panose="020B0503020204020204" charset="-122"/>
            </a:endParaRPr>
          </a:p>
        </p:txBody>
      </p:sp>
      <p:sp>
        <p:nvSpPr>
          <p:cNvPr id="96" name="textbox 96"/>
          <p:cNvSpPr/>
          <p:nvPr/>
        </p:nvSpPr>
        <p:spPr>
          <a:xfrm>
            <a:off x="1547960" y="915523"/>
            <a:ext cx="107950" cy="30543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00"/>
              </a:lnSpc>
            </a:pPr>
            <a:r>
              <a:rPr sz="9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900" dirty="0">
              <a:latin typeface="微软雅黑" panose="020B0503020204020204" charset="-122"/>
              <a:ea typeface="微软雅黑" panose="020B0503020204020204" charset="-122"/>
              <a:cs typeface="微软雅黑" panose="020B0503020204020204" charset="-122"/>
            </a:endParaRPr>
          </a:p>
        </p:txBody>
      </p:sp>
      <p:graphicFrame>
        <p:nvGraphicFramePr>
          <p:cNvPr id="98" name="table 98"/>
          <p:cNvGraphicFramePr>
            <a:graphicFrameLocks noGrp="1"/>
          </p:cNvGraphicFramePr>
          <p:nvPr/>
        </p:nvGraphicFramePr>
        <p:xfrm>
          <a:off x="2058924" y="2986258"/>
          <a:ext cx="5026659" cy="3651250"/>
        </p:xfrm>
        <a:graphic>
          <a:graphicData uri="http://schemas.openxmlformats.org/drawingml/2006/table">
            <a:tbl>
              <a:tblPr>
                <a:solidFill>
                  <a:srgbClr val="EAF2F3"/>
                </a:solidFill>
              </a:tblPr>
              <a:tblGrid>
                <a:gridCol w="5026659"/>
              </a:tblGrid>
              <a:tr h="36512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FFFFFF"/>
                      </a:solidFill>
                      <a:prstDash val="solid"/>
                      <a:round/>
                      <a:headEnd type="none" w="med" len="med"/>
                      <a:tailEnd type="none" w="med" len="med"/>
                    </a:lnL>
                    <a:lnR w="3175"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AF2F3"/>
                    </a:solidFill>
                  </a:tcPr>
                </a:tc>
              </a:tr>
            </a:tbl>
          </a:graphicData>
        </a:graphic>
      </p:graphicFrame>
      <p:sp>
        <p:nvSpPr>
          <p:cNvPr id="100" name="rect 100"/>
          <p:cNvSpPr/>
          <p:nvPr/>
        </p:nvSpPr>
        <p:spPr>
          <a:xfrm>
            <a:off x="2059305" y="2986600"/>
            <a:ext cx="5026359" cy="3656984"/>
          </a:xfrm>
          <a:prstGeom prst="rect">
            <a:avLst/>
          </a:prstGeom>
          <a:solidFill>
            <a:srgbClr val="FFFFFF">
              <a:alpha val="100000"/>
            </a:srgbClr>
          </a:solidFill>
          <a:ln w="0" cap="flat">
            <a:noFill/>
            <a:prstDash val="solid"/>
            <a:miter lim="0"/>
          </a:ln>
        </p:spPr>
        <p:txBody>
          <a:bodyPr rtlCol="0"/>
          <a:lstStyle/>
          <a:p>
            <a:pPr algn="ctr"/>
            <a:endParaRPr lang="zh-CN" altLang="en-US"/>
          </a:p>
        </p:txBody>
      </p:sp>
      <p:grpSp>
        <p:nvGrpSpPr>
          <p:cNvPr id="6" name="group 6"/>
          <p:cNvGrpSpPr/>
          <p:nvPr/>
        </p:nvGrpSpPr>
        <p:grpSpPr>
          <a:xfrm rot="21600000">
            <a:off x="2196787" y="3332627"/>
            <a:ext cx="4767879" cy="2671767"/>
            <a:chOff x="0" y="0"/>
            <a:chExt cx="4767879" cy="2671767"/>
          </a:xfrm>
        </p:grpSpPr>
        <p:sp>
          <p:nvSpPr>
            <p:cNvPr id="102" name="path 102"/>
            <p:cNvSpPr/>
            <p:nvPr/>
          </p:nvSpPr>
          <p:spPr>
            <a:xfrm>
              <a:off x="358728" y="3568"/>
              <a:ext cx="4403663" cy="2341286"/>
            </a:xfrm>
            <a:custGeom>
              <a:avLst/>
              <a:gdLst/>
              <a:ahLst/>
              <a:cxnLst/>
              <a:rect l="0" t="0" r="0" b="0"/>
              <a:pathLst>
                <a:path w="6934" h="3687">
                  <a:moveTo>
                    <a:pt x="5" y="3681"/>
                  </a:moveTo>
                  <a:lnTo>
                    <a:pt x="6929" y="3681"/>
                  </a:lnTo>
                  <a:lnTo>
                    <a:pt x="6929" y="5"/>
                  </a:lnTo>
                  <a:lnTo>
                    <a:pt x="5" y="5"/>
                  </a:lnTo>
                  <a:lnTo>
                    <a:pt x="5" y="3681"/>
                  </a:lnTo>
                  <a:close/>
                </a:path>
              </a:pathLst>
            </a:custGeom>
            <a:noFill/>
            <a:ln w="7313" cap="sq">
              <a:solidFill>
                <a:srgbClr val="FFFFFF"/>
              </a:solidFill>
              <a:prstDash val="solid"/>
              <a:round/>
            </a:ln>
          </p:spPr>
          <p:txBody>
            <a:bodyPr rtlCol="0"/>
            <a:lstStyle/>
            <a:p>
              <a:pPr algn="ctr"/>
              <a:endParaRPr lang="zh-CN" altLang="en-US"/>
            </a:p>
          </p:txBody>
        </p:sp>
        <p:sp>
          <p:nvSpPr>
            <p:cNvPr id="104" name="path 104"/>
            <p:cNvSpPr/>
            <p:nvPr/>
          </p:nvSpPr>
          <p:spPr>
            <a:xfrm>
              <a:off x="353243" y="78565"/>
              <a:ext cx="4414635" cy="2191318"/>
            </a:xfrm>
            <a:custGeom>
              <a:avLst/>
              <a:gdLst/>
              <a:ahLst/>
              <a:cxnLst/>
              <a:rect l="0" t="0" r="0" b="0"/>
              <a:pathLst>
                <a:path w="6952" h="3450">
                  <a:moveTo>
                    <a:pt x="8" y="3442"/>
                  </a:moveTo>
                  <a:lnTo>
                    <a:pt x="6943" y="3442"/>
                  </a:lnTo>
                  <a:moveTo>
                    <a:pt x="8" y="2583"/>
                  </a:moveTo>
                  <a:lnTo>
                    <a:pt x="6943" y="2583"/>
                  </a:lnTo>
                  <a:moveTo>
                    <a:pt x="8" y="1725"/>
                  </a:moveTo>
                  <a:lnTo>
                    <a:pt x="6943" y="1725"/>
                  </a:lnTo>
                  <a:moveTo>
                    <a:pt x="8" y="867"/>
                  </a:moveTo>
                  <a:lnTo>
                    <a:pt x="6943" y="867"/>
                  </a:lnTo>
                  <a:moveTo>
                    <a:pt x="8" y="8"/>
                  </a:moveTo>
                  <a:lnTo>
                    <a:pt x="6943" y="8"/>
                  </a:lnTo>
                </a:path>
              </a:pathLst>
            </a:custGeom>
            <a:noFill/>
            <a:ln w="10970" cap="sq">
              <a:solidFill>
                <a:srgbClr val="EAF2F3"/>
              </a:solidFill>
              <a:prstDash val="solid"/>
              <a:round/>
            </a:ln>
          </p:spPr>
          <p:txBody>
            <a:bodyPr rtlCol="0"/>
            <a:lstStyle/>
            <a:p>
              <a:pPr algn="ctr"/>
              <a:endParaRPr lang="zh-CN" altLang="en-US"/>
            </a:p>
          </p:txBody>
        </p:sp>
        <p:sp>
          <p:nvSpPr>
            <p:cNvPr id="106" name="path 106"/>
            <p:cNvSpPr/>
            <p:nvPr/>
          </p:nvSpPr>
          <p:spPr>
            <a:xfrm>
              <a:off x="1712520" y="166581"/>
              <a:ext cx="1652725" cy="2110400"/>
            </a:xfrm>
            <a:custGeom>
              <a:avLst/>
              <a:gdLst/>
              <a:ahLst/>
              <a:cxnLst/>
              <a:rect l="0" t="0" r="0" b="0"/>
              <a:pathLst>
                <a:path w="2602" h="3323">
                  <a:moveTo>
                    <a:pt x="23" y="3300"/>
                  </a:moveTo>
                  <a:lnTo>
                    <a:pt x="31" y="3299"/>
                  </a:lnTo>
                  <a:lnTo>
                    <a:pt x="40" y="3299"/>
                  </a:lnTo>
                  <a:lnTo>
                    <a:pt x="48" y="3299"/>
                  </a:lnTo>
                  <a:lnTo>
                    <a:pt x="57" y="3298"/>
                  </a:lnTo>
                  <a:lnTo>
                    <a:pt x="65" y="3298"/>
                  </a:lnTo>
                  <a:lnTo>
                    <a:pt x="74" y="3298"/>
                  </a:lnTo>
                  <a:lnTo>
                    <a:pt x="83" y="3297"/>
                  </a:lnTo>
                  <a:lnTo>
                    <a:pt x="91" y="3296"/>
                  </a:lnTo>
                  <a:lnTo>
                    <a:pt x="100" y="3295"/>
                  </a:lnTo>
                  <a:lnTo>
                    <a:pt x="108" y="3294"/>
                  </a:lnTo>
                  <a:lnTo>
                    <a:pt x="117" y="3293"/>
                  </a:lnTo>
                  <a:lnTo>
                    <a:pt x="125" y="3293"/>
                  </a:lnTo>
                  <a:lnTo>
                    <a:pt x="134" y="3293"/>
                  </a:lnTo>
                  <a:lnTo>
                    <a:pt x="142" y="3292"/>
                  </a:lnTo>
                  <a:lnTo>
                    <a:pt x="151" y="3291"/>
                  </a:lnTo>
                  <a:lnTo>
                    <a:pt x="159" y="3290"/>
                  </a:lnTo>
                  <a:lnTo>
                    <a:pt x="168" y="3289"/>
                  </a:lnTo>
                  <a:lnTo>
                    <a:pt x="177" y="3288"/>
                  </a:lnTo>
                  <a:lnTo>
                    <a:pt x="185" y="3287"/>
                  </a:lnTo>
                  <a:lnTo>
                    <a:pt x="194" y="3287"/>
                  </a:lnTo>
                  <a:lnTo>
                    <a:pt x="202" y="3287"/>
                  </a:lnTo>
                  <a:lnTo>
                    <a:pt x="211" y="3286"/>
                  </a:lnTo>
                  <a:lnTo>
                    <a:pt x="219" y="3286"/>
                  </a:lnTo>
                  <a:lnTo>
                    <a:pt x="228" y="3286"/>
                  </a:lnTo>
                  <a:lnTo>
                    <a:pt x="236" y="3285"/>
                  </a:lnTo>
                  <a:lnTo>
                    <a:pt x="245" y="3284"/>
                  </a:lnTo>
                  <a:lnTo>
                    <a:pt x="254" y="3281"/>
                  </a:lnTo>
                  <a:lnTo>
                    <a:pt x="262" y="3279"/>
                  </a:lnTo>
                  <a:lnTo>
                    <a:pt x="271" y="3276"/>
                  </a:lnTo>
                  <a:lnTo>
                    <a:pt x="279" y="3273"/>
                  </a:lnTo>
                  <a:lnTo>
                    <a:pt x="288" y="3270"/>
                  </a:lnTo>
                  <a:lnTo>
                    <a:pt x="296" y="3266"/>
                  </a:lnTo>
                  <a:lnTo>
                    <a:pt x="305" y="3262"/>
                  </a:lnTo>
                  <a:lnTo>
                    <a:pt x="313" y="3256"/>
                  </a:lnTo>
                  <a:lnTo>
                    <a:pt x="322" y="3249"/>
                  </a:lnTo>
                  <a:lnTo>
                    <a:pt x="330" y="3243"/>
                  </a:lnTo>
                  <a:lnTo>
                    <a:pt x="339" y="3237"/>
                  </a:lnTo>
                  <a:lnTo>
                    <a:pt x="348" y="3232"/>
                  </a:lnTo>
                  <a:lnTo>
                    <a:pt x="356" y="3227"/>
                  </a:lnTo>
                  <a:lnTo>
                    <a:pt x="365" y="3221"/>
                  </a:lnTo>
                  <a:lnTo>
                    <a:pt x="373" y="3216"/>
                  </a:lnTo>
                  <a:lnTo>
                    <a:pt x="382" y="3211"/>
                  </a:lnTo>
                  <a:lnTo>
                    <a:pt x="390" y="3204"/>
                  </a:lnTo>
                  <a:lnTo>
                    <a:pt x="399" y="3197"/>
                  </a:lnTo>
                  <a:lnTo>
                    <a:pt x="407" y="3191"/>
                  </a:lnTo>
                  <a:lnTo>
                    <a:pt x="416" y="3185"/>
                  </a:lnTo>
                  <a:lnTo>
                    <a:pt x="425" y="3179"/>
                  </a:lnTo>
                  <a:lnTo>
                    <a:pt x="433" y="3174"/>
                  </a:lnTo>
                  <a:lnTo>
                    <a:pt x="442" y="3169"/>
                  </a:lnTo>
                  <a:lnTo>
                    <a:pt x="450" y="3164"/>
                  </a:lnTo>
                  <a:lnTo>
                    <a:pt x="459" y="3160"/>
                  </a:lnTo>
                  <a:lnTo>
                    <a:pt x="467" y="3153"/>
                  </a:lnTo>
                  <a:lnTo>
                    <a:pt x="476" y="3146"/>
                  </a:lnTo>
                  <a:lnTo>
                    <a:pt x="484" y="3138"/>
                  </a:lnTo>
                  <a:lnTo>
                    <a:pt x="493" y="3132"/>
                  </a:lnTo>
                  <a:lnTo>
                    <a:pt x="501" y="3124"/>
                  </a:lnTo>
                  <a:lnTo>
                    <a:pt x="510" y="3115"/>
                  </a:lnTo>
                  <a:lnTo>
                    <a:pt x="519" y="3103"/>
                  </a:lnTo>
                  <a:lnTo>
                    <a:pt x="527" y="3089"/>
                  </a:lnTo>
                  <a:lnTo>
                    <a:pt x="536" y="3074"/>
                  </a:lnTo>
                  <a:lnTo>
                    <a:pt x="544" y="3057"/>
                  </a:lnTo>
                  <a:lnTo>
                    <a:pt x="553" y="3041"/>
                  </a:lnTo>
                  <a:lnTo>
                    <a:pt x="561" y="3024"/>
                  </a:lnTo>
                  <a:lnTo>
                    <a:pt x="570" y="3006"/>
                  </a:lnTo>
                  <a:lnTo>
                    <a:pt x="578" y="2987"/>
                  </a:lnTo>
                  <a:lnTo>
                    <a:pt x="587" y="2970"/>
                  </a:lnTo>
                  <a:lnTo>
                    <a:pt x="596" y="2953"/>
                  </a:lnTo>
                  <a:lnTo>
                    <a:pt x="604" y="2934"/>
                  </a:lnTo>
                  <a:lnTo>
                    <a:pt x="613" y="2914"/>
                  </a:lnTo>
                  <a:lnTo>
                    <a:pt x="621" y="2893"/>
                  </a:lnTo>
                  <a:lnTo>
                    <a:pt x="630" y="2873"/>
                  </a:lnTo>
                  <a:lnTo>
                    <a:pt x="638" y="2854"/>
                  </a:lnTo>
                  <a:lnTo>
                    <a:pt x="647" y="2834"/>
                  </a:lnTo>
                  <a:lnTo>
                    <a:pt x="655" y="2813"/>
                  </a:lnTo>
                  <a:lnTo>
                    <a:pt x="664" y="2789"/>
                  </a:lnTo>
                  <a:lnTo>
                    <a:pt x="672" y="2765"/>
                  </a:lnTo>
                  <a:lnTo>
                    <a:pt x="681" y="2741"/>
                  </a:lnTo>
                  <a:lnTo>
                    <a:pt x="690" y="2719"/>
                  </a:lnTo>
                  <a:lnTo>
                    <a:pt x="698" y="2696"/>
                  </a:lnTo>
                  <a:lnTo>
                    <a:pt x="707" y="2672"/>
                  </a:lnTo>
                  <a:lnTo>
                    <a:pt x="715" y="2648"/>
                  </a:lnTo>
                  <a:lnTo>
                    <a:pt x="724" y="2623"/>
                  </a:lnTo>
                  <a:lnTo>
                    <a:pt x="732" y="2596"/>
                  </a:lnTo>
                  <a:lnTo>
                    <a:pt x="741" y="2568"/>
                  </a:lnTo>
                  <a:lnTo>
                    <a:pt x="749" y="2538"/>
                  </a:lnTo>
                  <a:lnTo>
                    <a:pt x="758" y="2505"/>
                  </a:lnTo>
                  <a:lnTo>
                    <a:pt x="767" y="2470"/>
                  </a:lnTo>
                  <a:lnTo>
                    <a:pt x="775" y="2431"/>
                  </a:lnTo>
                  <a:lnTo>
                    <a:pt x="784" y="2393"/>
                  </a:lnTo>
                  <a:lnTo>
                    <a:pt x="792" y="2347"/>
                  </a:lnTo>
                  <a:lnTo>
                    <a:pt x="801" y="2301"/>
                  </a:lnTo>
                  <a:lnTo>
                    <a:pt x="809" y="2256"/>
                  </a:lnTo>
                  <a:lnTo>
                    <a:pt x="818" y="2209"/>
                  </a:lnTo>
                  <a:lnTo>
                    <a:pt x="826" y="2162"/>
                  </a:lnTo>
                  <a:lnTo>
                    <a:pt x="835" y="2113"/>
                  </a:lnTo>
                  <a:lnTo>
                    <a:pt x="844" y="2063"/>
                  </a:lnTo>
                  <a:lnTo>
                    <a:pt x="852" y="2014"/>
                  </a:lnTo>
                  <a:lnTo>
                    <a:pt x="861" y="1962"/>
                  </a:lnTo>
                  <a:lnTo>
                    <a:pt x="869" y="1909"/>
                  </a:lnTo>
                  <a:lnTo>
                    <a:pt x="878" y="1858"/>
                  </a:lnTo>
                  <a:lnTo>
                    <a:pt x="886" y="1810"/>
                  </a:lnTo>
                  <a:lnTo>
                    <a:pt x="895" y="1768"/>
                  </a:lnTo>
                  <a:lnTo>
                    <a:pt x="903" y="1729"/>
                  </a:lnTo>
                  <a:lnTo>
                    <a:pt x="912" y="1690"/>
                  </a:lnTo>
                  <a:lnTo>
                    <a:pt x="920" y="1649"/>
                  </a:lnTo>
                  <a:lnTo>
                    <a:pt x="929" y="1612"/>
                  </a:lnTo>
                  <a:lnTo>
                    <a:pt x="938" y="1574"/>
                  </a:lnTo>
                  <a:lnTo>
                    <a:pt x="946" y="1537"/>
                  </a:lnTo>
                  <a:lnTo>
                    <a:pt x="955" y="1500"/>
                  </a:lnTo>
                  <a:lnTo>
                    <a:pt x="963" y="1465"/>
                  </a:lnTo>
                  <a:lnTo>
                    <a:pt x="972" y="1430"/>
                  </a:lnTo>
                  <a:lnTo>
                    <a:pt x="980" y="1394"/>
                  </a:lnTo>
                  <a:lnTo>
                    <a:pt x="989" y="1358"/>
                  </a:lnTo>
                  <a:lnTo>
                    <a:pt x="997" y="1320"/>
                  </a:lnTo>
                  <a:lnTo>
                    <a:pt x="1006" y="1280"/>
                  </a:lnTo>
                  <a:lnTo>
                    <a:pt x="1015" y="1235"/>
                  </a:lnTo>
                  <a:lnTo>
                    <a:pt x="1023" y="1192"/>
                  </a:lnTo>
                  <a:lnTo>
                    <a:pt x="1032" y="1148"/>
                  </a:lnTo>
                  <a:lnTo>
                    <a:pt x="1040" y="1105"/>
                  </a:lnTo>
                  <a:lnTo>
                    <a:pt x="1049" y="1055"/>
                  </a:lnTo>
                  <a:lnTo>
                    <a:pt x="1057" y="1004"/>
                  </a:lnTo>
                  <a:lnTo>
                    <a:pt x="1066" y="945"/>
                  </a:lnTo>
                  <a:lnTo>
                    <a:pt x="1074" y="877"/>
                  </a:lnTo>
                  <a:lnTo>
                    <a:pt x="1083" y="804"/>
                  </a:lnTo>
                  <a:lnTo>
                    <a:pt x="1091" y="731"/>
                  </a:lnTo>
                  <a:lnTo>
                    <a:pt x="1100" y="666"/>
                  </a:lnTo>
                  <a:lnTo>
                    <a:pt x="1109" y="611"/>
                  </a:lnTo>
                  <a:lnTo>
                    <a:pt x="1117" y="562"/>
                  </a:lnTo>
                  <a:lnTo>
                    <a:pt x="1126" y="515"/>
                  </a:lnTo>
                  <a:lnTo>
                    <a:pt x="1134" y="470"/>
                  </a:lnTo>
                  <a:lnTo>
                    <a:pt x="1143" y="425"/>
                  </a:lnTo>
                  <a:lnTo>
                    <a:pt x="1151" y="385"/>
                  </a:lnTo>
                  <a:lnTo>
                    <a:pt x="1160" y="344"/>
                  </a:lnTo>
                  <a:lnTo>
                    <a:pt x="1168" y="303"/>
                  </a:lnTo>
                  <a:lnTo>
                    <a:pt x="1177" y="268"/>
                  </a:lnTo>
                  <a:lnTo>
                    <a:pt x="1186" y="235"/>
                  </a:lnTo>
                  <a:lnTo>
                    <a:pt x="1194" y="207"/>
                  </a:lnTo>
                  <a:lnTo>
                    <a:pt x="1203" y="179"/>
                  </a:lnTo>
                  <a:lnTo>
                    <a:pt x="1211" y="145"/>
                  </a:lnTo>
                  <a:lnTo>
                    <a:pt x="1220" y="117"/>
                  </a:lnTo>
                  <a:lnTo>
                    <a:pt x="1228" y="94"/>
                  </a:lnTo>
                  <a:lnTo>
                    <a:pt x="1237" y="76"/>
                  </a:lnTo>
                  <a:lnTo>
                    <a:pt x="1245" y="63"/>
                  </a:lnTo>
                  <a:lnTo>
                    <a:pt x="1254" y="55"/>
                  </a:lnTo>
                  <a:lnTo>
                    <a:pt x="1262" y="56"/>
                  </a:lnTo>
                  <a:lnTo>
                    <a:pt x="1271" y="62"/>
                  </a:lnTo>
                  <a:lnTo>
                    <a:pt x="1280" y="67"/>
                  </a:lnTo>
                  <a:lnTo>
                    <a:pt x="1288" y="64"/>
                  </a:lnTo>
                  <a:lnTo>
                    <a:pt x="1297" y="53"/>
                  </a:lnTo>
                  <a:lnTo>
                    <a:pt x="1305" y="39"/>
                  </a:lnTo>
                  <a:lnTo>
                    <a:pt x="1314" y="27"/>
                  </a:lnTo>
                  <a:lnTo>
                    <a:pt x="1322" y="23"/>
                  </a:lnTo>
                  <a:lnTo>
                    <a:pt x="1331" y="23"/>
                  </a:lnTo>
                  <a:lnTo>
                    <a:pt x="1339" y="27"/>
                  </a:lnTo>
                  <a:lnTo>
                    <a:pt x="1348" y="38"/>
                  </a:lnTo>
                  <a:lnTo>
                    <a:pt x="1357" y="51"/>
                  </a:lnTo>
                  <a:lnTo>
                    <a:pt x="1365" y="60"/>
                  </a:lnTo>
                  <a:lnTo>
                    <a:pt x="1374" y="66"/>
                  </a:lnTo>
                  <a:lnTo>
                    <a:pt x="1382" y="68"/>
                  </a:lnTo>
                  <a:lnTo>
                    <a:pt x="1391" y="71"/>
                  </a:lnTo>
                  <a:lnTo>
                    <a:pt x="1399" y="80"/>
                  </a:lnTo>
                  <a:lnTo>
                    <a:pt x="1408" y="95"/>
                  </a:lnTo>
                  <a:lnTo>
                    <a:pt x="1416" y="111"/>
                  </a:lnTo>
                  <a:lnTo>
                    <a:pt x="1425" y="123"/>
                  </a:lnTo>
                  <a:lnTo>
                    <a:pt x="1433" y="135"/>
                  </a:lnTo>
                  <a:lnTo>
                    <a:pt x="1442" y="153"/>
                  </a:lnTo>
                  <a:lnTo>
                    <a:pt x="1451" y="176"/>
                  </a:lnTo>
                  <a:lnTo>
                    <a:pt x="1459" y="200"/>
                  </a:lnTo>
                  <a:lnTo>
                    <a:pt x="1468" y="226"/>
                  </a:lnTo>
                  <a:lnTo>
                    <a:pt x="1476" y="262"/>
                  </a:lnTo>
                  <a:lnTo>
                    <a:pt x="1485" y="310"/>
                  </a:lnTo>
                  <a:lnTo>
                    <a:pt x="1493" y="360"/>
                  </a:lnTo>
                  <a:lnTo>
                    <a:pt x="1502" y="411"/>
                  </a:lnTo>
                  <a:lnTo>
                    <a:pt x="1510" y="458"/>
                  </a:lnTo>
                  <a:lnTo>
                    <a:pt x="1519" y="499"/>
                  </a:lnTo>
                  <a:lnTo>
                    <a:pt x="1528" y="538"/>
                  </a:lnTo>
                  <a:lnTo>
                    <a:pt x="1536" y="581"/>
                  </a:lnTo>
                  <a:lnTo>
                    <a:pt x="1545" y="621"/>
                  </a:lnTo>
                  <a:lnTo>
                    <a:pt x="1553" y="657"/>
                  </a:lnTo>
                  <a:lnTo>
                    <a:pt x="1562" y="697"/>
                  </a:lnTo>
                  <a:lnTo>
                    <a:pt x="1570" y="737"/>
                  </a:lnTo>
                  <a:lnTo>
                    <a:pt x="1579" y="775"/>
                  </a:lnTo>
                  <a:lnTo>
                    <a:pt x="1587" y="813"/>
                  </a:lnTo>
                  <a:lnTo>
                    <a:pt x="1596" y="846"/>
                  </a:lnTo>
                  <a:lnTo>
                    <a:pt x="1604" y="878"/>
                  </a:lnTo>
                  <a:lnTo>
                    <a:pt x="1613" y="911"/>
                  </a:lnTo>
                  <a:lnTo>
                    <a:pt x="1622" y="946"/>
                  </a:lnTo>
                  <a:lnTo>
                    <a:pt x="1630" y="984"/>
                  </a:lnTo>
                  <a:lnTo>
                    <a:pt x="1639" y="1022"/>
                  </a:lnTo>
                  <a:lnTo>
                    <a:pt x="1647" y="1061"/>
                  </a:lnTo>
                  <a:lnTo>
                    <a:pt x="1656" y="1105"/>
                  </a:lnTo>
                  <a:lnTo>
                    <a:pt x="1664" y="1153"/>
                  </a:lnTo>
                  <a:lnTo>
                    <a:pt x="1673" y="1204"/>
                  </a:lnTo>
                  <a:lnTo>
                    <a:pt x="1681" y="1255"/>
                  </a:lnTo>
                  <a:lnTo>
                    <a:pt x="1690" y="1308"/>
                  </a:lnTo>
                  <a:lnTo>
                    <a:pt x="1699" y="1369"/>
                  </a:lnTo>
                  <a:lnTo>
                    <a:pt x="1707" y="1435"/>
                  </a:lnTo>
                  <a:lnTo>
                    <a:pt x="1716" y="1501"/>
                  </a:lnTo>
                  <a:lnTo>
                    <a:pt x="1724" y="1564"/>
                  </a:lnTo>
                  <a:lnTo>
                    <a:pt x="1733" y="1626"/>
                  </a:lnTo>
                  <a:lnTo>
                    <a:pt x="1741" y="1687"/>
                  </a:lnTo>
                  <a:lnTo>
                    <a:pt x="1750" y="1749"/>
                  </a:lnTo>
                  <a:lnTo>
                    <a:pt x="1758" y="1811"/>
                  </a:lnTo>
                  <a:lnTo>
                    <a:pt x="1767" y="1867"/>
                  </a:lnTo>
                  <a:lnTo>
                    <a:pt x="1775" y="1919"/>
                  </a:lnTo>
                  <a:lnTo>
                    <a:pt x="1784" y="1967"/>
                  </a:lnTo>
                  <a:lnTo>
                    <a:pt x="1793" y="2011"/>
                  </a:lnTo>
                  <a:lnTo>
                    <a:pt x="1801" y="2054"/>
                  </a:lnTo>
                  <a:lnTo>
                    <a:pt x="1810" y="2098"/>
                  </a:lnTo>
                  <a:lnTo>
                    <a:pt x="1818" y="2142"/>
                  </a:lnTo>
                  <a:lnTo>
                    <a:pt x="1827" y="2180"/>
                  </a:lnTo>
                  <a:lnTo>
                    <a:pt x="1835" y="2218"/>
                  </a:lnTo>
                  <a:lnTo>
                    <a:pt x="1844" y="2255"/>
                  </a:lnTo>
                  <a:lnTo>
                    <a:pt x="1852" y="2289"/>
                  </a:lnTo>
                  <a:lnTo>
                    <a:pt x="1861" y="2320"/>
                  </a:lnTo>
                  <a:lnTo>
                    <a:pt x="1869" y="2349"/>
                  </a:lnTo>
                  <a:lnTo>
                    <a:pt x="1878" y="2378"/>
                  </a:lnTo>
                  <a:lnTo>
                    <a:pt x="1887" y="2408"/>
                  </a:lnTo>
                  <a:lnTo>
                    <a:pt x="1895" y="2436"/>
                  </a:lnTo>
                  <a:lnTo>
                    <a:pt x="1904" y="2462"/>
                  </a:lnTo>
                  <a:lnTo>
                    <a:pt x="1912" y="2486"/>
                  </a:lnTo>
                  <a:lnTo>
                    <a:pt x="1921" y="2512"/>
                  </a:lnTo>
                  <a:lnTo>
                    <a:pt x="1929" y="2538"/>
                  </a:lnTo>
                  <a:lnTo>
                    <a:pt x="1938" y="2563"/>
                  </a:lnTo>
                  <a:lnTo>
                    <a:pt x="1946" y="2587"/>
                  </a:lnTo>
                  <a:lnTo>
                    <a:pt x="1955" y="2609"/>
                  </a:lnTo>
                  <a:lnTo>
                    <a:pt x="1964" y="2632"/>
                  </a:lnTo>
                  <a:lnTo>
                    <a:pt x="1972" y="2655"/>
                  </a:lnTo>
                  <a:lnTo>
                    <a:pt x="1981" y="2678"/>
                  </a:lnTo>
                  <a:lnTo>
                    <a:pt x="1989" y="2700"/>
                  </a:lnTo>
                  <a:lnTo>
                    <a:pt x="1998" y="2721"/>
                  </a:lnTo>
                  <a:lnTo>
                    <a:pt x="2006" y="2740"/>
                  </a:lnTo>
                  <a:lnTo>
                    <a:pt x="2015" y="2760"/>
                  </a:lnTo>
                  <a:lnTo>
                    <a:pt x="2023" y="2780"/>
                  </a:lnTo>
                  <a:lnTo>
                    <a:pt x="2032" y="2801"/>
                  </a:lnTo>
                  <a:lnTo>
                    <a:pt x="2040" y="2824"/>
                  </a:lnTo>
                  <a:lnTo>
                    <a:pt x="2049" y="2844"/>
                  </a:lnTo>
                  <a:lnTo>
                    <a:pt x="2058" y="2864"/>
                  </a:lnTo>
                  <a:lnTo>
                    <a:pt x="2066" y="2881"/>
                  </a:lnTo>
                  <a:lnTo>
                    <a:pt x="2075" y="2899"/>
                  </a:lnTo>
                  <a:lnTo>
                    <a:pt x="2083" y="2918"/>
                  </a:lnTo>
                  <a:lnTo>
                    <a:pt x="2092" y="2937"/>
                  </a:lnTo>
                  <a:lnTo>
                    <a:pt x="2100" y="2957"/>
                  </a:lnTo>
                  <a:lnTo>
                    <a:pt x="2109" y="2977"/>
                  </a:lnTo>
                  <a:lnTo>
                    <a:pt x="2117" y="2997"/>
                  </a:lnTo>
                  <a:lnTo>
                    <a:pt x="2126" y="3015"/>
                  </a:lnTo>
                  <a:lnTo>
                    <a:pt x="2135" y="3033"/>
                  </a:lnTo>
                  <a:lnTo>
                    <a:pt x="2143" y="3050"/>
                  </a:lnTo>
                  <a:lnTo>
                    <a:pt x="2152" y="3067"/>
                  </a:lnTo>
                  <a:lnTo>
                    <a:pt x="2160" y="3084"/>
                  </a:lnTo>
                  <a:lnTo>
                    <a:pt x="2169" y="3099"/>
                  </a:lnTo>
                  <a:lnTo>
                    <a:pt x="2177" y="3114"/>
                  </a:lnTo>
                  <a:lnTo>
                    <a:pt x="2186" y="3128"/>
                  </a:lnTo>
                  <a:lnTo>
                    <a:pt x="2194" y="3141"/>
                  </a:lnTo>
                  <a:lnTo>
                    <a:pt x="2203" y="3154"/>
                  </a:lnTo>
                  <a:lnTo>
                    <a:pt x="2211" y="3168"/>
                  </a:lnTo>
                  <a:lnTo>
                    <a:pt x="2220" y="3179"/>
                  </a:lnTo>
                  <a:lnTo>
                    <a:pt x="2229" y="3189"/>
                  </a:lnTo>
                  <a:lnTo>
                    <a:pt x="2237" y="3198"/>
                  </a:lnTo>
                  <a:lnTo>
                    <a:pt x="2246" y="3205"/>
                  </a:lnTo>
                  <a:lnTo>
                    <a:pt x="2254" y="3213"/>
                  </a:lnTo>
                  <a:lnTo>
                    <a:pt x="2263" y="3220"/>
                  </a:lnTo>
                  <a:lnTo>
                    <a:pt x="2271" y="3225"/>
                  </a:lnTo>
                  <a:lnTo>
                    <a:pt x="2280" y="3228"/>
                  </a:lnTo>
                  <a:lnTo>
                    <a:pt x="2288" y="3231"/>
                  </a:lnTo>
                  <a:lnTo>
                    <a:pt x="2297" y="3234"/>
                  </a:lnTo>
                  <a:lnTo>
                    <a:pt x="2306" y="3237"/>
                  </a:lnTo>
                  <a:lnTo>
                    <a:pt x="2314" y="3240"/>
                  </a:lnTo>
                  <a:lnTo>
                    <a:pt x="2323" y="3243"/>
                  </a:lnTo>
                  <a:lnTo>
                    <a:pt x="2331" y="3246"/>
                  </a:lnTo>
                  <a:lnTo>
                    <a:pt x="2340" y="3250"/>
                  </a:lnTo>
                  <a:lnTo>
                    <a:pt x="2348" y="3254"/>
                  </a:lnTo>
                  <a:lnTo>
                    <a:pt x="2357" y="3258"/>
                  </a:lnTo>
                  <a:lnTo>
                    <a:pt x="2365" y="3261"/>
                  </a:lnTo>
                  <a:lnTo>
                    <a:pt x="2374" y="3264"/>
                  </a:lnTo>
                  <a:lnTo>
                    <a:pt x="2383" y="3267"/>
                  </a:lnTo>
                  <a:lnTo>
                    <a:pt x="2391" y="3269"/>
                  </a:lnTo>
                  <a:lnTo>
                    <a:pt x="2400" y="3271"/>
                  </a:lnTo>
                  <a:lnTo>
                    <a:pt x="2408" y="3272"/>
                  </a:lnTo>
                  <a:lnTo>
                    <a:pt x="2417" y="3274"/>
                  </a:lnTo>
                  <a:lnTo>
                    <a:pt x="2425" y="3276"/>
                  </a:lnTo>
                  <a:lnTo>
                    <a:pt x="2434" y="3277"/>
                  </a:lnTo>
                  <a:lnTo>
                    <a:pt x="2442" y="3278"/>
                  </a:lnTo>
                  <a:lnTo>
                    <a:pt x="2451" y="3280"/>
                  </a:lnTo>
                  <a:lnTo>
                    <a:pt x="2460" y="3281"/>
                  </a:lnTo>
                  <a:lnTo>
                    <a:pt x="2468" y="3282"/>
                  </a:lnTo>
                  <a:lnTo>
                    <a:pt x="2477" y="3284"/>
                  </a:lnTo>
                  <a:lnTo>
                    <a:pt x="2485" y="3284"/>
                  </a:lnTo>
                  <a:lnTo>
                    <a:pt x="2494" y="3285"/>
                  </a:lnTo>
                  <a:lnTo>
                    <a:pt x="2502" y="3286"/>
                  </a:lnTo>
                  <a:lnTo>
                    <a:pt x="2511" y="3286"/>
                  </a:lnTo>
                  <a:lnTo>
                    <a:pt x="2519" y="3287"/>
                  </a:lnTo>
                  <a:lnTo>
                    <a:pt x="2528" y="3288"/>
                  </a:lnTo>
                  <a:lnTo>
                    <a:pt x="2537" y="3289"/>
                  </a:lnTo>
                  <a:lnTo>
                    <a:pt x="2545" y="3289"/>
                  </a:lnTo>
                  <a:lnTo>
                    <a:pt x="2554" y="3290"/>
                  </a:lnTo>
                  <a:lnTo>
                    <a:pt x="2562" y="3291"/>
                  </a:lnTo>
                  <a:lnTo>
                    <a:pt x="2571" y="3292"/>
                  </a:lnTo>
                  <a:lnTo>
                    <a:pt x="2579" y="3293"/>
                  </a:lnTo>
                </a:path>
              </a:pathLst>
            </a:custGeom>
            <a:noFill/>
            <a:ln w="29255" cap="sq">
              <a:solidFill>
                <a:srgbClr val="0000FF"/>
              </a:solidFill>
              <a:prstDash val="solid"/>
              <a:round/>
            </a:ln>
          </p:spPr>
          <p:txBody>
            <a:bodyPr rtlCol="0"/>
            <a:lstStyle/>
            <a:p>
              <a:pPr algn="ctr"/>
              <a:endParaRPr lang="zh-CN" altLang="en-US"/>
            </a:p>
          </p:txBody>
        </p:sp>
        <p:sp>
          <p:nvSpPr>
            <p:cNvPr id="108" name="path 108"/>
            <p:cNvSpPr/>
            <p:nvPr/>
          </p:nvSpPr>
          <p:spPr>
            <a:xfrm>
              <a:off x="583442" y="1435487"/>
              <a:ext cx="3869876" cy="833290"/>
            </a:xfrm>
            <a:custGeom>
              <a:avLst/>
              <a:gdLst/>
              <a:ahLst/>
              <a:cxnLst/>
              <a:rect l="0" t="0" r="0" b="0"/>
              <a:pathLst>
                <a:path w="6094" h="1312">
                  <a:moveTo>
                    <a:pt x="8" y="1301"/>
                  </a:moveTo>
                  <a:lnTo>
                    <a:pt x="28" y="1301"/>
                  </a:lnTo>
                  <a:moveTo>
                    <a:pt x="28" y="1301"/>
                  </a:moveTo>
                  <a:lnTo>
                    <a:pt x="49" y="1301"/>
                  </a:lnTo>
                  <a:moveTo>
                    <a:pt x="49" y="1301"/>
                  </a:moveTo>
                  <a:lnTo>
                    <a:pt x="69" y="1301"/>
                  </a:lnTo>
                  <a:moveTo>
                    <a:pt x="69" y="1301"/>
                  </a:moveTo>
                  <a:lnTo>
                    <a:pt x="90" y="1301"/>
                  </a:lnTo>
                  <a:moveTo>
                    <a:pt x="90" y="1301"/>
                  </a:moveTo>
                  <a:lnTo>
                    <a:pt x="110" y="1301"/>
                  </a:lnTo>
                  <a:moveTo>
                    <a:pt x="110" y="1301"/>
                  </a:moveTo>
                  <a:lnTo>
                    <a:pt x="123" y="1301"/>
                  </a:lnTo>
                  <a:moveTo>
                    <a:pt x="181" y="1300"/>
                  </a:moveTo>
                  <a:lnTo>
                    <a:pt x="192" y="1300"/>
                  </a:lnTo>
                  <a:moveTo>
                    <a:pt x="192" y="1300"/>
                  </a:moveTo>
                  <a:lnTo>
                    <a:pt x="212" y="1300"/>
                  </a:lnTo>
                  <a:moveTo>
                    <a:pt x="212" y="1300"/>
                  </a:moveTo>
                  <a:lnTo>
                    <a:pt x="233" y="1300"/>
                  </a:lnTo>
                  <a:moveTo>
                    <a:pt x="233" y="1300"/>
                  </a:moveTo>
                  <a:lnTo>
                    <a:pt x="253" y="1299"/>
                  </a:lnTo>
                  <a:moveTo>
                    <a:pt x="253" y="1299"/>
                  </a:moveTo>
                  <a:lnTo>
                    <a:pt x="274" y="1299"/>
                  </a:lnTo>
                  <a:moveTo>
                    <a:pt x="274" y="1299"/>
                  </a:moveTo>
                  <a:lnTo>
                    <a:pt x="294" y="1299"/>
                  </a:lnTo>
                  <a:moveTo>
                    <a:pt x="294" y="1299"/>
                  </a:moveTo>
                  <a:lnTo>
                    <a:pt x="296" y="1299"/>
                  </a:lnTo>
                  <a:moveTo>
                    <a:pt x="354" y="1298"/>
                  </a:moveTo>
                  <a:lnTo>
                    <a:pt x="355" y="1298"/>
                  </a:lnTo>
                  <a:moveTo>
                    <a:pt x="355" y="1298"/>
                  </a:moveTo>
                  <a:lnTo>
                    <a:pt x="376" y="1297"/>
                  </a:lnTo>
                  <a:moveTo>
                    <a:pt x="376" y="1297"/>
                  </a:moveTo>
                  <a:lnTo>
                    <a:pt x="396" y="1297"/>
                  </a:lnTo>
                  <a:moveTo>
                    <a:pt x="396" y="1297"/>
                  </a:moveTo>
                  <a:lnTo>
                    <a:pt x="416" y="1296"/>
                  </a:lnTo>
                  <a:moveTo>
                    <a:pt x="416" y="1296"/>
                  </a:moveTo>
                  <a:lnTo>
                    <a:pt x="437" y="1295"/>
                  </a:lnTo>
                  <a:moveTo>
                    <a:pt x="437" y="1295"/>
                  </a:moveTo>
                  <a:lnTo>
                    <a:pt x="458" y="1294"/>
                  </a:lnTo>
                  <a:moveTo>
                    <a:pt x="458" y="1294"/>
                  </a:moveTo>
                  <a:lnTo>
                    <a:pt x="469" y="1293"/>
                  </a:lnTo>
                  <a:moveTo>
                    <a:pt x="526" y="1291"/>
                  </a:moveTo>
                  <a:lnTo>
                    <a:pt x="539" y="1290"/>
                  </a:lnTo>
                  <a:moveTo>
                    <a:pt x="539" y="1290"/>
                  </a:moveTo>
                  <a:lnTo>
                    <a:pt x="559" y="1290"/>
                  </a:lnTo>
                  <a:moveTo>
                    <a:pt x="559" y="1290"/>
                  </a:moveTo>
                  <a:lnTo>
                    <a:pt x="580" y="1289"/>
                  </a:lnTo>
                  <a:moveTo>
                    <a:pt x="580" y="1289"/>
                  </a:moveTo>
                  <a:lnTo>
                    <a:pt x="600" y="1287"/>
                  </a:lnTo>
                  <a:moveTo>
                    <a:pt x="600" y="1287"/>
                  </a:moveTo>
                  <a:lnTo>
                    <a:pt x="621" y="1286"/>
                  </a:lnTo>
                  <a:moveTo>
                    <a:pt x="621" y="1286"/>
                  </a:moveTo>
                  <a:lnTo>
                    <a:pt x="641" y="1285"/>
                  </a:lnTo>
                  <a:moveTo>
                    <a:pt x="641" y="1285"/>
                  </a:moveTo>
                  <a:lnTo>
                    <a:pt x="641" y="1285"/>
                  </a:lnTo>
                  <a:moveTo>
                    <a:pt x="699" y="1280"/>
                  </a:moveTo>
                  <a:lnTo>
                    <a:pt x="702" y="1279"/>
                  </a:lnTo>
                  <a:moveTo>
                    <a:pt x="702" y="1279"/>
                  </a:moveTo>
                  <a:lnTo>
                    <a:pt x="723" y="1277"/>
                  </a:lnTo>
                  <a:moveTo>
                    <a:pt x="723" y="1277"/>
                  </a:moveTo>
                  <a:lnTo>
                    <a:pt x="743" y="1275"/>
                  </a:lnTo>
                  <a:moveTo>
                    <a:pt x="743" y="1275"/>
                  </a:moveTo>
                  <a:lnTo>
                    <a:pt x="764" y="1273"/>
                  </a:lnTo>
                  <a:moveTo>
                    <a:pt x="764" y="1273"/>
                  </a:moveTo>
                  <a:lnTo>
                    <a:pt x="784" y="1271"/>
                  </a:lnTo>
                  <a:moveTo>
                    <a:pt x="784" y="1271"/>
                  </a:moveTo>
                  <a:lnTo>
                    <a:pt x="805" y="1269"/>
                  </a:lnTo>
                  <a:moveTo>
                    <a:pt x="805" y="1269"/>
                  </a:moveTo>
                  <a:lnTo>
                    <a:pt x="813" y="1268"/>
                  </a:lnTo>
                  <a:moveTo>
                    <a:pt x="870" y="1260"/>
                  </a:moveTo>
                  <a:lnTo>
                    <a:pt x="886" y="1257"/>
                  </a:lnTo>
                  <a:moveTo>
                    <a:pt x="886" y="1257"/>
                  </a:moveTo>
                  <a:lnTo>
                    <a:pt x="907" y="1254"/>
                  </a:lnTo>
                  <a:moveTo>
                    <a:pt x="907" y="1254"/>
                  </a:moveTo>
                  <a:lnTo>
                    <a:pt x="927" y="1251"/>
                  </a:lnTo>
                  <a:moveTo>
                    <a:pt x="927" y="1251"/>
                  </a:moveTo>
                  <a:lnTo>
                    <a:pt x="947" y="1248"/>
                  </a:lnTo>
                  <a:moveTo>
                    <a:pt x="947" y="1248"/>
                  </a:moveTo>
                  <a:lnTo>
                    <a:pt x="968" y="1246"/>
                  </a:lnTo>
                  <a:moveTo>
                    <a:pt x="968" y="1246"/>
                  </a:moveTo>
                  <a:lnTo>
                    <a:pt x="984" y="1243"/>
                  </a:lnTo>
                  <a:moveTo>
                    <a:pt x="1041" y="1232"/>
                  </a:moveTo>
                  <a:lnTo>
                    <a:pt x="1050" y="1230"/>
                  </a:lnTo>
                  <a:moveTo>
                    <a:pt x="1050" y="1230"/>
                  </a:moveTo>
                  <a:lnTo>
                    <a:pt x="1070" y="1225"/>
                  </a:lnTo>
                  <a:moveTo>
                    <a:pt x="1070" y="1225"/>
                  </a:moveTo>
                  <a:lnTo>
                    <a:pt x="1090" y="1220"/>
                  </a:lnTo>
                  <a:moveTo>
                    <a:pt x="1090" y="1220"/>
                  </a:moveTo>
                  <a:lnTo>
                    <a:pt x="1111" y="1216"/>
                  </a:lnTo>
                  <a:moveTo>
                    <a:pt x="1111" y="1216"/>
                  </a:moveTo>
                  <a:lnTo>
                    <a:pt x="1131" y="1210"/>
                  </a:lnTo>
                  <a:moveTo>
                    <a:pt x="1131" y="1210"/>
                  </a:moveTo>
                  <a:lnTo>
                    <a:pt x="1152" y="1204"/>
                  </a:lnTo>
                  <a:moveTo>
                    <a:pt x="1152" y="1204"/>
                  </a:moveTo>
                  <a:lnTo>
                    <a:pt x="1152" y="1204"/>
                  </a:lnTo>
                  <a:moveTo>
                    <a:pt x="1207" y="1188"/>
                  </a:moveTo>
                  <a:lnTo>
                    <a:pt x="1213" y="1186"/>
                  </a:lnTo>
                  <a:moveTo>
                    <a:pt x="1213" y="1186"/>
                  </a:moveTo>
                  <a:lnTo>
                    <a:pt x="1233" y="1178"/>
                  </a:lnTo>
                  <a:moveTo>
                    <a:pt x="1233" y="1178"/>
                  </a:moveTo>
                  <a:lnTo>
                    <a:pt x="1254" y="1171"/>
                  </a:lnTo>
                  <a:moveTo>
                    <a:pt x="1254" y="1171"/>
                  </a:moveTo>
                  <a:lnTo>
                    <a:pt x="1274" y="1163"/>
                  </a:lnTo>
                  <a:moveTo>
                    <a:pt x="1274" y="1163"/>
                  </a:moveTo>
                  <a:lnTo>
                    <a:pt x="1295" y="1155"/>
                  </a:lnTo>
                  <a:moveTo>
                    <a:pt x="1295" y="1155"/>
                  </a:moveTo>
                  <a:lnTo>
                    <a:pt x="1315" y="1147"/>
                  </a:lnTo>
                  <a:moveTo>
                    <a:pt x="1315" y="1147"/>
                  </a:moveTo>
                  <a:lnTo>
                    <a:pt x="1315" y="1147"/>
                  </a:lnTo>
                  <a:moveTo>
                    <a:pt x="1369" y="1125"/>
                  </a:moveTo>
                  <a:lnTo>
                    <a:pt x="1376" y="1122"/>
                  </a:lnTo>
                  <a:moveTo>
                    <a:pt x="1376" y="1122"/>
                  </a:moveTo>
                  <a:lnTo>
                    <a:pt x="1397" y="1111"/>
                  </a:lnTo>
                  <a:moveTo>
                    <a:pt x="1397" y="1111"/>
                  </a:moveTo>
                  <a:lnTo>
                    <a:pt x="1417" y="1099"/>
                  </a:lnTo>
                  <a:moveTo>
                    <a:pt x="1417" y="1099"/>
                  </a:moveTo>
                  <a:lnTo>
                    <a:pt x="1438" y="1086"/>
                  </a:lnTo>
                  <a:moveTo>
                    <a:pt x="1438" y="1086"/>
                  </a:moveTo>
                  <a:lnTo>
                    <a:pt x="1458" y="1073"/>
                  </a:lnTo>
                  <a:moveTo>
                    <a:pt x="1458" y="1073"/>
                  </a:moveTo>
                  <a:lnTo>
                    <a:pt x="1468" y="1068"/>
                  </a:lnTo>
                  <a:moveTo>
                    <a:pt x="1517" y="1038"/>
                  </a:moveTo>
                  <a:lnTo>
                    <a:pt x="1519" y="1037"/>
                  </a:lnTo>
                  <a:moveTo>
                    <a:pt x="1519" y="1037"/>
                  </a:moveTo>
                  <a:lnTo>
                    <a:pt x="1540" y="1025"/>
                  </a:lnTo>
                  <a:moveTo>
                    <a:pt x="1540" y="1025"/>
                  </a:moveTo>
                  <a:lnTo>
                    <a:pt x="1560" y="1014"/>
                  </a:lnTo>
                  <a:moveTo>
                    <a:pt x="1560" y="1014"/>
                  </a:moveTo>
                  <a:lnTo>
                    <a:pt x="1581" y="1003"/>
                  </a:lnTo>
                  <a:moveTo>
                    <a:pt x="1581" y="1003"/>
                  </a:moveTo>
                  <a:lnTo>
                    <a:pt x="1601" y="991"/>
                  </a:lnTo>
                  <a:moveTo>
                    <a:pt x="1601" y="991"/>
                  </a:moveTo>
                  <a:lnTo>
                    <a:pt x="1618" y="981"/>
                  </a:lnTo>
                  <a:moveTo>
                    <a:pt x="1667" y="952"/>
                  </a:moveTo>
                  <a:lnTo>
                    <a:pt x="1683" y="942"/>
                  </a:lnTo>
                  <a:moveTo>
                    <a:pt x="1683" y="942"/>
                  </a:moveTo>
                  <a:lnTo>
                    <a:pt x="1703" y="930"/>
                  </a:lnTo>
                  <a:moveTo>
                    <a:pt x="1703" y="930"/>
                  </a:moveTo>
                  <a:lnTo>
                    <a:pt x="1724" y="919"/>
                  </a:lnTo>
                  <a:moveTo>
                    <a:pt x="1724" y="919"/>
                  </a:moveTo>
                  <a:lnTo>
                    <a:pt x="1744" y="907"/>
                  </a:lnTo>
                  <a:moveTo>
                    <a:pt x="1744" y="907"/>
                  </a:moveTo>
                  <a:lnTo>
                    <a:pt x="1765" y="895"/>
                  </a:lnTo>
                  <a:moveTo>
                    <a:pt x="1765" y="895"/>
                  </a:moveTo>
                  <a:lnTo>
                    <a:pt x="1767" y="894"/>
                  </a:lnTo>
                  <a:moveTo>
                    <a:pt x="1816" y="863"/>
                  </a:moveTo>
                  <a:lnTo>
                    <a:pt x="1826" y="858"/>
                  </a:lnTo>
                  <a:moveTo>
                    <a:pt x="1826" y="858"/>
                  </a:moveTo>
                  <a:lnTo>
                    <a:pt x="1846" y="847"/>
                  </a:lnTo>
                  <a:moveTo>
                    <a:pt x="1846" y="847"/>
                  </a:moveTo>
                  <a:lnTo>
                    <a:pt x="1866" y="836"/>
                  </a:lnTo>
                  <a:moveTo>
                    <a:pt x="1866" y="836"/>
                  </a:moveTo>
                  <a:lnTo>
                    <a:pt x="1887" y="825"/>
                  </a:lnTo>
                  <a:moveTo>
                    <a:pt x="1887" y="825"/>
                  </a:moveTo>
                  <a:lnTo>
                    <a:pt x="1908" y="815"/>
                  </a:lnTo>
                  <a:moveTo>
                    <a:pt x="1908" y="815"/>
                  </a:moveTo>
                  <a:lnTo>
                    <a:pt x="1918" y="810"/>
                  </a:lnTo>
                  <a:moveTo>
                    <a:pt x="1967" y="780"/>
                  </a:moveTo>
                  <a:lnTo>
                    <a:pt x="1969" y="778"/>
                  </a:lnTo>
                  <a:moveTo>
                    <a:pt x="1969" y="778"/>
                  </a:moveTo>
                  <a:lnTo>
                    <a:pt x="1989" y="763"/>
                  </a:lnTo>
                  <a:moveTo>
                    <a:pt x="1989" y="763"/>
                  </a:moveTo>
                  <a:lnTo>
                    <a:pt x="2009" y="748"/>
                  </a:lnTo>
                  <a:moveTo>
                    <a:pt x="2009" y="748"/>
                  </a:moveTo>
                  <a:lnTo>
                    <a:pt x="2030" y="731"/>
                  </a:lnTo>
                  <a:moveTo>
                    <a:pt x="2030" y="731"/>
                  </a:moveTo>
                  <a:lnTo>
                    <a:pt x="2050" y="711"/>
                  </a:lnTo>
                  <a:moveTo>
                    <a:pt x="2050" y="711"/>
                  </a:moveTo>
                  <a:lnTo>
                    <a:pt x="2056" y="707"/>
                  </a:lnTo>
                  <a:moveTo>
                    <a:pt x="2097" y="666"/>
                  </a:moveTo>
                  <a:lnTo>
                    <a:pt x="2112" y="653"/>
                  </a:lnTo>
                  <a:moveTo>
                    <a:pt x="2112" y="653"/>
                  </a:moveTo>
                  <a:lnTo>
                    <a:pt x="2132" y="633"/>
                  </a:lnTo>
                  <a:moveTo>
                    <a:pt x="2132" y="633"/>
                  </a:moveTo>
                  <a:lnTo>
                    <a:pt x="2153" y="612"/>
                  </a:lnTo>
                  <a:moveTo>
                    <a:pt x="2153" y="612"/>
                  </a:moveTo>
                  <a:lnTo>
                    <a:pt x="2173" y="592"/>
                  </a:lnTo>
                  <a:moveTo>
                    <a:pt x="2173" y="592"/>
                  </a:moveTo>
                  <a:lnTo>
                    <a:pt x="2179" y="586"/>
                  </a:lnTo>
                  <a:moveTo>
                    <a:pt x="2219" y="544"/>
                  </a:moveTo>
                  <a:lnTo>
                    <a:pt x="2234" y="528"/>
                  </a:lnTo>
                  <a:moveTo>
                    <a:pt x="2234" y="528"/>
                  </a:moveTo>
                  <a:lnTo>
                    <a:pt x="2255" y="506"/>
                  </a:lnTo>
                  <a:moveTo>
                    <a:pt x="2255" y="506"/>
                  </a:moveTo>
                  <a:lnTo>
                    <a:pt x="2275" y="482"/>
                  </a:lnTo>
                  <a:moveTo>
                    <a:pt x="2275" y="482"/>
                  </a:moveTo>
                  <a:lnTo>
                    <a:pt x="2295" y="458"/>
                  </a:lnTo>
                  <a:moveTo>
                    <a:pt x="2334" y="415"/>
                  </a:moveTo>
                  <a:lnTo>
                    <a:pt x="2336" y="412"/>
                  </a:lnTo>
                  <a:moveTo>
                    <a:pt x="2336" y="412"/>
                  </a:moveTo>
                  <a:lnTo>
                    <a:pt x="2357" y="390"/>
                  </a:lnTo>
                  <a:moveTo>
                    <a:pt x="2357" y="390"/>
                  </a:moveTo>
                  <a:lnTo>
                    <a:pt x="2377" y="369"/>
                  </a:lnTo>
                  <a:moveTo>
                    <a:pt x="2377" y="369"/>
                  </a:moveTo>
                  <a:lnTo>
                    <a:pt x="2398" y="349"/>
                  </a:lnTo>
                  <a:moveTo>
                    <a:pt x="2398" y="349"/>
                  </a:moveTo>
                  <a:lnTo>
                    <a:pt x="2415" y="333"/>
                  </a:lnTo>
                  <a:moveTo>
                    <a:pt x="2459" y="297"/>
                  </a:moveTo>
                  <a:lnTo>
                    <a:pt x="2479" y="283"/>
                  </a:lnTo>
                  <a:moveTo>
                    <a:pt x="2479" y="283"/>
                  </a:moveTo>
                  <a:lnTo>
                    <a:pt x="2500" y="270"/>
                  </a:lnTo>
                  <a:moveTo>
                    <a:pt x="2500" y="270"/>
                  </a:moveTo>
                  <a:lnTo>
                    <a:pt x="2520" y="254"/>
                  </a:lnTo>
                  <a:moveTo>
                    <a:pt x="2520" y="254"/>
                  </a:moveTo>
                  <a:lnTo>
                    <a:pt x="2541" y="240"/>
                  </a:lnTo>
                  <a:moveTo>
                    <a:pt x="2541" y="240"/>
                  </a:moveTo>
                  <a:lnTo>
                    <a:pt x="2554" y="231"/>
                  </a:lnTo>
                  <a:moveTo>
                    <a:pt x="2604" y="203"/>
                  </a:moveTo>
                  <a:lnTo>
                    <a:pt x="2622" y="191"/>
                  </a:lnTo>
                  <a:moveTo>
                    <a:pt x="2622" y="191"/>
                  </a:moveTo>
                  <a:lnTo>
                    <a:pt x="2643" y="178"/>
                  </a:lnTo>
                  <a:moveTo>
                    <a:pt x="2643" y="178"/>
                  </a:moveTo>
                  <a:lnTo>
                    <a:pt x="2663" y="165"/>
                  </a:lnTo>
                  <a:moveTo>
                    <a:pt x="2663" y="165"/>
                  </a:moveTo>
                  <a:lnTo>
                    <a:pt x="2684" y="154"/>
                  </a:lnTo>
                  <a:moveTo>
                    <a:pt x="2684" y="154"/>
                  </a:moveTo>
                  <a:lnTo>
                    <a:pt x="2703" y="144"/>
                  </a:lnTo>
                  <a:moveTo>
                    <a:pt x="2755" y="119"/>
                  </a:moveTo>
                  <a:lnTo>
                    <a:pt x="2765" y="114"/>
                  </a:lnTo>
                  <a:moveTo>
                    <a:pt x="2765" y="114"/>
                  </a:moveTo>
                  <a:lnTo>
                    <a:pt x="2786" y="106"/>
                  </a:lnTo>
                  <a:moveTo>
                    <a:pt x="2786" y="106"/>
                  </a:moveTo>
                  <a:lnTo>
                    <a:pt x="2806" y="97"/>
                  </a:lnTo>
                  <a:moveTo>
                    <a:pt x="2806" y="97"/>
                  </a:moveTo>
                  <a:lnTo>
                    <a:pt x="2827" y="86"/>
                  </a:lnTo>
                  <a:moveTo>
                    <a:pt x="2827" y="86"/>
                  </a:moveTo>
                  <a:lnTo>
                    <a:pt x="2847" y="77"/>
                  </a:lnTo>
                  <a:moveTo>
                    <a:pt x="2847" y="77"/>
                  </a:moveTo>
                  <a:lnTo>
                    <a:pt x="2860" y="72"/>
                  </a:lnTo>
                  <a:moveTo>
                    <a:pt x="2913" y="50"/>
                  </a:moveTo>
                  <a:lnTo>
                    <a:pt x="2929" y="44"/>
                  </a:lnTo>
                  <a:moveTo>
                    <a:pt x="2929" y="44"/>
                  </a:moveTo>
                  <a:lnTo>
                    <a:pt x="2949" y="39"/>
                  </a:lnTo>
                  <a:moveTo>
                    <a:pt x="2949" y="39"/>
                  </a:moveTo>
                  <a:lnTo>
                    <a:pt x="2969" y="34"/>
                  </a:lnTo>
                  <a:moveTo>
                    <a:pt x="2969" y="34"/>
                  </a:moveTo>
                  <a:lnTo>
                    <a:pt x="2990" y="29"/>
                  </a:lnTo>
                  <a:moveTo>
                    <a:pt x="2990" y="29"/>
                  </a:moveTo>
                  <a:lnTo>
                    <a:pt x="3010" y="27"/>
                  </a:lnTo>
                  <a:moveTo>
                    <a:pt x="3010" y="27"/>
                  </a:moveTo>
                  <a:lnTo>
                    <a:pt x="3025" y="25"/>
                  </a:lnTo>
                  <a:moveTo>
                    <a:pt x="3082" y="15"/>
                  </a:moveTo>
                  <a:lnTo>
                    <a:pt x="3092" y="14"/>
                  </a:lnTo>
                  <a:moveTo>
                    <a:pt x="3092" y="14"/>
                  </a:moveTo>
                  <a:lnTo>
                    <a:pt x="3112" y="12"/>
                  </a:lnTo>
                  <a:moveTo>
                    <a:pt x="3112" y="12"/>
                  </a:moveTo>
                  <a:lnTo>
                    <a:pt x="3133" y="12"/>
                  </a:lnTo>
                  <a:moveTo>
                    <a:pt x="3133" y="12"/>
                  </a:moveTo>
                  <a:lnTo>
                    <a:pt x="3153" y="11"/>
                  </a:lnTo>
                  <a:moveTo>
                    <a:pt x="3153" y="11"/>
                  </a:moveTo>
                  <a:lnTo>
                    <a:pt x="3174" y="10"/>
                  </a:lnTo>
                  <a:moveTo>
                    <a:pt x="3174" y="10"/>
                  </a:moveTo>
                  <a:lnTo>
                    <a:pt x="3194" y="8"/>
                  </a:lnTo>
                  <a:moveTo>
                    <a:pt x="3194" y="8"/>
                  </a:moveTo>
                  <a:lnTo>
                    <a:pt x="3197" y="8"/>
                  </a:lnTo>
                  <a:moveTo>
                    <a:pt x="3254" y="13"/>
                  </a:moveTo>
                  <a:lnTo>
                    <a:pt x="3255" y="13"/>
                  </a:lnTo>
                  <a:moveTo>
                    <a:pt x="3255" y="13"/>
                  </a:moveTo>
                  <a:lnTo>
                    <a:pt x="3276" y="17"/>
                  </a:lnTo>
                  <a:moveTo>
                    <a:pt x="3276" y="17"/>
                  </a:moveTo>
                  <a:lnTo>
                    <a:pt x="3296" y="20"/>
                  </a:lnTo>
                  <a:moveTo>
                    <a:pt x="3296" y="20"/>
                  </a:moveTo>
                  <a:lnTo>
                    <a:pt x="3317" y="23"/>
                  </a:lnTo>
                  <a:moveTo>
                    <a:pt x="3317" y="23"/>
                  </a:moveTo>
                  <a:lnTo>
                    <a:pt x="3337" y="27"/>
                  </a:lnTo>
                  <a:moveTo>
                    <a:pt x="3337" y="27"/>
                  </a:moveTo>
                  <a:lnTo>
                    <a:pt x="3358" y="30"/>
                  </a:lnTo>
                  <a:moveTo>
                    <a:pt x="3358" y="30"/>
                  </a:moveTo>
                  <a:lnTo>
                    <a:pt x="3367" y="33"/>
                  </a:lnTo>
                  <a:moveTo>
                    <a:pt x="3421" y="53"/>
                  </a:moveTo>
                  <a:lnTo>
                    <a:pt x="3439" y="60"/>
                  </a:lnTo>
                  <a:moveTo>
                    <a:pt x="3439" y="60"/>
                  </a:moveTo>
                  <a:lnTo>
                    <a:pt x="3460" y="69"/>
                  </a:lnTo>
                  <a:moveTo>
                    <a:pt x="3460" y="69"/>
                  </a:moveTo>
                  <a:lnTo>
                    <a:pt x="3480" y="81"/>
                  </a:lnTo>
                  <a:moveTo>
                    <a:pt x="3480" y="81"/>
                  </a:moveTo>
                  <a:lnTo>
                    <a:pt x="3500" y="96"/>
                  </a:lnTo>
                  <a:moveTo>
                    <a:pt x="3500" y="96"/>
                  </a:moveTo>
                  <a:lnTo>
                    <a:pt x="3520" y="110"/>
                  </a:lnTo>
                  <a:moveTo>
                    <a:pt x="3567" y="144"/>
                  </a:moveTo>
                  <a:lnTo>
                    <a:pt x="3582" y="156"/>
                  </a:lnTo>
                  <a:moveTo>
                    <a:pt x="3582" y="156"/>
                  </a:moveTo>
                  <a:lnTo>
                    <a:pt x="3603" y="172"/>
                  </a:lnTo>
                  <a:moveTo>
                    <a:pt x="3603" y="172"/>
                  </a:moveTo>
                  <a:lnTo>
                    <a:pt x="3623" y="188"/>
                  </a:lnTo>
                  <a:moveTo>
                    <a:pt x="3623" y="188"/>
                  </a:moveTo>
                  <a:lnTo>
                    <a:pt x="3643" y="206"/>
                  </a:lnTo>
                  <a:moveTo>
                    <a:pt x="3643" y="206"/>
                  </a:moveTo>
                  <a:lnTo>
                    <a:pt x="3656" y="217"/>
                  </a:lnTo>
                  <a:moveTo>
                    <a:pt x="3700" y="253"/>
                  </a:moveTo>
                  <a:lnTo>
                    <a:pt x="3705" y="257"/>
                  </a:lnTo>
                  <a:moveTo>
                    <a:pt x="3705" y="257"/>
                  </a:moveTo>
                  <a:lnTo>
                    <a:pt x="3725" y="274"/>
                  </a:lnTo>
                  <a:moveTo>
                    <a:pt x="3725" y="274"/>
                  </a:moveTo>
                  <a:lnTo>
                    <a:pt x="3745" y="293"/>
                  </a:lnTo>
                  <a:moveTo>
                    <a:pt x="3745" y="293"/>
                  </a:moveTo>
                  <a:lnTo>
                    <a:pt x="3766" y="311"/>
                  </a:lnTo>
                  <a:moveTo>
                    <a:pt x="3766" y="311"/>
                  </a:moveTo>
                  <a:lnTo>
                    <a:pt x="3786" y="331"/>
                  </a:lnTo>
                  <a:moveTo>
                    <a:pt x="3826" y="372"/>
                  </a:moveTo>
                  <a:lnTo>
                    <a:pt x="3827" y="374"/>
                  </a:lnTo>
                  <a:moveTo>
                    <a:pt x="3827" y="374"/>
                  </a:moveTo>
                  <a:lnTo>
                    <a:pt x="3847" y="395"/>
                  </a:lnTo>
                  <a:moveTo>
                    <a:pt x="3847" y="395"/>
                  </a:moveTo>
                  <a:lnTo>
                    <a:pt x="3868" y="414"/>
                  </a:lnTo>
                  <a:moveTo>
                    <a:pt x="3868" y="414"/>
                  </a:moveTo>
                  <a:lnTo>
                    <a:pt x="3888" y="432"/>
                  </a:lnTo>
                  <a:moveTo>
                    <a:pt x="3888" y="432"/>
                  </a:moveTo>
                  <a:lnTo>
                    <a:pt x="3909" y="448"/>
                  </a:lnTo>
                  <a:moveTo>
                    <a:pt x="3909" y="448"/>
                  </a:moveTo>
                  <a:lnTo>
                    <a:pt x="3911" y="449"/>
                  </a:lnTo>
                  <a:moveTo>
                    <a:pt x="3956" y="486"/>
                  </a:moveTo>
                  <a:lnTo>
                    <a:pt x="3970" y="498"/>
                  </a:lnTo>
                  <a:moveTo>
                    <a:pt x="3970" y="498"/>
                  </a:moveTo>
                  <a:lnTo>
                    <a:pt x="3990" y="513"/>
                  </a:lnTo>
                  <a:moveTo>
                    <a:pt x="3990" y="513"/>
                  </a:moveTo>
                  <a:lnTo>
                    <a:pt x="4011" y="529"/>
                  </a:lnTo>
                  <a:moveTo>
                    <a:pt x="4011" y="529"/>
                  </a:moveTo>
                  <a:lnTo>
                    <a:pt x="4031" y="546"/>
                  </a:lnTo>
                  <a:moveTo>
                    <a:pt x="4031" y="546"/>
                  </a:moveTo>
                  <a:lnTo>
                    <a:pt x="4045" y="558"/>
                  </a:lnTo>
                  <a:moveTo>
                    <a:pt x="4090" y="594"/>
                  </a:moveTo>
                  <a:lnTo>
                    <a:pt x="4093" y="596"/>
                  </a:lnTo>
                  <a:moveTo>
                    <a:pt x="4093" y="596"/>
                  </a:moveTo>
                  <a:lnTo>
                    <a:pt x="4113" y="614"/>
                  </a:lnTo>
                  <a:moveTo>
                    <a:pt x="4113" y="614"/>
                  </a:moveTo>
                  <a:lnTo>
                    <a:pt x="4134" y="631"/>
                  </a:lnTo>
                  <a:moveTo>
                    <a:pt x="4134" y="631"/>
                  </a:moveTo>
                  <a:lnTo>
                    <a:pt x="4154" y="649"/>
                  </a:lnTo>
                  <a:moveTo>
                    <a:pt x="4154" y="649"/>
                  </a:moveTo>
                  <a:lnTo>
                    <a:pt x="4174" y="667"/>
                  </a:lnTo>
                  <a:moveTo>
                    <a:pt x="4174" y="667"/>
                  </a:moveTo>
                  <a:lnTo>
                    <a:pt x="4177" y="669"/>
                  </a:lnTo>
                  <a:moveTo>
                    <a:pt x="4223" y="704"/>
                  </a:moveTo>
                  <a:lnTo>
                    <a:pt x="4236" y="713"/>
                  </a:lnTo>
                  <a:moveTo>
                    <a:pt x="4236" y="713"/>
                  </a:moveTo>
                  <a:lnTo>
                    <a:pt x="4256" y="729"/>
                  </a:lnTo>
                  <a:moveTo>
                    <a:pt x="4256" y="729"/>
                  </a:moveTo>
                  <a:lnTo>
                    <a:pt x="4277" y="743"/>
                  </a:lnTo>
                  <a:moveTo>
                    <a:pt x="4277" y="743"/>
                  </a:moveTo>
                  <a:lnTo>
                    <a:pt x="4297" y="758"/>
                  </a:lnTo>
                  <a:moveTo>
                    <a:pt x="4297" y="758"/>
                  </a:moveTo>
                  <a:lnTo>
                    <a:pt x="4316" y="772"/>
                  </a:lnTo>
                  <a:moveTo>
                    <a:pt x="4362" y="807"/>
                  </a:moveTo>
                  <a:lnTo>
                    <a:pt x="4379" y="821"/>
                  </a:lnTo>
                  <a:moveTo>
                    <a:pt x="4379" y="821"/>
                  </a:moveTo>
                  <a:lnTo>
                    <a:pt x="4399" y="838"/>
                  </a:lnTo>
                  <a:moveTo>
                    <a:pt x="4399" y="838"/>
                  </a:moveTo>
                  <a:lnTo>
                    <a:pt x="4419" y="854"/>
                  </a:lnTo>
                  <a:moveTo>
                    <a:pt x="4419" y="854"/>
                  </a:moveTo>
                  <a:lnTo>
                    <a:pt x="4440" y="870"/>
                  </a:lnTo>
                  <a:moveTo>
                    <a:pt x="4440" y="870"/>
                  </a:moveTo>
                  <a:lnTo>
                    <a:pt x="4452" y="879"/>
                  </a:lnTo>
                  <a:moveTo>
                    <a:pt x="4500" y="911"/>
                  </a:moveTo>
                  <a:lnTo>
                    <a:pt x="4501" y="912"/>
                  </a:lnTo>
                  <a:moveTo>
                    <a:pt x="4501" y="912"/>
                  </a:moveTo>
                  <a:lnTo>
                    <a:pt x="4522" y="926"/>
                  </a:lnTo>
                  <a:moveTo>
                    <a:pt x="4522" y="926"/>
                  </a:moveTo>
                  <a:lnTo>
                    <a:pt x="4542" y="939"/>
                  </a:lnTo>
                  <a:moveTo>
                    <a:pt x="4542" y="939"/>
                  </a:moveTo>
                  <a:lnTo>
                    <a:pt x="4562" y="953"/>
                  </a:lnTo>
                  <a:moveTo>
                    <a:pt x="4562" y="953"/>
                  </a:moveTo>
                  <a:lnTo>
                    <a:pt x="4583" y="966"/>
                  </a:lnTo>
                  <a:moveTo>
                    <a:pt x="4583" y="966"/>
                  </a:moveTo>
                  <a:lnTo>
                    <a:pt x="4597" y="974"/>
                  </a:lnTo>
                  <a:moveTo>
                    <a:pt x="4645" y="1004"/>
                  </a:moveTo>
                  <a:lnTo>
                    <a:pt x="4665" y="1016"/>
                  </a:lnTo>
                  <a:moveTo>
                    <a:pt x="4665" y="1016"/>
                  </a:moveTo>
                  <a:lnTo>
                    <a:pt x="4685" y="1029"/>
                  </a:lnTo>
                  <a:moveTo>
                    <a:pt x="4685" y="1029"/>
                  </a:moveTo>
                  <a:lnTo>
                    <a:pt x="4705" y="1043"/>
                  </a:lnTo>
                  <a:moveTo>
                    <a:pt x="4705" y="1043"/>
                  </a:moveTo>
                  <a:lnTo>
                    <a:pt x="4726" y="1057"/>
                  </a:lnTo>
                  <a:moveTo>
                    <a:pt x="4726" y="1057"/>
                  </a:moveTo>
                  <a:lnTo>
                    <a:pt x="4742" y="1067"/>
                  </a:lnTo>
                  <a:moveTo>
                    <a:pt x="4792" y="1096"/>
                  </a:moveTo>
                  <a:lnTo>
                    <a:pt x="4808" y="1104"/>
                  </a:lnTo>
                  <a:moveTo>
                    <a:pt x="4808" y="1104"/>
                  </a:moveTo>
                  <a:lnTo>
                    <a:pt x="4828" y="1115"/>
                  </a:lnTo>
                  <a:moveTo>
                    <a:pt x="4828" y="1115"/>
                  </a:moveTo>
                  <a:lnTo>
                    <a:pt x="4848" y="1125"/>
                  </a:lnTo>
                  <a:moveTo>
                    <a:pt x="4848" y="1125"/>
                  </a:moveTo>
                  <a:lnTo>
                    <a:pt x="4869" y="1134"/>
                  </a:lnTo>
                  <a:moveTo>
                    <a:pt x="4869" y="1134"/>
                  </a:moveTo>
                  <a:lnTo>
                    <a:pt x="4889" y="1144"/>
                  </a:lnTo>
                  <a:moveTo>
                    <a:pt x="4889" y="1144"/>
                  </a:moveTo>
                  <a:lnTo>
                    <a:pt x="4895" y="1146"/>
                  </a:lnTo>
                  <a:moveTo>
                    <a:pt x="4947" y="1171"/>
                  </a:moveTo>
                  <a:lnTo>
                    <a:pt x="4950" y="1173"/>
                  </a:lnTo>
                  <a:moveTo>
                    <a:pt x="4950" y="1173"/>
                  </a:moveTo>
                  <a:lnTo>
                    <a:pt x="4971" y="1181"/>
                  </a:lnTo>
                  <a:moveTo>
                    <a:pt x="4971" y="1181"/>
                  </a:moveTo>
                  <a:lnTo>
                    <a:pt x="4991" y="1190"/>
                  </a:lnTo>
                  <a:moveTo>
                    <a:pt x="4991" y="1190"/>
                  </a:moveTo>
                  <a:lnTo>
                    <a:pt x="5012" y="1197"/>
                  </a:lnTo>
                  <a:moveTo>
                    <a:pt x="5012" y="1197"/>
                  </a:moveTo>
                  <a:lnTo>
                    <a:pt x="5032" y="1205"/>
                  </a:lnTo>
                  <a:moveTo>
                    <a:pt x="5032" y="1205"/>
                  </a:moveTo>
                  <a:lnTo>
                    <a:pt x="5053" y="1211"/>
                  </a:lnTo>
                  <a:moveTo>
                    <a:pt x="5053" y="1211"/>
                  </a:moveTo>
                  <a:lnTo>
                    <a:pt x="5055" y="1212"/>
                  </a:lnTo>
                  <a:moveTo>
                    <a:pt x="5110" y="1228"/>
                  </a:moveTo>
                  <a:lnTo>
                    <a:pt x="5114" y="1230"/>
                  </a:lnTo>
                  <a:moveTo>
                    <a:pt x="5114" y="1230"/>
                  </a:moveTo>
                  <a:lnTo>
                    <a:pt x="5134" y="1235"/>
                  </a:lnTo>
                  <a:moveTo>
                    <a:pt x="5134" y="1235"/>
                  </a:moveTo>
                  <a:lnTo>
                    <a:pt x="5155" y="1239"/>
                  </a:lnTo>
                  <a:moveTo>
                    <a:pt x="5155" y="1239"/>
                  </a:moveTo>
                  <a:lnTo>
                    <a:pt x="5175" y="1243"/>
                  </a:lnTo>
                  <a:moveTo>
                    <a:pt x="5175" y="1243"/>
                  </a:moveTo>
                  <a:lnTo>
                    <a:pt x="5196" y="1246"/>
                  </a:lnTo>
                  <a:moveTo>
                    <a:pt x="5196" y="1246"/>
                  </a:moveTo>
                  <a:lnTo>
                    <a:pt x="5216" y="1250"/>
                  </a:lnTo>
                  <a:moveTo>
                    <a:pt x="5216" y="1250"/>
                  </a:moveTo>
                  <a:lnTo>
                    <a:pt x="5223" y="1251"/>
                  </a:lnTo>
                  <a:moveTo>
                    <a:pt x="5280" y="1258"/>
                  </a:moveTo>
                  <a:lnTo>
                    <a:pt x="5298" y="1260"/>
                  </a:lnTo>
                  <a:moveTo>
                    <a:pt x="5298" y="1260"/>
                  </a:moveTo>
                  <a:lnTo>
                    <a:pt x="5318" y="1261"/>
                  </a:lnTo>
                  <a:moveTo>
                    <a:pt x="5318" y="1261"/>
                  </a:moveTo>
                  <a:lnTo>
                    <a:pt x="5338" y="1262"/>
                  </a:lnTo>
                  <a:moveTo>
                    <a:pt x="5338" y="1262"/>
                  </a:moveTo>
                  <a:lnTo>
                    <a:pt x="5359" y="1263"/>
                  </a:lnTo>
                  <a:moveTo>
                    <a:pt x="5359" y="1263"/>
                  </a:moveTo>
                  <a:lnTo>
                    <a:pt x="5379" y="1264"/>
                  </a:lnTo>
                  <a:moveTo>
                    <a:pt x="5379" y="1264"/>
                  </a:moveTo>
                  <a:lnTo>
                    <a:pt x="5395" y="1265"/>
                  </a:lnTo>
                  <a:moveTo>
                    <a:pt x="5452" y="1268"/>
                  </a:moveTo>
                  <a:lnTo>
                    <a:pt x="5461" y="1268"/>
                  </a:lnTo>
                  <a:moveTo>
                    <a:pt x="5461" y="1268"/>
                  </a:moveTo>
                  <a:lnTo>
                    <a:pt x="5481" y="1270"/>
                  </a:lnTo>
                  <a:moveTo>
                    <a:pt x="5481" y="1270"/>
                  </a:moveTo>
                  <a:lnTo>
                    <a:pt x="5502" y="1271"/>
                  </a:lnTo>
                  <a:moveTo>
                    <a:pt x="5502" y="1271"/>
                  </a:moveTo>
                  <a:lnTo>
                    <a:pt x="5522" y="1273"/>
                  </a:lnTo>
                  <a:moveTo>
                    <a:pt x="5522" y="1273"/>
                  </a:moveTo>
                  <a:lnTo>
                    <a:pt x="5543" y="1274"/>
                  </a:lnTo>
                  <a:moveTo>
                    <a:pt x="5543" y="1274"/>
                  </a:moveTo>
                  <a:lnTo>
                    <a:pt x="5563" y="1275"/>
                  </a:lnTo>
                  <a:moveTo>
                    <a:pt x="5563" y="1275"/>
                  </a:moveTo>
                  <a:lnTo>
                    <a:pt x="5568" y="1276"/>
                  </a:lnTo>
                  <a:moveTo>
                    <a:pt x="5625" y="1280"/>
                  </a:moveTo>
                  <a:lnTo>
                    <a:pt x="5645" y="1282"/>
                  </a:lnTo>
                  <a:moveTo>
                    <a:pt x="5645" y="1282"/>
                  </a:moveTo>
                  <a:lnTo>
                    <a:pt x="5665" y="1283"/>
                  </a:lnTo>
                  <a:moveTo>
                    <a:pt x="5665" y="1283"/>
                  </a:moveTo>
                  <a:lnTo>
                    <a:pt x="5686" y="1285"/>
                  </a:lnTo>
                  <a:moveTo>
                    <a:pt x="5686" y="1285"/>
                  </a:moveTo>
                  <a:lnTo>
                    <a:pt x="5706" y="1286"/>
                  </a:lnTo>
                  <a:moveTo>
                    <a:pt x="5706" y="1286"/>
                  </a:moveTo>
                  <a:lnTo>
                    <a:pt x="5727" y="1288"/>
                  </a:lnTo>
                  <a:moveTo>
                    <a:pt x="5727" y="1288"/>
                  </a:moveTo>
                  <a:lnTo>
                    <a:pt x="5740" y="1289"/>
                  </a:lnTo>
                  <a:moveTo>
                    <a:pt x="5797" y="1293"/>
                  </a:moveTo>
                  <a:lnTo>
                    <a:pt x="5808" y="1293"/>
                  </a:lnTo>
                  <a:moveTo>
                    <a:pt x="5808" y="1293"/>
                  </a:moveTo>
                  <a:lnTo>
                    <a:pt x="5829" y="1295"/>
                  </a:lnTo>
                  <a:moveTo>
                    <a:pt x="5829" y="1295"/>
                  </a:moveTo>
                  <a:lnTo>
                    <a:pt x="5849" y="1296"/>
                  </a:lnTo>
                  <a:moveTo>
                    <a:pt x="5849" y="1296"/>
                  </a:moveTo>
                  <a:lnTo>
                    <a:pt x="5869" y="1297"/>
                  </a:lnTo>
                  <a:moveTo>
                    <a:pt x="5869" y="1297"/>
                  </a:moveTo>
                  <a:lnTo>
                    <a:pt x="5890" y="1298"/>
                  </a:lnTo>
                  <a:moveTo>
                    <a:pt x="5890" y="1298"/>
                  </a:moveTo>
                  <a:lnTo>
                    <a:pt x="5910" y="1299"/>
                  </a:lnTo>
                  <a:moveTo>
                    <a:pt x="5910" y="1299"/>
                  </a:moveTo>
                  <a:lnTo>
                    <a:pt x="5912" y="1299"/>
                  </a:lnTo>
                  <a:moveTo>
                    <a:pt x="5970" y="1301"/>
                  </a:moveTo>
                  <a:lnTo>
                    <a:pt x="5972" y="1301"/>
                  </a:lnTo>
                  <a:moveTo>
                    <a:pt x="5972" y="1301"/>
                  </a:moveTo>
                  <a:lnTo>
                    <a:pt x="5992" y="1302"/>
                  </a:lnTo>
                  <a:moveTo>
                    <a:pt x="5992" y="1302"/>
                  </a:moveTo>
                  <a:lnTo>
                    <a:pt x="6012" y="1302"/>
                  </a:lnTo>
                  <a:moveTo>
                    <a:pt x="6012" y="1302"/>
                  </a:moveTo>
                  <a:lnTo>
                    <a:pt x="6033" y="1303"/>
                  </a:lnTo>
                  <a:moveTo>
                    <a:pt x="6033" y="1303"/>
                  </a:moveTo>
                  <a:lnTo>
                    <a:pt x="6053" y="1303"/>
                  </a:lnTo>
                  <a:moveTo>
                    <a:pt x="6053" y="1303"/>
                  </a:moveTo>
                  <a:lnTo>
                    <a:pt x="6074" y="1303"/>
                  </a:lnTo>
                  <a:moveTo>
                    <a:pt x="6074" y="1303"/>
                  </a:moveTo>
                  <a:lnTo>
                    <a:pt x="6085" y="1303"/>
                  </a:lnTo>
                </a:path>
              </a:pathLst>
            </a:custGeom>
            <a:noFill/>
            <a:ln w="10970" cap="sq">
              <a:solidFill>
                <a:srgbClr val="FF0000"/>
              </a:solidFill>
              <a:prstDash val="solid"/>
              <a:miter lim="1000000"/>
            </a:ln>
          </p:spPr>
          <p:txBody>
            <a:bodyPr rtlCol="0"/>
            <a:lstStyle/>
            <a:p>
              <a:pPr algn="ctr"/>
              <a:endParaRPr lang="zh-CN" altLang="en-US"/>
            </a:p>
          </p:txBody>
        </p:sp>
        <p:sp>
          <p:nvSpPr>
            <p:cNvPr id="110" name="path 110"/>
            <p:cNvSpPr/>
            <p:nvPr/>
          </p:nvSpPr>
          <p:spPr>
            <a:xfrm>
              <a:off x="304325" y="0"/>
              <a:ext cx="58059" cy="2348513"/>
            </a:xfrm>
            <a:custGeom>
              <a:avLst/>
              <a:gdLst/>
              <a:ahLst/>
              <a:cxnLst/>
              <a:rect l="0" t="0" r="0" b="0"/>
              <a:pathLst>
                <a:path w="91" h="3698">
                  <a:moveTo>
                    <a:pt x="85" y="3692"/>
                  </a:moveTo>
                  <a:lnTo>
                    <a:pt x="85" y="5"/>
                  </a:lnTo>
                  <a:moveTo>
                    <a:pt x="85" y="3565"/>
                  </a:moveTo>
                  <a:lnTo>
                    <a:pt x="5" y="3565"/>
                  </a:lnTo>
                </a:path>
              </a:pathLst>
            </a:custGeom>
            <a:noFill/>
            <a:ln w="7313" cap="sq">
              <a:solidFill>
                <a:srgbClr val="000000"/>
              </a:solidFill>
              <a:prstDash val="solid"/>
              <a:miter lim="1000000"/>
            </a:ln>
          </p:spPr>
          <p:txBody>
            <a:bodyPr rtlCol="0"/>
            <a:lstStyle/>
            <a:p>
              <a:pPr algn="ctr"/>
              <a:endParaRPr lang="zh-CN" altLang="en-US"/>
            </a:p>
          </p:txBody>
        </p:sp>
        <p:sp>
          <p:nvSpPr>
            <p:cNvPr id="112" name="path 112"/>
            <p:cNvSpPr/>
            <p:nvPr/>
          </p:nvSpPr>
          <p:spPr>
            <a:xfrm>
              <a:off x="168214" y="2239048"/>
              <a:ext cx="84932" cy="52910"/>
            </a:xfrm>
            <a:custGeom>
              <a:avLst/>
              <a:gdLst/>
              <a:ahLst/>
              <a:cxnLst/>
              <a:rect l="0" t="0" r="0" b="0"/>
              <a:pathLst>
                <a:path w="133" h="83">
                  <a:moveTo>
                    <a:pt x="67" y="83"/>
                  </a:moveTo>
                  <a:cubicBezTo>
                    <a:pt x="53" y="83"/>
                    <a:pt x="40" y="81"/>
                    <a:pt x="29" y="76"/>
                  </a:cubicBezTo>
                  <a:cubicBezTo>
                    <a:pt x="19" y="72"/>
                    <a:pt x="11" y="66"/>
                    <a:pt x="6" y="59"/>
                  </a:cubicBezTo>
                  <a:cubicBezTo>
                    <a:pt x="2" y="53"/>
                    <a:pt x="0" y="47"/>
                    <a:pt x="0" y="41"/>
                  </a:cubicBezTo>
                  <a:cubicBezTo>
                    <a:pt x="0" y="31"/>
                    <a:pt x="5" y="22"/>
                    <a:pt x="15" y="14"/>
                  </a:cubicBezTo>
                  <a:cubicBezTo>
                    <a:pt x="27" y="4"/>
                    <a:pt x="44" y="0"/>
                    <a:pt x="65" y="0"/>
                  </a:cubicBezTo>
                  <a:cubicBezTo>
                    <a:pt x="80" y="0"/>
                    <a:pt x="93" y="2"/>
                    <a:pt x="103" y="6"/>
                  </a:cubicBezTo>
                  <a:cubicBezTo>
                    <a:pt x="114" y="10"/>
                    <a:pt x="121" y="16"/>
                    <a:pt x="126" y="22"/>
                  </a:cubicBezTo>
                  <a:cubicBezTo>
                    <a:pt x="131" y="29"/>
                    <a:pt x="133" y="36"/>
                    <a:pt x="133" y="42"/>
                  </a:cubicBezTo>
                  <a:cubicBezTo>
                    <a:pt x="133" y="54"/>
                    <a:pt x="126" y="64"/>
                    <a:pt x="111" y="72"/>
                  </a:cubicBezTo>
                  <a:cubicBezTo>
                    <a:pt x="99" y="79"/>
                    <a:pt x="85" y="83"/>
                    <a:pt x="67" y="83"/>
                  </a:cubicBezTo>
                  <a:moveTo>
                    <a:pt x="70" y="64"/>
                  </a:moveTo>
                  <a:cubicBezTo>
                    <a:pt x="87" y="64"/>
                    <a:pt x="102" y="62"/>
                    <a:pt x="113" y="58"/>
                  </a:cubicBezTo>
                  <a:cubicBezTo>
                    <a:pt x="123" y="54"/>
                    <a:pt x="127" y="49"/>
                    <a:pt x="127" y="42"/>
                  </a:cubicBezTo>
                  <a:cubicBezTo>
                    <a:pt x="127" y="38"/>
                    <a:pt x="126" y="35"/>
                    <a:pt x="123" y="31"/>
                  </a:cubicBezTo>
                  <a:cubicBezTo>
                    <a:pt x="120" y="27"/>
                    <a:pt x="114" y="24"/>
                    <a:pt x="107" y="23"/>
                  </a:cubicBezTo>
                  <a:cubicBezTo>
                    <a:pt x="96" y="20"/>
                    <a:pt x="81" y="18"/>
                    <a:pt x="61" y="18"/>
                  </a:cubicBezTo>
                  <a:cubicBezTo>
                    <a:pt x="46" y="18"/>
                    <a:pt x="34" y="20"/>
                    <a:pt x="24" y="23"/>
                  </a:cubicBezTo>
                  <a:cubicBezTo>
                    <a:pt x="17" y="25"/>
                    <a:pt x="12" y="28"/>
                    <a:pt x="9" y="32"/>
                  </a:cubicBezTo>
                  <a:cubicBezTo>
                    <a:pt x="7" y="34"/>
                    <a:pt x="6" y="37"/>
                    <a:pt x="6" y="41"/>
                  </a:cubicBezTo>
                  <a:cubicBezTo>
                    <a:pt x="6" y="45"/>
                    <a:pt x="8" y="49"/>
                    <a:pt x="12" y="52"/>
                  </a:cubicBezTo>
                  <a:cubicBezTo>
                    <a:pt x="17" y="57"/>
                    <a:pt x="25" y="60"/>
                    <a:pt x="36" y="62"/>
                  </a:cubicBezTo>
                  <a:cubicBezTo>
                    <a:pt x="48" y="63"/>
                    <a:pt x="59" y="64"/>
                    <a:pt x="70" y="64"/>
                  </a:cubicBezTo>
                </a:path>
              </a:pathLst>
            </a:custGeom>
            <a:solidFill>
              <a:srgbClr val="000000">
                <a:alpha val="100000"/>
              </a:srgbClr>
            </a:solidFill>
            <a:ln w="0" cap="flat">
              <a:noFill/>
              <a:prstDash val="solid"/>
              <a:miter lim="0"/>
            </a:ln>
          </p:spPr>
          <p:txBody>
            <a:bodyPr rtlCol="0"/>
            <a:lstStyle/>
            <a:p>
              <a:pPr algn="ctr"/>
              <a:endParaRPr lang="zh-CN" altLang="en-US"/>
            </a:p>
          </p:txBody>
        </p:sp>
        <p:sp>
          <p:nvSpPr>
            <p:cNvPr id="114" name="path 114"/>
            <p:cNvSpPr/>
            <p:nvPr/>
          </p:nvSpPr>
          <p:spPr>
            <a:xfrm>
              <a:off x="304325" y="1715584"/>
              <a:ext cx="58059" cy="7314"/>
            </a:xfrm>
            <a:custGeom>
              <a:avLst/>
              <a:gdLst/>
              <a:ahLst/>
              <a:cxnLst/>
              <a:rect l="0" t="0" r="0" b="0"/>
              <a:pathLst>
                <a:path w="91" h="11">
                  <a:moveTo>
                    <a:pt x="85" y="5"/>
                  </a:moveTo>
                  <a:lnTo>
                    <a:pt x="5" y="5"/>
                  </a:lnTo>
                </a:path>
              </a:pathLst>
            </a:custGeom>
            <a:noFill/>
            <a:ln w="7313" cap="sq">
              <a:solidFill>
                <a:srgbClr val="000000"/>
              </a:solidFill>
              <a:prstDash val="solid"/>
              <a:miter lim="1000000"/>
            </a:ln>
          </p:spPr>
          <p:txBody>
            <a:bodyPr rtlCol="0"/>
            <a:lstStyle/>
            <a:p>
              <a:pPr algn="ctr"/>
              <a:endParaRPr lang="zh-CN" altLang="en-US"/>
            </a:p>
          </p:txBody>
        </p:sp>
        <p:sp>
          <p:nvSpPr>
            <p:cNvPr id="116" name="path 116"/>
            <p:cNvSpPr/>
            <p:nvPr/>
          </p:nvSpPr>
          <p:spPr>
            <a:xfrm>
              <a:off x="168214" y="1704636"/>
              <a:ext cx="83484" cy="32132"/>
            </a:xfrm>
            <a:custGeom>
              <a:avLst/>
              <a:gdLst/>
              <a:ahLst/>
              <a:cxnLst/>
              <a:rect l="0" t="0" r="0" b="0"/>
              <a:pathLst>
                <a:path w="131" h="50">
                  <a:moveTo>
                    <a:pt x="15" y="50"/>
                  </a:moveTo>
                  <a:lnTo>
                    <a:pt x="0" y="19"/>
                  </a:lnTo>
                  <a:lnTo>
                    <a:pt x="0" y="16"/>
                  </a:lnTo>
                  <a:lnTo>
                    <a:pt x="108" y="16"/>
                  </a:lnTo>
                  <a:cubicBezTo>
                    <a:pt x="115" y="16"/>
                    <a:pt x="120" y="15"/>
                    <a:pt x="122" y="15"/>
                  </a:cubicBezTo>
                  <a:cubicBezTo>
                    <a:pt x="124" y="14"/>
                    <a:pt x="125" y="13"/>
                    <a:pt x="126" y="11"/>
                  </a:cubicBezTo>
                  <a:cubicBezTo>
                    <a:pt x="127" y="9"/>
                    <a:pt x="127" y="5"/>
                    <a:pt x="127" y="0"/>
                  </a:cubicBezTo>
                  <a:lnTo>
                    <a:pt x="131" y="0"/>
                  </a:lnTo>
                  <a:lnTo>
                    <a:pt x="131" y="48"/>
                  </a:lnTo>
                  <a:lnTo>
                    <a:pt x="127" y="48"/>
                  </a:lnTo>
                  <a:cubicBezTo>
                    <a:pt x="127" y="42"/>
                    <a:pt x="127" y="38"/>
                    <a:pt x="126" y="36"/>
                  </a:cubicBezTo>
                  <a:cubicBezTo>
                    <a:pt x="125" y="34"/>
                    <a:pt x="124" y="33"/>
                    <a:pt x="122" y="33"/>
                  </a:cubicBezTo>
                  <a:cubicBezTo>
                    <a:pt x="121" y="32"/>
                    <a:pt x="116" y="31"/>
                    <a:pt x="108" y="31"/>
                  </a:cubicBezTo>
                  <a:lnTo>
                    <a:pt x="39" y="31"/>
                  </a:lnTo>
                  <a:cubicBezTo>
                    <a:pt x="29" y="31"/>
                    <a:pt x="23" y="32"/>
                    <a:pt x="21" y="32"/>
                  </a:cubicBezTo>
                  <a:cubicBezTo>
                    <a:pt x="19" y="33"/>
                    <a:pt x="17" y="34"/>
                    <a:pt x="16" y="35"/>
                  </a:cubicBezTo>
                  <a:cubicBezTo>
                    <a:pt x="15" y="36"/>
                    <a:pt x="15" y="37"/>
                    <a:pt x="15" y="39"/>
                  </a:cubicBezTo>
                  <a:cubicBezTo>
                    <a:pt x="15" y="41"/>
                    <a:pt x="16" y="45"/>
                    <a:pt x="18" y="49"/>
                  </a:cubicBezTo>
                  <a:lnTo>
                    <a:pt x="15" y="50"/>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18" name="path 118"/>
            <p:cNvSpPr/>
            <p:nvPr/>
          </p:nvSpPr>
          <p:spPr>
            <a:xfrm>
              <a:off x="304325" y="1170478"/>
              <a:ext cx="58059" cy="7314"/>
            </a:xfrm>
            <a:custGeom>
              <a:avLst/>
              <a:gdLst/>
              <a:ahLst/>
              <a:cxnLst/>
              <a:rect l="0" t="0" r="0" b="0"/>
              <a:pathLst>
                <a:path w="91" h="11">
                  <a:moveTo>
                    <a:pt x="85" y="5"/>
                  </a:moveTo>
                  <a:lnTo>
                    <a:pt x="5" y="5"/>
                  </a:lnTo>
                </a:path>
              </a:pathLst>
            </a:custGeom>
            <a:noFill/>
            <a:ln w="7313" cap="sq">
              <a:solidFill>
                <a:srgbClr val="000000"/>
              </a:solidFill>
              <a:prstDash val="solid"/>
              <a:miter lim="1000000"/>
            </a:ln>
          </p:spPr>
          <p:txBody>
            <a:bodyPr rtlCol="0"/>
            <a:lstStyle/>
            <a:p>
              <a:pPr algn="ctr"/>
              <a:endParaRPr lang="zh-CN" altLang="en-US"/>
            </a:p>
          </p:txBody>
        </p:sp>
        <p:sp>
          <p:nvSpPr>
            <p:cNvPr id="120" name="path 120"/>
            <p:cNvSpPr/>
            <p:nvPr/>
          </p:nvSpPr>
          <p:spPr>
            <a:xfrm>
              <a:off x="168214" y="1149496"/>
              <a:ext cx="83484" cy="53977"/>
            </a:xfrm>
            <a:custGeom>
              <a:avLst/>
              <a:gdLst/>
              <a:ahLst/>
              <a:cxnLst/>
              <a:rect l="0" t="0" r="0" b="0"/>
              <a:pathLst>
                <a:path w="131" h="85">
                  <a:moveTo>
                    <a:pt x="106" y="0"/>
                  </a:moveTo>
                  <a:lnTo>
                    <a:pt x="131" y="9"/>
                  </a:lnTo>
                  <a:lnTo>
                    <a:pt x="131" y="85"/>
                  </a:lnTo>
                  <a:lnTo>
                    <a:pt x="127" y="85"/>
                  </a:lnTo>
                  <a:cubicBezTo>
                    <a:pt x="107" y="62"/>
                    <a:pt x="90" y="47"/>
                    <a:pt x="77" y="37"/>
                  </a:cubicBezTo>
                  <a:cubicBezTo>
                    <a:pt x="65" y="28"/>
                    <a:pt x="53" y="24"/>
                    <a:pt x="42" y="24"/>
                  </a:cubicBezTo>
                  <a:cubicBezTo>
                    <a:pt x="34" y="24"/>
                    <a:pt x="27" y="26"/>
                    <a:pt x="22" y="31"/>
                  </a:cubicBezTo>
                  <a:cubicBezTo>
                    <a:pt x="17" y="36"/>
                    <a:pt x="14" y="42"/>
                    <a:pt x="14" y="49"/>
                  </a:cubicBezTo>
                  <a:cubicBezTo>
                    <a:pt x="14" y="56"/>
                    <a:pt x="16" y="61"/>
                    <a:pt x="20" y="66"/>
                  </a:cubicBezTo>
                  <a:cubicBezTo>
                    <a:pt x="23" y="71"/>
                    <a:pt x="29" y="75"/>
                    <a:pt x="36" y="77"/>
                  </a:cubicBezTo>
                  <a:lnTo>
                    <a:pt x="36" y="81"/>
                  </a:lnTo>
                  <a:cubicBezTo>
                    <a:pt x="24" y="79"/>
                    <a:pt x="15" y="75"/>
                    <a:pt x="9" y="69"/>
                  </a:cubicBezTo>
                  <a:cubicBezTo>
                    <a:pt x="3" y="62"/>
                    <a:pt x="0" y="54"/>
                    <a:pt x="0" y="44"/>
                  </a:cubicBezTo>
                  <a:cubicBezTo>
                    <a:pt x="0" y="34"/>
                    <a:pt x="3" y="25"/>
                    <a:pt x="10" y="18"/>
                  </a:cubicBezTo>
                  <a:cubicBezTo>
                    <a:pt x="16" y="11"/>
                    <a:pt x="24" y="8"/>
                    <a:pt x="33" y="8"/>
                  </a:cubicBezTo>
                  <a:cubicBezTo>
                    <a:pt x="40" y="8"/>
                    <a:pt x="46" y="9"/>
                    <a:pt x="53" y="12"/>
                  </a:cubicBezTo>
                  <a:cubicBezTo>
                    <a:pt x="63" y="17"/>
                    <a:pt x="74" y="24"/>
                    <a:pt x="85" y="35"/>
                  </a:cubicBezTo>
                  <a:cubicBezTo>
                    <a:pt x="103" y="51"/>
                    <a:pt x="113" y="61"/>
                    <a:pt x="117" y="64"/>
                  </a:cubicBezTo>
                  <a:lnTo>
                    <a:pt x="117" y="31"/>
                  </a:lnTo>
                  <a:cubicBezTo>
                    <a:pt x="117" y="24"/>
                    <a:pt x="116" y="19"/>
                    <a:pt x="116" y="16"/>
                  </a:cubicBezTo>
                  <a:cubicBezTo>
                    <a:pt x="115" y="14"/>
                    <a:pt x="114" y="11"/>
                    <a:pt x="113" y="9"/>
                  </a:cubicBezTo>
                  <a:cubicBezTo>
                    <a:pt x="111" y="7"/>
                    <a:pt x="109" y="5"/>
                    <a:pt x="106" y="3"/>
                  </a:cubicBezTo>
                  <a:lnTo>
                    <a:pt x="106" y="0"/>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22" name="path 122"/>
            <p:cNvSpPr/>
            <p:nvPr/>
          </p:nvSpPr>
          <p:spPr>
            <a:xfrm>
              <a:off x="304325" y="625499"/>
              <a:ext cx="58059" cy="7314"/>
            </a:xfrm>
            <a:custGeom>
              <a:avLst/>
              <a:gdLst/>
              <a:ahLst/>
              <a:cxnLst/>
              <a:rect l="0" t="0" r="0" b="0"/>
              <a:pathLst>
                <a:path w="91" h="11">
                  <a:moveTo>
                    <a:pt x="85" y="5"/>
                  </a:moveTo>
                  <a:lnTo>
                    <a:pt x="5" y="5"/>
                  </a:lnTo>
                </a:path>
              </a:pathLst>
            </a:custGeom>
            <a:noFill/>
            <a:ln w="7313" cap="sq">
              <a:solidFill>
                <a:srgbClr val="000000"/>
              </a:solidFill>
              <a:prstDash val="solid"/>
              <a:miter lim="1000000"/>
            </a:ln>
          </p:spPr>
          <p:txBody>
            <a:bodyPr rtlCol="0"/>
            <a:lstStyle/>
            <a:p>
              <a:pPr algn="ctr"/>
              <a:endParaRPr lang="zh-CN" altLang="en-US"/>
            </a:p>
          </p:txBody>
        </p:sp>
        <p:sp>
          <p:nvSpPr>
            <p:cNvPr id="124" name="path 124"/>
            <p:cNvSpPr/>
            <p:nvPr/>
          </p:nvSpPr>
          <p:spPr>
            <a:xfrm>
              <a:off x="168214" y="609725"/>
              <a:ext cx="84932" cy="46483"/>
            </a:xfrm>
            <a:custGeom>
              <a:avLst/>
              <a:gdLst/>
              <a:ahLst/>
              <a:cxnLst/>
              <a:rect l="0" t="0" r="0" b="0"/>
              <a:pathLst>
                <a:path w="133" h="73">
                  <a:moveTo>
                    <a:pt x="27" y="71"/>
                  </a:moveTo>
                  <a:cubicBezTo>
                    <a:pt x="18" y="67"/>
                    <a:pt x="11" y="62"/>
                    <a:pt x="7" y="57"/>
                  </a:cubicBezTo>
                  <a:cubicBezTo>
                    <a:pt x="2" y="51"/>
                    <a:pt x="0" y="44"/>
                    <a:pt x="0" y="36"/>
                  </a:cubicBezTo>
                  <a:cubicBezTo>
                    <a:pt x="0" y="26"/>
                    <a:pt x="3" y="18"/>
                    <a:pt x="10" y="12"/>
                  </a:cubicBezTo>
                  <a:cubicBezTo>
                    <a:pt x="15" y="8"/>
                    <a:pt x="20" y="6"/>
                    <a:pt x="26" y="6"/>
                  </a:cubicBezTo>
                  <a:cubicBezTo>
                    <a:pt x="35" y="6"/>
                    <a:pt x="45" y="12"/>
                    <a:pt x="55" y="24"/>
                  </a:cubicBezTo>
                  <a:cubicBezTo>
                    <a:pt x="58" y="16"/>
                    <a:pt x="62" y="10"/>
                    <a:pt x="68" y="6"/>
                  </a:cubicBezTo>
                  <a:cubicBezTo>
                    <a:pt x="74" y="1"/>
                    <a:pt x="81" y="0"/>
                    <a:pt x="88" y="0"/>
                  </a:cubicBezTo>
                  <a:cubicBezTo>
                    <a:pt x="99" y="0"/>
                    <a:pt x="109" y="3"/>
                    <a:pt x="117" y="10"/>
                  </a:cubicBezTo>
                  <a:cubicBezTo>
                    <a:pt x="128" y="19"/>
                    <a:pt x="133" y="33"/>
                    <a:pt x="133" y="50"/>
                  </a:cubicBezTo>
                  <a:cubicBezTo>
                    <a:pt x="133" y="59"/>
                    <a:pt x="132" y="65"/>
                    <a:pt x="130" y="68"/>
                  </a:cubicBezTo>
                  <a:cubicBezTo>
                    <a:pt x="128" y="71"/>
                    <a:pt x="126" y="73"/>
                    <a:pt x="123" y="73"/>
                  </a:cubicBezTo>
                  <a:cubicBezTo>
                    <a:pt x="121" y="73"/>
                    <a:pt x="120" y="72"/>
                    <a:pt x="118" y="71"/>
                  </a:cubicBezTo>
                  <a:cubicBezTo>
                    <a:pt x="117" y="69"/>
                    <a:pt x="116" y="67"/>
                    <a:pt x="116" y="65"/>
                  </a:cubicBezTo>
                  <a:cubicBezTo>
                    <a:pt x="116" y="64"/>
                    <a:pt x="116" y="62"/>
                    <a:pt x="117" y="60"/>
                  </a:cubicBezTo>
                  <a:cubicBezTo>
                    <a:pt x="117" y="59"/>
                    <a:pt x="118" y="57"/>
                    <a:pt x="120" y="53"/>
                  </a:cubicBezTo>
                  <a:cubicBezTo>
                    <a:pt x="122" y="49"/>
                    <a:pt x="124" y="47"/>
                    <a:pt x="124" y="45"/>
                  </a:cubicBezTo>
                  <a:cubicBezTo>
                    <a:pt x="125" y="43"/>
                    <a:pt x="125" y="40"/>
                    <a:pt x="125" y="38"/>
                  </a:cubicBezTo>
                  <a:cubicBezTo>
                    <a:pt x="125" y="31"/>
                    <a:pt x="122" y="26"/>
                    <a:pt x="117" y="21"/>
                  </a:cubicBezTo>
                  <a:cubicBezTo>
                    <a:pt x="112" y="16"/>
                    <a:pt x="107" y="14"/>
                    <a:pt x="100" y="14"/>
                  </a:cubicBezTo>
                  <a:cubicBezTo>
                    <a:pt x="95" y="14"/>
                    <a:pt x="90" y="15"/>
                    <a:pt x="85" y="17"/>
                  </a:cubicBezTo>
                  <a:cubicBezTo>
                    <a:pt x="82" y="19"/>
                    <a:pt x="79" y="20"/>
                    <a:pt x="77" y="22"/>
                  </a:cubicBezTo>
                  <a:cubicBezTo>
                    <a:pt x="74" y="25"/>
                    <a:pt x="72" y="29"/>
                    <a:pt x="70" y="34"/>
                  </a:cubicBezTo>
                  <a:cubicBezTo>
                    <a:pt x="68" y="38"/>
                    <a:pt x="67" y="43"/>
                    <a:pt x="67" y="48"/>
                  </a:cubicBezTo>
                  <a:lnTo>
                    <a:pt x="67" y="51"/>
                  </a:lnTo>
                  <a:lnTo>
                    <a:pt x="64" y="51"/>
                  </a:lnTo>
                  <a:cubicBezTo>
                    <a:pt x="64" y="46"/>
                    <a:pt x="62" y="41"/>
                    <a:pt x="59" y="36"/>
                  </a:cubicBezTo>
                  <a:cubicBezTo>
                    <a:pt x="56" y="31"/>
                    <a:pt x="52" y="27"/>
                    <a:pt x="48" y="25"/>
                  </a:cubicBezTo>
                  <a:cubicBezTo>
                    <a:pt x="44" y="23"/>
                    <a:pt x="39" y="22"/>
                    <a:pt x="34" y="22"/>
                  </a:cubicBezTo>
                  <a:cubicBezTo>
                    <a:pt x="28" y="22"/>
                    <a:pt x="22" y="24"/>
                    <a:pt x="18" y="28"/>
                  </a:cubicBezTo>
                  <a:cubicBezTo>
                    <a:pt x="14" y="32"/>
                    <a:pt x="12" y="37"/>
                    <a:pt x="12" y="43"/>
                  </a:cubicBezTo>
                  <a:cubicBezTo>
                    <a:pt x="12" y="53"/>
                    <a:pt x="18" y="61"/>
                    <a:pt x="28" y="68"/>
                  </a:cubicBezTo>
                  <a:lnTo>
                    <a:pt x="27" y="71"/>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26" name="path 126"/>
            <p:cNvSpPr/>
            <p:nvPr/>
          </p:nvSpPr>
          <p:spPr>
            <a:xfrm>
              <a:off x="304325" y="80393"/>
              <a:ext cx="58059" cy="7314"/>
            </a:xfrm>
            <a:custGeom>
              <a:avLst/>
              <a:gdLst/>
              <a:ahLst/>
              <a:cxnLst/>
              <a:rect l="0" t="0" r="0" b="0"/>
              <a:pathLst>
                <a:path w="91" h="11">
                  <a:moveTo>
                    <a:pt x="85" y="5"/>
                  </a:moveTo>
                  <a:lnTo>
                    <a:pt x="5" y="5"/>
                  </a:lnTo>
                </a:path>
              </a:pathLst>
            </a:custGeom>
            <a:noFill/>
            <a:ln w="7313" cap="sq">
              <a:solidFill>
                <a:srgbClr val="000000"/>
              </a:solidFill>
              <a:prstDash val="solid"/>
              <a:miter lim="1000000"/>
            </a:ln>
          </p:spPr>
          <p:txBody>
            <a:bodyPr rtlCol="0"/>
            <a:lstStyle/>
            <a:p>
              <a:pPr algn="ctr"/>
              <a:endParaRPr lang="zh-CN" altLang="en-US"/>
            </a:p>
          </p:txBody>
        </p:sp>
        <p:sp>
          <p:nvSpPr>
            <p:cNvPr id="128" name="path 128"/>
            <p:cNvSpPr/>
            <p:nvPr/>
          </p:nvSpPr>
          <p:spPr>
            <a:xfrm>
              <a:off x="0" y="58649"/>
              <a:ext cx="251699" cy="1318947"/>
            </a:xfrm>
            <a:custGeom>
              <a:avLst/>
              <a:gdLst/>
              <a:ahLst/>
              <a:cxnLst/>
              <a:rect l="0" t="0" r="0" b="0"/>
              <a:pathLst>
                <a:path w="396" h="2077">
                  <a:moveTo>
                    <a:pt x="348" y="0"/>
                  </a:moveTo>
                  <a:lnTo>
                    <a:pt x="362" y="0"/>
                  </a:lnTo>
                  <a:lnTo>
                    <a:pt x="362" y="17"/>
                  </a:lnTo>
                  <a:lnTo>
                    <a:pt x="396" y="17"/>
                  </a:lnTo>
                  <a:lnTo>
                    <a:pt x="396" y="32"/>
                  </a:lnTo>
                  <a:lnTo>
                    <a:pt x="362" y="32"/>
                  </a:lnTo>
                  <a:lnTo>
                    <a:pt x="362" y="87"/>
                  </a:lnTo>
                  <a:lnTo>
                    <a:pt x="350" y="87"/>
                  </a:lnTo>
                  <a:lnTo>
                    <a:pt x="264" y="27"/>
                  </a:lnTo>
                  <a:lnTo>
                    <a:pt x="264" y="17"/>
                  </a:lnTo>
                  <a:lnTo>
                    <a:pt x="348" y="17"/>
                  </a:lnTo>
                  <a:lnTo>
                    <a:pt x="348" y="0"/>
                  </a:lnTo>
                  <a:close/>
                  <a:moveTo>
                    <a:pt x="348" y="32"/>
                  </a:moveTo>
                  <a:lnTo>
                    <a:pt x="284" y="32"/>
                  </a:lnTo>
                  <a:lnTo>
                    <a:pt x="348" y="78"/>
                  </a:lnTo>
                  <a:lnTo>
                    <a:pt x="348" y="32"/>
                  </a:lnTo>
                  <a:close/>
                </a:path>
                <a:path w="396" h="2077">
                  <a:moveTo>
                    <a:pt x="2" y="1966"/>
                  </a:moveTo>
                  <a:lnTo>
                    <a:pt x="0" y="1964"/>
                  </a:lnTo>
                  <a:cubicBezTo>
                    <a:pt x="7" y="1952"/>
                    <a:pt x="12" y="1945"/>
                    <a:pt x="14" y="1944"/>
                  </a:cubicBezTo>
                  <a:cubicBezTo>
                    <a:pt x="17" y="1943"/>
                    <a:pt x="19" y="1942"/>
                    <a:pt x="21" y="1942"/>
                  </a:cubicBezTo>
                  <a:cubicBezTo>
                    <a:pt x="25" y="1942"/>
                    <a:pt x="28" y="1943"/>
                    <a:pt x="30" y="1945"/>
                  </a:cubicBezTo>
                  <a:cubicBezTo>
                    <a:pt x="33" y="1947"/>
                    <a:pt x="34" y="1948"/>
                    <a:pt x="34" y="1950"/>
                  </a:cubicBezTo>
                  <a:cubicBezTo>
                    <a:pt x="34" y="1951"/>
                    <a:pt x="31" y="1953"/>
                    <a:pt x="25" y="1954"/>
                  </a:cubicBezTo>
                  <a:cubicBezTo>
                    <a:pt x="18" y="1956"/>
                    <a:pt x="10" y="1960"/>
                    <a:pt x="2" y="1966"/>
                  </a:cubicBezTo>
                  <a:moveTo>
                    <a:pt x="90" y="1984"/>
                  </a:moveTo>
                  <a:lnTo>
                    <a:pt x="90" y="1944"/>
                  </a:lnTo>
                  <a:cubicBezTo>
                    <a:pt x="84" y="1940"/>
                    <a:pt x="79" y="1937"/>
                    <a:pt x="75" y="1934"/>
                  </a:cubicBezTo>
                  <a:cubicBezTo>
                    <a:pt x="70" y="1932"/>
                    <a:pt x="65" y="1929"/>
                    <a:pt x="58" y="1926"/>
                  </a:cubicBezTo>
                  <a:lnTo>
                    <a:pt x="71" y="1910"/>
                  </a:lnTo>
                  <a:lnTo>
                    <a:pt x="75" y="1919"/>
                  </a:lnTo>
                  <a:cubicBezTo>
                    <a:pt x="113" y="1945"/>
                    <a:pt x="141" y="1975"/>
                    <a:pt x="158" y="2010"/>
                  </a:cubicBezTo>
                  <a:lnTo>
                    <a:pt x="155" y="2011"/>
                  </a:lnTo>
                  <a:cubicBezTo>
                    <a:pt x="141" y="1987"/>
                    <a:pt x="120" y="1966"/>
                    <a:pt x="94" y="1946"/>
                  </a:cubicBezTo>
                  <a:cubicBezTo>
                    <a:pt x="96" y="1970"/>
                    <a:pt x="100" y="1984"/>
                    <a:pt x="105" y="1989"/>
                  </a:cubicBezTo>
                  <a:lnTo>
                    <a:pt x="89" y="1996"/>
                  </a:lnTo>
                  <a:cubicBezTo>
                    <a:pt x="88" y="1991"/>
                    <a:pt x="83" y="1985"/>
                    <a:pt x="73" y="1978"/>
                  </a:cubicBezTo>
                  <a:cubicBezTo>
                    <a:pt x="63" y="1971"/>
                    <a:pt x="52" y="1966"/>
                    <a:pt x="41" y="1962"/>
                  </a:cubicBezTo>
                  <a:lnTo>
                    <a:pt x="41" y="1989"/>
                  </a:lnTo>
                  <a:lnTo>
                    <a:pt x="43" y="1996"/>
                  </a:lnTo>
                  <a:lnTo>
                    <a:pt x="36" y="2003"/>
                  </a:lnTo>
                  <a:lnTo>
                    <a:pt x="36" y="1911"/>
                  </a:lnTo>
                  <a:lnTo>
                    <a:pt x="26" y="1901"/>
                  </a:lnTo>
                  <a:lnTo>
                    <a:pt x="41" y="1886"/>
                  </a:lnTo>
                  <a:lnTo>
                    <a:pt x="41" y="1959"/>
                  </a:lnTo>
                  <a:lnTo>
                    <a:pt x="51" y="1945"/>
                  </a:lnTo>
                  <a:lnTo>
                    <a:pt x="54" y="1952"/>
                  </a:lnTo>
                  <a:cubicBezTo>
                    <a:pt x="67" y="1962"/>
                    <a:pt x="79" y="1972"/>
                    <a:pt x="90" y="1984"/>
                  </a:cubicBezTo>
                  <a:moveTo>
                    <a:pt x="96" y="1912"/>
                  </a:moveTo>
                  <a:lnTo>
                    <a:pt x="109" y="1896"/>
                  </a:lnTo>
                  <a:lnTo>
                    <a:pt x="112" y="1904"/>
                  </a:lnTo>
                  <a:cubicBezTo>
                    <a:pt x="124" y="1914"/>
                    <a:pt x="136" y="1924"/>
                    <a:pt x="147" y="1935"/>
                  </a:cubicBezTo>
                  <a:cubicBezTo>
                    <a:pt x="158" y="1916"/>
                    <a:pt x="166" y="1904"/>
                    <a:pt x="170" y="1900"/>
                  </a:cubicBezTo>
                  <a:cubicBezTo>
                    <a:pt x="175" y="1896"/>
                    <a:pt x="179" y="1894"/>
                    <a:pt x="183" y="1894"/>
                  </a:cubicBezTo>
                  <a:cubicBezTo>
                    <a:pt x="184" y="1894"/>
                    <a:pt x="186" y="1895"/>
                    <a:pt x="189" y="1896"/>
                  </a:cubicBezTo>
                  <a:cubicBezTo>
                    <a:pt x="192" y="1898"/>
                    <a:pt x="193" y="1899"/>
                    <a:pt x="193" y="1900"/>
                  </a:cubicBezTo>
                  <a:cubicBezTo>
                    <a:pt x="193" y="1902"/>
                    <a:pt x="190" y="1905"/>
                    <a:pt x="183" y="1909"/>
                  </a:cubicBezTo>
                  <a:cubicBezTo>
                    <a:pt x="172" y="1914"/>
                    <a:pt x="161" y="1924"/>
                    <a:pt x="150" y="1939"/>
                  </a:cubicBezTo>
                  <a:cubicBezTo>
                    <a:pt x="171" y="1962"/>
                    <a:pt x="186" y="1988"/>
                    <a:pt x="195" y="2017"/>
                  </a:cubicBezTo>
                  <a:lnTo>
                    <a:pt x="192" y="2018"/>
                  </a:lnTo>
                  <a:cubicBezTo>
                    <a:pt x="172" y="1971"/>
                    <a:pt x="140" y="1936"/>
                    <a:pt x="96" y="1912"/>
                  </a:cubicBezTo>
                  <a:moveTo>
                    <a:pt x="150" y="2031"/>
                  </a:moveTo>
                  <a:cubicBezTo>
                    <a:pt x="157" y="2031"/>
                    <a:pt x="171" y="2030"/>
                    <a:pt x="190" y="2030"/>
                  </a:cubicBezTo>
                  <a:lnTo>
                    <a:pt x="197" y="2043"/>
                  </a:lnTo>
                  <a:cubicBezTo>
                    <a:pt x="164" y="2043"/>
                    <a:pt x="130" y="2042"/>
                    <a:pt x="95" y="2042"/>
                  </a:cubicBezTo>
                  <a:cubicBezTo>
                    <a:pt x="116" y="2051"/>
                    <a:pt x="134" y="2062"/>
                    <a:pt x="149" y="2075"/>
                  </a:cubicBezTo>
                  <a:lnTo>
                    <a:pt x="147" y="2077"/>
                  </a:lnTo>
                  <a:cubicBezTo>
                    <a:pt x="121" y="2062"/>
                    <a:pt x="91" y="2050"/>
                    <a:pt x="56" y="2043"/>
                  </a:cubicBezTo>
                  <a:lnTo>
                    <a:pt x="56" y="2062"/>
                  </a:lnTo>
                  <a:lnTo>
                    <a:pt x="58" y="2069"/>
                  </a:lnTo>
                  <a:lnTo>
                    <a:pt x="51" y="2076"/>
                  </a:lnTo>
                  <a:lnTo>
                    <a:pt x="51" y="2042"/>
                  </a:lnTo>
                  <a:cubicBezTo>
                    <a:pt x="33" y="2042"/>
                    <a:pt x="16" y="2043"/>
                    <a:pt x="0" y="2043"/>
                  </a:cubicBezTo>
                  <a:lnTo>
                    <a:pt x="9" y="2024"/>
                  </a:lnTo>
                  <a:lnTo>
                    <a:pt x="15" y="2031"/>
                  </a:lnTo>
                  <a:lnTo>
                    <a:pt x="51" y="2031"/>
                  </a:lnTo>
                  <a:lnTo>
                    <a:pt x="51" y="2020"/>
                  </a:lnTo>
                  <a:lnTo>
                    <a:pt x="42" y="2011"/>
                  </a:lnTo>
                  <a:lnTo>
                    <a:pt x="56" y="1996"/>
                  </a:lnTo>
                  <a:lnTo>
                    <a:pt x="56" y="2031"/>
                  </a:lnTo>
                  <a:lnTo>
                    <a:pt x="77" y="2031"/>
                  </a:lnTo>
                  <a:cubicBezTo>
                    <a:pt x="82" y="2019"/>
                    <a:pt x="85" y="2012"/>
                    <a:pt x="89" y="2008"/>
                  </a:cubicBezTo>
                  <a:cubicBezTo>
                    <a:pt x="92" y="2005"/>
                    <a:pt x="95" y="2004"/>
                    <a:pt x="98" y="2004"/>
                  </a:cubicBezTo>
                  <a:cubicBezTo>
                    <a:pt x="101" y="2004"/>
                    <a:pt x="104" y="2004"/>
                    <a:pt x="107" y="2006"/>
                  </a:cubicBezTo>
                  <a:cubicBezTo>
                    <a:pt x="109" y="2007"/>
                    <a:pt x="111" y="2007"/>
                    <a:pt x="111" y="2008"/>
                  </a:cubicBezTo>
                  <a:cubicBezTo>
                    <a:pt x="111" y="2010"/>
                    <a:pt x="108" y="2013"/>
                    <a:pt x="101" y="2016"/>
                  </a:cubicBezTo>
                  <a:cubicBezTo>
                    <a:pt x="93" y="2020"/>
                    <a:pt x="86" y="2025"/>
                    <a:pt x="81" y="2031"/>
                  </a:cubicBezTo>
                  <a:lnTo>
                    <a:pt x="150" y="2031"/>
                  </a:lnTo>
                  <a:close/>
                  <a:moveTo>
                    <a:pt x="20" y="1832"/>
                  </a:moveTo>
                  <a:lnTo>
                    <a:pt x="30" y="1831"/>
                  </a:lnTo>
                  <a:lnTo>
                    <a:pt x="30" y="1764"/>
                  </a:lnTo>
                  <a:cubicBezTo>
                    <a:pt x="21" y="1765"/>
                    <a:pt x="12" y="1768"/>
                    <a:pt x="3" y="1774"/>
                  </a:cubicBezTo>
                  <a:lnTo>
                    <a:pt x="1" y="1773"/>
                  </a:lnTo>
                  <a:cubicBezTo>
                    <a:pt x="7" y="1761"/>
                    <a:pt x="11" y="1755"/>
                    <a:pt x="13" y="1754"/>
                  </a:cubicBezTo>
                  <a:cubicBezTo>
                    <a:pt x="16" y="1753"/>
                    <a:pt x="18" y="1753"/>
                    <a:pt x="20" y="1753"/>
                  </a:cubicBezTo>
                  <a:cubicBezTo>
                    <a:pt x="23" y="1753"/>
                    <a:pt x="26" y="1754"/>
                    <a:pt x="30" y="1758"/>
                  </a:cubicBezTo>
                  <a:lnTo>
                    <a:pt x="30" y="1689"/>
                  </a:lnTo>
                  <a:lnTo>
                    <a:pt x="21" y="1681"/>
                  </a:lnTo>
                  <a:lnTo>
                    <a:pt x="37" y="1666"/>
                  </a:lnTo>
                  <a:cubicBezTo>
                    <a:pt x="36" y="1674"/>
                    <a:pt x="42" y="1684"/>
                    <a:pt x="56" y="1697"/>
                  </a:cubicBezTo>
                  <a:lnTo>
                    <a:pt x="55" y="1699"/>
                  </a:lnTo>
                  <a:lnTo>
                    <a:pt x="35" y="1688"/>
                  </a:lnTo>
                  <a:lnTo>
                    <a:pt x="35" y="1831"/>
                  </a:lnTo>
                  <a:cubicBezTo>
                    <a:pt x="43" y="1831"/>
                    <a:pt x="49" y="1832"/>
                    <a:pt x="51" y="1833"/>
                  </a:cubicBezTo>
                  <a:cubicBezTo>
                    <a:pt x="54" y="1834"/>
                    <a:pt x="56" y="1836"/>
                    <a:pt x="57" y="1839"/>
                  </a:cubicBezTo>
                  <a:cubicBezTo>
                    <a:pt x="58" y="1841"/>
                    <a:pt x="58" y="1844"/>
                    <a:pt x="58" y="1845"/>
                  </a:cubicBezTo>
                  <a:cubicBezTo>
                    <a:pt x="58" y="1847"/>
                    <a:pt x="58" y="1848"/>
                    <a:pt x="57" y="1850"/>
                  </a:cubicBezTo>
                  <a:cubicBezTo>
                    <a:pt x="57" y="1851"/>
                    <a:pt x="56" y="1851"/>
                    <a:pt x="56" y="1851"/>
                  </a:cubicBezTo>
                  <a:cubicBezTo>
                    <a:pt x="54" y="1851"/>
                    <a:pt x="51" y="1850"/>
                    <a:pt x="47" y="1846"/>
                  </a:cubicBezTo>
                  <a:cubicBezTo>
                    <a:pt x="42" y="1841"/>
                    <a:pt x="33" y="1838"/>
                    <a:pt x="20" y="1835"/>
                  </a:cubicBezTo>
                  <a:lnTo>
                    <a:pt x="20" y="1832"/>
                  </a:lnTo>
                  <a:close/>
                  <a:moveTo>
                    <a:pt x="66" y="1817"/>
                  </a:moveTo>
                  <a:cubicBezTo>
                    <a:pt x="81" y="1817"/>
                    <a:pt x="90" y="1819"/>
                    <a:pt x="94" y="1821"/>
                  </a:cubicBezTo>
                  <a:cubicBezTo>
                    <a:pt x="97" y="1823"/>
                    <a:pt x="99" y="1825"/>
                    <a:pt x="100" y="1828"/>
                  </a:cubicBezTo>
                  <a:cubicBezTo>
                    <a:pt x="101" y="1831"/>
                    <a:pt x="101" y="1834"/>
                    <a:pt x="100" y="1837"/>
                  </a:cubicBezTo>
                  <a:cubicBezTo>
                    <a:pt x="99" y="1840"/>
                    <a:pt x="98" y="1842"/>
                    <a:pt x="96" y="1842"/>
                  </a:cubicBezTo>
                  <a:cubicBezTo>
                    <a:pt x="95" y="1842"/>
                    <a:pt x="93" y="1840"/>
                    <a:pt x="90" y="1836"/>
                  </a:cubicBezTo>
                  <a:cubicBezTo>
                    <a:pt x="85" y="1831"/>
                    <a:pt x="77" y="1825"/>
                    <a:pt x="66" y="1820"/>
                  </a:cubicBezTo>
                  <a:lnTo>
                    <a:pt x="66" y="1817"/>
                  </a:lnTo>
                  <a:close/>
                  <a:moveTo>
                    <a:pt x="86" y="1799"/>
                  </a:moveTo>
                  <a:cubicBezTo>
                    <a:pt x="74" y="1799"/>
                    <a:pt x="64" y="1799"/>
                    <a:pt x="55" y="1799"/>
                  </a:cubicBezTo>
                  <a:lnTo>
                    <a:pt x="63" y="1779"/>
                  </a:lnTo>
                  <a:lnTo>
                    <a:pt x="69" y="1788"/>
                  </a:lnTo>
                  <a:lnTo>
                    <a:pt x="97" y="1788"/>
                  </a:lnTo>
                  <a:cubicBezTo>
                    <a:pt x="92" y="1778"/>
                    <a:pt x="85" y="1767"/>
                    <a:pt x="75" y="1755"/>
                  </a:cubicBezTo>
                  <a:cubicBezTo>
                    <a:pt x="65" y="1743"/>
                    <a:pt x="54" y="1732"/>
                    <a:pt x="42" y="1722"/>
                  </a:cubicBezTo>
                  <a:lnTo>
                    <a:pt x="57" y="1710"/>
                  </a:lnTo>
                  <a:lnTo>
                    <a:pt x="59" y="1718"/>
                  </a:lnTo>
                  <a:cubicBezTo>
                    <a:pt x="69" y="1731"/>
                    <a:pt x="78" y="1742"/>
                    <a:pt x="85" y="1751"/>
                  </a:cubicBezTo>
                  <a:cubicBezTo>
                    <a:pt x="92" y="1761"/>
                    <a:pt x="99" y="1773"/>
                    <a:pt x="106" y="1786"/>
                  </a:cubicBezTo>
                  <a:cubicBezTo>
                    <a:pt x="107" y="1787"/>
                    <a:pt x="107" y="1782"/>
                    <a:pt x="107" y="1773"/>
                  </a:cubicBezTo>
                  <a:lnTo>
                    <a:pt x="107" y="1732"/>
                  </a:lnTo>
                  <a:cubicBezTo>
                    <a:pt x="107" y="1729"/>
                    <a:pt x="105" y="1727"/>
                    <a:pt x="101" y="1726"/>
                  </a:cubicBezTo>
                  <a:cubicBezTo>
                    <a:pt x="97" y="1725"/>
                    <a:pt x="91" y="1724"/>
                    <a:pt x="81" y="1723"/>
                  </a:cubicBezTo>
                  <a:lnTo>
                    <a:pt x="81" y="1720"/>
                  </a:lnTo>
                  <a:cubicBezTo>
                    <a:pt x="89" y="1720"/>
                    <a:pt x="94" y="1720"/>
                    <a:pt x="98" y="1719"/>
                  </a:cubicBezTo>
                  <a:cubicBezTo>
                    <a:pt x="102" y="1718"/>
                    <a:pt x="105" y="1715"/>
                    <a:pt x="107" y="1710"/>
                  </a:cubicBezTo>
                  <a:cubicBezTo>
                    <a:pt x="114" y="1713"/>
                    <a:pt x="117" y="1722"/>
                    <a:pt x="117" y="1735"/>
                  </a:cubicBezTo>
                  <a:lnTo>
                    <a:pt x="117" y="1781"/>
                  </a:lnTo>
                  <a:cubicBezTo>
                    <a:pt x="117" y="1785"/>
                    <a:pt x="117" y="1788"/>
                    <a:pt x="117" y="1791"/>
                  </a:cubicBezTo>
                  <a:cubicBezTo>
                    <a:pt x="117" y="1794"/>
                    <a:pt x="115" y="1797"/>
                    <a:pt x="111" y="1798"/>
                  </a:cubicBezTo>
                  <a:cubicBezTo>
                    <a:pt x="116" y="1814"/>
                    <a:pt x="121" y="1834"/>
                    <a:pt x="124" y="1857"/>
                  </a:cubicBezTo>
                  <a:lnTo>
                    <a:pt x="122" y="1858"/>
                  </a:lnTo>
                  <a:cubicBezTo>
                    <a:pt x="117" y="1838"/>
                    <a:pt x="111" y="1818"/>
                    <a:pt x="102" y="1799"/>
                  </a:cubicBezTo>
                  <a:lnTo>
                    <a:pt x="86" y="1799"/>
                  </a:lnTo>
                  <a:close/>
                  <a:moveTo>
                    <a:pt x="40" y="1780"/>
                  </a:moveTo>
                  <a:lnTo>
                    <a:pt x="39" y="1778"/>
                  </a:lnTo>
                  <a:cubicBezTo>
                    <a:pt x="46" y="1766"/>
                    <a:pt x="51" y="1760"/>
                    <a:pt x="53" y="1759"/>
                  </a:cubicBezTo>
                  <a:cubicBezTo>
                    <a:pt x="56" y="1758"/>
                    <a:pt x="58" y="1758"/>
                    <a:pt x="59" y="1758"/>
                  </a:cubicBezTo>
                  <a:cubicBezTo>
                    <a:pt x="62" y="1758"/>
                    <a:pt x="65" y="1759"/>
                    <a:pt x="68" y="1761"/>
                  </a:cubicBezTo>
                  <a:cubicBezTo>
                    <a:pt x="70" y="1763"/>
                    <a:pt x="71" y="1765"/>
                    <a:pt x="71" y="1766"/>
                  </a:cubicBezTo>
                  <a:cubicBezTo>
                    <a:pt x="71" y="1768"/>
                    <a:pt x="69" y="1769"/>
                    <a:pt x="63" y="1770"/>
                  </a:cubicBezTo>
                  <a:cubicBezTo>
                    <a:pt x="55" y="1772"/>
                    <a:pt x="48" y="1775"/>
                    <a:pt x="40" y="1780"/>
                  </a:cubicBezTo>
                  <a:moveTo>
                    <a:pt x="69" y="1709"/>
                  </a:moveTo>
                  <a:lnTo>
                    <a:pt x="66" y="1707"/>
                  </a:lnTo>
                  <a:cubicBezTo>
                    <a:pt x="73" y="1695"/>
                    <a:pt x="77" y="1686"/>
                    <a:pt x="81" y="1682"/>
                  </a:cubicBezTo>
                  <a:cubicBezTo>
                    <a:pt x="85" y="1678"/>
                    <a:pt x="88" y="1676"/>
                    <a:pt x="91" y="1676"/>
                  </a:cubicBezTo>
                  <a:cubicBezTo>
                    <a:pt x="95" y="1676"/>
                    <a:pt x="98" y="1677"/>
                    <a:pt x="101" y="1679"/>
                  </a:cubicBezTo>
                  <a:cubicBezTo>
                    <a:pt x="103" y="1681"/>
                    <a:pt x="105" y="1683"/>
                    <a:pt x="105" y="1684"/>
                  </a:cubicBezTo>
                  <a:cubicBezTo>
                    <a:pt x="105" y="1686"/>
                    <a:pt x="102" y="1687"/>
                    <a:pt x="97" y="1689"/>
                  </a:cubicBezTo>
                  <a:cubicBezTo>
                    <a:pt x="90" y="1692"/>
                    <a:pt x="80" y="1698"/>
                    <a:pt x="69" y="1709"/>
                  </a:cubicBezTo>
                  <a:moveTo>
                    <a:pt x="178" y="1768"/>
                  </a:moveTo>
                  <a:cubicBezTo>
                    <a:pt x="150" y="1768"/>
                    <a:pt x="131" y="1768"/>
                    <a:pt x="122" y="1768"/>
                  </a:cubicBezTo>
                  <a:lnTo>
                    <a:pt x="131" y="1748"/>
                  </a:lnTo>
                  <a:lnTo>
                    <a:pt x="137" y="1757"/>
                  </a:lnTo>
                  <a:lnTo>
                    <a:pt x="178" y="1757"/>
                  </a:lnTo>
                  <a:lnTo>
                    <a:pt x="178" y="1708"/>
                  </a:lnTo>
                  <a:cubicBezTo>
                    <a:pt x="155" y="1708"/>
                    <a:pt x="140" y="1708"/>
                    <a:pt x="132" y="1709"/>
                  </a:cubicBezTo>
                  <a:lnTo>
                    <a:pt x="142" y="1691"/>
                  </a:lnTo>
                  <a:lnTo>
                    <a:pt x="147" y="1697"/>
                  </a:lnTo>
                  <a:cubicBezTo>
                    <a:pt x="165" y="1697"/>
                    <a:pt x="179" y="1697"/>
                    <a:pt x="189" y="1697"/>
                  </a:cubicBezTo>
                  <a:lnTo>
                    <a:pt x="193" y="1708"/>
                  </a:lnTo>
                  <a:lnTo>
                    <a:pt x="183" y="1708"/>
                  </a:lnTo>
                  <a:lnTo>
                    <a:pt x="183" y="1814"/>
                  </a:lnTo>
                  <a:lnTo>
                    <a:pt x="188" y="1820"/>
                  </a:lnTo>
                  <a:lnTo>
                    <a:pt x="178" y="1831"/>
                  </a:lnTo>
                  <a:lnTo>
                    <a:pt x="174" y="1825"/>
                  </a:lnTo>
                  <a:cubicBezTo>
                    <a:pt x="156" y="1825"/>
                    <a:pt x="143" y="1826"/>
                    <a:pt x="133" y="1826"/>
                  </a:cubicBezTo>
                  <a:lnTo>
                    <a:pt x="142" y="1807"/>
                  </a:lnTo>
                  <a:lnTo>
                    <a:pt x="147" y="1814"/>
                  </a:lnTo>
                  <a:lnTo>
                    <a:pt x="178" y="1814"/>
                  </a:lnTo>
                  <a:lnTo>
                    <a:pt x="178" y="1768"/>
                  </a:lnTo>
                  <a:close/>
                  <a:moveTo>
                    <a:pt x="108" y="1561"/>
                  </a:moveTo>
                  <a:cubicBezTo>
                    <a:pt x="97" y="1561"/>
                    <a:pt x="84" y="1561"/>
                    <a:pt x="70" y="1561"/>
                  </a:cubicBezTo>
                  <a:lnTo>
                    <a:pt x="70" y="1582"/>
                  </a:lnTo>
                  <a:lnTo>
                    <a:pt x="71" y="1592"/>
                  </a:lnTo>
                  <a:lnTo>
                    <a:pt x="65" y="1599"/>
                  </a:lnTo>
                  <a:lnTo>
                    <a:pt x="65" y="1561"/>
                  </a:lnTo>
                  <a:cubicBezTo>
                    <a:pt x="56" y="1561"/>
                    <a:pt x="47" y="1561"/>
                    <a:pt x="37" y="1561"/>
                  </a:cubicBezTo>
                  <a:lnTo>
                    <a:pt x="46" y="1543"/>
                  </a:lnTo>
                  <a:lnTo>
                    <a:pt x="50" y="1550"/>
                  </a:lnTo>
                  <a:lnTo>
                    <a:pt x="65" y="1550"/>
                  </a:lnTo>
                  <a:lnTo>
                    <a:pt x="65" y="1503"/>
                  </a:lnTo>
                  <a:cubicBezTo>
                    <a:pt x="55" y="1503"/>
                    <a:pt x="46" y="1503"/>
                    <a:pt x="38" y="1504"/>
                  </a:cubicBezTo>
                  <a:lnTo>
                    <a:pt x="46" y="1484"/>
                  </a:lnTo>
                  <a:lnTo>
                    <a:pt x="51" y="1492"/>
                  </a:lnTo>
                  <a:lnTo>
                    <a:pt x="65" y="1492"/>
                  </a:lnTo>
                  <a:lnTo>
                    <a:pt x="65" y="1476"/>
                  </a:lnTo>
                  <a:lnTo>
                    <a:pt x="54" y="1465"/>
                  </a:lnTo>
                  <a:lnTo>
                    <a:pt x="70" y="1449"/>
                  </a:lnTo>
                  <a:lnTo>
                    <a:pt x="70" y="1492"/>
                  </a:lnTo>
                  <a:cubicBezTo>
                    <a:pt x="86" y="1492"/>
                    <a:pt x="96" y="1492"/>
                    <a:pt x="101" y="1491"/>
                  </a:cubicBezTo>
                  <a:lnTo>
                    <a:pt x="107" y="1503"/>
                  </a:lnTo>
                  <a:lnTo>
                    <a:pt x="99" y="1503"/>
                  </a:lnTo>
                  <a:lnTo>
                    <a:pt x="99" y="1550"/>
                  </a:lnTo>
                  <a:lnTo>
                    <a:pt x="103" y="1550"/>
                  </a:lnTo>
                  <a:lnTo>
                    <a:pt x="108" y="1561"/>
                  </a:lnTo>
                  <a:close/>
                  <a:moveTo>
                    <a:pt x="126" y="1484"/>
                  </a:moveTo>
                  <a:cubicBezTo>
                    <a:pt x="142" y="1496"/>
                    <a:pt x="154" y="1507"/>
                    <a:pt x="162" y="1516"/>
                  </a:cubicBezTo>
                  <a:cubicBezTo>
                    <a:pt x="173" y="1498"/>
                    <a:pt x="179" y="1475"/>
                    <a:pt x="180" y="1445"/>
                  </a:cubicBezTo>
                  <a:lnTo>
                    <a:pt x="183" y="1445"/>
                  </a:lnTo>
                  <a:cubicBezTo>
                    <a:pt x="185" y="1454"/>
                    <a:pt x="189" y="1459"/>
                    <a:pt x="194" y="1461"/>
                  </a:cubicBezTo>
                  <a:cubicBezTo>
                    <a:pt x="189" y="1487"/>
                    <a:pt x="181" y="1508"/>
                    <a:pt x="168" y="1524"/>
                  </a:cubicBezTo>
                  <a:cubicBezTo>
                    <a:pt x="183" y="1551"/>
                    <a:pt x="193" y="1579"/>
                    <a:pt x="197" y="1611"/>
                  </a:cubicBezTo>
                  <a:lnTo>
                    <a:pt x="193" y="1612"/>
                  </a:lnTo>
                  <a:cubicBezTo>
                    <a:pt x="188" y="1582"/>
                    <a:pt x="177" y="1555"/>
                    <a:pt x="161" y="1531"/>
                  </a:cubicBezTo>
                  <a:cubicBezTo>
                    <a:pt x="150" y="1542"/>
                    <a:pt x="137" y="1552"/>
                    <a:pt x="122" y="1561"/>
                  </a:cubicBezTo>
                  <a:lnTo>
                    <a:pt x="122" y="1569"/>
                  </a:lnTo>
                  <a:lnTo>
                    <a:pt x="123" y="1576"/>
                  </a:lnTo>
                  <a:lnTo>
                    <a:pt x="117" y="1583"/>
                  </a:lnTo>
                  <a:lnTo>
                    <a:pt x="117" y="1495"/>
                  </a:lnTo>
                  <a:lnTo>
                    <a:pt x="109" y="1488"/>
                  </a:lnTo>
                  <a:lnTo>
                    <a:pt x="122" y="1475"/>
                  </a:lnTo>
                  <a:lnTo>
                    <a:pt x="126" y="1484"/>
                  </a:lnTo>
                  <a:close/>
                  <a:moveTo>
                    <a:pt x="122" y="1556"/>
                  </a:moveTo>
                  <a:cubicBezTo>
                    <a:pt x="136" y="1546"/>
                    <a:pt x="147" y="1535"/>
                    <a:pt x="155" y="1525"/>
                  </a:cubicBezTo>
                  <a:cubicBezTo>
                    <a:pt x="144" y="1513"/>
                    <a:pt x="133" y="1504"/>
                    <a:pt x="122" y="1496"/>
                  </a:cubicBezTo>
                  <a:lnTo>
                    <a:pt x="122" y="1556"/>
                  </a:lnTo>
                  <a:close/>
                  <a:moveTo>
                    <a:pt x="70" y="1550"/>
                  </a:moveTo>
                  <a:lnTo>
                    <a:pt x="94" y="1550"/>
                  </a:lnTo>
                  <a:lnTo>
                    <a:pt x="94" y="1503"/>
                  </a:lnTo>
                  <a:lnTo>
                    <a:pt x="70" y="1503"/>
                  </a:lnTo>
                  <a:lnTo>
                    <a:pt x="70" y="1550"/>
                  </a:lnTo>
                  <a:close/>
                  <a:moveTo>
                    <a:pt x="20" y="1614"/>
                  </a:moveTo>
                  <a:lnTo>
                    <a:pt x="29" y="1600"/>
                  </a:lnTo>
                  <a:lnTo>
                    <a:pt x="29" y="1534"/>
                  </a:lnTo>
                  <a:cubicBezTo>
                    <a:pt x="25" y="1534"/>
                    <a:pt x="22" y="1536"/>
                    <a:pt x="18" y="1538"/>
                  </a:cubicBezTo>
                  <a:cubicBezTo>
                    <a:pt x="14" y="1540"/>
                    <a:pt x="8" y="1544"/>
                    <a:pt x="1" y="1550"/>
                  </a:cubicBezTo>
                  <a:lnTo>
                    <a:pt x="0" y="1547"/>
                  </a:lnTo>
                  <a:cubicBezTo>
                    <a:pt x="5" y="1534"/>
                    <a:pt x="9" y="1527"/>
                    <a:pt x="12" y="1525"/>
                  </a:cubicBezTo>
                  <a:cubicBezTo>
                    <a:pt x="16" y="1523"/>
                    <a:pt x="17" y="1522"/>
                    <a:pt x="18" y="1522"/>
                  </a:cubicBezTo>
                  <a:cubicBezTo>
                    <a:pt x="21" y="1522"/>
                    <a:pt x="25" y="1524"/>
                    <a:pt x="29" y="1529"/>
                  </a:cubicBezTo>
                  <a:lnTo>
                    <a:pt x="29" y="1474"/>
                  </a:lnTo>
                  <a:lnTo>
                    <a:pt x="17" y="1463"/>
                  </a:lnTo>
                  <a:lnTo>
                    <a:pt x="34" y="1446"/>
                  </a:lnTo>
                  <a:lnTo>
                    <a:pt x="34" y="1601"/>
                  </a:lnTo>
                  <a:cubicBezTo>
                    <a:pt x="67" y="1600"/>
                    <a:pt x="93" y="1601"/>
                    <a:pt x="112" y="1604"/>
                  </a:cubicBezTo>
                  <a:cubicBezTo>
                    <a:pt x="131" y="1606"/>
                    <a:pt x="147" y="1610"/>
                    <a:pt x="160" y="1616"/>
                  </a:cubicBezTo>
                  <a:cubicBezTo>
                    <a:pt x="173" y="1621"/>
                    <a:pt x="186" y="1628"/>
                    <a:pt x="197" y="1637"/>
                  </a:cubicBezTo>
                  <a:lnTo>
                    <a:pt x="195" y="1639"/>
                  </a:lnTo>
                  <a:cubicBezTo>
                    <a:pt x="176" y="1628"/>
                    <a:pt x="155" y="1621"/>
                    <a:pt x="134" y="1618"/>
                  </a:cubicBezTo>
                  <a:cubicBezTo>
                    <a:pt x="113" y="1615"/>
                    <a:pt x="91" y="1613"/>
                    <a:pt x="69" y="1613"/>
                  </a:cubicBezTo>
                  <a:cubicBezTo>
                    <a:pt x="47" y="1613"/>
                    <a:pt x="31" y="1613"/>
                    <a:pt x="20" y="1614"/>
                  </a:cubicBezTo>
                </a:path>
              </a:pathLst>
            </a:custGeom>
            <a:solidFill>
              <a:srgbClr val="000000">
                <a:alpha val="100000"/>
              </a:srgbClr>
            </a:solidFill>
            <a:ln w="0" cap="flat">
              <a:noFill/>
              <a:prstDash val="solid"/>
              <a:miter lim="0"/>
            </a:ln>
          </p:spPr>
          <p:txBody>
            <a:bodyPr rtlCol="0"/>
            <a:lstStyle/>
            <a:p>
              <a:pPr algn="ctr"/>
              <a:endParaRPr lang="zh-CN" altLang="en-US"/>
            </a:p>
          </p:txBody>
        </p:sp>
        <p:sp>
          <p:nvSpPr>
            <p:cNvPr id="130" name="path 130"/>
            <p:cNvSpPr/>
            <p:nvPr/>
          </p:nvSpPr>
          <p:spPr>
            <a:xfrm>
              <a:off x="355071" y="2341198"/>
              <a:ext cx="4410979" cy="58065"/>
            </a:xfrm>
            <a:custGeom>
              <a:avLst/>
              <a:gdLst/>
              <a:ahLst/>
              <a:cxnLst/>
              <a:rect l="0" t="0" r="0" b="0"/>
              <a:pathLst>
                <a:path w="6946" h="91">
                  <a:moveTo>
                    <a:pt x="5" y="5"/>
                  </a:moveTo>
                  <a:lnTo>
                    <a:pt x="6940" y="5"/>
                  </a:lnTo>
                  <a:moveTo>
                    <a:pt x="132" y="5"/>
                  </a:moveTo>
                  <a:lnTo>
                    <a:pt x="132" y="85"/>
                  </a:lnTo>
                </a:path>
              </a:pathLst>
            </a:custGeom>
            <a:noFill/>
            <a:ln w="7313" cap="sq">
              <a:solidFill>
                <a:srgbClr val="000000"/>
              </a:solidFill>
              <a:prstDash val="solid"/>
              <a:miter lim="1000000"/>
            </a:ln>
          </p:spPr>
          <p:txBody>
            <a:bodyPr rtlCol="0"/>
            <a:lstStyle/>
            <a:p>
              <a:pPr algn="ctr"/>
              <a:endParaRPr lang="zh-CN" altLang="en-US"/>
            </a:p>
          </p:txBody>
        </p:sp>
        <p:sp>
          <p:nvSpPr>
            <p:cNvPr id="132" name="path 132"/>
            <p:cNvSpPr/>
            <p:nvPr/>
          </p:nvSpPr>
          <p:spPr>
            <a:xfrm>
              <a:off x="421640" y="2447666"/>
              <a:ext cx="32205" cy="83505"/>
            </a:xfrm>
            <a:custGeom>
              <a:avLst/>
              <a:gdLst/>
              <a:ahLst/>
              <a:cxnLst/>
              <a:rect l="0" t="0" r="0" b="0"/>
              <a:pathLst>
                <a:path w="50" h="131">
                  <a:moveTo>
                    <a:pt x="0" y="15"/>
                  </a:moveTo>
                  <a:lnTo>
                    <a:pt x="31" y="0"/>
                  </a:lnTo>
                  <a:lnTo>
                    <a:pt x="34" y="0"/>
                  </a:lnTo>
                  <a:lnTo>
                    <a:pt x="34" y="108"/>
                  </a:lnTo>
                  <a:cubicBezTo>
                    <a:pt x="34" y="116"/>
                    <a:pt x="34" y="120"/>
                    <a:pt x="35" y="122"/>
                  </a:cubicBezTo>
                  <a:cubicBezTo>
                    <a:pt x="35" y="124"/>
                    <a:pt x="37" y="125"/>
                    <a:pt x="39" y="126"/>
                  </a:cubicBezTo>
                  <a:cubicBezTo>
                    <a:pt x="41" y="127"/>
                    <a:pt x="44" y="127"/>
                    <a:pt x="50" y="127"/>
                  </a:cubicBezTo>
                  <a:lnTo>
                    <a:pt x="50" y="131"/>
                  </a:lnTo>
                  <a:lnTo>
                    <a:pt x="2" y="131"/>
                  </a:lnTo>
                  <a:lnTo>
                    <a:pt x="2" y="127"/>
                  </a:lnTo>
                  <a:cubicBezTo>
                    <a:pt x="8" y="127"/>
                    <a:pt x="12" y="127"/>
                    <a:pt x="14" y="126"/>
                  </a:cubicBezTo>
                  <a:cubicBezTo>
                    <a:pt x="15" y="125"/>
                    <a:pt x="17" y="124"/>
                    <a:pt x="17" y="122"/>
                  </a:cubicBezTo>
                  <a:cubicBezTo>
                    <a:pt x="18" y="121"/>
                    <a:pt x="18" y="116"/>
                    <a:pt x="18" y="108"/>
                  </a:cubicBezTo>
                  <a:lnTo>
                    <a:pt x="18" y="39"/>
                  </a:lnTo>
                  <a:cubicBezTo>
                    <a:pt x="18" y="29"/>
                    <a:pt x="18" y="23"/>
                    <a:pt x="17" y="21"/>
                  </a:cubicBezTo>
                  <a:cubicBezTo>
                    <a:pt x="17" y="19"/>
                    <a:pt x="16" y="17"/>
                    <a:pt x="15" y="16"/>
                  </a:cubicBezTo>
                  <a:cubicBezTo>
                    <a:pt x="14" y="15"/>
                    <a:pt x="12" y="15"/>
                    <a:pt x="11" y="15"/>
                  </a:cubicBezTo>
                  <a:cubicBezTo>
                    <a:pt x="8" y="15"/>
                    <a:pt x="5" y="16"/>
                    <a:pt x="1" y="18"/>
                  </a:cubicBezTo>
                  <a:lnTo>
                    <a:pt x="0" y="15"/>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34" name="path 134"/>
            <p:cNvSpPr/>
            <p:nvPr/>
          </p:nvSpPr>
          <p:spPr>
            <a:xfrm>
              <a:off x="1496174" y="2341198"/>
              <a:ext cx="7313" cy="58065"/>
            </a:xfrm>
            <a:custGeom>
              <a:avLst/>
              <a:gdLst/>
              <a:ahLst/>
              <a:cxnLst/>
              <a:rect l="0" t="0" r="0" b="0"/>
              <a:pathLst>
                <a:path w="11" h="91">
                  <a:moveTo>
                    <a:pt x="5" y="5"/>
                  </a:moveTo>
                  <a:lnTo>
                    <a:pt x="5" y="85"/>
                  </a:lnTo>
                </a:path>
              </a:pathLst>
            </a:custGeom>
            <a:noFill/>
            <a:ln w="7313" cap="sq">
              <a:solidFill>
                <a:srgbClr val="000000"/>
              </a:solidFill>
              <a:prstDash val="solid"/>
              <a:miter lim="1000000"/>
            </a:ln>
          </p:spPr>
          <p:txBody>
            <a:bodyPr rtlCol="0"/>
            <a:lstStyle/>
            <a:p>
              <a:pPr algn="ctr"/>
              <a:endParaRPr lang="zh-CN" altLang="en-US"/>
            </a:p>
          </p:txBody>
        </p:sp>
        <p:sp>
          <p:nvSpPr>
            <p:cNvPr id="136" name="path 136"/>
            <p:cNvSpPr/>
            <p:nvPr/>
          </p:nvSpPr>
          <p:spPr>
            <a:xfrm>
              <a:off x="1434684" y="2447666"/>
              <a:ext cx="134484" cy="85194"/>
            </a:xfrm>
            <a:custGeom>
              <a:avLst/>
              <a:gdLst/>
              <a:ahLst/>
              <a:cxnLst/>
              <a:rect l="0" t="0" r="0" b="0"/>
              <a:pathLst>
                <a:path w="211" h="134">
                  <a:moveTo>
                    <a:pt x="0" y="15"/>
                  </a:moveTo>
                  <a:lnTo>
                    <a:pt x="31" y="0"/>
                  </a:lnTo>
                  <a:lnTo>
                    <a:pt x="34" y="0"/>
                  </a:lnTo>
                  <a:lnTo>
                    <a:pt x="34" y="108"/>
                  </a:lnTo>
                  <a:cubicBezTo>
                    <a:pt x="34" y="116"/>
                    <a:pt x="34" y="120"/>
                    <a:pt x="35" y="122"/>
                  </a:cubicBezTo>
                  <a:cubicBezTo>
                    <a:pt x="35" y="124"/>
                    <a:pt x="37" y="125"/>
                    <a:pt x="38" y="126"/>
                  </a:cubicBezTo>
                  <a:cubicBezTo>
                    <a:pt x="40" y="127"/>
                    <a:pt x="44" y="127"/>
                    <a:pt x="50" y="127"/>
                  </a:cubicBezTo>
                  <a:lnTo>
                    <a:pt x="50" y="131"/>
                  </a:lnTo>
                  <a:lnTo>
                    <a:pt x="2" y="131"/>
                  </a:lnTo>
                  <a:lnTo>
                    <a:pt x="2" y="127"/>
                  </a:lnTo>
                  <a:cubicBezTo>
                    <a:pt x="8" y="127"/>
                    <a:pt x="12" y="127"/>
                    <a:pt x="13" y="126"/>
                  </a:cubicBezTo>
                  <a:cubicBezTo>
                    <a:pt x="15" y="125"/>
                    <a:pt x="16" y="124"/>
                    <a:pt x="17" y="122"/>
                  </a:cubicBezTo>
                  <a:cubicBezTo>
                    <a:pt x="18" y="121"/>
                    <a:pt x="18" y="116"/>
                    <a:pt x="18" y="108"/>
                  </a:cubicBezTo>
                  <a:lnTo>
                    <a:pt x="18" y="39"/>
                  </a:lnTo>
                  <a:cubicBezTo>
                    <a:pt x="18" y="29"/>
                    <a:pt x="18" y="23"/>
                    <a:pt x="17" y="21"/>
                  </a:cubicBezTo>
                  <a:cubicBezTo>
                    <a:pt x="17" y="19"/>
                    <a:pt x="16" y="17"/>
                    <a:pt x="15" y="16"/>
                  </a:cubicBezTo>
                  <a:cubicBezTo>
                    <a:pt x="14" y="15"/>
                    <a:pt x="12" y="15"/>
                    <a:pt x="11" y="15"/>
                  </a:cubicBezTo>
                  <a:cubicBezTo>
                    <a:pt x="8" y="15"/>
                    <a:pt x="5" y="16"/>
                    <a:pt x="1" y="18"/>
                  </a:cubicBezTo>
                  <a:lnTo>
                    <a:pt x="0" y="15"/>
                  </a:lnTo>
                  <a:close/>
                  <a:moveTo>
                    <a:pt x="101" y="113"/>
                  </a:moveTo>
                  <a:cubicBezTo>
                    <a:pt x="104" y="113"/>
                    <a:pt x="107" y="114"/>
                    <a:pt x="109" y="116"/>
                  </a:cubicBezTo>
                  <a:cubicBezTo>
                    <a:pt x="111" y="118"/>
                    <a:pt x="112" y="120"/>
                    <a:pt x="112" y="123"/>
                  </a:cubicBezTo>
                  <a:cubicBezTo>
                    <a:pt x="112" y="126"/>
                    <a:pt x="111" y="129"/>
                    <a:pt x="109" y="131"/>
                  </a:cubicBezTo>
                  <a:cubicBezTo>
                    <a:pt x="106" y="133"/>
                    <a:pt x="104" y="134"/>
                    <a:pt x="101" y="134"/>
                  </a:cubicBezTo>
                  <a:cubicBezTo>
                    <a:pt x="98" y="134"/>
                    <a:pt x="96" y="133"/>
                    <a:pt x="94" y="131"/>
                  </a:cubicBezTo>
                  <a:cubicBezTo>
                    <a:pt x="92" y="129"/>
                    <a:pt x="91" y="126"/>
                    <a:pt x="91" y="123"/>
                  </a:cubicBezTo>
                  <a:cubicBezTo>
                    <a:pt x="91" y="120"/>
                    <a:pt x="92" y="118"/>
                    <a:pt x="94" y="116"/>
                  </a:cubicBezTo>
                  <a:cubicBezTo>
                    <a:pt x="96" y="114"/>
                    <a:pt x="98" y="113"/>
                    <a:pt x="101" y="113"/>
                  </a:cubicBezTo>
                  <a:moveTo>
                    <a:pt x="211" y="2"/>
                  </a:moveTo>
                  <a:lnTo>
                    <a:pt x="204" y="18"/>
                  </a:lnTo>
                  <a:lnTo>
                    <a:pt x="165" y="18"/>
                  </a:lnTo>
                  <a:lnTo>
                    <a:pt x="157" y="36"/>
                  </a:lnTo>
                  <a:cubicBezTo>
                    <a:pt x="173" y="38"/>
                    <a:pt x="187" y="44"/>
                    <a:pt x="197" y="54"/>
                  </a:cubicBezTo>
                  <a:cubicBezTo>
                    <a:pt x="205" y="63"/>
                    <a:pt x="209" y="73"/>
                    <a:pt x="209" y="85"/>
                  </a:cubicBezTo>
                  <a:cubicBezTo>
                    <a:pt x="209" y="92"/>
                    <a:pt x="208" y="98"/>
                    <a:pt x="205" y="104"/>
                  </a:cubicBezTo>
                  <a:cubicBezTo>
                    <a:pt x="202" y="109"/>
                    <a:pt x="199" y="114"/>
                    <a:pt x="195" y="118"/>
                  </a:cubicBezTo>
                  <a:cubicBezTo>
                    <a:pt x="190" y="122"/>
                    <a:pt x="186" y="126"/>
                    <a:pt x="181" y="128"/>
                  </a:cubicBezTo>
                  <a:cubicBezTo>
                    <a:pt x="173" y="132"/>
                    <a:pt x="166" y="133"/>
                    <a:pt x="158" y="133"/>
                  </a:cubicBezTo>
                  <a:cubicBezTo>
                    <a:pt x="151" y="133"/>
                    <a:pt x="145" y="132"/>
                    <a:pt x="141" y="129"/>
                  </a:cubicBezTo>
                  <a:cubicBezTo>
                    <a:pt x="138" y="127"/>
                    <a:pt x="136" y="124"/>
                    <a:pt x="136" y="121"/>
                  </a:cubicBezTo>
                  <a:cubicBezTo>
                    <a:pt x="136" y="119"/>
                    <a:pt x="137" y="117"/>
                    <a:pt x="138" y="116"/>
                  </a:cubicBezTo>
                  <a:cubicBezTo>
                    <a:pt x="140" y="115"/>
                    <a:pt x="142" y="114"/>
                    <a:pt x="144" y="114"/>
                  </a:cubicBezTo>
                  <a:cubicBezTo>
                    <a:pt x="145" y="114"/>
                    <a:pt x="147" y="114"/>
                    <a:pt x="148" y="115"/>
                  </a:cubicBezTo>
                  <a:cubicBezTo>
                    <a:pt x="149" y="115"/>
                    <a:pt x="151" y="116"/>
                    <a:pt x="154" y="119"/>
                  </a:cubicBezTo>
                  <a:cubicBezTo>
                    <a:pt x="159" y="122"/>
                    <a:pt x="164" y="123"/>
                    <a:pt x="169" y="123"/>
                  </a:cubicBezTo>
                  <a:cubicBezTo>
                    <a:pt x="176" y="123"/>
                    <a:pt x="183" y="121"/>
                    <a:pt x="188" y="115"/>
                  </a:cubicBezTo>
                  <a:cubicBezTo>
                    <a:pt x="194" y="109"/>
                    <a:pt x="197" y="103"/>
                    <a:pt x="197" y="95"/>
                  </a:cubicBezTo>
                  <a:cubicBezTo>
                    <a:pt x="197" y="87"/>
                    <a:pt x="194" y="80"/>
                    <a:pt x="189" y="73"/>
                  </a:cubicBezTo>
                  <a:cubicBezTo>
                    <a:pt x="184" y="66"/>
                    <a:pt x="177" y="61"/>
                    <a:pt x="169" y="57"/>
                  </a:cubicBezTo>
                  <a:cubicBezTo>
                    <a:pt x="162" y="54"/>
                    <a:pt x="152" y="53"/>
                    <a:pt x="140" y="52"/>
                  </a:cubicBezTo>
                  <a:lnTo>
                    <a:pt x="165" y="2"/>
                  </a:lnTo>
                  <a:lnTo>
                    <a:pt x="211" y="2"/>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38" name="path 138"/>
            <p:cNvSpPr/>
            <p:nvPr/>
          </p:nvSpPr>
          <p:spPr>
            <a:xfrm>
              <a:off x="2556942" y="2341198"/>
              <a:ext cx="7313" cy="58065"/>
            </a:xfrm>
            <a:custGeom>
              <a:avLst/>
              <a:gdLst/>
              <a:ahLst/>
              <a:cxnLst/>
              <a:rect l="0" t="0" r="0" b="0"/>
              <a:pathLst>
                <a:path w="11" h="91">
                  <a:moveTo>
                    <a:pt x="5" y="5"/>
                  </a:moveTo>
                  <a:lnTo>
                    <a:pt x="5" y="85"/>
                  </a:lnTo>
                </a:path>
              </a:pathLst>
            </a:custGeom>
            <a:noFill/>
            <a:ln w="7313" cap="sq">
              <a:solidFill>
                <a:srgbClr val="000000"/>
              </a:solidFill>
              <a:prstDash val="solid"/>
              <a:miter lim="1000000"/>
            </a:ln>
          </p:spPr>
          <p:txBody>
            <a:bodyPr rtlCol="0"/>
            <a:lstStyle/>
            <a:p>
              <a:pPr algn="ctr"/>
              <a:endParaRPr lang="zh-CN" altLang="en-US"/>
            </a:p>
          </p:txBody>
        </p:sp>
        <p:sp>
          <p:nvSpPr>
            <p:cNvPr id="140" name="path 140"/>
            <p:cNvSpPr/>
            <p:nvPr/>
          </p:nvSpPr>
          <p:spPr>
            <a:xfrm>
              <a:off x="2531263" y="2447666"/>
              <a:ext cx="53971" cy="83505"/>
            </a:xfrm>
            <a:custGeom>
              <a:avLst/>
              <a:gdLst/>
              <a:ahLst/>
              <a:cxnLst/>
              <a:rect l="0" t="0" r="0" b="0"/>
              <a:pathLst>
                <a:path w="84" h="131">
                  <a:moveTo>
                    <a:pt x="84" y="106"/>
                  </a:moveTo>
                  <a:lnTo>
                    <a:pt x="75" y="131"/>
                  </a:lnTo>
                  <a:lnTo>
                    <a:pt x="0" y="131"/>
                  </a:lnTo>
                  <a:lnTo>
                    <a:pt x="0" y="127"/>
                  </a:lnTo>
                  <a:cubicBezTo>
                    <a:pt x="22" y="107"/>
                    <a:pt x="37" y="90"/>
                    <a:pt x="47" y="78"/>
                  </a:cubicBezTo>
                  <a:cubicBezTo>
                    <a:pt x="56" y="65"/>
                    <a:pt x="60" y="53"/>
                    <a:pt x="60" y="42"/>
                  </a:cubicBezTo>
                  <a:cubicBezTo>
                    <a:pt x="60" y="34"/>
                    <a:pt x="58" y="27"/>
                    <a:pt x="53" y="22"/>
                  </a:cubicBezTo>
                  <a:cubicBezTo>
                    <a:pt x="48" y="17"/>
                    <a:pt x="42" y="14"/>
                    <a:pt x="35" y="14"/>
                  </a:cubicBezTo>
                  <a:cubicBezTo>
                    <a:pt x="28" y="14"/>
                    <a:pt x="23" y="16"/>
                    <a:pt x="18" y="20"/>
                  </a:cubicBezTo>
                  <a:cubicBezTo>
                    <a:pt x="13" y="23"/>
                    <a:pt x="9" y="29"/>
                    <a:pt x="7" y="36"/>
                  </a:cubicBezTo>
                  <a:lnTo>
                    <a:pt x="3" y="36"/>
                  </a:lnTo>
                  <a:cubicBezTo>
                    <a:pt x="5" y="24"/>
                    <a:pt x="9" y="15"/>
                    <a:pt x="15" y="9"/>
                  </a:cubicBezTo>
                  <a:cubicBezTo>
                    <a:pt x="22" y="3"/>
                    <a:pt x="30" y="0"/>
                    <a:pt x="40" y="0"/>
                  </a:cubicBezTo>
                  <a:cubicBezTo>
                    <a:pt x="50" y="0"/>
                    <a:pt x="59" y="3"/>
                    <a:pt x="66" y="10"/>
                  </a:cubicBezTo>
                  <a:cubicBezTo>
                    <a:pt x="73" y="16"/>
                    <a:pt x="76" y="24"/>
                    <a:pt x="76" y="33"/>
                  </a:cubicBezTo>
                  <a:cubicBezTo>
                    <a:pt x="76" y="40"/>
                    <a:pt x="75" y="46"/>
                    <a:pt x="72" y="53"/>
                  </a:cubicBezTo>
                  <a:cubicBezTo>
                    <a:pt x="67" y="63"/>
                    <a:pt x="60" y="74"/>
                    <a:pt x="49" y="85"/>
                  </a:cubicBezTo>
                  <a:cubicBezTo>
                    <a:pt x="33" y="103"/>
                    <a:pt x="23" y="113"/>
                    <a:pt x="20" y="117"/>
                  </a:cubicBezTo>
                  <a:lnTo>
                    <a:pt x="53" y="117"/>
                  </a:lnTo>
                  <a:cubicBezTo>
                    <a:pt x="60" y="117"/>
                    <a:pt x="65" y="116"/>
                    <a:pt x="68" y="116"/>
                  </a:cubicBezTo>
                  <a:cubicBezTo>
                    <a:pt x="70" y="115"/>
                    <a:pt x="73" y="114"/>
                    <a:pt x="75" y="113"/>
                  </a:cubicBezTo>
                  <a:cubicBezTo>
                    <a:pt x="77" y="111"/>
                    <a:pt x="79" y="109"/>
                    <a:pt x="81" y="106"/>
                  </a:cubicBezTo>
                  <a:lnTo>
                    <a:pt x="84" y="106"/>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42" name="path 142"/>
            <p:cNvSpPr/>
            <p:nvPr/>
          </p:nvSpPr>
          <p:spPr>
            <a:xfrm>
              <a:off x="3617710" y="2341198"/>
              <a:ext cx="7313" cy="58065"/>
            </a:xfrm>
            <a:custGeom>
              <a:avLst/>
              <a:gdLst/>
              <a:ahLst/>
              <a:cxnLst/>
              <a:rect l="0" t="0" r="0" b="0"/>
              <a:pathLst>
                <a:path w="11" h="91">
                  <a:moveTo>
                    <a:pt x="5" y="5"/>
                  </a:moveTo>
                  <a:lnTo>
                    <a:pt x="5" y="85"/>
                  </a:lnTo>
                </a:path>
              </a:pathLst>
            </a:custGeom>
            <a:noFill/>
            <a:ln w="7313" cap="sq">
              <a:solidFill>
                <a:srgbClr val="000000"/>
              </a:solidFill>
              <a:prstDash val="solid"/>
              <a:miter lim="1000000"/>
            </a:ln>
          </p:spPr>
          <p:txBody>
            <a:bodyPr rtlCol="0"/>
            <a:lstStyle/>
            <a:p>
              <a:pPr algn="ctr"/>
              <a:endParaRPr lang="zh-CN" altLang="en-US"/>
            </a:p>
          </p:txBody>
        </p:sp>
        <p:sp>
          <p:nvSpPr>
            <p:cNvPr id="144" name="path 144"/>
            <p:cNvSpPr/>
            <p:nvPr/>
          </p:nvSpPr>
          <p:spPr>
            <a:xfrm>
              <a:off x="3544409" y="2447666"/>
              <a:ext cx="146422" cy="85194"/>
            </a:xfrm>
            <a:custGeom>
              <a:avLst/>
              <a:gdLst/>
              <a:ahLst/>
              <a:cxnLst/>
              <a:rect l="0" t="0" r="0" b="0"/>
              <a:pathLst>
                <a:path w="230" h="134">
                  <a:moveTo>
                    <a:pt x="84" y="106"/>
                  </a:moveTo>
                  <a:lnTo>
                    <a:pt x="75" y="131"/>
                  </a:lnTo>
                  <a:lnTo>
                    <a:pt x="0" y="131"/>
                  </a:lnTo>
                  <a:lnTo>
                    <a:pt x="0" y="127"/>
                  </a:lnTo>
                  <a:cubicBezTo>
                    <a:pt x="22" y="107"/>
                    <a:pt x="37" y="90"/>
                    <a:pt x="47" y="78"/>
                  </a:cubicBezTo>
                  <a:cubicBezTo>
                    <a:pt x="56" y="65"/>
                    <a:pt x="60" y="53"/>
                    <a:pt x="60" y="42"/>
                  </a:cubicBezTo>
                  <a:cubicBezTo>
                    <a:pt x="60" y="34"/>
                    <a:pt x="58" y="27"/>
                    <a:pt x="53" y="22"/>
                  </a:cubicBezTo>
                  <a:cubicBezTo>
                    <a:pt x="48" y="17"/>
                    <a:pt x="42" y="14"/>
                    <a:pt x="35" y="14"/>
                  </a:cubicBezTo>
                  <a:cubicBezTo>
                    <a:pt x="28" y="14"/>
                    <a:pt x="23" y="16"/>
                    <a:pt x="18" y="20"/>
                  </a:cubicBezTo>
                  <a:cubicBezTo>
                    <a:pt x="13" y="23"/>
                    <a:pt x="9" y="29"/>
                    <a:pt x="7" y="36"/>
                  </a:cubicBezTo>
                  <a:lnTo>
                    <a:pt x="3" y="36"/>
                  </a:lnTo>
                  <a:cubicBezTo>
                    <a:pt x="5" y="24"/>
                    <a:pt x="9" y="15"/>
                    <a:pt x="15" y="9"/>
                  </a:cubicBezTo>
                  <a:cubicBezTo>
                    <a:pt x="22" y="3"/>
                    <a:pt x="30" y="0"/>
                    <a:pt x="40" y="0"/>
                  </a:cubicBezTo>
                  <a:cubicBezTo>
                    <a:pt x="50" y="0"/>
                    <a:pt x="59" y="3"/>
                    <a:pt x="66" y="10"/>
                  </a:cubicBezTo>
                  <a:cubicBezTo>
                    <a:pt x="73" y="16"/>
                    <a:pt x="76" y="24"/>
                    <a:pt x="76" y="33"/>
                  </a:cubicBezTo>
                  <a:cubicBezTo>
                    <a:pt x="76" y="40"/>
                    <a:pt x="75" y="46"/>
                    <a:pt x="72" y="53"/>
                  </a:cubicBezTo>
                  <a:cubicBezTo>
                    <a:pt x="67" y="63"/>
                    <a:pt x="60" y="74"/>
                    <a:pt x="49" y="85"/>
                  </a:cubicBezTo>
                  <a:cubicBezTo>
                    <a:pt x="33" y="103"/>
                    <a:pt x="24" y="113"/>
                    <a:pt x="20" y="117"/>
                  </a:cubicBezTo>
                  <a:lnTo>
                    <a:pt x="53" y="117"/>
                  </a:lnTo>
                  <a:cubicBezTo>
                    <a:pt x="60" y="117"/>
                    <a:pt x="65" y="116"/>
                    <a:pt x="68" y="116"/>
                  </a:cubicBezTo>
                  <a:cubicBezTo>
                    <a:pt x="70" y="115"/>
                    <a:pt x="73" y="114"/>
                    <a:pt x="75" y="113"/>
                  </a:cubicBezTo>
                  <a:cubicBezTo>
                    <a:pt x="77" y="111"/>
                    <a:pt x="79" y="109"/>
                    <a:pt x="81" y="106"/>
                  </a:cubicBezTo>
                  <a:lnTo>
                    <a:pt x="84" y="106"/>
                  </a:lnTo>
                  <a:close/>
                  <a:moveTo>
                    <a:pt x="120" y="113"/>
                  </a:moveTo>
                  <a:cubicBezTo>
                    <a:pt x="123" y="113"/>
                    <a:pt x="125" y="114"/>
                    <a:pt x="127" y="116"/>
                  </a:cubicBezTo>
                  <a:cubicBezTo>
                    <a:pt x="129" y="118"/>
                    <a:pt x="130" y="120"/>
                    <a:pt x="130" y="123"/>
                  </a:cubicBezTo>
                  <a:cubicBezTo>
                    <a:pt x="130" y="126"/>
                    <a:pt x="129" y="129"/>
                    <a:pt x="127" y="131"/>
                  </a:cubicBezTo>
                  <a:cubicBezTo>
                    <a:pt x="125" y="133"/>
                    <a:pt x="123" y="134"/>
                    <a:pt x="120" y="134"/>
                  </a:cubicBezTo>
                  <a:cubicBezTo>
                    <a:pt x="117" y="134"/>
                    <a:pt x="114" y="133"/>
                    <a:pt x="112" y="131"/>
                  </a:cubicBezTo>
                  <a:cubicBezTo>
                    <a:pt x="110" y="129"/>
                    <a:pt x="109" y="126"/>
                    <a:pt x="109" y="123"/>
                  </a:cubicBezTo>
                  <a:cubicBezTo>
                    <a:pt x="109" y="120"/>
                    <a:pt x="110" y="118"/>
                    <a:pt x="112" y="116"/>
                  </a:cubicBezTo>
                  <a:cubicBezTo>
                    <a:pt x="114" y="114"/>
                    <a:pt x="117" y="113"/>
                    <a:pt x="120" y="113"/>
                  </a:cubicBezTo>
                  <a:moveTo>
                    <a:pt x="230" y="2"/>
                  </a:moveTo>
                  <a:lnTo>
                    <a:pt x="223" y="18"/>
                  </a:lnTo>
                  <a:lnTo>
                    <a:pt x="184" y="18"/>
                  </a:lnTo>
                  <a:lnTo>
                    <a:pt x="175" y="36"/>
                  </a:lnTo>
                  <a:cubicBezTo>
                    <a:pt x="192" y="38"/>
                    <a:pt x="205" y="44"/>
                    <a:pt x="215" y="54"/>
                  </a:cubicBezTo>
                  <a:cubicBezTo>
                    <a:pt x="224" y="63"/>
                    <a:pt x="228" y="73"/>
                    <a:pt x="228" y="85"/>
                  </a:cubicBezTo>
                  <a:cubicBezTo>
                    <a:pt x="228" y="92"/>
                    <a:pt x="226" y="98"/>
                    <a:pt x="224" y="104"/>
                  </a:cubicBezTo>
                  <a:cubicBezTo>
                    <a:pt x="221" y="109"/>
                    <a:pt x="217" y="114"/>
                    <a:pt x="213" y="118"/>
                  </a:cubicBezTo>
                  <a:cubicBezTo>
                    <a:pt x="209" y="122"/>
                    <a:pt x="204" y="126"/>
                    <a:pt x="199" y="128"/>
                  </a:cubicBezTo>
                  <a:cubicBezTo>
                    <a:pt x="192" y="132"/>
                    <a:pt x="185" y="133"/>
                    <a:pt x="177" y="133"/>
                  </a:cubicBezTo>
                  <a:cubicBezTo>
                    <a:pt x="169" y="133"/>
                    <a:pt x="164" y="132"/>
                    <a:pt x="160" y="129"/>
                  </a:cubicBezTo>
                  <a:cubicBezTo>
                    <a:pt x="157" y="127"/>
                    <a:pt x="155" y="124"/>
                    <a:pt x="155" y="121"/>
                  </a:cubicBezTo>
                  <a:cubicBezTo>
                    <a:pt x="155" y="119"/>
                    <a:pt x="155" y="117"/>
                    <a:pt x="157" y="116"/>
                  </a:cubicBezTo>
                  <a:cubicBezTo>
                    <a:pt x="158" y="115"/>
                    <a:pt x="160" y="114"/>
                    <a:pt x="162" y="114"/>
                  </a:cubicBezTo>
                  <a:cubicBezTo>
                    <a:pt x="164" y="114"/>
                    <a:pt x="166" y="114"/>
                    <a:pt x="167" y="115"/>
                  </a:cubicBezTo>
                  <a:cubicBezTo>
                    <a:pt x="168" y="115"/>
                    <a:pt x="170" y="116"/>
                    <a:pt x="173" y="119"/>
                  </a:cubicBezTo>
                  <a:cubicBezTo>
                    <a:pt x="178" y="122"/>
                    <a:pt x="183" y="123"/>
                    <a:pt x="188" y="123"/>
                  </a:cubicBezTo>
                  <a:cubicBezTo>
                    <a:pt x="195" y="123"/>
                    <a:pt x="201" y="121"/>
                    <a:pt x="207" y="115"/>
                  </a:cubicBezTo>
                  <a:cubicBezTo>
                    <a:pt x="213" y="109"/>
                    <a:pt x="215" y="103"/>
                    <a:pt x="215" y="95"/>
                  </a:cubicBezTo>
                  <a:cubicBezTo>
                    <a:pt x="215" y="87"/>
                    <a:pt x="213" y="80"/>
                    <a:pt x="208" y="73"/>
                  </a:cubicBezTo>
                  <a:cubicBezTo>
                    <a:pt x="203" y="66"/>
                    <a:pt x="196" y="61"/>
                    <a:pt x="187" y="57"/>
                  </a:cubicBezTo>
                  <a:cubicBezTo>
                    <a:pt x="180" y="54"/>
                    <a:pt x="171" y="53"/>
                    <a:pt x="159" y="52"/>
                  </a:cubicBezTo>
                  <a:lnTo>
                    <a:pt x="184" y="2"/>
                  </a:lnTo>
                  <a:lnTo>
                    <a:pt x="230" y="2"/>
                  </a:lnTo>
                  <a:close/>
                </a:path>
              </a:pathLst>
            </a:custGeom>
            <a:solidFill>
              <a:srgbClr val="000000">
                <a:alpha val="100000"/>
              </a:srgbClr>
            </a:solidFill>
            <a:ln w="0" cap="flat">
              <a:noFill/>
              <a:prstDash val="solid"/>
              <a:miter lim="0"/>
            </a:ln>
          </p:spPr>
          <p:txBody>
            <a:bodyPr rtlCol="0"/>
            <a:lstStyle/>
            <a:p>
              <a:pPr algn="ctr"/>
              <a:endParaRPr lang="zh-CN" altLang="en-US"/>
            </a:p>
          </p:txBody>
        </p:sp>
        <p:sp>
          <p:nvSpPr>
            <p:cNvPr id="146" name="path 146"/>
            <p:cNvSpPr/>
            <p:nvPr/>
          </p:nvSpPr>
          <p:spPr>
            <a:xfrm>
              <a:off x="4678351" y="2341198"/>
              <a:ext cx="7312" cy="58065"/>
            </a:xfrm>
            <a:custGeom>
              <a:avLst/>
              <a:gdLst/>
              <a:ahLst/>
              <a:cxnLst/>
              <a:rect l="0" t="0" r="0" b="0"/>
              <a:pathLst>
                <a:path w="11" h="91">
                  <a:moveTo>
                    <a:pt x="5" y="5"/>
                  </a:moveTo>
                  <a:lnTo>
                    <a:pt x="5" y="85"/>
                  </a:lnTo>
                </a:path>
              </a:pathLst>
            </a:custGeom>
            <a:noFill/>
            <a:ln w="7313" cap="sq">
              <a:solidFill>
                <a:srgbClr val="000000"/>
              </a:solidFill>
              <a:prstDash val="solid"/>
              <a:miter lim="1000000"/>
            </a:ln>
          </p:spPr>
          <p:txBody>
            <a:bodyPr rtlCol="0"/>
            <a:lstStyle/>
            <a:p>
              <a:pPr algn="ctr"/>
              <a:endParaRPr lang="zh-CN" altLang="en-US"/>
            </a:p>
          </p:txBody>
        </p:sp>
        <p:sp>
          <p:nvSpPr>
            <p:cNvPr id="148" name="path 148"/>
            <p:cNvSpPr/>
            <p:nvPr/>
          </p:nvSpPr>
          <p:spPr>
            <a:xfrm>
              <a:off x="2355633" y="2447666"/>
              <a:ext cx="2345804" cy="224100"/>
            </a:xfrm>
            <a:custGeom>
              <a:avLst/>
              <a:gdLst/>
              <a:ahLst/>
              <a:cxnLst/>
              <a:rect l="0" t="0" r="0" b="0"/>
              <a:pathLst>
                <a:path w="3694" h="352">
                  <a:moveTo>
                    <a:pt x="3622" y="27"/>
                  </a:moveTo>
                  <a:cubicBezTo>
                    <a:pt x="3626" y="18"/>
                    <a:pt x="3631" y="11"/>
                    <a:pt x="3636" y="7"/>
                  </a:cubicBezTo>
                  <a:cubicBezTo>
                    <a:pt x="3642" y="2"/>
                    <a:pt x="3649" y="0"/>
                    <a:pt x="3657" y="0"/>
                  </a:cubicBezTo>
                  <a:cubicBezTo>
                    <a:pt x="3668" y="0"/>
                    <a:pt x="3676" y="3"/>
                    <a:pt x="3681" y="10"/>
                  </a:cubicBezTo>
                  <a:cubicBezTo>
                    <a:pt x="3685" y="15"/>
                    <a:pt x="3687" y="20"/>
                    <a:pt x="3687" y="26"/>
                  </a:cubicBezTo>
                  <a:cubicBezTo>
                    <a:pt x="3687" y="35"/>
                    <a:pt x="3681" y="45"/>
                    <a:pt x="3670" y="55"/>
                  </a:cubicBezTo>
                  <a:cubicBezTo>
                    <a:pt x="3678" y="58"/>
                    <a:pt x="3684" y="62"/>
                    <a:pt x="3688" y="68"/>
                  </a:cubicBezTo>
                  <a:cubicBezTo>
                    <a:pt x="3692" y="74"/>
                    <a:pt x="3694" y="81"/>
                    <a:pt x="3694" y="88"/>
                  </a:cubicBezTo>
                  <a:cubicBezTo>
                    <a:pt x="3694" y="99"/>
                    <a:pt x="3690" y="109"/>
                    <a:pt x="3683" y="117"/>
                  </a:cubicBezTo>
                  <a:cubicBezTo>
                    <a:pt x="3674" y="128"/>
                    <a:pt x="3660" y="133"/>
                    <a:pt x="3643" y="133"/>
                  </a:cubicBezTo>
                  <a:cubicBezTo>
                    <a:pt x="3634" y="133"/>
                    <a:pt x="3628" y="132"/>
                    <a:pt x="3625" y="130"/>
                  </a:cubicBezTo>
                  <a:cubicBezTo>
                    <a:pt x="3622" y="128"/>
                    <a:pt x="3620" y="126"/>
                    <a:pt x="3620" y="123"/>
                  </a:cubicBezTo>
                  <a:cubicBezTo>
                    <a:pt x="3620" y="121"/>
                    <a:pt x="3621" y="120"/>
                    <a:pt x="3623" y="118"/>
                  </a:cubicBezTo>
                  <a:cubicBezTo>
                    <a:pt x="3624" y="117"/>
                    <a:pt x="3626" y="116"/>
                    <a:pt x="3628" y="116"/>
                  </a:cubicBezTo>
                  <a:cubicBezTo>
                    <a:pt x="3630" y="116"/>
                    <a:pt x="3631" y="116"/>
                    <a:pt x="3633" y="117"/>
                  </a:cubicBezTo>
                  <a:cubicBezTo>
                    <a:pt x="3634" y="117"/>
                    <a:pt x="3636" y="118"/>
                    <a:pt x="3640" y="120"/>
                  </a:cubicBezTo>
                  <a:cubicBezTo>
                    <a:pt x="3644" y="122"/>
                    <a:pt x="3647" y="124"/>
                    <a:pt x="3648" y="124"/>
                  </a:cubicBezTo>
                  <a:cubicBezTo>
                    <a:pt x="3650" y="125"/>
                    <a:pt x="3653" y="125"/>
                    <a:pt x="3656" y="125"/>
                  </a:cubicBezTo>
                  <a:cubicBezTo>
                    <a:pt x="3662" y="125"/>
                    <a:pt x="3668" y="123"/>
                    <a:pt x="3672" y="118"/>
                  </a:cubicBezTo>
                  <a:cubicBezTo>
                    <a:pt x="3677" y="113"/>
                    <a:pt x="3680" y="107"/>
                    <a:pt x="3680" y="100"/>
                  </a:cubicBezTo>
                  <a:cubicBezTo>
                    <a:pt x="3680" y="95"/>
                    <a:pt x="3679" y="90"/>
                    <a:pt x="3676" y="85"/>
                  </a:cubicBezTo>
                  <a:cubicBezTo>
                    <a:pt x="3675" y="82"/>
                    <a:pt x="3673" y="79"/>
                    <a:pt x="3671" y="77"/>
                  </a:cubicBezTo>
                  <a:cubicBezTo>
                    <a:pt x="3668" y="75"/>
                    <a:pt x="3664" y="72"/>
                    <a:pt x="3660" y="70"/>
                  </a:cubicBezTo>
                  <a:cubicBezTo>
                    <a:pt x="3655" y="68"/>
                    <a:pt x="3650" y="67"/>
                    <a:pt x="3645" y="67"/>
                  </a:cubicBezTo>
                  <a:lnTo>
                    <a:pt x="3642" y="67"/>
                  </a:lnTo>
                  <a:lnTo>
                    <a:pt x="3642" y="64"/>
                  </a:lnTo>
                  <a:cubicBezTo>
                    <a:pt x="3647" y="64"/>
                    <a:pt x="3652" y="62"/>
                    <a:pt x="3657" y="59"/>
                  </a:cubicBezTo>
                  <a:cubicBezTo>
                    <a:pt x="3662" y="56"/>
                    <a:pt x="3666" y="52"/>
                    <a:pt x="3668" y="48"/>
                  </a:cubicBezTo>
                  <a:cubicBezTo>
                    <a:pt x="3670" y="44"/>
                    <a:pt x="3672" y="39"/>
                    <a:pt x="3672" y="34"/>
                  </a:cubicBezTo>
                  <a:cubicBezTo>
                    <a:pt x="3672" y="28"/>
                    <a:pt x="3669" y="22"/>
                    <a:pt x="3665" y="18"/>
                  </a:cubicBezTo>
                  <a:cubicBezTo>
                    <a:pt x="3661" y="14"/>
                    <a:pt x="3656" y="12"/>
                    <a:pt x="3650" y="12"/>
                  </a:cubicBezTo>
                  <a:cubicBezTo>
                    <a:pt x="3640" y="12"/>
                    <a:pt x="3632" y="18"/>
                    <a:pt x="3626" y="28"/>
                  </a:cubicBezTo>
                  <a:lnTo>
                    <a:pt x="3622" y="27"/>
                  </a:lnTo>
                  <a:close/>
                </a:path>
                <a:path w="3694" h="352">
                  <a:moveTo>
                    <a:pt x="88" y="264"/>
                  </a:moveTo>
                  <a:lnTo>
                    <a:pt x="88" y="323"/>
                  </a:lnTo>
                  <a:lnTo>
                    <a:pt x="161" y="323"/>
                  </a:lnTo>
                  <a:lnTo>
                    <a:pt x="161" y="264"/>
                  </a:lnTo>
                  <a:lnTo>
                    <a:pt x="88" y="264"/>
                  </a:lnTo>
                  <a:close/>
                  <a:moveTo>
                    <a:pt x="75" y="348"/>
                  </a:moveTo>
                  <a:cubicBezTo>
                    <a:pt x="76" y="338"/>
                    <a:pt x="76" y="322"/>
                    <a:pt x="76" y="299"/>
                  </a:cubicBezTo>
                  <a:cubicBezTo>
                    <a:pt x="76" y="276"/>
                    <a:pt x="76" y="260"/>
                    <a:pt x="75" y="251"/>
                  </a:cubicBezTo>
                  <a:lnTo>
                    <a:pt x="89" y="259"/>
                  </a:lnTo>
                  <a:lnTo>
                    <a:pt x="118" y="259"/>
                  </a:lnTo>
                  <a:lnTo>
                    <a:pt x="118" y="212"/>
                  </a:lnTo>
                  <a:lnTo>
                    <a:pt x="86" y="212"/>
                  </a:lnTo>
                  <a:cubicBezTo>
                    <a:pt x="79" y="212"/>
                    <a:pt x="72" y="213"/>
                    <a:pt x="66" y="214"/>
                  </a:cubicBezTo>
                  <a:lnTo>
                    <a:pt x="59" y="207"/>
                  </a:lnTo>
                  <a:lnTo>
                    <a:pt x="118" y="207"/>
                  </a:lnTo>
                  <a:cubicBezTo>
                    <a:pt x="118" y="181"/>
                    <a:pt x="118" y="164"/>
                    <a:pt x="117" y="155"/>
                  </a:cubicBezTo>
                  <a:lnTo>
                    <a:pt x="136" y="163"/>
                  </a:lnTo>
                  <a:lnTo>
                    <a:pt x="130" y="171"/>
                  </a:lnTo>
                  <a:lnTo>
                    <a:pt x="130" y="207"/>
                  </a:lnTo>
                  <a:lnTo>
                    <a:pt x="168" y="207"/>
                  </a:lnTo>
                  <a:lnTo>
                    <a:pt x="179" y="196"/>
                  </a:lnTo>
                  <a:lnTo>
                    <a:pt x="195" y="212"/>
                  </a:lnTo>
                  <a:lnTo>
                    <a:pt x="130" y="212"/>
                  </a:lnTo>
                  <a:lnTo>
                    <a:pt x="130" y="259"/>
                  </a:lnTo>
                  <a:lnTo>
                    <a:pt x="160" y="259"/>
                  </a:lnTo>
                  <a:lnTo>
                    <a:pt x="168" y="250"/>
                  </a:lnTo>
                  <a:lnTo>
                    <a:pt x="181" y="261"/>
                  </a:lnTo>
                  <a:lnTo>
                    <a:pt x="173" y="266"/>
                  </a:lnTo>
                  <a:lnTo>
                    <a:pt x="173" y="315"/>
                  </a:lnTo>
                  <a:cubicBezTo>
                    <a:pt x="173" y="323"/>
                    <a:pt x="173" y="332"/>
                    <a:pt x="174" y="341"/>
                  </a:cubicBezTo>
                  <a:lnTo>
                    <a:pt x="161" y="347"/>
                  </a:lnTo>
                  <a:lnTo>
                    <a:pt x="161" y="328"/>
                  </a:lnTo>
                  <a:lnTo>
                    <a:pt x="88" y="328"/>
                  </a:lnTo>
                  <a:lnTo>
                    <a:pt x="88" y="343"/>
                  </a:lnTo>
                  <a:lnTo>
                    <a:pt x="75" y="348"/>
                  </a:lnTo>
                  <a:close/>
                  <a:moveTo>
                    <a:pt x="41" y="216"/>
                  </a:moveTo>
                  <a:lnTo>
                    <a:pt x="52" y="221"/>
                  </a:lnTo>
                  <a:lnTo>
                    <a:pt x="47" y="227"/>
                  </a:lnTo>
                  <a:lnTo>
                    <a:pt x="47" y="311"/>
                  </a:lnTo>
                  <a:cubicBezTo>
                    <a:pt x="47" y="321"/>
                    <a:pt x="47" y="333"/>
                    <a:pt x="48" y="346"/>
                  </a:cubicBezTo>
                  <a:lnTo>
                    <a:pt x="34" y="352"/>
                  </a:lnTo>
                  <a:cubicBezTo>
                    <a:pt x="35" y="337"/>
                    <a:pt x="35" y="325"/>
                    <a:pt x="35" y="316"/>
                  </a:cubicBezTo>
                  <a:lnTo>
                    <a:pt x="35" y="227"/>
                  </a:lnTo>
                  <a:cubicBezTo>
                    <a:pt x="25" y="242"/>
                    <a:pt x="14" y="255"/>
                    <a:pt x="2" y="266"/>
                  </a:cubicBezTo>
                  <a:lnTo>
                    <a:pt x="0" y="264"/>
                  </a:lnTo>
                  <a:cubicBezTo>
                    <a:pt x="12" y="249"/>
                    <a:pt x="23" y="232"/>
                    <a:pt x="31" y="215"/>
                  </a:cubicBezTo>
                  <a:cubicBezTo>
                    <a:pt x="39" y="197"/>
                    <a:pt x="47" y="179"/>
                    <a:pt x="54" y="158"/>
                  </a:cubicBezTo>
                  <a:lnTo>
                    <a:pt x="71" y="170"/>
                  </a:lnTo>
                  <a:lnTo>
                    <a:pt x="63" y="175"/>
                  </a:lnTo>
                  <a:cubicBezTo>
                    <a:pt x="55" y="190"/>
                    <a:pt x="48" y="204"/>
                    <a:pt x="41" y="216"/>
                  </a:cubicBezTo>
                  <a:moveTo>
                    <a:pt x="244" y="163"/>
                  </a:moveTo>
                  <a:lnTo>
                    <a:pt x="245" y="160"/>
                  </a:lnTo>
                  <a:cubicBezTo>
                    <a:pt x="257" y="166"/>
                    <a:pt x="266" y="170"/>
                    <a:pt x="270" y="174"/>
                  </a:cubicBezTo>
                  <a:cubicBezTo>
                    <a:pt x="275" y="178"/>
                    <a:pt x="277" y="182"/>
                    <a:pt x="277" y="186"/>
                  </a:cubicBezTo>
                  <a:cubicBezTo>
                    <a:pt x="277" y="190"/>
                    <a:pt x="276" y="193"/>
                    <a:pt x="274" y="194"/>
                  </a:cubicBezTo>
                  <a:cubicBezTo>
                    <a:pt x="273" y="196"/>
                    <a:pt x="271" y="197"/>
                    <a:pt x="271" y="197"/>
                  </a:cubicBezTo>
                  <a:cubicBezTo>
                    <a:pt x="268" y="197"/>
                    <a:pt x="265" y="194"/>
                    <a:pt x="263" y="187"/>
                  </a:cubicBezTo>
                  <a:cubicBezTo>
                    <a:pt x="259" y="179"/>
                    <a:pt x="253" y="170"/>
                    <a:pt x="244" y="163"/>
                  </a:cubicBezTo>
                  <a:moveTo>
                    <a:pt x="267" y="316"/>
                  </a:moveTo>
                  <a:lnTo>
                    <a:pt x="299" y="288"/>
                  </a:lnTo>
                  <a:lnTo>
                    <a:pt x="301" y="291"/>
                  </a:lnTo>
                  <a:cubicBezTo>
                    <a:pt x="281" y="316"/>
                    <a:pt x="269" y="332"/>
                    <a:pt x="265" y="341"/>
                  </a:cubicBezTo>
                  <a:lnTo>
                    <a:pt x="252" y="326"/>
                  </a:lnTo>
                  <a:cubicBezTo>
                    <a:pt x="255" y="323"/>
                    <a:pt x="256" y="318"/>
                    <a:pt x="256" y="311"/>
                  </a:cubicBezTo>
                  <a:lnTo>
                    <a:pt x="256" y="235"/>
                  </a:lnTo>
                  <a:lnTo>
                    <a:pt x="234" y="235"/>
                  </a:lnTo>
                  <a:lnTo>
                    <a:pt x="241" y="235"/>
                  </a:lnTo>
                  <a:cubicBezTo>
                    <a:pt x="238" y="235"/>
                    <a:pt x="233" y="236"/>
                    <a:pt x="227" y="238"/>
                  </a:cubicBezTo>
                  <a:lnTo>
                    <a:pt x="220" y="230"/>
                  </a:lnTo>
                  <a:lnTo>
                    <a:pt x="254" y="230"/>
                  </a:lnTo>
                  <a:lnTo>
                    <a:pt x="263" y="221"/>
                  </a:lnTo>
                  <a:lnTo>
                    <a:pt x="275" y="233"/>
                  </a:lnTo>
                  <a:lnTo>
                    <a:pt x="267" y="239"/>
                  </a:lnTo>
                  <a:lnTo>
                    <a:pt x="267" y="316"/>
                  </a:lnTo>
                  <a:close/>
                  <a:moveTo>
                    <a:pt x="340" y="231"/>
                  </a:moveTo>
                  <a:cubicBezTo>
                    <a:pt x="340" y="194"/>
                    <a:pt x="340" y="170"/>
                    <a:pt x="339" y="158"/>
                  </a:cubicBezTo>
                  <a:lnTo>
                    <a:pt x="359" y="168"/>
                  </a:lnTo>
                  <a:lnTo>
                    <a:pt x="353" y="174"/>
                  </a:lnTo>
                  <a:lnTo>
                    <a:pt x="353" y="231"/>
                  </a:lnTo>
                  <a:lnTo>
                    <a:pt x="390" y="231"/>
                  </a:lnTo>
                  <a:lnTo>
                    <a:pt x="401" y="220"/>
                  </a:lnTo>
                  <a:lnTo>
                    <a:pt x="416" y="236"/>
                  </a:lnTo>
                  <a:lnTo>
                    <a:pt x="353" y="236"/>
                  </a:lnTo>
                  <a:lnTo>
                    <a:pt x="353" y="312"/>
                  </a:lnTo>
                  <a:cubicBezTo>
                    <a:pt x="353" y="323"/>
                    <a:pt x="353" y="334"/>
                    <a:pt x="353" y="343"/>
                  </a:cubicBezTo>
                  <a:lnTo>
                    <a:pt x="339" y="349"/>
                  </a:lnTo>
                  <a:cubicBezTo>
                    <a:pt x="340" y="332"/>
                    <a:pt x="340" y="319"/>
                    <a:pt x="340" y="310"/>
                  </a:cubicBezTo>
                  <a:lnTo>
                    <a:pt x="340" y="236"/>
                  </a:lnTo>
                  <a:lnTo>
                    <a:pt x="297" y="236"/>
                  </a:lnTo>
                  <a:lnTo>
                    <a:pt x="310" y="236"/>
                  </a:lnTo>
                  <a:cubicBezTo>
                    <a:pt x="303" y="236"/>
                    <a:pt x="297" y="237"/>
                    <a:pt x="291" y="239"/>
                  </a:cubicBezTo>
                  <a:lnTo>
                    <a:pt x="283" y="231"/>
                  </a:lnTo>
                  <a:lnTo>
                    <a:pt x="340" y="231"/>
                  </a:lnTo>
                  <a:close/>
                  <a:moveTo>
                    <a:pt x="483" y="307"/>
                  </a:moveTo>
                  <a:cubicBezTo>
                    <a:pt x="483" y="327"/>
                    <a:pt x="483" y="340"/>
                    <a:pt x="484" y="347"/>
                  </a:cubicBezTo>
                  <a:lnTo>
                    <a:pt x="471" y="351"/>
                  </a:lnTo>
                  <a:cubicBezTo>
                    <a:pt x="472" y="331"/>
                    <a:pt x="472" y="317"/>
                    <a:pt x="472" y="311"/>
                  </a:cubicBezTo>
                  <a:lnTo>
                    <a:pt x="472" y="228"/>
                  </a:lnTo>
                  <a:cubicBezTo>
                    <a:pt x="462" y="244"/>
                    <a:pt x="452" y="257"/>
                    <a:pt x="443" y="267"/>
                  </a:cubicBezTo>
                  <a:lnTo>
                    <a:pt x="440" y="265"/>
                  </a:lnTo>
                  <a:cubicBezTo>
                    <a:pt x="451" y="249"/>
                    <a:pt x="460" y="231"/>
                    <a:pt x="469" y="211"/>
                  </a:cubicBezTo>
                  <a:cubicBezTo>
                    <a:pt x="477" y="191"/>
                    <a:pt x="483" y="172"/>
                    <a:pt x="488" y="155"/>
                  </a:cubicBezTo>
                  <a:lnTo>
                    <a:pt x="505" y="166"/>
                  </a:lnTo>
                  <a:lnTo>
                    <a:pt x="497" y="171"/>
                  </a:lnTo>
                  <a:cubicBezTo>
                    <a:pt x="488" y="192"/>
                    <a:pt x="482" y="206"/>
                    <a:pt x="479" y="213"/>
                  </a:cubicBezTo>
                  <a:lnTo>
                    <a:pt x="489" y="219"/>
                  </a:lnTo>
                  <a:lnTo>
                    <a:pt x="483" y="224"/>
                  </a:lnTo>
                  <a:lnTo>
                    <a:pt x="483" y="307"/>
                  </a:lnTo>
                  <a:close/>
                  <a:moveTo>
                    <a:pt x="528" y="221"/>
                  </a:moveTo>
                  <a:lnTo>
                    <a:pt x="528" y="246"/>
                  </a:lnTo>
                  <a:lnTo>
                    <a:pt x="592" y="246"/>
                  </a:lnTo>
                  <a:lnTo>
                    <a:pt x="592" y="221"/>
                  </a:lnTo>
                  <a:lnTo>
                    <a:pt x="528" y="221"/>
                  </a:lnTo>
                  <a:close/>
                  <a:moveTo>
                    <a:pt x="528" y="251"/>
                  </a:moveTo>
                  <a:lnTo>
                    <a:pt x="528" y="276"/>
                  </a:lnTo>
                  <a:lnTo>
                    <a:pt x="592" y="276"/>
                  </a:lnTo>
                  <a:lnTo>
                    <a:pt x="592" y="251"/>
                  </a:lnTo>
                  <a:lnTo>
                    <a:pt x="528" y="251"/>
                  </a:lnTo>
                  <a:close/>
                  <a:moveTo>
                    <a:pt x="528" y="281"/>
                  </a:moveTo>
                  <a:lnTo>
                    <a:pt x="528" y="306"/>
                  </a:lnTo>
                  <a:lnTo>
                    <a:pt x="592" y="306"/>
                  </a:lnTo>
                  <a:lnTo>
                    <a:pt x="592" y="281"/>
                  </a:lnTo>
                  <a:lnTo>
                    <a:pt x="528" y="281"/>
                  </a:lnTo>
                  <a:close/>
                  <a:moveTo>
                    <a:pt x="528" y="311"/>
                  </a:moveTo>
                  <a:lnTo>
                    <a:pt x="528" y="337"/>
                  </a:lnTo>
                  <a:lnTo>
                    <a:pt x="592" y="337"/>
                  </a:lnTo>
                  <a:lnTo>
                    <a:pt x="592" y="311"/>
                  </a:lnTo>
                  <a:lnTo>
                    <a:pt x="528" y="311"/>
                  </a:lnTo>
                  <a:close/>
                  <a:moveTo>
                    <a:pt x="550" y="187"/>
                  </a:moveTo>
                  <a:cubicBezTo>
                    <a:pt x="551" y="174"/>
                    <a:pt x="551" y="163"/>
                    <a:pt x="550" y="154"/>
                  </a:cubicBezTo>
                  <a:lnTo>
                    <a:pt x="570" y="163"/>
                  </a:lnTo>
                  <a:lnTo>
                    <a:pt x="563" y="168"/>
                  </a:lnTo>
                  <a:lnTo>
                    <a:pt x="562" y="187"/>
                  </a:lnTo>
                  <a:lnTo>
                    <a:pt x="600" y="187"/>
                  </a:lnTo>
                  <a:lnTo>
                    <a:pt x="611" y="176"/>
                  </a:lnTo>
                  <a:lnTo>
                    <a:pt x="627" y="192"/>
                  </a:lnTo>
                  <a:lnTo>
                    <a:pt x="562" y="192"/>
                  </a:lnTo>
                  <a:lnTo>
                    <a:pt x="561" y="216"/>
                  </a:lnTo>
                  <a:lnTo>
                    <a:pt x="591" y="216"/>
                  </a:lnTo>
                  <a:lnTo>
                    <a:pt x="598" y="208"/>
                  </a:lnTo>
                  <a:lnTo>
                    <a:pt x="611" y="219"/>
                  </a:lnTo>
                  <a:lnTo>
                    <a:pt x="603" y="224"/>
                  </a:lnTo>
                  <a:lnTo>
                    <a:pt x="603" y="337"/>
                  </a:lnTo>
                  <a:lnTo>
                    <a:pt x="611" y="337"/>
                  </a:lnTo>
                  <a:lnTo>
                    <a:pt x="622" y="326"/>
                  </a:lnTo>
                  <a:lnTo>
                    <a:pt x="637" y="342"/>
                  </a:lnTo>
                  <a:lnTo>
                    <a:pt x="514" y="342"/>
                  </a:lnTo>
                  <a:cubicBezTo>
                    <a:pt x="506" y="342"/>
                    <a:pt x="500" y="342"/>
                    <a:pt x="494" y="344"/>
                  </a:cubicBezTo>
                  <a:lnTo>
                    <a:pt x="486" y="337"/>
                  </a:lnTo>
                  <a:lnTo>
                    <a:pt x="517" y="337"/>
                  </a:lnTo>
                  <a:lnTo>
                    <a:pt x="517" y="244"/>
                  </a:lnTo>
                  <a:cubicBezTo>
                    <a:pt x="517" y="237"/>
                    <a:pt x="517" y="226"/>
                    <a:pt x="516" y="209"/>
                  </a:cubicBezTo>
                  <a:lnTo>
                    <a:pt x="528" y="216"/>
                  </a:lnTo>
                  <a:lnTo>
                    <a:pt x="550" y="216"/>
                  </a:lnTo>
                  <a:lnTo>
                    <a:pt x="550" y="192"/>
                  </a:lnTo>
                  <a:lnTo>
                    <a:pt x="525" y="192"/>
                  </a:lnTo>
                  <a:cubicBezTo>
                    <a:pt x="518" y="192"/>
                    <a:pt x="511" y="193"/>
                    <a:pt x="505" y="194"/>
                  </a:cubicBezTo>
                  <a:lnTo>
                    <a:pt x="498" y="187"/>
                  </a:lnTo>
                  <a:lnTo>
                    <a:pt x="550" y="187"/>
                  </a:lnTo>
                  <a:close/>
                </a:path>
              </a:pathLst>
            </a:custGeom>
            <a:solidFill>
              <a:srgbClr val="000000">
                <a:alpha val="100000"/>
              </a:srgbClr>
            </a:solidFill>
            <a:ln w="0" cap="flat">
              <a:noFill/>
              <a:prstDash val="solid"/>
              <a:miter lim="0"/>
            </a:ln>
          </p:spPr>
          <p:txBody>
            <a:bodyPr rtlCol="0"/>
            <a:lstStyle/>
            <a:p>
              <a:pPr algn="ctr"/>
              <a:endParaRPr lang="zh-CN" altLang="en-US"/>
            </a:p>
          </p:txBody>
        </p:sp>
      </p:grpSp>
      <p:graphicFrame>
        <p:nvGraphicFramePr>
          <p:cNvPr id="150" name="table 150"/>
          <p:cNvGraphicFramePr>
            <a:graphicFrameLocks noGrp="1"/>
          </p:cNvGraphicFramePr>
          <p:nvPr/>
        </p:nvGraphicFramePr>
        <p:xfrm>
          <a:off x="3402910" y="6089501"/>
          <a:ext cx="2708909" cy="229869"/>
        </p:xfrm>
        <a:graphic>
          <a:graphicData uri="http://schemas.openxmlformats.org/drawingml/2006/table">
            <a:tbl>
              <a:tblPr/>
              <a:tblGrid>
                <a:gridCol w="2708909"/>
              </a:tblGrid>
              <a:tr h="229869">
                <a:tc>
                  <a:txBody>
                    <a:bodyPr/>
                    <a:lstStyle/>
                    <a:p>
                      <a:pPr algn="l" rtl="0" eaLnBrk="0">
                        <a:lnSpc>
                          <a:spcPct val="116000"/>
                        </a:lnSpc>
                      </a:pPr>
                      <a:endParaRPr sz="300" dirty="0">
                        <a:latin typeface="Arial" panose="020B0604020202020204"/>
                        <a:ea typeface="Arial" panose="020B0604020202020204"/>
                        <a:cs typeface="Arial" panose="020B0604020202020204"/>
                      </a:endParaRPr>
                    </a:p>
                    <a:p>
                      <a:pPr marL="530225" algn="l" rtl="0" eaLnBrk="0">
                        <a:lnSpc>
                          <a:spcPct val="83000"/>
                        </a:lnSpc>
                        <a:spcBef>
                          <a:spcPts val="0"/>
                        </a:spcBef>
                        <a:tabLst>
                          <a:tab pos="609600" algn="l"/>
                        </a:tabLst>
                      </a:pPr>
                      <a:r>
                        <a:rPr sz="1000" kern="0" spc="0" dirty="0">
                          <a:solidFill>
                            <a:srgbClr val="000000">
                              <a:alpha val="100000"/>
                            </a:srgbClr>
                          </a:solidFill>
                          <a:latin typeface="Arial" panose="020B0604020202020204"/>
                          <a:ea typeface="Arial" panose="020B0604020202020204"/>
                          <a:cs typeface="Arial" panose="020B0604020202020204"/>
                        </a:rPr>
                        <a:t>	OL</a:t>
                      </a:r>
                      <a:r>
                        <a:rPr sz="1000" kern="0" spc="-5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S</a:t>
                      </a:r>
                      <a:r>
                        <a:rPr sz="10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估计量</a:t>
                      </a:r>
                      <a:r>
                        <a:rPr sz="10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000" kern="0" spc="130" dirty="0">
                          <a:solidFill>
                            <a:srgbClr val="FF0000">
                              <a:alpha val="100000"/>
                            </a:srgbClr>
                          </a:solidFill>
                          <a:latin typeface="Arial" panose="020B0604020202020204"/>
                          <a:ea typeface="Arial" panose="020B0604020202020204"/>
                          <a:cs typeface="Arial" panose="020B0604020202020204"/>
                        </a:rPr>
                        <a:t>-</a:t>
                      </a:r>
                      <a:r>
                        <a:rPr sz="1000" kern="0" spc="-60" dirty="0">
                          <a:solidFill>
                            <a:srgbClr val="FF0000">
                              <a:alpha val="100000"/>
                            </a:srgbClr>
                          </a:solidFill>
                          <a:latin typeface="Arial" panose="020B0604020202020204"/>
                          <a:ea typeface="Arial" panose="020B0604020202020204"/>
                          <a:cs typeface="Arial" panose="020B0604020202020204"/>
                        </a:rPr>
                        <a:t> </a:t>
                      </a:r>
                      <a:r>
                        <a:rPr sz="1000" kern="0" spc="130" dirty="0">
                          <a:solidFill>
                            <a:srgbClr val="FF0000">
                              <a:alpha val="100000"/>
                            </a:srgbClr>
                          </a:solidFill>
                          <a:latin typeface="Arial" panose="020B0604020202020204"/>
                          <a:ea typeface="Arial" panose="020B0604020202020204"/>
                          <a:cs typeface="Arial" panose="020B0604020202020204"/>
                        </a:rPr>
                        <a:t>-</a:t>
                      </a:r>
                      <a:r>
                        <a:rPr sz="1000" kern="0" spc="-80" dirty="0">
                          <a:solidFill>
                            <a:srgbClr val="FF0000">
                              <a:alpha val="100000"/>
                            </a:srgbClr>
                          </a:solidFill>
                          <a:latin typeface="Arial" panose="020B0604020202020204"/>
                          <a:ea typeface="Arial" panose="020B0604020202020204"/>
                          <a:cs typeface="Arial" panose="020B0604020202020204"/>
                        </a:rPr>
                        <a:t> </a:t>
                      </a:r>
                      <a:r>
                        <a:rPr sz="1000" kern="0" spc="130" dirty="0">
                          <a:solidFill>
                            <a:srgbClr val="FF0000">
                              <a:alpha val="100000"/>
                            </a:srgbClr>
                          </a:solidFill>
                          <a:latin typeface="Arial" panose="020B0604020202020204"/>
                          <a:ea typeface="Arial" panose="020B0604020202020204"/>
                          <a:cs typeface="Arial" panose="020B0604020202020204"/>
                        </a:rPr>
                        <a:t>-</a:t>
                      </a:r>
                      <a:r>
                        <a:rPr sz="1000" kern="0" spc="-80" dirty="0">
                          <a:solidFill>
                            <a:srgbClr val="FF0000">
                              <a:alpha val="100000"/>
                            </a:srgbClr>
                          </a:solidFill>
                          <a:latin typeface="Arial" panose="020B0604020202020204"/>
                          <a:ea typeface="Arial" panose="020B0604020202020204"/>
                          <a:cs typeface="Arial" panose="020B0604020202020204"/>
                        </a:rPr>
                        <a:t> </a:t>
                      </a:r>
                      <a:r>
                        <a:rPr sz="1000" kern="0" spc="130" dirty="0">
                          <a:solidFill>
                            <a:srgbClr val="FF0000">
                              <a:alpha val="100000"/>
                            </a:srgbClr>
                          </a:solidFill>
                          <a:latin typeface="Arial" panose="020B0604020202020204"/>
                          <a:ea typeface="Arial" panose="020B0604020202020204"/>
                          <a:cs typeface="Arial" panose="020B0604020202020204"/>
                        </a:rPr>
                        <a:t>-</a:t>
                      </a:r>
                      <a:r>
                        <a:rPr sz="1000" kern="0" spc="-70" dirty="0">
                          <a:solidFill>
                            <a:srgbClr val="FF0000">
                              <a:alpha val="100000"/>
                            </a:srgbClr>
                          </a:solidFill>
                          <a:latin typeface="Arial" panose="020B0604020202020204"/>
                          <a:ea typeface="Arial" panose="020B0604020202020204"/>
                          <a:cs typeface="Arial" panose="020B0604020202020204"/>
                        </a:rPr>
                        <a:t> </a:t>
                      </a:r>
                      <a:r>
                        <a:rPr sz="1000" kern="0" spc="130" dirty="0">
                          <a:solidFill>
                            <a:srgbClr val="FF0000">
                              <a:alpha val="100000"/>
                            </a:srgbClr>
                          </a:solidFill>
                          <a:latin typeface="Arial" panose="020B0604020202020204"/>
                          <a:ea typeface="Arial" panose="020B0604020202020204"/>
                          <a:cs typeface="Arial" panose="020B0604020202020204"/>
                        </a:rPr>
                        <a:t>-</a:t>
                      </a:r>
                      <a:r>
                        <a:rPr sz="1000" kern="0" spc="10" dirty="0">
                          <a:solidFill>
                            <a:srgbClr val="FF0000">
                              <a:alpha val="100000"/>
                            </a:srgbClr>
                          </a:solidFill>
                          <a:latin typeface="Arial" panose="020B0604020202020204"/>
                          <a:ea typeface="Arial" panose="020B0604020202020204"/>
                          <a:cs typeface="Arial" panose="020B0604020202020204"/>
                        </a:rPr>
                        <a:t>  </a:t>
                      </a:r>
                      <a:r>
                        <a:rPr sz="10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其他估计量</a:t>
                      </a:r>
                      <a:endParaRPr sz="1000" dirty="0">
                        <a:latin typeface="微软雅黑" panose="020B0503020204020204" charset="-122"/>
                        <a:ea typeface="微软雅黑" panose="020B0503020204020204" charset="-122"/>
                        <a:cs typeface="微软雅黑" panose="020B0503020204020204"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52" name="picture 152"/>
          <p:cNvPicPr>
            <a:picLocks noChangeAspect="1"/>
          </p:cNvPicPr>
          <p:nvPr/>
        </p:nvPicPr>
        <p:blipFill>
          <a:blip r:embed="rId4"/>
          <a:stretch>
            <a:fillRect/>
          </a:stretch>
        </p:blipFill>
        <p:spPr>
          <a:xfrm rot="21600000">
            <a:off x="3457745" y="6193358"/>
            <a:ext cx="475472" cy="29256"/>
          </a:xfrm>
          <a:prstGeom prst="rect">
            <a:avLst/>
          </a:prstGeom>
        </p:spPr>
      </p:pic>
      <p:sp>
        <p:nvSpPr>
          <p:cNvPr id="154" name="textbox 154"/>
          <p:cNvSpPr/>
          <p:nvPr/>
        </p:nvSpPr>
        <p:spPr>
          <a:xfrm>
            <a:off x="3389931" y="3102214"/>
            <a:ext cx="2733039" cy="202564"/>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89000"/>
              </a:lnSpc>
            </a:pPr>
            <a:r>
              <a:rPr sz="1300" kern="0" spc="210" dirty="0">
                <a:solidFill>
                  <a:srgbClr val="1E2D53">
                    <a:alpha val="100000"/>
                  </a:srgbClr>
                </a:solidFill>
                <a:latin typeface="微软雅黑" panose="020B0503020204020204" charset="-122"/>
                <a:ea typeface="微软雅黑" panose="020B0503020204020204" charset="-122"/>
                <a:cs typeface="微软雅黑" panose="020B0503020204020204" charset="-122"/>
              </a:rPr>
              <a:t>蒙特卡洛模拟:</a:t>
            </a:r>
            <a:r>
              <a:rPr sz="1300" kern="0" spc="180" dirty="0">
                <a:solidFill>
                  <a:srgbClr val="1E2D53">
                    <a:alpha val="100000"/>
                  </a:srgbClr>
                </a:solidFill>
                <a:latin typeface="微软雅黑" panose="020B0503020204020204" charset="-122"/>
                <a:ea typeface="微软雅黑" panose="020B0503020204020204" charset="-122"/>
                <a:cs typeface="微软雅黑" panose="020B0503020204020204" charset="-122"/>
              </a:rPr>
              <a:t>  </a:t>
            </a:r>
            <a:r>
              <a:rPr sz="1300" kern="0" spc="210" dirty="0">
                <a:solidFill>
                  <a:srgbClr val="1E2D53">
                    <a:alpha val="100000"/>
                  </a:srgbClr>
                </a:solidFill>
                <a:latin typeface="微软雅黑" panose="020B0503020204020204" charset="-122"/>
                <a:ea typeface="微软雅黑" panose="020B0503020204020204" charset="-122"/>
                <a:cs typeface="微软雅黑" panose="020B0503020204020204" charset="-122"/>
              </a:rPr>
              <a:t>估计量分布比较</a:t>
            </a:r>
            <a:endParaRPr sz="1300" dirty="0">
              <a:latin typeface="微软雅黑" panose="020B0503020204020204" charset="-122"/>
              <a:ea typeface="微软雅黑" panose="020B0503020204020204" charset="-122"/>
              <a:cs typeface="微软雅黑" panose="020B0503020204020204" charset="-122"/>
            </a:endParaRPr>
          </a:p>
        </p:txBody>
      </p:sp>
      <p:sp>
        <p:nvSpPr>
          <p:cNvPr id="158" name="textbox 158"/>
          <p:cNvSpPr/>
          <p:nvPr/>
        </p:nvSpPr>
        <p:spPr>
          <a:xfrm>
            <a:off x="2568455" y="6367210"/>
            <a:ext cx="1468755" cy="13144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algn="r" rtl="0" eaLnBrk="0">
              <a:lnSpc>
                <a:spcPct val="87000"/>
              </a:lnSpc>
            </a:pPr>
            <a:r>
              <a:rPr sz="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模拟次数= 10000,样本量= </a:t>
            </a:r>
            <a:r>
              <a:rPr sz="800" kern="0" spc="10" dirty="0">
                <a:solidFill>
                  <a:srgbClr val="000000">
                    <a:alpha val="100000"/>
                  </a:srgbClr>
                </a:solidFill>
                <a:latin typeface="Arial" panose="020B0604020202020204"/>
                <a:ea typeface="Arial" panose="020B0604020202020204"/>
                <a:cs typeface="Arial" panose="020B0604020202020204"/>
              </a:rPr>
              <a:t>100</a:t>
            </a:r>
            <a:endParaRPr sz="800" dirty="0">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 name="table 166"/>
          <p:cNvGraphicFramePr>
            <a:graphicFrameLocks noGrp="1"/>
          </p:cNvGraphicFramePr>
          <p:nvPr/>
        </p:nvGraphicFramePr>
        <p:xfrm>
          <a:off x="60832" y="66928"/>
          <a:ext cx="9019540" cy="6699250"/>
        </p:xfrm>
        <a:graphic>
          <a:graphicData uri="http://schemas.openxmlformats.org/drawingml/2006/table">
            <a:tbl>
              <a:tblPr/>
              <a:tblGrid>
                <a:gridCol w="9019540"/>
              </a:tblGrid>
              <a:tr h="4827270">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1658620" algn="l" rtl="0" eaLnBrk="0">
                        <a:lnSpc>
                          <a:spcPct val="87000"/>
                        </a:lnSpc>
                      </a:pP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第二节</a:t>
                      </a:r>
                      <a:r>
                        <a:rPr sz="3600" kern="0" spc="-10" dirty="0">
                          <a:solidFill>
                            <a:srgbClr val="000000">
                              <a:alpha val="100000"/>
                            </a:srgbClr>
                          </a:solidFill>
                          <a:latin typeface="幼圆" panose="02010509060101010101" charset="-122"/>
                          <a:ea typeface="幼圆" panose="02010509060101010101" charset="-122"/>
                          <a:cs typeface="幼圆" panose="02010509060101010101" charset="-122"/>
                        </a:rPr>
                        <a:t> </a:t>
                      </a: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回归分析的基本要</a:t>
                      </a:r>
                      <a:r>
                        <a:rPr sz="3600" b="1" kern="0" spc="-20" dirty="0">
                          <a:solidFill>
                            <a:srgbClr val="000000">
                              <a:alpha val="100000"/>
                            </a:srgbClr>
                          </a:solidFill>
                          <a:latin typeface="幼圆" panose="02010509060101010101" charset="-122"/>
                          <a:ea typeface="幼圆" panose="02010509060101010101" charset="-122"/>
                          <a:cs typeface="幼圆" panose="02010509060101010101" charset="-122"/>
                        </a:rPr>
                        <a:t>素</a:t>
                      </a:r>
                      <a:endParaRPr sz="36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871980">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226695" algn="l" rtl="0" eaLnBrk="0">
                        <a:lnSpc>
                          <a:spcPct val="80000"/>
                        </a:lnSpc>
                        <a:spcBef>
                          <a:spcPts val="0"/>
                        </a:spcBef>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11</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0" name="table 170"/>
          <p:cNvGraphicFramePr>
            <a:graphicFrameLocks noGrp="1"/>
          </p:cNvGraphicFramePr>
          <p:nvPr/>
        </p:nvGraphicFramePr>
        <p:xfrm>
          <a:off x="60832" y="66928"/>
          <a:ext cx="9019540" cy="6699250"/>
        </p:xfrm>
        <a:graphic>
          <a:graphicData uri="http://schemas.openxmlformats.org/drawingml/2006/table">
            <a:tbl>
              <a:tblPr/>
              <a:tblGrid>
                <a:gridCol w="9019540"/>
              </a:tblGrid>
              <a:tr h="5833745">
                <a:tc>
                  <a:txBody>
                    <a:bodyPr/>
                    <a:lstStyle/>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3315970" algn="l" rtl="0" eaLnBrk="0">
                        <a:lnSpc>
                          <a:spcPct val="86000"/>
                        </a:lnSpc>
                      </a:pPr>
                      <a:r>
                        <a:rPr sz="3100" b="1" kern="0" spc="40" dirty="0">
                          <a:solidFill>
                            <a:srgbClr val="000000">
                              <a:alpha val="100000"/>
                            </a:srgbClr>
                          </a:solidFill>
                          <a:latin typeface="幼圆" panose="02010509060101010101" charset="-122"/>
                          <a:ea typeface="幼圆" panose="02010509060101010101" charset="-122"/>
                          <a:cs typeface="幼圆" panose="02010509060101010101" charset="-122"/>
                        </a:rPr>
                        <a:t>一、经济模型</a:t>
                      </a:r>
                      <a:endParaRPr sz="3100" dirty="0">
                        <a:latin typeface="幼圆" panose="02010509060101010101" charset="-122"/>
                        <a:ea typeface="幼圆" panose="02010509060101010101" charset="-122"/>
                        <a:cs typeface="幼圆" panose="020105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652145" algn="l" rtl="0" eaLnBrk="0">
                        <a:lnSpc>
                          <a:spcPct val="88000"/>
                        </a:lnSpc>
                        <a:spcBef>
                          <a:spcPts val="570"/>
                        </a:spcBef>
                      </a:pPr>
                      <a:r>
                        <a:rPr sz="16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经济理论告诉我们消费支出取决于收入（依从关系）。因此，我</a:t>
                      </a:r>
                      <a:endParaRPr sz="1900" dirty="0">
                        <a:latin typeface="宋体" panose="02010600030101010101" pitchFamily="2" charset="-122"/>
                        <a:ea typeface="宋体" panose="02010600030101010101" pitchFamily="2" charset="-122"/>
                        <a:cs typeface="宋体" panose="02010600030101010101" pitchFamily="2" charset="-122"/>
                      </a:endParaRPr>
                    </a:p>
                    <a:p>
                      <a:pPr marL="918210" algn="l" rtl="0" eaLnBrk="0">
                        <a:lnSpc>
                          <a:spcPct val="163000"/>
                        </a:lnSpc>
                        <a:spcBef>
                          <a:spcPts val="25"/>
                        </a:spcBef>
                      </a:pP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们称</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（消费支出）为被解释变量（因变量</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5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（收入）</a:t>
                      </a:r>
                      <a:r>
                        <a:rPr sz="1900" kern="0" spc="-2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为解</a:t>
                      </a:r>
                      <a:r>
                        <a:rPr sz="19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释变</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量（自变量）。在回归分析中，我们将被解释变量称为随机变量。</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2803525" algn="l" rtl="0" eaLnBrk="0">
                        <a:lnSpc>
                          <a:spcPct val="85000"/>
                        </a:lnSpc>
                        <a:spcBef>
                          <a:spcPts val="1030"/>
                        </a:spcBef>
                      </a:pP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Consumption </a:t>
                      </a:r>
                      <a:r>
                        <a:rPr sz="2600" kern="0" spc="0" dirty="0">
                          <a:solidFill>
                            <a:srgbClr val="000000">
                              <a:alpha val="100000"/>
                            </a:srgbClr>
                          </a:solidFill>
                          <a:latin typeface="Arial" panose="020B0604020202020204"/>
                          <a:ea typeface="Arial" panose="020B0604020202020204"/>
                          <a:cs typeface="Arial" panose="020B06040202020202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f</a:t>
                      </a:r>
                      <a:r>
                        <a:rPr sz="2600" i="1"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0" dirty="0">
                          <a:solidFill>
                            <a:srgbClr val="000000">
                              <a:alpha val="100000"/>
                            </a:srgbClr>
                          </a:solidFill>
                          <a:latin typeface="Arial" panose="020B0604020202020204"/>
                          <a:ea typeface="Arial" panose="020B0604020202020204"/>
                          <a:cs typeface="Arial" panose="020B06040202020202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incom</a:t>
                      </a:r>
                      <a:r>
                        <a:rPr sz="2600" i="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3400" kern="0" spc="-10" dirty="0">
                          <a:solidFill>
                            <a:srgbClr val="000000">
                              <a:alpha val="100000"/>
                            </a:srgbClr>
                          </a:solidFill>
                          <a:latin typeface="Arial" panose="020B0604020202020204"/>
                          <a:ea typeface="Arial" panose="020B0604020202020204"/>
                          <a:cs typeface="Arial" panose="020B0604020202020204"/>
                        </a:rPr>
                        <a:t>)</a:t>
                      </a:r>
                      <a:endParaRPr sz="34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11000"/>
                        </a:lnSpc>
                      </a:pPr>
                      <a:endParaRPr sz="700" dirty="0">
                        <a:latin typeface="Arial" panose="020B0604020202020204"/>
                        <a:ea typeface="Arial" panose="020B0604020202020204"/>
                        <a:cs typeface="Arial" panose="020B0604020202020204"/>
                      </a:endParaRPr>
                    </a:p>
                    <a:p>
                      <a:pPr marL="4420235" algn="l" rtl="0" eaLnBrk="0">
                        <a:lnSpc>
                          <a:spcPct val="93000"/>
                        </a:lnSpc>
                        <a:spcBef>
                          <a:spcPts val="0"/>
                        </a:spcBef>
                      </a:pPr>
                      <a:r>
                        <a:rPr sz="2300" i="1" kern="0" spc="110" dirty="0">
                          <a:solidFill>
                            <a:srgbClr val="000000">
                              <a:alpha val="100000"/>
                            </a:srgbClr>
                          </a:solidFill>
                          <a:latin typeface="Times New Roman" panose="02020603050405020304"/>
                          <a:ea typeface="Times New Roman" panose="02020603050405020304"/>
                          <a:cs typeface="Times New Roman" panose="02020603050405020304"/>
                        </a:rPr>
                        <a:t>Y </a:t>
                      </a:r>
                      <a:r>
                        <a:rPr sz="2300" kern="0" spc="110" dirty="0">
                          <a:solidFill>
                            <a:srgbClr val="000000">
                              <a:alpha val="100000"/>
                            </a:srgbClr>
                          </a:solidFill>
                          <a:latin typeface="Arial" panose="020B0604020202020204"/>
                          <a:ea typeface="Arial" panose="020B0604020202020204"/>
                          <a:cs typeface="Arial" panose="020B0604020202020204"/>
                        </a:rPr>
                        <a:t>=</a:t>
                      </a:r>
                      <a:r>
                        <a:rPr sz="2300" kern="0" spc="-50" dirty="0">
                          <a:solidFill>
                            <a:srgbClr val="000000">
                              <a:alpha val="100000"/>
                            </a:srgbClr>
                          </a:solidFill>
                          <a:latin typeface="Arial" panose="020B0604020202020204"/>
                          <a:ea typeface="Arial" panose="020B0604020202020204"/>
                          <a:cs typeface="Arial" panose="020B0604020202020204"/>
                        </a:rPr>
                        <a:t> </a:t>
                      </a:r>
                      <a:r>
                        <a:rPr sz="2300" i="1" kern="0" spc="110" dirty="0">
                          <a:solidFill>
                            <a:srgbClr val="000000">
                              <a:alpha val="100000"/>
                            </a:srgbClr>
                          </a:solidFill>
                          <a:latin typeface="Times New Roman" panose="02020603050405020304"/>
                          <a:ea typeface="Times New Roman" panose="02020603050405020304"/>
                          <a:cs typeface="Times New Roman" panose="02020603050405020304"/>
                        </a:rPr>
                        <a:t>f</a:t>
                      </a:r>
                      <a:r>
                        <a:rPr sz="2300" i="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10" dirty="0">
                          <a:solidFill>
                            <a:srgbClr val="000000">
                              <a:alpha val="100000"/>
                            </a:srgbClr>
                          </a:solidFill>
                          <a:latin typeface="Arial" panose="020B0604020202020204"/>
                          <a:ea typeface="Arial" panose="020B0604020202020204"/>
                          <a:cs typeface="Arial" panose="020B0604020202020204"/>
                        </a:rPr>
                        <a:t>(</a:t>
                      </a:r>
                      <a:r>
                        <a:rPr sz="2300" i="1" kern="0" spc="11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10" dirty="0">
                          <a:solidFill>
                            <a:srgbClr val="000000">
                              <a:alpha val="100000"/>
                            </a:srgbClr>
                          </a:solidFill>
                          <a:latin typeface="Arial" panose="020B0604020202020204"/>
                          <a:ea typeface="Arial" panose="020B0604020202020204"/>
                          <a:cs typeface="Arial" panose="020B0604020202020204"/>
                        </a:rPr>
                        <a:t>)</a:t>
                      </a:r>
                      <a:endParaRPr sz="31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65505">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25425"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12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 name="table 204"/>
          <p:cNvGraphicFramePr>
            <a:graphicFrameLocks noGrp="1"/>
          </p:cNvGraphicFramePr>
          <p:nvPr/>
        </p:nvGraphicFramePr>
        <p:xfrm>
          <a:off x="60832" y="66928"/>
          <a:ext cx="9019540" cy="6699248"/>
        </p:xfrm>
        <a:graphic>
          <a:graphicData uri="http://schemas.openxmlformats.org/drawingml/2006/table">
            <a:tbl>
              <a:tblPr/>
              <a:tblGrid>
                <a:gridCol w="9019540"/>
              </a:tblGrid>
              <a:tr h="5264784">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1405255" algn="l" rtl="0" eaLnBrk="0">
                        <a:lnSpc>
                          <a:spcPct val="88000"/>
                        </a:lnSpc>
                        <a:spcBef>
                          <a:spcPts val="0"/>
                        </a:spcBef>
                      </a:pPr>
                      <a:r>
                        <a:rPr sz="19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通常，假定简单或一元线性总</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体回归函数：</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46000"/>
                        </a:lnSpc>
                      </a:pPr>
                      <a:endParaRPr sz="1000" dirty="0">
                        <a:latin typeface="Arial" panose="020B0604020202020204"/>
                        <a:ea typeface="Arial" panose="020B0604020202020204"/>
                        <a:cs typeface="Arial" panose="020B0604020202020204"/>
                      </a:endParaRPr>
                    </a:p>
                    <a:p>
                      <a:pPr marL="3046095" algn="l" rtl="0" eaLnBrk="0">
                        <a:lnSpc>
                          <a:spcPct val="100000"/>
                        </a:lnSpc>
                        <a:spcBef>
                          <a:spcPts val="785"/>
                        </a:spcBef>
                      </a:pPr>
                      <a:r>
                        <a:rPr sz="2600" i="1" kern="0" spc="-60" dirty="0">
                          <a:solidFill>
                            <a:srgbClr val="000000">
                              <a:alpha val="100000"/>
                            </a:srgbClr>
                          </a:solidFill>
                          <a:latin typeface="Times New Roman" panose="02020603050405020304"/>
                          <a:ea typeface="Times New Roman" panose="02020603050405020304"/>
                          <a:cs typeface="Times New Roman" panose="02020603050405020304"/>
                        </a:rPr>
                        <a:t>E</a:t>
                      </a:r>
                      <a:r>
                        <a:rPr sz="26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60" dirty="0">
                          <a:solidFill>
                            <a:srgbClr val="000000">
                              <a:alpha val="100000"/>
                            </a:srgbClr>
                          </a:solidFill>
                          <a:latin typeface="Times New Roman" panose="02020603050405020304"/>
                          <a:ea typeface="Times New Roman" panose="02020603050405020304"/>
                          <a:cs typeface="Times New Roman" panose="02020603050405020304"/>
                        </a:rPr>
                        <a:t>Y </a:t>
                      </a:r>
                      <a:r>
                        <a:rPr sz="26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6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6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60" dirty="0">
                          <a:solidFill>
                            <a:srgbClr val="000000">
                              <a:alpha val="100000"/>
                            </a:srgbClr>
                          </a:solidFill>
                          <a:latin typeface="Arial" panose="020B0604020202020204"/>
                          <a:ea typeface="Arial" panose="020B0604020202020204"/>
                          <a:cs typeface="Arial" panose="020B0604020202020204"/>
                        </a:rPr>
                        <a:t>=</a:t>
                      </a:r>
                      <a:r>
                        <a:rPr sz="2600" kern="0" spc="-120" dirty="0">
                          <a:solidFill>
                            <a:srgbClr val="000000">
                              <a:alpha val="100000"/>
                            </a:srgbClr>
                          </a:solidFill>
                          <a:latin typeface="Arial" panose="020B0604020202020204"/>
                          <a:ea typeface="Arial" panose="020B0604020202020204"/>
                          <a:cs typeface="Arial" panose="020B0604020202020204"/>
                        </a:rPr>
                        <a:t> </a:t>
                      </a:r>
                      <a:r>
                        <a:rPr sz="2600" kern="0" spc="-60" dirty="0">
                          <a:solidFill>
                            <a:srgbClr val="000000">
                              <a:alpha val="100000"/>
                            </a:srgbClr>
                          </a:solidFill>
                          <a:latin typeface="Times New Roman" panose="02020603050405020304"/>
                          <a:ea typeface="Times New Roman" panose="02020603050405020304"/>
                          <a:cs typeface="Times New Roman" panose="02020603050405020304"/>
                        </a:rPr>
                        <a:t>μ</a:t>
                      </a:r>
                      <a:r>
                        <a:rPr sz="2300" i="1" kern="0" spc="-60" baseline="-27000" dirty="0">
                          <a:solidFill>
                            <a:srgbClr val="000000">
                              <a:alpha val="100000"/>
                            </a:srgbClr>
                          </a:solidFill>
                          <a:latin typeface="Times New Roman" panose="02020603050405020304"/>
                          <a:ea typeface="Times New Roman" panose="02020603050405020304"/>
                          <a:cs typeface="Times New Roman" panose="02020603050405020304"/>
                        </a:rPr>
                        <a:t>Y</a:t>
                      </a:r>
                      <a:r>
                        <a:rPr sz="2300" kern="0" spc="-60" baseline="-27000" dirty="0">
                          <a:solidFill>
                            <a:srgbClr val="000000">
                              <a:alpha val="100000"/>
                            </a:srgbClr>
                          </a:solidFill>
                          <a:latin typeface="Times New Roman" panose="02020603050405020304"/>
                          <a:ea typeface="Times New Roman" panose="02020603050405020304"/>
                          <a:cs typeface="Times New Roman" panose="02020603050405020304"/>
                        </a:rPr>
                        <a:t>|X</a:t>
                      </a:r>
                      <a:r>
                        <a:rPr sz="1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240" dirty="0">
                          <a:solidFill>
                            <a:srgbClr val="000000">
                              <a:alpha val="100000"/>
                            </a:srgbClr>
                          </a:solidFill>
                          <a:latin typeface="Arial" panose="020B0604020202020204"/>
                          <a:ea typeface="Arial" panose="020B0604020202020204"/>
                          <a:cs typeface="Arial" panose="020B0604020202020204"/>
                        </a:rPr>
                        <a:t>=</a:t>
                      </a:r>
                      <a:r>
                        <a:rPr sz="2600" kern="0" spc="-160" dirty="0">
                          <a:solidFill>
                            <a:srgbClr val="000000">
                              <a:alpha val="100000"/>
                            </a:srgbClr>
                          </a:solidFill>
                          <a:latin typeface="Arial" panose="020B0604020202020204"/>
                          <a:ea typeface="Arial" panose="020B0604020202020204"/>
                          <a:cs typeface="Arial" panose="020B0604020202020204"/>
                        </a:rPr>
                        <a:t> </a:t>
                      </a:r>
                      <a:r>
                        <a:rPr sz="2600" kern="0" spc="-24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2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280" dirty="0">
                          <a:solidFill>
                            <a:srgbClr val="000000">
                              <a:alpha val="100000"/>
                            </a:srgbClr>
                          </a:solidFill>
                          <a:latin typeface="Arial" panose="020B0604020202020204"/>
                          <a:ea typeface="Arial" panose="020B0604020202020204"/>
                          <a:cs typeface="Arial" panose="020B0604020202020204"/>
                        </a:rPr>
                        <a:t>+</a:t>
                      </a:r>
                      <a:r>
                        <a:rPr sz="2600" kern="0" spc="-270" dirty="0">
                          <a:solidFill>
                            <a:srgbClr val="000000">
                              <a:alpha val="100000"/>
                            </a:srgbClr>
                          </a:solidFill>
                          <a:latin typeface="Arial" panose="020B0604020202020204"/>
                          <a:ea typeface="Arial" panose="020B0604020202020204"/>
                          <a:cs typeface="Arial" panose="020B0604020202020204"/>
                        </a:rPr>
                        <a:t> </a:t>
                      </a:r>
                      <a:r>
                        <a:rPr sz="2600" kern="0" spc="-28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22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2600" i="1" kern="0" spc="220" dirty="0">
                          <a:solidFill>
                            <a:srgbClr val="000000">
                              <a:alpha val="100000"/>
                            </a:srgbClr>
                          </a:solidFill>
                          <a:latin typeface="Times New Roman" panose="02020603050405020304"/>
                          <a:ea typeface="Times New Roman" panose="02020603050405020304"/>
                          <a:cs typeface="Times New Roman" panose="02020603050405020304"/>
                        </a:rPr>
                        <a:t>X</a:t>
                      </a:r>
                      <a:endParaRPr sz="2600" dirty="0">
                        <a:latin typeface="Times New Roman" panose="02020603050405020304"/>
                        <a:ea typeface="Times New Roman" panose="02020603050405020304"/>
                        <a:cs typeface="Times New Roman" panose="020206030504050203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1388110" algn="l" rtl="0" eaLnBrk="0">
                        <a:lnSpc>
                          <a:spcPts val="2610"/>
                        </a:lnSpc>
                        <a:spcBef>
                          <a:spcPts val="575"/>
                        </a:spcBef>
                      </a:pPr>
                      <a:r>
                        <a:rPr sz="19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其中，</a:t>
                      </a:r>
                      <a:r>
                        <a:rPr sz="1900" kern="0" spc="-2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lang="el-GR" altLang="zh-CN" sz="2000" kern="0" spc="-240" dirty="0">
                          <a:solidFill>
                            <a:srgbClr val="000000">
                              <a:alpha val="100000"/>
                            </a:srgbClr>
                          </a:solidFill>
                          <a:latin typeface="Times New Roman" panose="02020603050405020304"/>
                          <a:ea typeface="Times New Roman" panose="02020603050405020304"/>
                          <a:cs typeface="Times New Roman" panose="02020603050405020304"/>
                        </a:rPr>
                        <a:t>β</a:t>
                      </a:r>
                      <a:r>
                        <a:rPr lang="el-GR" altLang="zh-CN" sz="1800" kern="0" spc="-12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900" kern="0" spc="40" dirty="0" err="1">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是截距</a:t>
                      </a:r>
                      <a:r>
                        <a:rPr sz="1900" kern="0" spc="-2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lang="el-GR" altLang="zh-CN" sz="2000" kern="0" spc="-280" dirty="0">
                          <a:solidFill>
                            <a:srgbClr val="000000">
                              <a:alpha val="100000"/>
                            </a:srgbClr>
                          </a:solidFill>
                          <a:latin typeface="Times New Roman" panose="02020603050405020304"/>
                          <a:ea typeface="Times New Roman" panose="02020603050405020304"/>
                          <a:cs typeface="Times New Roman" panose="02020603050405020304"/>
                        </a:rPr>
                        <a:t>β</a:t>
                      </a:r>
                      <a:r>
                        <a:rPr lang="el-GR" altLang="zh-CN" sz="1800" kern="0" spc="22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900" kern="0" spc="40" dirty="0" err="1">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是斜率系数。</a:t>
                      </a:r>
                      <a:r>
                        <a:rPr sz="1900" kern="0" spc="30" dirty="0" err="1">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二者都是未知但固定的参数</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900" dirty="0">
                        <a:latin typeface="宋体" panose="02010600030101010101" pitchFamily="2" charset="-122"/>
                        <a:ea typeface="宋体" panose="02010600030101010101" pitchFamily="2" charset="-122"/>
                        <a:cs typeface="宋体" panose="02010600030101010101" pitchFamily="2" charset="-122"/>
                      </a:endParaRPr>
                    </a:p>
                    <a:p>
                      <a:pPr marL="916940" algn="l" rtl="0" eaLnBrk="0">
                        <a:lnSpc>
                          <a:spcPts val="2985"/>
                        </a:lnSpc>
                      </a:pP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称为回归系数。</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5000"/>
                        </a:lnSpc>
                      </a:pPr>
                      <a:endParaRPr sz="1000" dirty="0">
                        <a:latin typeface="Arial" panose="020B0604020202020204"/>
                        <a:ea typeface="Arial" panose="020B0604020202020204"/>
                        <a:cs typeface="Arial" panose="020B0604020202020204"/>
                      </a:endParaRPr>
                    </a:p>
                    <a:p>
                      <a:pPr marL="1406525" algn="l" rtl="0" eaLnBrk="0">
                        <a:lnSpc>
                          <a:spcPct val="88000"/>
                        </a:lnSpc>
                        <a:spcBef>
                          <a:spcPts val="575"/>
                        </a:spcBef>
                      </a:pPr>
                      <a:r>
                        <a:rPr sz="1900" kern="0"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这一模型被称之为简单回归，不</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是因为它简单，仅仅是因为它的</a:t>
                      </a:r>
                      <a:endParaRPr sz="1900" dirty="0">
                        <a:latin typeface="宋体" panose="02010600030101010101" pitchFamily="2" charset="-122"/>
                        <a:ea typeface="宋体" panose="02010600030101010101" pitchFamily="2" charset="-122"/>
                        <a:cs typeface="宋体" panose="02010600030101010101" pitchFamily="2" charset="-122"/>
                      </a:endParaRPr>
                    </a:p>
                    <a:p>
                      <a:pPr marL="919480" algn="l" rtl="0" eaLnBrk="0">
                        <a:lnSpc>
                          <a:spcPts val="3600"/>
                        </a:lnSpc>
                      </a:pPr>
                      <a:r>
                        <a:rPr sz="19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右边只包括一个解释变量。</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434464">
                <a:tc>
                  <a:txBody>
                    <a:bodyPr/>
                    <a:lstStyle/>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226060" algn="l" rtl="0" eaLnBrk="0">
                        <a:lnSpc>
                          <a:spcPct val="80000"/>
                        </a:lnSpc>
                        <a:spcBef>
                          <a:spcPts val="0"/>
                        </a:spcBef>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18</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 name="table 208"/>
          <p:cNvGraphicFramePr>
            <a:graphicFrameLocks noGrp="1"/>
          </p:cNvGraphicFramePr>
          <p:nvPr/>
        </p:nvGraphicFramePr>
        <p:xfrm>
          <a:off x="60832" y="66928"/>
          <a:ext cx="9019538" cy="6699250"/>
        </p:xfrm>
        <a:graphic>
          <a:graphicData uri="http://schemas.openxmlformats.org/drawingml/2006/table">
            <a:tbl>
              <a:tblPr/>
              <a:tblGrid>
                <a:gridCol w="918844"/>
                <a:gridCol w="8100694"/>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26695" algn="l" rtl="0" eaLnBrk="0">
                        <a:lnSpc>
                          <a:spcPct val="80000"/>
                        </a:lnSpc>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19</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2887980" algn="l" rtl="0" eaLnBrk="0">
                        <a:lnSpc>
                          <a:spcPct val="86000"/>
                        </a:lnSpc>
                        <a:spcBef>
                          <a:spcPts val="0"/>
                        </a:spcBef>
                      </a:pPr>
                      <a:r>
                        <a:rPr sz="18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回归系数的解释</a:t>
                      </a:r>
                      <a:endParaRPr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305560" algn="l" rtl="0" eaLnBrk="0">
                        <a:lnSpc>
                          <a:spcPct val="87000"/>
                        </a:lnSpc>
                        <a:spcBef>
                          <a:spcPts val="540"/>
                        </a:spcBef>
                      </a:pPr>
                      <a:r>
                        <a:rPr sz="1800" kern="0" spc="-1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回归线的斜率可以写作：</a:t>
                      </a:r>
                      <a:endParaRPr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78000"/>
                        </a:lnSpc>
                      </a:pPr>
                      <a:endParaRPr sz="1000" dirty="0">
                        <a:latin typeface="Arial" panose="020B0604020202020204"/>
                        <a:ea typeface="Arial" panose="020B0604020202020204"/>
                        <a:cs typeface="Arial" panose="020B0604020202020204"/>
                      </a:endParaRPr>
                    </a:p>
                    <a:p>
                      <a:pPr marL="2407920" algn="l" rtl="0" eaLnBrk="0">
                        <a:lnSpc>
                          <a:spcPts val="4055"/>
                        </a:lnSpc>
                        <a:spcBef>
                          <a:spcPts val="305"/>
                        </a:spcBef>
                        <a:tabLst>
                          <a:tab pos="49180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398270" algn="l" rtl="0" eaLnBrk="0">
                        <a:lnSpc>
                          <a:spcPct val="87000"/>
                        </a:lnSpc>
                        <a:spcBef>
                          <a:spcPts val="1350"/>
                        </a:spcBef>
                      </a:pPr>
                      <a:r>
                        <a:rPr sz="18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其中， “</a:t>
                      </a:r>
                      <a:r>
                        <a:rPr sz="1800" kern="0" spc="-4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Δ</a:t>
                      </a:r>
                      <a:r>
                        <a:rPr sz="1800" kern="0" spc="-6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定义“变动</a:t>
                      </a:r>
                      <a:r>
                        <a:rPr sz="1800" kern="0" spc="-6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800" kern="0" spc="-2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2000"/>
                        </a:lnSpc>
                      </a:pPr>
                      <a:endParaRPr sz="11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381125" algn="l" rtl="0" eaLnBrk="0">
                        <a:lnSpc>
                          <a:spcPct val="90000"/>
                        </a:lnSpc>
                      </a:pPr>
                      <a:r>
                        <a:rPr sz="18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800" i="1" kern="0" spc="-70" dirty="0">
                          <a:solidFill>
                            <a:srgbClr val="000000">
                              <a:alpha val="100000"/>
                            </a:srgbClr>
                          </a:solidFill>
                          <a:latin typeface="Times New Roman" panose="02020603050405020304"/>
                          <a:ea typeface="Times New Roman" panose="02020603050405020304"/>
                          <a:cs typeface="Times New Roman" panose="02020603050405020304"/>
                        </a:rPr>
                        <a:t>dE</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1800" i="1" kern="0" spc="-70" dirty="0">
                          <a:solidFill>
                            <a:srgbClr val="000000">
                              <a:alpha val="100000"/>
                            </a:srgbClr>
                          </a:solidFill>
                          <a:latin typeface="Times New Roman" panose="02020603050405020304"/>
                          <a:ea typeface="Times New Roman" panose="02020603050405020304"/>
                          <a:cs typeface="Times New Roman" panose="02020603050405020304"/>
                        </a:rPr>
                        <a:t>y</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1800" i="1" kern="0" spc="-70" dirty="0">
                          <a:solidFill>
                            <a:srgbClr val="000000">
                              <a:alpha val="100000"/>
                            </a:srgbClr>
                          </a:solidFill>
                          <a:latin typeface="Times New Roman" panose="02020603050405020304"/>
                          <a:ea typeface="Times New Roman" panose="02020603050405020304"/>
                          <a:cs typeface="Times New Roman" panose="02020603050405020304"/>
                        </a:rPr>
                        <a:t>x</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1800" i="1" kern="0" spc="-70" dirty="0">
                          <a:solidFill>
                            <a:srgbClr val="000000">
                              <a:alpha val="100000"/>
                            </a:srgbClr>
                          </a:solidFill>
                          <a:latin typeface="Times New Roman" panose="02020603050405020304"/>
                          <a:ea typeface="Times New Roman" panose="02020603050405020304"/>
                          <a:cs typeface="Times New Roman" panose="02020603050405020304"/>
                        </a:rPr>
                        <a:t>dx</a:t>
                      </a:r>
                      <a:r>
                        <a:rPr sz="1800" i="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定义为给定</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x</a:t>
                      </a:r>
                      <a:r>
                        <a:rPr sz="18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的值，</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y</a:t>
                      </a:r>
                      <a:r>
                        <a:rPr sz="18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的期望值的导数。</a:t>
                      </a:r>
                      <a:endParaRPr sz="18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10" name="picture 210"/>
          <p:cNvPicPr>
            <a:picLocks noChangeAspect="1"/>
          </p:cNvPicPr>
          <p:nvPr/>
        </p:nvPicPr>
        <p:blipFill>
          <a:blip r:embed="rId1"/>
          <a:stretch>
            <a:fillRect/>
          </a:stretch>
        </p:blipFill>
        <p:spPr>
          <a:xfrm rot="21600000">
            <a:off x="3387667" y="5071397"/>
            <a:ext cx="2510650" cy="514853"/>
          </a:xfrm>
          <a:prstGeom prst="rect">
            <a:avLst/>
          </a:prstGeom>
        </p:spPr>
      </p:pic>
      <p:graphicFrame>
        <p:nvGraphicFramePr>
          <p:cNvPr id="212" name="table 212"/>
          <p:cNvGraphicFramePr>
            <a:graphicFrameLocks noGrp="1"/>
          </p:cNvGraphicFramePr>
          <p:nvPr/>
        </p:nvGraphicFramePr>
        <p:xfrm>
          <a:off x="1356105" y="1190752"/>
          <a:ext cx="6577964" cy="2869564"/>
        </p:xfrm>
        <a:graphic>
          <a:graphicData uri="http://schemas.openxmlformats.org/drawingml/2006/table">
            <a:tbl>
              <a:tblPr/>
              <a:tblGrid>
                <a:gridCol w="6577964"/>
              </a:tblGrid>
              <a:tr h="2869564">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214" name="picture 214"/>
          <p:cNvPicPr>
            <a:picLocks noChangeAspect="1"/>
          </p:cNvPicPr>
          <p:nvPr/>
        </p:nvPicPr>
        <p:blipFill>
          <a:blip r:embed="rId2"/>
          <a:stretch>
            <a:fillRect/>
          </a:stretch>
        </p:blipFill>
        <p:spPr>
          <a:xfrm rot="21600000">
            <a:off x="1362455" y="1197102"/>
            <a:ext cx="6565391" cy="28635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8" name="table 218"/>
          <p:cNvGraphicFramePr>
            <a:graphicFrameLocks noGrp="1"/>
          </p:cNvGraphicFramePr>
          <p:nvPr/>
        </p:nvGraphicFramePr>
        <p:xfrm>
          <a:off x="60832" y="66928"/>
          <a:ext cx="9019540" cy="6699250"/>
        </p:xfrm>
        <a:graphic>
          <a:graphicData uri="http://schemas.openxmlformats.org/drawingml/2006/table">
            <a:tbl>
              <a:tblPr/>
              <a:tblGrid>
                <a:gridCol w="4479290"/>
                <a:gridCol w="1038225"/>
                <a:gridCol w="3502025"/>
              </a:tblGrid>
              <a:tr h="3979545">
                <a:tc rowSpan="2">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1515110" algn="l" rtl="0" eaLnBrk="0">
                        <a:lnSpc>
                          <a:spcPct val="88000"/>
                        </a:lnSpc>
                        <a:spcBef>
                          <a:spcPts val="0"/>
                        </a:spcBef>
                      </a:pPr>
                      <a:r>
                        <a:rPr sz="19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对线性的界定：</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1515745" algn="l" rtl="0" eaLnBrk="0">
                        <a:lnSpc>
                          <a:spcPct val="88000"/>
                        </a:lnSpc>
                        <a:spcBef>
                          <a:spcPts val="575"/>
                        </a:spcBef>
                      </a:pP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变量线性与变量非线</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性</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19000"/>
                        </a:lnSpc>
                      </a:pPr>
                      <a:endParaRPr sz="4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466725" algn="l" rtl="0" eaLnBrk="0">
                        <a:lnSpc>
                          <a:spcPct val="100000"/>
                        </a:lnSpc>
                      </a:pP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Y </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5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0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300" dirty="0">
                          <a:solidFill>
                            <a:srgbClr val="000000">
                              <a:alpha val="100000"/>
                            </a:srgbClr>
                          </a:solidFill>
                          <a:latin typeface="Arial" panose="020B0604020202020204"/>
                          <a:ea typeface="Arial" panose="020B0604020202020204"/>
                          <a:cs typeface="Arial" panose="020B0604020202020204"/>
                        </a:rPr>
                        <a:t>+</a:t>
                      </a:r>
                      <a:r>
                        <a:rPr sz="2500" kern="0" spc="-280" dirty="0">
                          <a:solidFill>
                            <a:srgbClr val="000000">
                              <a:alpha val="100000"/>
                            </a:srgbClr>
                          </a:solidFill>
                          <a:latin typeface="Arial" panose="020B0604020202020204"/>
                          <a:ea typeface="Arial" panose="020B0604020202020204"/>
                          <a:cs typeface="Arial" panose="020B0604020202020204"/>
                        </a:rPr>
                        <a:t> </a:t>
                      </a:r>
                      <a:r>
                        <a:rPr sz="2500" kern="0" spc="-3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7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2500" i="1" kern="0" spc="170" dirty="0">
                          <a:solidFill>
                            <a:srgbClr val="000000">
                              <a:alpha val="100000"/>
                            </a:srgbClr>
                          </a:solidFill>
                          <a:latin typeface="Times New Roman" panose="02020603050405020304"/>
                          <a:ea typeface="Times New Roman" panose="02020603050405020304"/>
                          <a:cs typeface="Times New Roman" panose="02020603050405020304"/>
                        </a:rPr>
                        <a:t>X</a:t>
                      </a:r>
                      <a:endParaRPr sz="2500" dirty="0">
                        <a:latin typeface="Times New Roman" panose="02020603050405020304"/>
                        <a:ea typeface="Times New Roman" panose="02020603050405020304"/>
                        <a:cs typeface="Times New Roman" panose="02020603050405020304"/>
                      </a:endParaRPr>
                    </a:p>
                    <a:p>
                      <a:pPr marL="435610" algn="l" rtl="0" eaLnBrk="0">
                        <a:lnSpc>
                          <a:spcPts val="3195"/>
                        </a:lnSpc>
                        <a:spcBef>
                          <a:spcPts val="1315"/>
                        </a:spcBef>
                      </a:pP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Y </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5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0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300" dirty="0">
                          <a:solidFill>
                            <a:srgbClr val="000000">
                              <a:alpha val="100000"/>
                            </a:srgbClr>
                          </a:solidFill>
                          <a:latin typeface="Arial" panose="020B0604020202020204"/>
                          <a:ea typeface="Arial" panose="020B0604020202020204"/>
                          <a:cs typeface="Arial" panose="020B0604020202020204"/>
                        </a:rPr>
                        <a:t>+</a:t>
                      </a:r>
                      <a:r>
                        <a:rPr sz="2500" kern="0" spc="-280" dirty="0">
                          <a:solidFill>
                            <a:srgbClr val="000000">
                              <a:alpha val="100000"/>
                            </a:srgbClr>
                          </a:solidFill>
                          <a:latin typeface="Arial" panose="020B0604020202020204"/>
                          <a:ea typeface="Arial" panose="020B0604020202020204"/>
                          <a:cs typeface="Arial" panose="020B0604020202020204"/>
                        </a:rPr>
                        <a:t> </a:t>
                      </a:r>
                      <a:r>
                        <a:rPr sz="2500" kern="0" spc="-3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7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2500" i="1" kern="0" spc="17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170" baseline="61000" dirty="0">
                          <a:solidFill>
                            <a:srgbClr val="000000">
                              <a:alpha val="100000"/>
                            </a:srgbClr>
                          </a:solidFill>
                          <a:latin typeface="Times New Roman" panose="02020603050405020304"/>
                          <a:ea typeface="Times New Roman" panose="02020603050405020304"/>
                          <a:cs typeface="Times New Roman" panose="02020603050405020304"/>
                        </a:rPr>
                        <a:t>2</a:t>
                      </a:r>
                      <a:endParaRPr sz="2300" baseline="61000" dirty="0">
                        <a:latin typeface="Times New Roman" panose="02020603050405020304"/>
                        <a:ea typeface="Times New Roman" panose="02020603050405020304"/>
                        <a:cs typeface="Times New Roman" panose="02020603050405020304"/>
                      </a:endParaRPr>
                    </a:p>
                    <a:p>
                      <a:pPr algn="l" rtl="0" eaLnBrk="0">
                        <a:lnSpc>
                          <a:spcPct val="100000"/>
                        </a:lnSpc>
                      </a:pPr>
                      <a:endParaRPr sz="1300" dirty="0">
                        <a:latin typeface="Arial" panose="020B0604020202020204"/>
                        <a:ea typeface="Arial" panose="020B0604020202020204"/>
                        <a:cs typeface="Arial" panose="020B0604020202020204"/>
                      </a:endParaRPr>
                    </a:p>
                    <a:p>
                      <a:pPr marL="435610" algn="l" rtl="0" eaLnBrk="0">
                        <a:lnSpc>
                          <a:spcPct val="100000"/>
                        </a:lnSpc>
                        <a:spcBef>
                          <a:spcPts val="0"/>
                        </a:spcBef>
                      </a:pP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Y </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5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2500" kern="0" spc="-1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0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300" dirty="0">
                          <a:solidFill>
                            <a:srgbClr val="000000">
                              <a:alpha val="100000"/>
                            </a:srgbClr>
                          </a:solidFill>
                          <a:latin typeface="Arial" panose="020B0604020202020204"/>
                          <a:ea typeface="Arial" panose="020B0604020202020204"/>
                          <a:cs typeface="Arial" panose="020B0604020202020204"/>
                        </a:rPr>
                        <a:t>+</a:t>
                      </a:r>
                      <a:r>
                        <a:rPr sz="2500" kern="0" spc="-280" dirty="0">
                          <a:solidFill>
                            <a:srgbClr val="000000">
                              <a:alpha val="100000"/>
                            </a:srgbClr>
                          </a:solidFill>
                          <a:latin typeface="Arial" panose="020B0604020202020204"/>
                          <a:ea typeface="Arial" panose="020B0604020202020204"/>
                          <a:cs typeface="Arial" panose="020B0604020202020204"/>
                        </a:rPr>
                        <a:t> </a:t>
                      </a:r>
                      <a:r>
                        <a:rPr sz="2500" kern="0" spc="-3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0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2500" i="1" kern="0" spc="-70" dirty="0">
                          <a:solidFill>
                            <a:srgbClr val="000000">
                              <a:alpha val="100000"/>
                            </a:srgbClr>
                          </a:solidFill>
                          <a:latin typeface="Times New Roman" panose="02020603050405020304"/>
                          <a:ea typeface="Times New Roman" panose="02020603050405020304"/>
                          <a:cs typeface="Times New Roman" panose="02020603050405020304"/>
                        </a:rPr>
                        <a:t>Ln</a:t>
                      </a:r>
                      <a:r>
                        <a:rPr sz="2500" i="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70" dirty="0">
                          <a:solidFill>
                            <a:srgbClr val="000000">
                              <a:alpha val="100000"/>
                            </a:srgbClr>
                          </a:solidFill>
                          <a:latin typeface="Arial" panose="020B0604020202020204"/>
                          <a:ea typeface="Arial" panose="020B0604020202020204"/>
                          <a:cs typeface="Arial" panose="020B0604020202020204"/>
                        </a:rPr>
                        <a:t>(</a:t>
                      </a:r>
                      <a:r>
                        <a:rPr sz="2500" i="1" kern="0" spc="-70" dirty="0">
                          <a:solidFill>
                            <a:srgbClr val="000000">
                              <a:alpha val="100000"/>
                            </a:srgbClr>
                          </a:solidFill>
                          <a:latin typeface="Times New Roman" panose="02020603050405020304"/>
                          <a:ea typeface="Times New Roman" panose="02020603050405020304"/>
                          <a:cs typeface="Times New Roman" panose="02020603050405020304"/>
                        </a:rPr>
                        <a:t>X</a:t>
                      </a:r>
                      <a:r>
                        <a:rPr sz="2500" i="1"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70" dirty="0">
                          <a:solidFill>
                            <a:srgbClr val="000000">
                              <a:alpha val="100000"/>
                            </a:srgbClr>
                          </a:solidFill>
                          <a:latin typeface="Arial" panose="020B0604020202020204"/>
                          <a:ea typeface="Arial" panose="020B0604020202020204"/>
                          <a:cs typeface="Arial" panose="020B0604020202020204"/>
                        </a:rPr>
                        <a:t>)</a:t>
                      </a:r>
                      <a:endParaRPr sz="34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736725">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rowSpan="2">
                  <a:txBody>
                    <a:bodyPr/>
                    <a:lstStyle/>
                    <a:p>
                      <a:pPr algn="l" rtl="0" eaLnBrk="0">
                        <a:lnSpc>
                          <a:spcPct val="104000"/>
                        </a:lnSpc>
                      </a:pPr>
                      <a:endParaRPr sz="2600" dirty="0">
                        <a:latin typeface="Times New Roman" panose="02020603050405020304"/>
                        <a:ea typeface="Times New Roman" panose="02020603050405020304"/>
                        <a:cs typeface="Times New Roman" panose="02020603050405020304"/>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rowSpan="2">
                  <a:txBody>
                    <a:bodyPr/>
                    <a:lstStyle/>
                    <a:p>
                      <a:pPr algn="l" rtl="0" eaLnBrk="0">
                        <a:lnSpc>
                          <a:spcPct val="139000"/>
                        </a:lnSpc>
                      </a:pPr>
                      <a:endParaRPr sz="26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r h="982980">
                <a:tc>
                  <a:txBody>
                    <a:bodyPr/>
                    <a:lstStyle/>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8440" algn="l" rtl="0" eaLnBrk="0">
                        <a:lnSpc>
                          <a:spcPct val="80000"/>
                        </a:lnSpc>
                      </a:pPr>
                      <a:r>
                        <a:rPr sz="1300" b="1" kern="0" spc="0" dirty="0">
                          <a:solidFill>
                            <a:srgbClr val="FFFFFF">
                              <a:alpha val="100000"/>
                            </a:srgbClr>
                          </a:solidFill>
                          <a:latin typeface="Franklin Gothic Book" panose="020B0503020102020204"/>
                          <a:ea typeface="Franklin Gothic Book" panose="020B0503020102020204"/>
                          <a:cs typeface="Franklin Gothic Book" panose="020B0503020102020204"/>
                        </a:rPr>
                        <a:t>20</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vMerge="1">
                  <a:tcPr marL="0" marR="0" marT="0" marB="0">
                    <a:lnL>
                      <a:noFill/>
                    </a:lnL>
                    <a:lnR>
                      <a:noFill/>
                    </a:lnR>
                    <a:lnT>
                      <a:noFill/>
                    </a:lnT>
                    <a:lnB w="6350" cap="flat" cmpd="sng" algn="ctr">
                      <a:solidFill>
                        <a:srgbClr val="000000"/>
                      </a:solidFill>
                      <a:prstDash val="solid"/>
                      <a:round/>
                      <a:headEnd type="none" w="med" len="med"/>
                      <a:tailEnd type="none" w="med" len="med"/>
                    </a:lnB>
                  </a:tcPr>
                </a:tc>
                <a:tc v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6" name="table 226"/>
          <p:cNvGraphicFramePr>
            <a:graphicFrameLocks noGrp="1"/>
          </p:cNvGraphicFramePr>
          <p:nvPr/>
        </p:nvGraphicFramePr>
        <p:xfrm>
          <a:off x="60832" y="66928"/>
          <a:ext cx="9019538" cy="6699250"/>
        </p:xfrm>
        <a:graphic>
          <a:graphicData uri="http://schemas.openxmlformats.org/drawingml/2006/table">
            <a:tbl>
              <a:tblPr/>
              <a:tblGrid>
                <a:gridCol w="5662929"/>
                <a:gridCol w="3356609"/>
              </a:tblGrid>
              <a:tr h="1421130">
                <a:tc gridSpan="2">
                  <a:txBody>
                    <a:bodyPr/>
                    <a:lstStyle/>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898775" algn="l" rtl="0" eaLnBrk="0">
                        <a:lnSpc>
                          <a:spcPct val="86000"/>
                        </a:lnSpc>
                      </a:pPr>
                      <a:r>
                        <a:rPr sz="3100" b="1" kern="0" spc="80" dirty="0">
                          <a:solidFill>
                            <a:srgbClr val="000000">
                              <a:alpha val="100000"/>
                            </a:srgbClr>
                          </a:solidFill>
                          <a:latin typeface="幼圆" panose="02010509060101010101" charset="-122"/>
                          <a:ea typeface="幼圆" panose="02010509060101010101" charset="-122"/>
                          <a:cs typeface="幼圆" panose="02010509060101010101" charset="-122"/>
                        </a:rPr>
                        <a:t>二、计量经济模型</a:t>
                      </a:r>
                      <a:endParaRPr sz="31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467169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105410" indent="14605" algn="l" rtl="0" eaLnBrk="0">
                        <a:lnSpc>
                          <a:spcPct val="92000"/>
                        </a:lnSpc>
                        <a:spcBef>
                          <a:spcPts val="0"/>
                        </a:spcBef>
                      </a:pPr>
                      <a:r>
                        <a:rPr sz="18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●随着家庭收入的增加，家庭</a:t>
                      </a:r>
                      <a:r>
                        <a:rPr sz="18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消费支出平均而言也会增加；</a:t>
                      </a:r>
                      <a:endParaRPr sz="1800" dirty="0">
                        <a:latin typeface="宋体" panose="02010600030101010101" pitchFamily="2" charset="-122"/>
                        <a:ea typeface="宋体" panose="02010600030101010101" pitchFamily="2" charset="-122"/>
                        <a:cs typeface="宋体" panose="02010600030101010101" pitchFamily="2" charset="-122"/>
                      </a:endParaRPr>
                    </a:p>
                    <a:p>
                      <a:pPr marL="99060" algn="l" rtl="0" eaLnBrk="0">
                        <a:lnSpc>
                          <a:spcPct val="87000"/>
                        </a:lnSpc>
                        <a:spcBef>
                          <a:spcPts val="355"/>
                        </a:spcBef>
                      </a:pPr>
                      <a:r>
                        <a:rPr sz="18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但是，对某一特定家庭来</a:t>
                      </a:r>
                      <a:r>
                        <a:rPr sz="1800" kern="0"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说，</a:t>
                      </a:r>
                      <a:endParaRPr sz="1800" dirty="0">
                        <a:latin typeface="宋体" panose="02010600030101010101" pitchFamily="2" charset="-122"/>
                        <a:ea typeface="宋体" panose="02010600030101010101" pitchFamily="2" charset="-122"/>
                        <a:cs typeface="宋体" panose="02010600030101010101" pitchFamily="2" charset="-122"/>
                      </a:endParaRPr>
                    </a:p>
                    <a:p>
                      <a:pPr marL="103505" indent="1270" algn="l" rtl="0" eaLnBrk="0">
                        <a:lnSpc>
                          <a:spcPct val="93000"/>
                        </a:lnSpc>
                        <a:spcBef>
                          <a:spcPts val="305"/>
                        </a:spcBef>
                      </a:pP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消费支出与其（固定的）收入</a:t>
                      </a:r>
                      <a:r>
                        <a:rPr sz="18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水平的关系怎样？图中可以看</a:t>
                      </a:r>
                      <a:r>
                        <a:rPr sz="18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到，某一特定家庭的消费支出</a:t>
                      </a:r>
                      <a:r>
                        <a:rPr sz="18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不一定随收入水平增加而增加</a:t>
                      </a:r>
                      <a:r>
                        <a:rPr sz="1800" kern="0"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marL="99695" indent="20320" algn="l" rtl="0" eaLnBrk="0">
                        <a:lnSpc>
                          <a:spcPct val="94000"/>
                        </a:lnSpc>
                        <a:spcBef>
                          <a:spcPts val="550"/>
                        </a:spcBef>
                      </a:pPr>
                      <a:r>
                        <a:rPr sz="18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●特定家庭消费支出与给定收</a:t>
                      </a:r>
                      <a:r>
                        <a:rPr sz="18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入水平之间有什么关系呢？图</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中可以看到，给定收入水平</a:t>
                      </a:r>
                      <a:endParaRPr sz="1800" dirty="0">
                        <a:latin typeface="宋体" panose="02010600030101010101" pitchFamily="2" charset="-122"/>
                        <a:ea typeface="宋体" panose="02010600030101010101" pitchFamily="2" charset="-122"/>
                        <a:cs typeface="宋体" panose="02010600030101010101" pitchFamily="2" charset="-122"/>
                      </a:endParaRPr>
                    </a:p>
                    <a:p>
                      <a:pPr marL="100330" indent="-4445" algn="l" rtl="0" eaLnBrk="0">
                        <a:lnSpc>
                          <a:spcPct val="96000"/>
                        </a:lnSpc>
                        <a:spcBef>
                          <a:spcPts val="120"/>
                        </a:spcBef>
                      </a:pPr>
                      <a:r>
                        <a:rPr sz="1800" kern="0" spc="-20" dirty="0">
                          <a:solidFill>
                            <a:srgbClr val="000000">
                              <a:alpha val="100000"/>
                            </a:srgbClr>
                          </a:solidFill>
                          <a:latin typeface="Perpetua" panose="02020502060401020303"/>
                          <a:ea typeface="Perpetua" panose="02020502060401020303"/>
                          <a:cs typeface="Perpetua" panose="02020502060401020303"/>
                        </a:rPr>
                        <a:t>X=x</a:t>
                      </a:r>
                      <a:r>
                        <a:rPr sz="1800" kern="0" spc="-180" dirty="0">
                          <a:solidFill>
                            <a:srgbClr val="000000">
                              <a:alpha val="100000"/>
                            </a:srgbClr>
                          </a:solidFill>
                          <a:latin typeface="Perpetua" panose="02020502060401020303"/>
                          <a:ea typeface="Perpetua" panose="02020502060401020303"/>
                          <a:cs typeface="Perpetua" panose="02020502060401020303"/>
                        </a:rPr>
                        <a:t> </a:t>
                      </a:r>
                      <a:r>
                        <a:rPr sz="18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的特定家庭的消费支出聚</a:t>
                      </a:r>
                      <a:r>
                        <a:rPr sz="18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集在收入为</a:t>
                      </a:r>
                      <a:r>
                        <a:rPr sz="1800" kern="0" spc="-10" dirty="0">
                          <a:solidFill>
                            <a:srgbClr val="000000">
                              <a:alpha val="100000"/>
                            </a:srgbClr>
                          </a:solidFill>
                          <a:latin typeface="Perpetua" panose="02020502060401020303"/>
                          <a:ea typeface="Perpetua" panose="02020502060401020303"/>
                          <a:cs typeface="Perpetua" panose="02020502060401020303"/>
                        </a:rPr>
                        <a:t>x</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的所有家庭的平均</a:t>
                      </a:r>
                      <a:r>
                        <a:rPr sz="18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消费支出周围，围绕它的条件</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8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均值而分布。</a:t>
                      </a:r>
                      <a:endParaRPr sz="18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606425">
                <a:tc gridSpan="2">
                  <a:txBody>
                    <a:bodyPr/>
                    <a:lstStyle/>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21615"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21</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228" name="table 228"/>
          <p:cNvGraphicFramePr>
            <a:graphicFrameLocks noGrp="1"/>
          </p:cNvGraphicFramePr>
          <p:nvPr/>
        </p:nvGraphicFramePr>
        <p:xfrm>
          <a:off x="245109" y="1916938"/>
          <a:ext cx="5382260" cy="4175759"/>
        </p:xfrm>
        <a:graphic>
          <a:graphicData uri="http://schemas.openxmlformats.org/drawingml/2006/table">
            <a:tbl>
              <a:tblPr/>
              <a:tblGrid>
                <a:gridCol w="5382260"/>
              </a:tblGrid>
              <a:tr h="417575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230" name="picture 230"/>
          <p:cNvPicPr>
            <a:picLocks noChangeAspect="1"/>
          </p:cNvPicPr>
          <p:nvPr/>
        </p:nvPicPr>
        <p:blipFill>
          <a:blip r:embed="rId1"/>
          <a:stretch>
            <a:fillRect/>
          </a:stretch>
        </p:blipFill>
        <p:spPr>
          <a:xfrm rot="21600000">
            <a:off x="251459" y="1923288"/>
            <a:ext cx="5369813" cy="41696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4" name="table 234"/>
          <p:cNvGraphicFramePr>
            <a:graphicFrameLocks noGrp="1"/>
          </p:cNvGraphicFramePr>
          <p:nvPr/>
        </p:nvGraphicFramePr>
        <p:xfrm>
          <a:off x="60832" y="66928"/>
          <a:ext cx="9019540" cy="6699250"/>
        </p:xfrm>
        <a:graphic>
          <a:graphicData uri="http://schemas.openxmlformats.org/drawingml/2006/table">
            <a:tbl>
              <a:tblPr/>
              <a:tblGrid>
                <a:gridCol w="586740"/>
                <a:gridCol w="8432800"/>
              </a:tblGrid>
              <a:tr h="1340485">
                <a:tc gridSpan="2">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630555" algn="l" rtl="0" eaLnBrk="0">
                        <a:lnSpc>
                          <a:spcPct val="88000"/>
                        </a:lnSpc>
                        <a:spcBef>
                          <a:spcPts val="5"/>
                        </a:spcBef>
                      </a:pPr>
                      <a:r>
                        <a:rPr sz="16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把特定家庭的消费支出围绕</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它的条件期望值的偏差表述为：</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358765">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8440" algn="l" rtl="0" eaLnBrk="0">
                        <a:lnSpc>
                          <a:spcPct val="80000"/>
                        </a:lnSpc>
                        <a:spcBef>
                          <a:spcPts val="5"/>
                        </a:spcBef>
                      </a:pPr>
                      <a:r>
                        <a:rPr sz="1300" b="1" kern="0" spc="0" dirty="0">
                          <a:solidFill>
                            <a:srgbClr val="FFFFFF">
                              <a:alpha val="100000"/>
                            </a:srgbClr>
                          </a:solidFill>
                          <a:latin typeface="Franklin Gothic Book" panose="020B0503020102020204"/>
                          <a:ea typeface="Franklin Gothic Book" panose="020B0503020102020204"/>
                          <a:cs typeface="Franklin Gothic Book" panose="020B0503020102020204"/>
                        </a:rPr>
                        <a:t>22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43000"/>
                        </a:lnSpc>
                      </a:pPr>
                      <a:endParaRPr sz="1000" dirty="0">
                        <a:latin typeface="Arial" panose="020B0604020202020204"/>
                        <a:ea typeface="Arial" panose="020B0604020202020204"/>
                        <a:cs typeface="Arial" panose="020B0604020202020204"/>
                      </a:endParaRPr>
                    </a:p>
                    <a:p>
                      <a:pPr marL="2937510" algn="l" rtl="0" eaLnBrk="0">
                        <a:lnSpc>
                          <a:spcPct val="77000"/>
                        </a:lnSpc>
                        <a:spcBef>
                          <a:spcPts val="5"/>
                        </a:spcBef>
                      </a:pPr>
                      <a:r>
                        <a:rPr sz="3600" i="1" kern="0" spc="0" baseline="400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40" baseline="4000" dirty="0">
                          <a:solidFill>
                            <a:srgbClr val="000000">
                              <a:alpha val="100000"/>
                            </a:srgbClr>
                          </a:solidFill>
                          <a:latin typeface="Arial" panose="020B0604020202020204"/>
                          <a:ea typeface="Arial" panose="020B0604020202020204"/>
                          <a:cs typeface="Arial" panose="020B0604020202020204"/>
                        </a:rPr>
                        <a:t>=</a:t>
                      </a:r>
                      <a:r>
                        <a:rPr sz="2300" kern="0" spc="40" dirty="0">
                          <a:solidFill>
                            <a:srgbClr val="000000">
                              <a:alpha val="100000"/>
                            </a:srgbClr>
                          </a:solidFill>
                          <a:latin typeface="Arial" panose="020B0604020202020204"/>
                          <a:ea typeface="Arial" panose="020B0604020202020204"/>
                          <a:cs typeface="Arial" panose="020B0604020202020204"/>
                        </a:rPr>
                        <a:t> </a:t>
                      </a:r>
                      <a:r>
                        <a:rPr sz="3600" i="1" kern="0" spc="0" baseline="400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40" baseline="4000" dirty="0">
                          <a:solidFill>
                            <a:srgbClr val="000000">
                              <a:alpha val="100000"/>
                            </a:srgbClr>
                          </a:solidFill>
                          <a:latin typeface="Arial" panose="020B0604020202020204"/>
                          <a:ea typeface="Arial" panose="020B0604020202020204"/>
                          <a:cs typeface="Arial" panose="020B0604020202020204"/>
                        </a:rPr>
                        <a:t>-</a:t>
                      </a:r>
                      <a:r>
                        <a:rPr sz="2300" kern="0" spc="-200" dirty="0">
                          <a:solidFill>
                            <a:srgbClr val="000000">
                              <a:alpha val="100000"/>
                            </a:srgbClr>
                          </a:solidFill>
                          <a:latin typeface="Arial" panose="020B0604020202020204"/>
                          <a:ea typeface="Arial" panose="020B0604020202020204"/>
                          <a:cs typeface="Arial" panose="020B0604020202020204"/>
                        </a:rPr>
                        <a:t> </a:t>
                      </a:r>
                      <a:r>
                        <a:rPr sz="3600" i="1" kern="0" spc="40" baseline="400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40" dirty="0">
                          <a:solidFill>
                            <a:srgbClr val="000000">
                              <a:alpha val="100000"/>
                            </a:srgbClr>
                          </a:solidFill>
                          <a:latin typeface="Arial" panose="020B0604020202020204"/>
                          <a:ea typeface="Arial" panose="020B0604020202020204"/>
                          <a:cs typeface="Arial" panose="020B0604020202020204"/>
                        </a:rPr>
                        <a:t>(</a:t>
                      </a:r>
                      <a:r>
                        <a:rPr sz="3600" i="1" kern="0" spc="0" baseline="4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3600" i="1" kern="0" spc="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40" dirty="0">
                          <a:solidFill>
                            <a:srgbClr val="000000">
                              <a:alpha val="100000"/>
                            </a:srgbClr>
                          </a:solidFill>
                          <a:latin typeface="Arial" panose="020B0604020202020204"/>
                          <a:ea typeface="Arial" panose="020B0604020202020204"/>
                          <a:cs typeface="Arial" panose="020B0604020202020204"/>
                        </a:rPr>
                        <a:t>)</a:t>
                      </a:r>
                      <a:endParaRPr sz="3500" dirty="0">
                        <a:latin typeface="Arial" panose="020B0604020202020204"/>
                        <a:ea typeface="Arial" panose="020B0604020202020204"/>
                        <a:cs typeface="Arial" panose="020B0604020202020204"/>
                      </a:endParaRPr>
                    </a:p>
                    <a:p>
                      <a:pPr marL="2941320" algn="l" rtl="0" eaLnBrk="0">
                        <a:lnSpc>
                          <a:spcPts val="4385"/>
                        </a:lnSpc>
                      </a:pPr>
                      <a:r>
                        <a:rPr sz="3600" i="1" kern="0" spc="60" baseline="200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380" baseline="-24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30" baseline="2000" dirty="0">
                          <a:solidFill>
                            <a:srgbClr val="000000">
                              <a:alpha val="100000"/>
                            </a:srgbClr>
                          </a:solidFill>
                          <a:latin typeface="Arial" panose="020B0604020202020204"/>
                          <a:ea typeface="Arial" panose="020B0604020202020204"/>
                          <a:cs typeface="Arial" panose="020B0604020202020204"/>
                        </a:rPr>
                        <a:t>=</a:t>
                      </a:r>
                      <a:r>
                        <a:rPr sz="2300" kern="0" spc="-30" dirty="0">
                          <a:solidFill>
                            <a:srgbClr val="000000">
                              <a:alpha val="100000"/>
                            </a:srgbClr>
                          </a:solidFill>
                          <a:latin typeface="Arial" panose="020B0604020202020204"/>
                          <a:ea typeface="Arial" panose="020B0604020202020204"/>
                          <a:cs typeface="Arial" panose="020B0604020202020204"/>
                        </a:rPr>
                        <a:t> </a:t>
                      </a:r>
                      <a:r>
                        <a:rPr sz="3600" i="1" kern="0" spc="-30" baseline="200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30" dirty="0">
                          <a:solidFill>
                            <a:srgbClr val="000000">
                              <a:alpha val="100000"/>
                            </a:srgbClr>
                          </a:solidFill>
                          <a:latin typeface="Arial" panose="020B0604020202020204"/>
                          <a:ea typeface="Arial" panose="020B0604020202020204"/>
                          <a:cs typeface="Arial" panose="020B0604020202020204"/>
                        </a:rPr>
                        <a:t>(</a:t>
                      </a:r>
                      <a:r>
                        <a:rPr sz="3600" i="1" kern="0" spc="-30" baseline="2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3600" i="1" kern="0" spc="-30" baseline="200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30" baseline="-24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30" dirty="0">
                          <a:solidFill>
                            <a:srgbClr val="000000">
                              <a:alpha val="100000"/>
                            </a:srgbClr>
                          </a:solidFill>
                          <a:latin typeface="Arial" panose="020B0604020202020204"/>
                          <a:ea typeface="Arial" panose="020B0604020202020204"/>
                          <a:cs typeface="Arial" panose="020B0604020202020204"/>
                        </a:rPr>
                        <a:t>)</a:t>
                      </a:r>
                      <a:r>
                        <a:rPr sz="3500" kern="0" spc="-550" dirty="0">
                          <a:solidFill>
                            <a:srgbClr val="000000">
                              <a:alpha val="100000"/>
                            </a:srgbClr>
                          </a:solidFill>
                          <a:latin typeface="Arial" panose="020B0604020202020204"/>
                          <a:ea typeface="Arial" panose="020B0604020202020204"/>
                          <a:cs typeface="Arial" panose="020B0604020202020204"/>
                        </a:rPr>
                        <a:t> </a:t>
                      </a:r>
                      <a:r>
                        <a:rPr sz="3600" kern="0" spc="-30" baseline="2000" dirty="0">
                          <a:solidFill>
                            <a:srgbClr val="000000">
                              <a:alpha val="100000"/>
                            </a:srgbClr>
                          </a:solidFill>
                          <a:latin typeface="Arial" panose="020B0604020202020204"/>
                          <a:ea typeface="Arial" panose="020B0604020202020204"/>
                          <a:cs typeface="Arial" panose="020B0604020202020204"/>
                        </a:rPr>
                        <a:t>+</a:t>
                      </a:r>
                      <a:r>
                        <a:rPr sz="2300" kern="0" spc="-170" dirty="0">
                          <a:solidFill>
                            <a:srgbClr val="000000">
                              <a:alpha val="100000"/>
                            </a:srgbClr>
                          </a:solidFill>
                          <a:latin typeface="Arial" panose="020B0604020202020204"/>
                          <a:ea typeface="Arial" panose="020B0604020202020204"/>
                          <a:cs typeface="Arial" panose="020B0604020202020204"/>
                        </a:rPr>
                        <a:t> </a:t>
                      </a:r>
                      <a:r>
                        <a:rPr sz="3600" i="1" kern="0" spc="-40" baseline="200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40" baseline="-24000" dirty="0">
                          <a:solidFill>
                            <a:srgbClr val="000000">
                              <a:alpha val="100000"/>
                            </a:srgbClr>
                          </a:solidFill>
                          <a:latin typeface="Times New Roman" panose="02020603050405020304"/>
                          <a:ea typeface="Times New Roman" panose="02020603050405020304"/>
                          <a:cs typeface="Times New Roman" panose="02020603050405020304"/>
                        </a:rPr>
                        <a:t>i</a:t>
                      </a:r>
                      <a:endParaRPr sz="2100" baseline="-24000" dirty="0">
                        <a:latin typeface="Times New Roman" panose="02020603050405020304"/>
                        <a:ea typeface="Times New Roman" panose="02020603050405020304"/>
                        <a:cs typeface="Times New Roman" panose="02020603050405020304"/>
                      </a:endParaRPr>
                    </a:p>
                    <a:p>
                      <a:pPr algn="l" rtl="0" eaLnBrk="0">
                        <a:lnSpc>
                          <a:spcPct val="132000"/>
                        </a:lnSpc>
                      </a:pPr>
                      <a:endParaRPr sz="1000" dirty="0">
                        <a:latin typeface="Arial" panose="020B0604020202020204"/>
                        <a:ea typeface="Arial" panose="020B0604020202020204"/>
                        <a:cs typeface="Arial" panose="020B0604020202020204"/>
                      </a:endParaRPr>
                    </a:p>
                    <a:p>
                      <a:pPr algn="l" rtl="0" eaLnBrk="0">
                        <a:lnSpc>
                          <a:spcPct val="133000"/>
                        </a:lnSpc>
                      </a:pPr>
                      <a:endParaRPr sz="1000" dirty="0">
                        <a:latin typeface="Arial" panose="020B0604020202020204"/>
                        <a:ea typeface="Arial" panose="020B0604020202020204"/>
                        <a:cs typeface="Arial" panose="020B0604020202020204"/>
                      </a:endParaRPr>
                    </a:p>
                    <a:p>
                      <a:pPr marL="329565" indent="-285750" algn="l" rtl="0" eaLnBrk="0">
                        <a:lnSpc>
                          <a:spcPct val="128000"/>
                        </a:lnSpc>
                        <a:spcBef>
                          <a:spcPts val="580"/>
                        </a:spcBef>
                        <a:buFont typeface="Wingdings" panose="05000000000000000000" pitchFamily="2" charset="2"/>
                        <a:buChar char="ü"/>
                      </a:pPr>
                      <a:r>
                        <a:rPr sz="16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其中，偏差是一个不可观测的可正可负的随机变量，称之为</a:t>
                      </a:r>
                      <a:r>
                        <a:rPr sz="1900" b="1"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干扰项</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或随机误差项。</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14000"/>
                        </a:lnSpc>
                      </a:pPr>
                      <a:endParaRPr sz="1000" dirty="0">
                        <a:latin typeface="Arial" panose="020B0604020202020204"/>
                        <a:ea typeface="Arial" panose="020B0604020202020204"/>
                        <a:cs typeface="Arial" panose="020B0604020202020204"/>
                      </a:endParaRPr>
                    </a:p>
                    <a:p>
                      <a:pPr marL="43815" algn="l" rtl="0" eaLnBrk="0">
                        <a:lnSpc>
                          <a:spcPct val="88000"/>
                        </a:lnSpc>
                        <a:spcBef>
                          <a:spcPts val="570"/>
                        </a:spcBef>
                      </a:pPr>
                      <a:r>
                        <a:rPr sz="16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6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对上面方程的解释：</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5000"/>
                        </a:lnSpc>
                      </a:pPr>
                      <a:endParaRPr sz="1000" dirty="0">
                        <a:latin typeface="Arial" panose="020B0604020202020204"/>
                        <a:ea typeface="Arial" panose="020B0604020202020204"/>
                        <a:cs typeface="Arial" panose="020B0604020202020204"/>
                      </a:endParaRPr>
                    </a:p>
                    <a:p>
                      <a:pPr marL="329565" indent="-285750" algn="l" rtl="0" eaLnBrk="0">
                        <a:lnSpc>
                          <a:spcPct val="88000"/>
                        </a:lnSpc>
                        <a:spcBef>
                          <a:spcPts val="575"/>
                        </a:spcBef>
                        <a:buFont typeface="Wingdings" panose="05000000000000000000" pitchFamily="2" charset="2"/>
                        <a:buChar char="ü"/>
                      </a:pPr>
                      <a:r>
                        <a:rPr sz="1900" kern="0" spc="40" dirty="0" err="1">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给定</a:t>
                      </a:r>
                      <a:r>
                        <a:rPr sz="1900" kern="0" spc="40" dirty="0" err="1">
                          <a:solidFill>
                            <a:srgbClr val="000000">
                              <a:alpha val="100000"/>
                            </a:srgbClr>
                          </a:solidFill>
                          <a:latin typeface="Perpetua" panose="02020502060401020303"/>
                          <a:ea typeface="Perpetua" panose="02020502060401020303"/>
                          <a:cs typeface="Perpetua" panose="02020502060401020303"/>
                        </a:rPr>
                        <a:t>X</a:t>
                      </a:r>
                      <a:r>
                        <a:rPr sz="1900" kern="0" spc="-190" dirty="0">
                          <a:solidFill>
                            <a:srgbClr val="000000">
                              <a:alpha val="100000"/>
                            </a:srgbClr>
                          </a:solidFill>
                          <a:latin typeface="Perpetua" panose="02020502060401020303"/>
                          <a:ea typeface="Perpetua" panose="02020502060401020303"/>
                          <a:cs typeface="Perpetua" panose="02020502060401020303"/>
                        </a:rPr>
                        <a:t> </a:t>
                      </a:r>
                      <a:r>
                        <a:rPr sz="19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的水</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平，特定家庭的消费支出可以表示为两个成分之和：</a:t>
                      </a:r>
                      <a:endParaRPr sz="19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35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329565" indent="-285750" algn="l" rtl="0" eaLnBrk="0">
                        <a:lnSpc>
                          <a:spcPct val="129000"/>
                        </a:lnSpc>
                        <a:spcBef>
                          <a:spcPts val="570"/>
                        </a:spcBef>
                        <a:buFont typeface="Wingdings" panose="05000000000000000000" pitchFamily="2" charset="2"/>
                        <a:buChar char="ü"/>
                      </a:pPr>
                      <a:r>
                        <a:rPr sz="16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一是条件期望代表的相同收入水平的所有家庭的平均消费支出，</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称为</a:t>
                      </a:r>
                      <a:r>
                        <a:rPr sz="1900" b="1"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系统</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或确定性成分；</a:t>
                      </a:r>
                      <a:endParaRPr sz="19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13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171450" indent="-171450" algn="l" rtl="0" eaLnBrk="0">
                        <a:lnSpc>
                          <a:spcPct val="120000"/>
                        </a:lnSpc>
                        <a:buFont typeface="Wingdings" panose="05000000000000000000" pitchFamily="2" charset="2"/>
                        <a:buChar char="ü"/>
                      </a:pPr>
                      <a:endParaRPr sz="400" dirty="0">
                        <a:latin typeface="Arial" panose="020B0604020202020204"/>
                        <a:ea typeface="Arial" panose="020B0604020202020204"/>
                        <a:cs typeface="Arial" panose="020B0604020202020204"/>
                      </a:endParaRPr>
                    </a:p>
                    <a:p>
                      <a:pPr marL="329565" indent="-285750" algn="l" rtl="0" eaLnBrk="0">
                        <a:lnSpc>
                          <a:spcPct val="94000"/>
                        </a:lnSpc>
                        <a:spcBef>
                          <a:spcPts val="5"/>
                        </a:spcBef>
                        <a:buFont typeface="Wingdings" panose="05000000000000000000" pitchFamily="2" charset="2"/>
                        <a:buChar char="ü"/>
                      </a:pPr>
                      <a:r>
                        <a:rPr sz="16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二是</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e</a:t>
                      </a:r>
                      <a:r>
                        <a:rPr sz="19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代表的</a:t>
                      </a:r>
                      <a:r>
                        <a:rPr sz="19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a:t>
                      </a:r>
                      <a:r>
                        <a:rPr sz="19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或非系统性成分。</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236" name="path 236"/>
          <p:cNvSpPr/>
          <p:nvPr/>
        </p:nvSpPr>
        <p:spPr>
          <a:xfrm>
            <a:off x="4672527" y="2202648"/>
            <a:ext cx="15250" cy="375238"/>
          </a:xfrm>
          <a:custGeom>
            <a:avLst/>
            <a:gdLst/>
            <a:ahLst/>
            <a:cxnLst/>
            <a:rect l="0" t="0" r="0" b="0"/>
            <a:pathLst>
              <a:path w="24" h="590">
                <a:moveTo>
                  <a:pt x="12" y="11"/>
                </a:moveTo>
                <a:lnTo>
                  <a:pt x="12" y="578"/>
                </a:lnTo>
              </a:path>
            </a:pathLst>
          </a:custGeom>
          <a:noFill/>
          <a:ln w="15233" cap="sq">
            <a:solidFill>
              <a:srgbClr val="000000"/>
            </a:solidFill>
            <a:prstDash val="solid"/>
            <a:round/>
          </a:ln>
        </p:spPr>
        <p:txBody>
          <a:bodyPr rtlCol="0"/>
          <a:lstStyle/>
          <a:p>
            <a:pPr algn="ctr"/>
            <a:endParaRPr lang="zh-CN" altLang="en-US"/>
          </a:p>
        </p:txBody>
      </p:sp>
      <p:sp>
        <p:nvSpPr>
          <p:cNvPr id="238" name="path 238"/>
          <p:cNvSpPr/>
          <p:nvPr/>
        </p:nvSpPr>
        <p:spPr>
          <a:xfrm>
            <a:off x="5188456" y="1646154"/>
            <a:ext cx="15251" cy="374634"/>
          </a:xfrm>
          <a:custGeom>
            <a:avLst/>
            <a:gdLst/>
            <a:ahLst/>
            <a:cxnLst/>
            <a:rect l="0" t="0" r="0" b="0"/>
            <a:pathLst>
              <a:path w="24" h="589">
                <a:moveTo>
                  <a:pt x="12" y="11"/>
                </a:moveTo>
                <a:lnTo>
                  <a:pt x="12" y="577"/>
                </a:lnTo>
              </a:path>
            </a:pathLst>
          </a:custGeom>
          <a:noFill/>
          <a:ln w="15233" cap="sq">
            <a:solidFill>
              <a:srgbClr val="000000"/>
            </a:solidFill>
            <a:prstDash val="solid"/>
            <a:round/>
          </a:ln>
        </p:spPr>
        <p:txBody>
          <a:bodyPr rtlCol="0"/>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74320" y="1046117"/>
            <a:ext cx="7975600" cy="1338251"/>
          </a:xfrm>
          <a:prstGeom prst="rect">
            <a:avLst/>
          </a:prstGeom>
          <a:noFill/>
        </p:spPr>
        <p:txBody>
          <a:bodyPr wrap="square">
            <a:spAutoFit/>
          </a:bodyPr>
          <a:lstStyle/>
          <a:p>
            <a:pPr marL="732155" algn="l" rtl="0" eaLnBrk="0">
              <a:lnSpc>
                <a:spcPct val="88000"/>
              </a:lnSpc>
            </a:pPr>
            <a:r>
              <a:rPr lang="zh-CN" altLang="en-US" sz="28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a:t>
            </a:r>
            <a:r>
              <a:rPr lang="zh-CN" altLang="en-US" sz="28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定系统部分是线性的，则得到计量经济模型如下：</a:t>
            </a:r>
            <a:endParaRPr lang="zh-CN" altLang="en-US" sz="28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endParaRPr>
          </a:p>
          <a:p>
            <a:pPr marL="732155" algn="l" rtl="0" eaLnBrk="0">
              <a:lnSpc>
                <a:spcPct val="88000"/>
              </a:lnSpc>
            </a:pPr>
            <a:r>
              <a:rPr lang="zh-CN" altLang="en-US" sz="28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lang="en-GB" altLang="zh-CN" sz="28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Y</a:t>
            </a:r>
            <a:r>
              <a:rPr lang="en-GB" altLang="zh-CN" sz="2800" kern="0" spc="60" baseline="-250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i</a:t>
            </a:r>
            <a:r>
              <a:rPr lang="en-GB" altLang="zh-CN" sz="2800" kern="0" spc="60" baseline="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=E(Y/X</a:t>
            </a:r>
            <a:r>
              <a:rPr lang="en-GB" altLang="zh-CN" sz="2800" kern="0" spc="60" baseline="-250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i</a:t>
            </a:r>
            <a:r>
              <a:rPr lang="en-GB" altLang="zh-CN" sz="3200" kern="0" spc="60" baseline="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lang="en-GB" altLang="zh-CN" sz="3200" kern="0" spc="-570" dirty="0">
                <a:solidFill>
                  <a:srgbClr val="000000">
                    <a:alpha val="100000"/>
                  </a:srgbClr>
                </a:solidFill>
                <a:latin typeface="Arial" panose="020B0604020202020204"/>
                <a:ea typeface="Arial" panose="020B0604020202020204"/>
                <a:cs typeface="Arial" panose="020B0604020202020204"/>
              </a:rPr>
              <a:t> </a:t>
            </a:r>
            <a:r>
              <a:rPr lang="en-GB" altLang="zh-CN" sz="3600" kern="0" spc="0" baseline="3000" dirty="0">
                <a:solidFill>
                  <a:srgbClr val="000000">
                    <a:alpha val="100000"/>
                  </a:srgbClr>
                </a:solidFill>
                <a:latin typeface="Arial" panose="020B0604020202020204"/>
                <a:ea typeface="Arial" panose="020B0604020202020204"/>
                <a:cs typeface="Arial" panose="020B0604020202020204"/>
              </a:rPr>
              <a:t>+</a:t>
            </a:r>
            <a:r>
              <a:rPr lang="en-GB" altLang="zh-CN" sz="3600" kern="0" spc="-170" dirty="0">
                <a:solidFill>
                  <a:srgbClr val="000000">
                    <a:alpha val="100000"/>
                  </a:srgbClr>
                </a:solidFill>
                <a:latin typeface="Arial" panose="020B0604020202020204"/>
                <a:ea typeface="Arial" panose="020B0604020202020204"/>
                <a:cs typeface="Arial" panose="020B0604020202020204"/>
              </a:rPr>
              <a:t> </a:t>
            </a:r>
            <a:r>
              <a:rPr lang="en-GB" altLang="zh-CN" sz="3600" i="1" kern="0" spc="0" baseline="3000" dirty="0" err="1">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3600" i="1" kern="0" spc="0" baseline="-22000" dirty="0" err="1">
                <a:solidFill>
                  <a:srgbClr val="000000">
                    <a:alpha val="100000"/>
                  </a:srgbClr>
                </a:solidFill>
                <a:latin typeface="Times New Roman" panose="02020603050405020304"/>
                <a:ea typeface="Times New Roman" panose="02020603050405020304"/>
                <a:cs typeface="Times New Roman" panose="02020603050405020304"/>
              </a:rPr>
              <a:t>i</a:t>
            </a:r>
            <a:r>
              <a:rPr lang="en-GB" altLang="zh-CN" sz="36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3600" kern="0" spc="0" baseline="3000" dirty="0">
                <a:solidFill>
                  <a:srgbClr val="000000">
                    <a:alpha val="100000"/>
                  </a:srgbClr>
                </a:solidFill>
                <a:latin typeface="Arial" panose="020B0604020202020204"/>
                <a:ea typeface="Arial" panose="020B0604020202020204"/>
                <a:cs typeface="Arial" panose="020B0604020202020204"/>
              </a:rPr>
              <a:t>=</a:t>
            </a:r>
            <a:r>
              <a:rPr lang="en-GB" altLang="zh-CN" sz="3600" kern="0" spc="0" dirty="0">
                <a:solidFill>
                  <a:srgbClr val="000000">
                    <a:alpha val="100000"/>
                  </a:srgbClr>
                </a:solidFill>
                <a:latin typeface="Arial" panose="020B0604020202020204"/>
                <a:ea typeface="Arial" panose="020B0604020202020204"/>
                <a:cs typeface="Arial" panose="020B0604020202020204"/>
              </a:rPr>
              <a:t> </a:t>
            </a:r>
            <a:r>
              <a:rPr lang="el-GR" altLang="zh-CN" sz="3600" kern="0" spc="0" baseline="3000" dirty="0">
                <a:solidFill>
                  <a:srgbClr val="000000">
                    <a:alpha val="100000"/>
                  </a:srgbClr>
                </a:solidFill>
                <a:latin typeface="Arial" panose="020B0604020202020204"/>
                <a:ea typeface="Arial" panose="020B0604020202020204"/>
                <a:cs typeface="Arial" panose="020B0604020202020204"/>
              </a:rPr>
              <a:t>β</a:t>
            </a:r>
            <a:r>
              <a:rPr lang="el-GR" altLang="zh-CN" sz="3600" kern="0" spc="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lang="el-GR" altLang="zh-CN" sz="36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3600" kern="0" spc="0" baseline="3000" dirty="0">
                <a:solidFill>
                  <a:srgbClr val="000000">
                    <a:alpha val="100000"/>
                  </a:srgbClr>
                </a:solidFill>
                <a:latin typeface="Arial" panose="020B0604020202020204"/>
                <a:ea typeface="Arial" panose="020B0604020202020204"/>
                <a:cs typeface="Arial" panose="020B0604020202020204"/>
              </a:rPr>
              <a:t>+</a:t>
            </a:r>
            <a:r>
              <a:rPr lang="el-GR" altLang="zh-CN" sz="3600" kern="0" spc="-200" dirty="0">
                <a:solidFill>
                  <a:srgbClr val="000000">
                    <a:alpha val="100000"/>
                  </a:srgbClr>
                </a:solidFill>
                <a:latin typeface="Arial" panose="020B0604020202020204"/>
                <a:ea typeface="Arial" panose="020B0604020202020204"/>
                <a:cs typeface="Arial" panose="020B0604020202020204"/>
              </a:rPr>
              <a:t> </a:t>
            </a:r>
            <a:r>
              <a:rPr lang="el-GR" altLang="zh-CN" sz="3600" kern="0" spc="0" baseline="3000" dirty="0">
                <a:solidFill>
                  <a:srgbClr val="000000">
                    <a:alpha val="100000"/>
                  </a:srgbClr>
                </a:solidFill>
                <a:latin typeface="Arial" panose="020B0604020202020204"/>
                <a:ea typeface="Arial" panose="020B0604020202020204"/>
                <a:cs typeface="Arial" panose="020B0604020202020204"/>
              </a:rPr>
              <a:t>β</a:t>
            </a:r>
            <a:r>
              <a:rPr lang="el-GR" altLang="zh-CN" sz="3600" kern="0" spc="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lang="el-GR" altLang="zh-CN" sz="36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36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X</a:t>
            </a:r>
            <a:r>
              <a:rPr lang="en-GB" altLang="zh-CN" sz="3600" i="1" kern="0" spc="-10" baseline="-22000" dirty="0">
                <a:solidFill>
                  <a:srgbClr val="000000">
                    <a:alpha val="100000"/>
                  </a:srgbClr>
                </a:solidFill>
                <a:latin typeface="Times New Roman" panose="02020603050405020304"/>
                <a:ea typeface="Times New Roman" panose="02020603050405020304"/>
                <a:cs typeface="Times New Roman" panose="02020603050405020304"/>
              </a:rPr>
              <a:t>i</a:t>
            </a:r>
            <a:r>
              <a:rPr lang="en-GB" altLang="zh-CN" sz="36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3600" kern="0" spc="-10" baseline="3000" dirty="0">
                <a:solidFill>
                  <a:srgbClr val="000000">
                    <a:alpha val="100000"/>
                  </a:srgbClr>
                </a:solidFill>
                <a:latin typeface="Arial" panose="020B0604020202020204"/>
                <a:ea typeface="Arial" panose="020B0604020202020204"/>
                <a:cs typeface="Arial" panose="020B0604020202020204"/>
              </a:rPr>
              <a:t>+</a:t>
            </a:r>
            <a:r>
              <a:rPr lang="en-GB" altLang="zh-CN" sz="3600" kern="0" spc="-170" dirty="0">
                <a:solidFill>
                  <a:srgbClr val="000000">
                    <a:alpha val="100000"/>
                  </a:srgbClr>
                </a:solidFill>
                <a:latin typeface="Arial" panose="020B0604020202020204"/>
                <a:ea typeface="Arial" panose="020B0604020202020204"/>
                <a:cs typeface="Arial" panose="020B0604020202020204"/>
              </a:rPr>
              <a:t> </a:t>
            </a:r>
            <a:r>
              <a:rPr lang="en-GB" altLang="zh-CN" sz="3600" i="1" kern="0" spc="-10" baseline="3000" dirty="0" err="1">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3600" i="1" kern="0" spc="-10" baseline="-22000" dirty="0" err="1">
                <a:solidFill>
                  <a:srgbClr val="000000">
                    <a:alpha val="100000"/>
                  </a:srgbClr>
                </a:solidFill>
                <a:latin typeface="Times New Roman" panose="02020603050405020304"/>
                <a:ea typeface="Times New Roman" panose="02020603050405020304"/>
                <a:cs typeface="Times New Roman" panose="02020603050405020304"/>
              </a:rPr>
              <a:t>i</a:t>
            </a:r>
            <a:endParaRPr lang="en-GB" altLang="zh-CN" sz="3600" dirty="0">
              <a:latin typeface="宋体" panose="02010600030101010101" pitchFamily="2" charset="-122"/>
              <a:ea typeface="宋体" panose="02010600030101010101" pitchFamily="2" charset="-122"/>
              <a:cs typeface="宋体" panose="02010600030101010101" pitchFamily="2" charset="-122"/>
            </a:endParaRPr>
          </a:p>
        </p:txBody>
      </p:sp>
      <p:sp>
        <p:nvSpPr>
          <p:cNvPr id="5" name="文本框 4"/>
          <p:cNvSpPr txBox="1"/>
          <p:nvPr/>
        </p:nvSpPr>
        <p:spPr>
          <a:xfrm>
            <a:off x="0" y="2822416"/>
            <a:ext cx="8585200" cy="2886111"/>
          </a:xfrm>
          <a:prstGeom prst="rect">
            <a:avLst/>
          </a:prstGeom>
          <a:noFill/>
        </p:spPr>
        <p:txBody>
          <a:bodyPr wrap="square">
            <a:spAutoFit/>
          </a:bodyPr>
          <a:lstStyle/>
          <a:p>
            <a:pPr marL="1534795" algn="l" rtl="0" eaLnBrk="0">
              <a:lnSpc>
                <a:spcPct val="91000"/>
              </a:lnSpc>
              <a:spcBef>
                <a:spcPts val="5"/>
              </a:spcBef>
            </a:pPr>
            <a:r>
              <a:rPr lang="zh-CN" altLang="en-US" sz="2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给定</a:t>
            </a:r>
            <a:r>
              <a:rPr lang="en-GB" altLang="zh-CN" sz="2800" i="1" kern="0" spc="10" dirty="0">
                <a:solidFill>
                  <a:srgbClr val="000000">
                    <a:alpha val="100000"/>
                  </a:srgbClr>
                </a:solidFill>
                <a:latin typeface="Times New Roman" panose="02020603050405020304"/>
                <a:ea typeface="Times New Roman" panose="02020603050405020304"/>
                <a:cs typeface="Times New Roman" panose="02020603050405020304"/>
              </a:rPr>
              <a:t>X </a:t>
            </a:r>
            <a:r>
              <a:rPr lang="en-GB" altLang="zh-CN" sz="2800" kern="0" spc="10" dirty="0">
                <a:solidFill>
                  <a:srgbClr val="000000">
                    <a:alpha val="100000"/>
                  </a:srgbClr>
                </a:solidFill>
                <a:latin typeface="Arial" panose="020B0604020202020204"/>
                <a:ea typeface="Arial" panose="020B0604020202020204"/>
                <a:cs typeface="Arial" panose="020B0604020202020204"/>
              </a:rPr>
              <a:t>= </a:t>
            </a:r>
            <a:r>
              <a:rPr lang="en-GB" altLang="zh-CN" sz="2800" kern="0" spc="10" dirty="0">
                <a:solidFill>
                  <a:srgbClr val="000000">
                    <a:alpha val="100000"/>
                  </a:srgbClr>
                </a:solidFill>
                <a:latin typeface="Times New Roman" panose="02020603050405020304"/>
                <a:ea typeface="Times New Roman" panose="02020603050405020304"/>
                <a:cs typeface="Times New Roman" panose="02020603050405020304"/>
              </a:rPr>
              <a:t>80</a:t>
            </a:r>
            <a:r>
              <a:rPr lang="zh-CN" altLang="en-GB" sz="2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lang="zh-CN" altLang="en-US" sz="2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各特定家庭的消费支出为：</a:t>
            </a:r>
            <a:endParaRPr lang="zh-CN" altLang="en-US" sz="2800" dirty="0">
              <a:latin typeface="宋体" panose="02010600030101010101" pitchFamily="2" charset="-122"/>
              <a:ea typeface="宋体" panose="02010600030101010101" pitchFamily="2" charset="-122"/>
              <a:cs typeface="宋体" panose="02010600030101010101" pitchFamily="2" charset="-122"/>
            </a:endParaRPr>
          </a:p>
          <a:p>
            <a:pPr marL="1539240" algn="l" rtl="0" eaLnBrk="0">
              <a:lnSpc>
                <a:spcPts val="3885"/>
              </a:lnSpc>
            </a:pPr>
            <a:r>
              <a:rPr lang="en-GB" altLang="zh-CN" sz="2800" i="1" kern="0" spc="50" dirty="0">
                <a:solidFill>
                  <a:srgbClr val="000000">
                    <a:alpha val="100000"/>
                  </a:srgbClr>
                </a:solidFill>
                <a:latin typeface="Times New Roman" panose="02020603050405020304"/>
                <a:ea typeface="Times New Roman" panose="02020603050405020304"/>
                <a:cs typeface="Times New Roman" panose="02020603050405020304"/>
              </a:rPr>
              <a:t>Y</a:t>
            </a:r>
            <a:r>
              <a:rPr lang="en-GB" altLang="zh-CN" sz="2800" kern="0" spc="-520" baseline="-34000" dirty="0">
                <a:solidFill>
                  <a:srgbClr val="000000">
                    <a:alpha val="100000"/>
                  </a:srgbClr>
                </a:solidFill>
                <a:latin typeface="Times New Roman" panose="02020603050405020304"/>
                <a:ea typeface="Times New Roman" panose="02020603050405020304"/>
                <a:cs typeface="Times New Roman" panose="02020603050405020304"/>
              </a:rPr>
              <a:t>1</a:t>
            </a:r>
            <a:r>
              <a:rPr lang="en-GB" altLang="zh-CN" sz="2800" kern="0" spc="3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2800" kern="0" spc="-100" dirty="0">
                <a:solidFill>
                  <a:srgbClr val="000000">
                    <a:alpha val="100000"/>
                  </a:srgbClr>
                </a:solidFill>
                <a:latin typeface="Arial" panose="020B0604020202020204"/>
                <a:ea typeface="Arial" panose="020B0604020202020204"/>
                <a:cs typeface="Arial" panose="020B0604020202020204"/>
              </a:rPr>
              <a:t>= </a:t>
            </a:r>
            <a:r>
              <a:rPr lang="en-GB" altLang="zh-CN" sz="2800" kern="0" spc="-100" dirty="0">
                <a:solidFill>
                  <a:srgbClr val="000000">
                    <a:alpha val="100000"/>
                  </a:srgbClr>
                </a:solidFill>
                <a:latin typeface="Times New Roman" panose="02020603050405020304"/>
                <a:ea typeface="Times New Roman" panose="02020603050405020304"/>
                <a:cs typeface="Times New Roman" panose="02020603050405020304"/>
              </a:rPr>
              <a:t>55 </a:t>
            </a:r>
            <a:r>
              <a:rPr lang="en-GB" altLang="zh-CN" sz="2800" kern="0" spc="-100" dirty="0">
                <a:solidFill>
                  <a:srgbClr val="000000">
                    <a:alpha val="100000"/>
                  </a:srgbClr>
                </a:solidFill>
                <a:latin typeface="Arial" panose="020B0604020202020204"/>
                <a:ea typeface="Arial" panose="020B0604020202020204"/>
                <a:cs typeface="Arial" panose="020B0604020202020204"/>
              </a:rPr>
              <a:t>=</a:t>
            </a:r>
            <a:r>
              <a:rPr lang="en-GB" altLang="zh-CN" sz="2800" kern="0" spc="230" dirty="0">
                <a:solidFill>
                  <a:srgbClr val="000000">
                    <a:alpha val="100000"/>
                  </a:srgbClr>
                </a:solidFill>
                <a:latin typeface="Arial" panose="020B0604020202020204"/>
                <a:ea typeface="Arial" panose="020B0604020202020204"/>
                <a:cs typeface="Arial" panose="020B0604020202020204"/>
              </a:rPr>
              <a:t> </a:t>
            </a:r>
            <a:r>
              <a:rPr lang="el-GR" altLang="zh-CN" sz="2800" i="1" kern="0" spc="-100" dirty="0">
                <a:solidFill>
                  <a:srgbClr val="000000">
                    <a:alpha val="100000"/>
                  </a:srgbClr>
                </a:solidFill>
                <a:latin typeface="Arial" panose="020B0604020202020204"/>
                <a:ea typeface="Arial" panose="020B0604020202020204"/>
                <a:cs typeface="Arial" panose="020B0604020202020204"/>
              </a:rPr>
              <a:t>β</a:t>
            </a:r>
            <a:r>
              <a:rPr lang="el-GR" altLang="zh-CN" sz="2800" kern="0" spc="-100" baseline="-34000" dirty="0">
                <a:solidFill>
                  <a:srgbClr val="000000">
                    <a:alpha val="100000"/>
                  </a:srgbClr>
                </a:solidFill>
                <a:latin typeface="Times New Roman" panose="02020603050405020304"/>
                <a:ea typeface="Times New Roman" panose="02020603050405020304"/>
                <a:cs typeface="Times New Roman" panose="02020603050405020304"/>
              </a:rPr>
              <a:t>1</a:t>
            </a:r>
            <a:r>
              <a:rPr lang="el-GR" altLang="zh-CN" sz="28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100" dirty="0">
                <a:solidFill>
                  <a:srgbClr val="000000">
                    <a:alpha val="100000"/>
                  </a:srgbClr>
                </a:solidFill>
                <a:latin typeface="Arial" panose="020B0604020202020204"/>
                <a:ea typeface="Arial" panose="020B0604020202020204"/>
                <a:cs typeface="Arial" panose="020B0604020202020204"/>
              </a:rPr>
              <a:t>+</a:t>
            </a:r>
            <a:r>
              <a:rPr lang="el-GR" altLang="zh-CN" sz="2800" kern="0" spc="110" dirty="0">
                <a:solidFill>
                  <a:srgbClr val="000000">
                    <a:alpha val="100000"/>
                  </a:srgbClr>
                </a:solidFill>
                <a:latin typeface="Arial" panose="020B0604020202020204"/>
                <a:ea typeface="Arial" panose="020B0604020202020204"/>
                <a:cs typeface="Arial" panose="020B0604020202020204"/>
              </a:rPr>
              <a:t> </a:t>
            </a:r>
            <a:r>
              <a:rPr lang="el-GR" altLang="zh-CN" sz="2800" i="1" kern="0" spc="-120" dirty="0">
                <a:solidFill>
                  <a:srgbClr val="000000">
                    <a:alpha val="100000"/>
                  </a:srgbClr>
                </a:solidFill>
                <a:latin typeface="Arial" panose="020B0604020202020204"/>
                <a:ea typeface="Arial" panose="020B0604020202020204"/>
                <a:cs typeface="Arial" panose="020B0604020202020204"/>
              </a:rPr>
              <a:t>β</a:t>
            </a:r>
            <a:r>
              <a:rPr lang="el-GR" altLang="zh-CN" sz="2800" kern="0" spc="-120" baseline="-34000" dirty="0">
                <a:solidFill>
                  <a:srgbClr val="000000">
                    <a:alpha val="100000"/>
                  </a:srgbClr>
                </a:solidFill>
                <a:latin typeface="Times New Roman" panose="02020603050405020304"/>
                <a:ea typeface="Times New Roman" panose="02020603050405020304"/>
                <a:cs typeface="Times New Roman" panose="02020603050405020304"/>
              </a:rPr>
              <a:t>2</a:t>
            </a:r>
            <a:r>
              <a:rPr lang="el-GR" altLang="zh-CN" sz="28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20" dirty="0">
                <a:solidFill>
                  <a:srgbClr val="000000">
                    <a:alpha val="100000"/>
                  </a:srgbClr>
                </a:solidFill>
                <a:latin typeface="Arial" panose="020B0604020202020204"/>
                <a:ea typeface="Arial" panose="020B0604020202020204"/>
                <a:cs typeface="Arial" panose="020B0604020202020204"/>
              </a:rPr>
              <a:t>×</a:t>
            </a:r>
            <a:r>
              <a:rPr lang="el-GR" altLang="zh-CN" sz="2800" kern="0" spc="-20" dirty="0">
                <a:solidFill>
                  <a:srgbClr val="000000">
                    <a:alpha val="100000"/>
                  </a:srgbClr>
                </a:solidFill>
                <a:latin typeface="Times New Roman" panose="02020603050405020304"/>
                <a:ea typeface="Times New Roman" panose="02020603050405020304"/>
                <a:cs typeface="Times New Roman" panose="02020603050405020304"/>
              </a:rPr>
              <a:t>80</a:t>
            </a:r>
            <a:r>
              <a:rPr lang="el-GR" altLang="zh-CN" sz="28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20" dirty="0">
                <a:solidFill>
                  <a:srgbClr val="000000">
                    <a:alpha val="100000"/>
                  </a:srgbClr>
                </a:solidFill>
                <a:latin typeface="Arial" panose="020B0604020202020204"/>
                <a:ea typeface="Arial" panose="020B0604020202020204"/>
                <a:cs typeface="Arial" panose="020B0604020202020204"/>
              </a:rPr>
              <a:t>+</a:t>
            </a:r>
            <a:r>
              <a:rPr lang="el-GR" altLang="zh-CN" sz="2800" kern="0" spc="-160" dirty="0">
                <a:solidFill>
                  <a:srgbClr val="000000">
                    <a:alpha val="100000"/>
                  </a:srgbClr>
                </a:solidFill>
                <a:latin typeface="Arial" panose="020B0604020202020204"/>
                <a:ea typeface="Arial" panose="020B0604020202020204"/>
                <a:cs typeface="Arial" panose="020B0604020202020204"/>
              </a:rPr>
              <a:t> </a:t>
            </a:r>
            <a:r>
              <a:rPr lang="en-GB" altLang="zh-CN" sz="2800" i="1" kern="0" spc="-20" dirty="0">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2800" kern="0" spc="-20" baseline="-34000" dirty="0">
                <a:solidFill>
                  <a:srgbClr val="000000">
                    <a:alpha val="100000"/>
                  </a:srgbClr>
                </a:solidFill>
                <a:latin typeface="Times New Roman" panose="02020603050405020304"/>
                <a:ea typeface="Times New Roman" panose="02020603050405020304"/>
                <a:cs typeface="Times New Roman" panose="02020603050405020304"/>
              </a:rPr>
              <a:t>1</a:t>
            </a:r>
            <a:endParaRPr lang="en-GB" altLang="zh-CN" sz="2800" baseline="-34000" dirty="0">
              <a:latin typeface="Times New Roman" panose="02020603050405020304"/>
              <a:ea typeface="Times New Roman" panose="02020603050405020304"/>
              <a:cs typeface="Times New Roman" panose="02020603050405020304"/>
            </a:endParaRPr>
          </a:p>
          <a:p>
            <a:pPr marL="1539240" algn="l" rtl="0" eaLnBrk="0">
              <a:lnSpc>
                <a:spcPct val="88000"/>
              </a:lnSpc>
              <a:spcBef>
                <a:spcPts val="1025"/>
              </a:spcBef>
            </a:pPr>
            <a:r>
              <a:rPr lang="en-GB" altLang="zh-CN" sz="2800" i="1" kern="0" spc="50" dirty="0">
                <a:solidFill>
                  <a:srgbClr val="000000">
                    <a:alpha val="100000"/>
                  </a:srgbClr>
                </a:solidFill>
                <a:latin typeface="Times New Roman" panose="02020603050405020304"/>
                <a:ea typeface="Times New Roman" panose="02020603050405020304"/>
                <a:cs typeface="Times New Roman" panose="02020603050405020304"/>
              </a:rPr>
              <a:t>Y</a:t>
            </a:r>
            <a:r>
              <a:rPr lang="en-GB" altLang="zh-CN" sz="2800" kern="0" spc="-37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lang="en-GB" altLang="zh-CN" sz="28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2800" kern="0" spc="-90" dirty="0">
                <a:solidFill>
                  <a:srgbClr val="000000">
                    <a:alpha val="100000"/>
                  </a:srgbClr>
                </a:solidFill>
                <a:latin typeface="Arial" panose="020B0604020202020204"/>
                <a:ea typeface="Arial" panose="020B0604020202020204"/>
                <a:cs typeface="Arial" panose="020B0604020202020204"/>
              </a:rPr>
              <a:t>= </a:t>
            </a:r>
            <a:r>
              <a:rPr lang="en-GB" altLang="zh-CN" sz="2800" kern="0" spc="-90" dirty="0">
                <a:solidFill>
                  <a:srgbClr val="000000">
                    <a:alpha val="100000"/>
                  </a:srgbClr>
                </a:solidFill>
                <a:latin typeface="Times New Roman" panose="02020603050405020304"/>
                <a:ea typeface="Times New Roman" panose="02020603050405020304"/>
                <a:cs typeface="Times New Roman" panose="02020603050405020304"/>
              </a:rPr>
              <a:t>60 </a:t>
            </a:r>
            <a:r>
              <a:rPr lang="en-GB" altLang="zh-CN" sz="2800" kern="0" spc="-90" dirty="0">
                <a:solidFill>
                  <a:srgbClr val="000000">
                    <a:alpha val="100000"/>
                  </a:srgbClr>
                </a:solidFill>
                <a:latin typeface="Arial" panose="020B0604020202020204"/>
                <a:ea typeface="Arial" panose="020B0604020202020204"/>
                <a:cs typeface="Arial" panose="020B0604020202020204"/>
              </a:rPr>
              <a:t>=</a:t>
            </a:r>
            <a:r>
              <a:rPr lang="en-GB" altLang="zh-CN" sz="2800" kern="0" spc="230" dirty="0">
                <a:solidFill>
                  <a:srgbClr val="000000">
                    <a:alpha val="100000"/>
                  </a:srgbClr>
                </a:solidFill>
                <a:latin typeface="Arial" panose="020B0604020202020204"/>
                <a:ea typeface="Arial" panose="020B0604020202020204"/>
                <a:cs typeface="Arial" panose="020B0604020202020204"/>
              </a:rPr>
              <a:t> </a:t>
            </a:r>
            <a:r>
              <a:rPr lang="el-GR" altLang="zh-CN" sz="2800" i="1" kern="0" spc="-90" dirty="0">
                <a:solidFill>
                  <a:srgbClr val="000000">
                    <a:alpha val="100000"/>
                  </a:srgbClr>
                </a:solidFill>
                <a:latin typeface="Arial" panose="020B0604020202020204"/>
                <a:ea typeface="Arial" panose="020B0604020202020204"/>
                <a:cs typeface="Arial" panose="020B0604020202020204"/>
              </a:rPr>
              <a:t>β</a:t>
            </a:r>
            <a:r>
              <a:rPr lang="el-GR" altLang="zh-CN" sz="2800" kern="0" spc="-9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lang="el-GR" altLang="zh-CN" sz="2800" kern="0" spc="-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90" dirty="0">
                <a:solidFill>
                  <a:srgbClr val="000000">
                    <a:alpha val="100000"/>
                  </a:srgbClr>
                </a:solidFill>
                <a:latin typeface="Arial" panose="020B0604020202020204"/>
                <a:ea typeface="Arial" panose="020B0604020202020204"/>
                <a:cs typeface="Arial" panose="020B0604020202020204"/>
              </a:rPr>
              <a:t>+</a:t>
            </a:r>
            <a:r>
              <a:rPr lang="el-GR" altLang="zh-CN" sz="2800" kern="0" spc="120" dirty="0">
                <a:solidFill>
                  <a:srgbClr val="000000">
                    <a:alpha val="100000"/>
                  </a:srgbClr>
                </a:solidFill>
                <a:latin typeface="Arial" panose="020B0604020202020204"/>
                <a:ea typeface="Arial" panose="020B0604020202020204"/>
                <a:cs typeface="Arial" panose="020B0604020202020204"/>
              </a:rPr>
              <a:t> </a:t>
            </a:r>
            <a:r>
              <a:rPr lang="el-GR" altLang="zh-CN" sz="2800" i="1" kern="0" spc="-90" dirty="0">
                <a:solidFill>
                  <a:srgbClr val="000000">
                    <a:alpha val="100000"/>
                  </a:srgbClr>
                </a:solidFill>
                <a:latin typeface="Arial" panose="020B0604020202020204"/>
                <a:ea typeface="Arial" panose="020B0604020202020204"/>
                <a:cs typeface="Arial" panose="020B0604020202020204"/>
              </a:rPr>
              <a:t>β</a:t>
            </a:r>
            <a:r>
              <a:rPr lang="el-GR" altLang="zh-CN" sz="2800" kern="0" spc="-9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lang="el-GR" altLang="zh-CN" sz="28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40" dirty="0">
                <a:solidFill>
                  <a:srgbClr val="000000">
                    <a:alpha val="100000"/>
                  </a:srgbClr>
                </a:solidFill>
                <a:latin typeface="Arial" panose="020B0604020202020204"/>
                <a:ea typeface="Arial" panose="020B0604020202020204"/>
                <a:cs typeface="Arial" panose="020B0604020202020204"/>
              </a:rPr>
              <a:t>×</a:t>
            </a:r>
            <a:r>
              <a:rPr lang="el-GR" altLang="zh-CN" sz="2800" kern="0" spc="40" dirty="0">
                <a:solidFill>
                  <a:srgbClr val="000000">
                    <a:alpha val="100000"/>
                  </a:srgbClr>
                </a:solidFill>
                <a:latin typeface="Times New Roman" panose="02020603050405020304"/>
                <a:ea typeface="Times New Roman" panose="02020603050405020304"/>
                <a:cs typeface="Times New Roman" panose="02020603050405020304"/>
              </a:rPr>
              <a:t>80</a:t>
            </a:r>
            <a:r>
              <a:rPr lang="el-GR" altLang="zh-CN" sz="2800" kern="0" spc="40" dirty="0">
                <a:solidFill>
                  <a:srgbClr val="000000">
                    <a:alpha val="100000"/>
                  </a:srgbClr>
                </a:solidFill>
                <a:latin typeface="Arial" panose="020B0604020202020204"/>
                <a:ea typeface="Arial" panose="020B0604020202020204"/>
                <a:cs typeface="Arial" panose="020B0604020202020204"/>
              </a:rPr>
              <a:t>+</a:t>
            </a:r>
            <a:r>
              <a:rPr lang="el-GR" altLang="zh-CN" sz="2800" kern="0" spc="-160" dirty="0">
                <a:solidFill>
                  <a:srgbClr val="000000">
                    <a:alpha val="100000"/>
                  </a:srgbClr>
                </a:solidFill>
                <a:latin typeface="Arial" panose="020B0604020202020204"/>
                <a:ea typeface="Arial" panose="020B0604020202020204"/>
                <a:cs typeface="Arial" panose="020B0604020202020204"/>
              </a:rPr>
              <a:t> </a:t>
            </a:r>
            <a:r>
              <a:rPr lang="en-GB" altLang="zh-CN" sz="2800" i="1" kern="0" spc="40" dirty="0">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2800" kern="0" spc="40" baseline="-26000" dirty="0">
                <a:solidFill>
                  <a:srgbClr val="000000">
                    <a:alpha val="100000"/>
                  </a:srgbClr>
                </a:solidFill>
                <a:latin typeface="Times New Roman" panose="02020603050405020304"/>
                <a:ea typeface="Times New Roman" panose="02020603050405020304"/>
                <a:cs typeface="Times New Roman" panose="02020603050405020304"/>
              </a:rPr>
              <a:t>2</a:t>
            </a:r>
            <a:endParaRPr lang="en-GB" altLang="zh-CN" sz="2800" baseline="-26000" dirty="0">
              <a:latin typeface="Times New Roman" panose="02020603050405020304"/>
              <a:ea typeface="Times New Roman" panose="02020603050405020304"/>
              <a:cs typeface="Times New Roman" panose="02020603050405020304"/>
            </a:endParaRPr>
          </a:p>
          <a:p>
            <a:pPr marL="1539240" algn="l" rtl="0" eaLnBrk="0">
              <a:lnSpc>
                <a:spcPct val="88000"/>
              </a:lnSpc>
              <a:spcBef>
                <a:spcPts val="1020"/>
              </a:spcBef>
            </a:pPr>
            <a:r>
              <a:rPr lang="en-GB" altLang="zh-CN" sz="2800" i="1" kern="0" spc="50" dirty="0">
                <a:solidFill>
                  <a:srgbClr val="000000">
                    <a:alpha val="100000"/>
                  </a:srgbClr>
                </a:solidFill>
                <a:latin typeface="Times New Roman" panose="02020603050405020304"/>
                <a:ea typeface="Times New Roman" panose="02020603050405020304"/>
                <a:cs typeface="Times New Roman" panose="02020603050405020304"/>
              </a:rPr>
              <a:t>Y</a:t>
            </a:r>
            <a:r>
              <a:rPr lang="en-GB" altLang="zh-CN" sz="2800" kern="0" spc="-410" baseline="-26000" dirty="0">
                <a:solidFill>
                  <a:srgbClr val="000000">
                    <a:alpha val="100000"/>
                  </a:srgbClr>
                </a:solidFill>
                <a:latin typeface="Times New Roman" panose="02020603050405020304"/>
                <a:ea typeface="Times New Roman" panose="02020603050405020304"/>
                <a:cs typeface="Times New Roman" panose="02020603050405020304"/>
              </a:rPr>
              <a:t>3</a:t>
            </a:r>
            <a:r>
              <a:rPr lang="en-GB" altLang="zh-CN" sz="2800" kern="0" spc="6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2800" kern="0" spc="-90" dirty="0">
                <a:solidFill>
                  <a:srgbClr val="000000">
                    <a:alpha val="100000"/>
                  </a:srgbClr>
                </a:solidFill>
                <a:latin typeface="Arial" panose="020B0604020202020204"/>
                <a:ea typeface="Arial" panose="020B0604020202020204"/>
                <a:cs typeface="Arial" panose="020B0604020202020204"/>
              </a:rPr>
              <a:t>= </a:t>
            </a:r>
            <a:r>
              <a:rPr lang="en-GB" altLang="zh-CN" sz="2800" kern="0" spc="-90" dirty="0">
                <a:solidFill>
                  <a:srgbClr val="000000">
                    <a:alpha val="100000"/>
                  </a:srgbClr>
                </a:solidFill>
                <a:latin typeface="Times New Roman" panose="02020603050405020304"/>
                <a:ea typeface="Times New Roman" panose="02020603050405020304"/>
                <a:cs typeface="Times New Roman" panose="02020603050405020304"/>
              </a:rPr>
              <a:t>65 </a:t>
            </a:r>
            <a:r>
              <a:rPr lang="en-GB" altLang="zh-CN" sz="2800" kern="0" spc="-90" dirty="0">
                <a:solidFill>
                  <a:srgbClr val="000000">
                    <a:alpha val="100000"/>
                  </a:srgbClr>
                </a:solidFill>
                <a:latin typeface="Arial" panose="020B0604020202020204"/>
                <a:ea typeface="Arial" panose="020B0604020202020204"/>
                <a:cs typeface="Arial" panose="020B0604020202020204"/>
              </a:rPr>
              <a:t>=</a:t>
            </a:r>
            <a:r>
              <a:rPr lang="en-GB" altLang="zh-CN" sz="2800" kern="0" spc="230" dirty="0">
                <a:solidFill>
                  <a:srgbClr val="000000">
                    <a:alpha val="100000"/>
                  </a:srgbClr>
                </a:solidFill>
                <a:latin typeface="Arial" panose="020B0604020202020204"/>
                <a:ea typeface="Arial" panose="020B0604020202020204"/>
                <a:cs typeface="Arial" panose="020B0604020202020204"/>
              </a:rPr>
              <a:t> </a:t>
            </a:r>
            <a:r>
              <a:rPr lang="el-GR" altLang="zh-CN" sz="2800" i="1" kern="0" spc="-90" dirty="0">
                <a:solidFill>
                  <a:srgbClr val="000000">
                    <a:alpha val="100000"/>
                  </a:srgbClr>
                </a:solidFill>
                <a:latin typeface="Arial" panose="020B0604020202020204"/>
                <a:ea typeface="Arial" panose="020B0604020202020204"/>
                <a:cs typeface="Arial" panose="020B0604020202020204"/>
              </a:rPr>
              <a:t>β</a:t>
            </a:r>
            <a:r>
              <a:rPr lang="el-GR" altLang="zh-CN" sz="2800" kern="0" spc="-9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lang="el-GR" altLang="zh-CN" sz="2800" kern="0" spc="-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90" dirty="0">
                <a:solidFill>
                  <a:srgbClr val="000000">
                    <a:alpha val="100000"/>
                  </a:srgbClr>
                </a:solidFill>
                <a:latin typeface="Arial" panose="020B0604020202020204"/>
                <a:ea typeface="Arial" panose="020B0604020202020204"/>
                <a:cs typeface="Arial" panose="020B0604020202020204"/>
              </a:rPr>
              <a:t>+</a:t>
            </a:r>
            <a:r>
              <a:rPr lang="el-GR" altLang="zh-CN" sz="2800" kern="0" spc="120" dirty="0">
                <a:solidFill>
                  <a:srgbClr val="000000">
                    <a:alpha val="100000"/>
                  </a:srgbClr>
                </a:solidFill>
                <a:latin typeface="Arial" panose="020B0604020202020204"/>
                <a:ea typeface="Arial" panose="020B0604020202020204"/>
                <a:cs typeface="Arial" panose="020B0604020202020204"/>
              </a:rPr>
              <a:t> </a:t>
            </a:r>
            <a:r>
              <a:rPr lang="el-GR" altLang="zh-CN" sz="2800" i="1" kern="0" spc="-110" dirty="0">
                <a:solidFill>
                  <a:srgbClr val="000000">
                    <a:alpha val="100000"/>
                  </a:srgbClr>
                </a:solidFill>
                <a:latin typeface="Arial" panose="020B0604020202020204"/>
                <a:ea typeface="Arial" panose="020B0604020202020204"/>
                <a:cs typeface="Arial" panose="020B0604020202020204"/>
              </a:rPr>
              <a:t>β</a:t>
            </a:r>
            <a:r>
              <a:rPr lang="el-GR" altLang="zh-CN" sz="2800" kern="0" spc="-11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lang="el-GR" altLang="zh-CN" sz="28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50" dirty="0">
                <a:solidFill>
                  <a:srgbClr val="000000">
                    <a:alpha val="100000"/>
                  </a:srgbClr>
                </a:solidFill>
                <a:latin typeface="Arial" panose="020B0604020202020204"/>
                <a:ea typeface="Arial" panose="020B0604020202020204"/>
                <a:cs typeface="Arial" panose="020B0604020202020204"/>
              </a:rPr>
              <a:t>×</a:t>
            </a:r>
            <a:r>
              <a:rPr lang="el-GR" altLang="zh-CN" sz="2800" kern="0" spc="50" dirty="0">
                <a:solidFill>
                  <a:srgbClr val="000000">
                    <a:alpha val="100000"/>
                  </a:srgbClr>
                </a:solidFill>
                <a:latin typeface="Times New Roman" panose="02020603050405020304"/>
                <a:ea typeface="Times New Roman" panose="02020603050405020304"/>
                <a:cs typeface="Times New Roman" panose="02020603050405020304"/>
              </a:rPr>
              <a:t>80</a:t>
            </a:r>
            <a:r>
              <a:rPr lang="el-GR" altLang="zh-CN" sz="2800" kern="0" spc="50" dirty="0">
                <a:solidFill>
                  <a:srgbClr val="000000">
                    <a:alpha val="100000"/>
                  </a:srgbClr>
                </a:solidFill>
                <a:latin typeface="Arial" panose="020B0604020202020204"/>
                <a:ea typeface="Arial" panose="020B0604020202020204"/>
                <a:cs typeface="Arial" panose="020B0604020202020204"/>
              </a:rPr>
              <a:t>+</a:t>
            </a:r>
            <a:r>
              <a:rPr lang="el-GR" altLang="zh-CN" sz="2800" kern="0" spc="-160" dirty="0">
                <a:solidFill>
                  <a:srgbClr val="000000">
                    <a:alpha val="100000"/>
                  </a:srgbClr>
                </a:solidFill>
                <a:latin typeface="Arial" panose="020B0604020202020204"/>
                <a:ea typeface="Arial" panose="020B0604020202020204"/>
                <a:cs typeface="Arial" panose="020B0604020202020204"/>
              </a:rPr>
              <a:t> </a:t>
            </a:r>
            <a:r>
              <a:rPr lang="en-GB" altLang="zh-CN" sz="2800" i="1" kern="0" spc="50" dirty="0">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2800" kern="0" spc="50" baseline="-26000" dirty="0">
                <a:solidFill>
                  <a:srgbClr val="000000">
                    <a:alpha val="100000"/>
                  </a:srgbClr>
                </a:solidFill>
                <a:latin typeface="Times New Roman" panose="02020603050405020304"/>
                <a:ea typeface="Times New Roman" panose="02020603050405020304"/>
                <a:cs typeface="Times New Roman" panose="02020603050405020304"/>
              </a:rPr>
              <a:t>3</a:t>
            </a:r>
            <a:endParaRPr lang="en-GB" altLang="zh-CN" sz="2800" baseline="-26000" dirty="0">
              <a:latin typeface="Times New Roman" panose="02020603050405020304"/>
              <a:ea typeface="Times New Roman" panose="02020603050405020304"/>
              <a:cs typeface="Times New Roman" panose="02020603050405020304"/>
            </a:endParaRPr>
          </a:p>
          <a:p>
            <a:pPr marL="1539240" algn="l" rtl="0" eaLnBrk="0">
              <a:lnSpc>
                <a:spcPct val="88000"/>
              </a:lnSpc>
              <a:spcBef>
                <a:spcPts val="1040"/>
              </a:spcBef>
            </a:pPr>
            <a:r>
              <a:rPr lang="en-GB" altLang="zh-CN" sz="2800" i="1" kern="0" spc="50" dirty="0">
                <a:solidFill>
                  <a:srgbClr val="000000">
                    <a:alpha val="100000"/>
                  </a:srgbClr>
                </a:solidFill>
                <a:latin typeface="Times New Roman" panose="02020603050405020304"/>
                <a:ea typeface="Times New Roman" panose="02020603050405020304"/>
                <a:cs typeface="Times New Roman" panose="02020603050405020304"/>
              </a:rPr>
              <a:t>Y</a:t>
            </a:r>
            <a:r>
              <a:rPr lang="en-GB" altLang="zh-CN" sz="2800" kern="0" spc="-370" baseline="-26000" dirty="0">
                <a:solidFill>
                  <a:srgbClr val="000000">
                    <a:alpha val="100000"/>
                  </a:srgbClr>
                </a:solidFill>
                <a:latin typeface="Times New Roman" panose="02020603050405020304"/>
                <a:ea typeface="Times New Roman" panose="02020603050405020304"/>
                <a:cs typeface="Times New Roman" panose="02020603050405020304"/>
              </a:rPr>
              <a:t>4</a:t>
            </a:r>
            <a:r>
              <a:rPr lang="en-GB" altLang="zh-CN" sz="28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2800" kern="0" spc="-90" dirty="0">
                <a:solidFill>
                  <a:srgbClr val="000000">
                    <a:alpha val="100000"/>
                  </a:srgbClr>
                </a:solidFill>
                <a:latin typeface="Arial" panose="020B0604020202020204"/>
                <a:ea typeface="Arial" panose="020B0604020202020204"/>
                <a:cs typeface="Arial" panose="020B0604020202020204"/>
              </a:rPr>
              <a:t>= </a:t>
            </a:r>
            <a:r>
              <a:rPr lang="en-GB" altLang="zh-CN" sz="2800" kern="0" spc="-90" dirty="0">
                <a:solidFill>
                  <a:srgbClr val="000000">
                    <a:alpha val="100000"/>
                  </a:srgbClr>
                </a:solidFill>
                <a:latin typeface="Times New Roman" panose="02020603050405020304"/>
                <a:ea typeface="Times New Roman" panose="02020603050405020304"/>
                <a:cs typeface="Times New Roman" panose="02020603050405020304"/>
              </a:rPr>
              <a:t>70 </a:t>
            </a:r>
            <a:r>
              <a:rPr lang="en-GB" altLang="zh-CN" sz="2800" kern="0" spc="-90" dirty="0">
                <a:solidFill>
                  <a:srgbClr val="000000">
                    <a:alpha val="100000"/>
                  </a:srgbClr>
                </a:solidFill>
                <a:latin typeface="Arial" panose="020B0604020202020204"/>
                <a:ea typeface="Arial" panose="020B0604020202020204"/>
                <a:cs typeface="Arial" panose="020B0604020202020204"/>
              </a:rPr>
              <a:t>=</a:t>
            </a:r>
            <a:r>
              <a:rPr lang="en-GB" altLang="zh-CN" sz="2800" kern="0" spc="230" dirty="0">
                <a:solidFill>
                  <a:srgbClr val="000000">
                    <a:alpha val="100000"/>
                  </a:srgbClr>
                </a:solidFill>
                <a:latin typeface="Arial" panose="020B0604020202020204"/>
                <a:ea typeface="Arial" panose="020B0604020202020204"/>
                <a:cs typeface="Arial" panose="020B0604020202020204"/>
              </a:rPr>
              <a:t> </a:t>
            </a:r>
            <a:r>
              <a:rPr lang="el-GR" altLang="zh-CN" sz="2800" i="1" kern="0" spc="-90" dirty="0">
                <a:solidFill>
                  <a:srgbClr val="000000">
                    <a:alpha val="100000"/>
                  </a:srgbClr>
                </a:solidFill>
                <a:latin typeface="Arial" panose="020B0604020202020204"/>
                <a:ea typeface="Arial" panose="020B0604020202020204"/>
                <a:cs typeface="Arial" panose="020B0604020202020204"/>
              </a:rPr>
              <a:t>β</a:t>
            </a:r>
            <a:r>
              <a:rPr lang="el-GR" altLang="zh-CN" sz="2800" kern="0" spc="-9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lang="el-GR" altLang="zh-CN" sz="2800" kern="0" spc="-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90" dirty="0">
                <a:solidFill>
                  <a:srgbClr val="000000">
                    <a:alpha val="100000"/>
                  </a:srgbClr>
                </a:solidFill>
                <a:latin typeface="Arial" panose="020B0604020202020204"/>
                <a:ea typeface="Arial" panose="020B0604020202020204"/>
                <a:cs typeface="Arial" panose="020B0604020202020204"/>
              </a:rPr>
              <a:t>+</a:t>
            </a:r>
            <a:r>
              <a:rPr lang="el-GR" altLang="zh-CN" sz="2800" kern="0" spc="120" dirty="0">
                <a:solidFill>
                  <a:srgbClr val="000000">
                    <a:alpha val="100000"/>
                  </a:srgbClr>
                </a:solidFill>
                <a:latin typeface="Arial" panose="020B0604020202020204"/>
                <a:ea typeface="Arial" panose="020B0604020202020204"/>
                <a:cs typeface="Arial" panose="020B0604020202020204"/>
              </a:rPr>
              <a:t> </a:t>
            </a:r>
            <a:r>
              <a:rPr lang="el-GR" altLang="zh-CN" sz="2800" i="1" kern="0" spc="-90" dirty="0">
                <a:solidFill>
                  <a:srgbClr val="000000">
                    <a:alpha val="100000"/>
                  </a:srgbClr>
                </a:solidFill>
                <a:latin typeface="Arial" panose="020B0604020202020204"/>
                <a:ea typeface="Arial" panose="020B0604020202020204"/>
                <a:cs typeface="Arial" panose="020B0604020202020204"/>
              </a:rPr>
              <a:t>β</a:t>
            </a:r>
            <a:r>
              <a:rPr lang="el-GR" altLang="zh-CN" sz="2800" kern="0" spc="-9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lang="el-GR" altLang="zh-CN" sz="28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40" dirty="0">
                <a:solidFill>
                  <a:srgbClr val="000000">
                    <a:alpha val="100000"/>
                  </a:srgbClr>
                </a:solidFill>
                <a:latin typeface="Arial" panose="020B0604020202020204"/>
                <a:ea typeface="Arial" panose="020B0604020202020204"/>
                <a:cs typeface="Arial" panose="020B0604020202020204"/>
              </a:rPr>
              <a:t>×</a:t>
            </a:r>
            <a:r>
              <a:rPr lang="el-GR" altLang="zh-CN" sz="2800" kern="0" spc="40" dirty="0">
                <a:solidFill>
                  <a:srgbClr val="000000">
                    <a:alpha val="100000"/>
                  </a:srgbClr>
                </a:solidFill>
                <a:latin typeface="Times New Roman" panose="02020603050405020304"/>
                <a:ea typeface="Times New Roman" panose="02020603050405020304"/>
                <a:cs typeface="Times New Roman" panose="02020603050405020304"/>
              </a:rPr>
              <a:t>80</a:t>
            </a:r>
            <a:r>
              <a:rPr lang="el-GR" altLang="zh-CN" sz="2800" kern="0" spc="40" dirty="0">
                <a:solidFill>
                  <a:srgbClr val="000000">
                    <a:alpha val="100000"/>
                  </a:srgbClr>
                </a:solidFill>
                <a:latin typeface="Arial" panose="020B0604020202020204"/>
                <a:ea typeface="Arial" panose="020B0604020202020204"/>
                <a:cs typeface="Arial" panose="020B0604020202020204"/>
              </a:rPr>
              <a:t>+</a:t>
            </a:r>
            <a:r>
              <a:rPr lang="el-GR" altLang="zh-CN" sz="2800" kern="0" spc="-160" dirty="0">
                <a:solidFill>
                  <a:srgbClr val="000000">
                    <a:alpha val="100000"/>
                  </a:srgbClr>
                </a:solidFill>
                <a:latin typeface="Arial" panose="020B0604020202020204"/>
                <a:ea typeface="Arial" panose="020B0604020202020204"/>
                <a:cs typeface="Arial" panose="020B0604020202020204"/>
              </a:rPr>
              <a:t> </a:t>
            </a:r>
            <a:r>
              <a:rPr lang="en-GB" altLang="zh-CN" sz="2800" i="1" kern="0" spc="40" dirty="0">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2800" kern="0" spc="40" baseline="-26000" dirty="0">
                <a:solidFill>
                  <a:srgbClr val="000000">
                    <a:alpha val="100000"/>
                  </a:srgbClr>
                </a:solidFill>
                <a:latin typeface="Times New Roman" panose="02020603050405020304"/>
                <a:ea typeface="Times New Roman" panose="02020603050405020304"/>
                <a:cs typeface="Times New Roman" panose="02020603050405020304"/>
              </a:rPr>
              <a:t>4</a:t>
            </a:r>
            <a:endParaRPr lang="en-GB" altLang="zh-CN" sz="2800" dirty="0">
              <a:latin typeface="Arial" panose="020B0604020202020204"/>
              <a:ea typeface="Arial" panose="020B0604020202020204"/>
              <a:cs typeface="Arial" panose="020B0604020202020204"/>
            </a:endParaRPr>
          </a:p>
          <a:p>
            <a:pPr marL="1539240" algn="l" rtl="0" eaLnBrk="0">
              <a:lnSpc>
                <a:spcPct val="88000"/>
              </a:lnSpc>
              <a:spcBef>
                <a:spcPts val="5"/>
              </a:spcBef>
            </a:pPr>
            <a:r>
              <a:rPr lang="en-GB" altLang="zh-CN" sz="2800" i="1" kern="0" spc="50" dirty="0">
                <a:solidFill>
                  <a:srgbClr val="000000">
                    <a:alpha val="100000"/>
                  </a:srgbClr>
                </a:solidFill>
                <a:latin typeface="Times New Roman" panose="02020603050405020304"/>
                <a:ea typeface="Times New Roman" panose="02020603050405020304"/>
                <a:cs typeface="Times New Roman" panose="02020603050405020304"/>
              </a:rPr>
              <a:t>Y</a:t>
            </a:r>
            <a:r>
              <a:rPr lang="en-GB" altLang="zh-CN" sz="2800" kern="0" spc="-410" baseline="-26000" dirty="0">
                <a:solidFill>
                  <a:srgbClr val="000000">
                    <a:alpha val="100000"/>
                  </a:srgbClr>
                </a:solidFill>
                <a:latin typeface="Times New Roman" panose="02020603050405020304"/>
                <a:ea typeface="Times New Roman" panose="02020603050405020304"/>
                <a:cs typeface="Times New Roman" panose="02020603050405020304"/>
              </a:rPr>
              <a:t>5</a:t>
            </a:r>
            <a:r>
              <a:rPr lang="en-GB" altLang="zh-CN" sz="28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lang="en-GB" altLang="zh-CN" sz="2800" kern="0" spc="-100" dirty="0">
                <a:solidFill>
                  <a:srgbClr val="000000">
                    <a:alpha val="100000"/>
                  </a:srgbClr>
                </a:solidFill>
                <a:latin typeface="Arial" panose="020B0604020202020204"/>
                <a:ea typeface="Arial" panose="020B0604020202020204"/>
                <a:cs typeface="Arial" panose="020B0604020202020204"/>
              </a:rPr>
              <a:t>= </a:t>
            </a:r>
            <a:r>
              <a:rPr lang="en-GB" altLang="zh-CN" sz="2800" kern="0" spc="-100" dirty="0">
                <a:solidFill>
                  <a:srgbClr val="000000">
                    <a:alpha val="100000"/>
                  </a:srgbClr>
                </a:solidFill>
                <a:latin typeface="Times New Roman" panose="02020603050405020304"/>
                <a:ea typeface="Times New Roman" panose="02020603050405020304"/>
                <a:cs typeface="Times New Roman" panose="02020603050405020304"/>
              </a:rPr>
              <a:t>75 </a:t>
            </a:r>
            <a:r>
              <a:rPr lang="en-GB" altLang="zh-CN" sz="2800" kern="0" spc="-100" dirty="0">
                <a:solidFill>
                  <a:srgbClr val="000000">
                    <a:alpha val="100000"/>
                  </a:srgbClr>
                </a:solidFill>
                <a:latin typeface="Arial" panose="020B0604020202020204"/>
                <a:ea typeface="Arial" panose="020B0604020202020204"/>
                <a:cs typeface="Arial" panose="020B0604020202020204"/>
              </a:rPr>
              <a:t>=</a:t>
            </a:r>
            <a:r>
              <a:rPr lang="en-GB" altLang="zh-CN" sz="2800" kern="0" spc="230" dirty="0">
                <a:solidFill>
                  <a:srgbClr val="000000">
                    <a:alpha val="100000"/>
                  </a:srgbClr>
                </a:solidFill>
                <a:latin typeface="Arial" panose="020B0604020202020204"/>
                <a:ea typeface="Arial" panose="020B0604020202020204"/>
                <a:cs typeface="Arial" panose="020B0604020202020204"/>
              </a:rPr>
              <a:t> </a:t>
            </a:r>
            <a:r>
              <a:rPr lang="el-GR" altLang="zh-CN" sz="2800" i="1" kern="0" spc="-100" dirty="0">
                <a:solidFill>
                  <a:srgbClr val="000000">
                    <a:alpha val="100000"/>
                  </a:srgbClr>
                </a:solidFill>
                <a:latin typeface="Arial" panose="020B0604020202020204"/>
                <a:ea typeface="Arial" panose="020B0604020202020204"/>
                <a:cs typeface="Arial" panose="020B0604020202020204"/>
              </a:rPr>
              <a:t>β</a:t>
            </a:r>
            <a:r>
              <a:rPr lang="el-GR" altLang="zh-CN" sz="2800" kern="0" spc="-10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lang="el-GR" altLang="zh-CN" sz="28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100" dirty="0">
                <a:solidFill>
                  <a:srgbClr val="000000">
                    <a:alpha val="100000"/>
                  </a:srgbClr>
                </a:solidFill>
                <a:latin typeface="Arial" panose="020B0604020202020204"/>
                <a:ea typeface="Arial" panose="020B0604020202020204"/>
                <a:cs typeface="Arial" panose="020B0604020202020204"/>
              </a:rPr>
              <a:t>+</a:t>
            </a:r>
            <a:r>
              <a:rPr lang="el-GR" altLang="zh-CN" sz="2800" kern="0" spc="120" dirty="0">
                <a:solidFill>
                  <a:srgbClr val="000000">
                    <a:alpha val="100000"/>
                  </a:srgbClr>
                </a:solidFill>
                <a:latin typeface="Arial" panose="020B0604020202020204"/>
                <a:ea typeface="Arial" panose="020B0604020202020204"/>
                <a:cs typeface="Arial" panose="020B0604020202020204"/>
              </a:rPr>
              <a:t> </a:t>
            </a:r>
            <a:r>
              <a:rPr lang="el-GR" altLang="zh-CN" sz="2800" i="1" kern="0" spc="-110" dirty="0">
                <a:solidFill>
                  <a:srgbClr val="000000">
                    <a:alpha val="100000"/>
                  </a:srgbClr>
                </a:solidFill>
                <a:latin typeface="Arial" panose="020B0604020202020204"/>
                <a:ea typeface="Arial" panose="020B0604020202020204"/>
                <a:cs typeface="Arial" panose="020B0604020202020204"/>
              </a:rPr>
              <a:t>β</a:t>
            </a:r>
            <a:r>
              <a:rPr lang="el-GR" altLang="zh-CN" sz="2800" kern="0" spc="-11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lang="el-GR" altLang="zh-CN" sz="28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800" kern="0" spc="40" dirty="0">
                <a:solidFill>
                  <a:srgbClr val="000000">
                    <a:alpha val="100000"/>
                  </a:srgbClr>
                </a:solidFill>
                <a:latin typeface="Arial" panose="020B0604020202020204"/>
                <a:ea typeface="Arial" panose="020B0604020202020204"/>
                <a:cs typeface="Arial" panose="020B0604020202020204"/>
              </a:rPr>
              <a:t>×</a:t>
            </a:r>
            <a:r>
              <a:rPr lang="el-GR" altLang="zh-CN" sz="2800" kern="0" spc="40" dirty="0">
                <a:solidFill>
                  <a:srgbClr val="000000">
                    <a:alpha val="100000"/>
                  </a:srgbClr>
                </a:solidFill>
                <a:latin typeface="Times New Roman" panose="02020603050405020304"/>
                <a:ea typeface="Times New Roman" panose="02020603050405020304"/>
                <a:cs typeface="Times New Roman" panose="02020603050405020304"/>
              </a:rPr>
              <a:t>80</a:t>
            </a:r>
            <a:r>
              <a:rPr lang="el-GR" altLang="zh-CN" sz="2800" kern="0" spc="40" dirty="0">
                <a:solidFill>
                  <a:srgbClr val="000000">
                    <a:alpha val="100000"/>
                  </a:srgbClr>
                </a:solidFill>
                <a:latin typeface="Arial" panose="020B0604020202020204"/>
                <a:ea typeface="Arial" panose="020B0604020202020204"/>
                <a:cs typeface="Arial" panose="020B0604020202020204"/>
              </a:rPr>
              <a:t>+</a:t>
            </a:r>
            <a:r>
              <a:rPr lang="el-GR" altLang="zh-CN" sz="2800" kern="0" spc="-160" dirty="0">
                <a:solidFill>
                  <a:srgbClr val="000000">
                    <a:alpha val="100000"/>
                  </a:srgbClr>
                </a:solidFill>
                <a:latin typeface="Arial" panose="020B0604020202020204"/>
                <a:ea typeface="Arial" panose="020B0604020202020204"/>
                <a:cs typeface="Arial" panose="020B0604020202020204"/>
              </a:rPr>
              <a:t> </a:t>
            </a:r>
            <a:r>
              <a:rPr lang="en-GB" altLang="zh-CN" sz="2800" i="1" kern="0" spc="40" dirty="0">
                <a:solidFill>
                  <a:srgbClr val="000000">
                    <a:alpha val="100000"/>
                  </a:srgbClr>
                </a:solidFill>
                <a:latin typeface="Times New Roman" panose="02020603050405020304"/>
                <a:ea typeface="Times New Roman" panose="02020603050405020304"/>
                <a:cs typeface="Times New Roman" panose="02020603050405020304"/>
              </a:rPr>
              <a:t>e</a:t>
            </a:r>
            <a:r>
              <a:rPr lang="en-GB" altLang="zh-CN" sz="2800" kern="0" spc="40" baseline="-26000" dirty="0">
                <a:solidFill>
                  <a:srgbClr val="000000">
                    <a:alpha val="100000"/>
                  </a:srgbClr>
                </a:solidFill>
                <a:latin typeface="Times New Roman" panose="02020603050405020304"/>
                <a:ea typeface="Times New Roman" panose="02020603050405020304"/>
                <a:cs typeface="Times New Roman" panose="02020603050405020304"/>
              </a:rPr>
              <a:t>5</a:t>
            </a:r>
            <a:endParaRPr lang="en-GB" altLang="zh-CN" sz="2800" baseline="-260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 name="table 246"/>
          <p:cNvGraphicFramePr>
            <a:graphicFrameLocks noGrp="1"/>
          </p:cNvGraphicFramePr>
          <p:nvPr/>
        </p:nvGraphicFramePr>
        <p:xfrm>
          <a:off x="60832" y="66928"/>
          <a:ext cx="9019540" cy="6699248"/>
        </p:xfrm>
        <a:graphic>
          <a:graphicData uri="http://schemas.openxmlformats.org/drawingml/2006/table">
            <a:tbl>
              <a:tblPr/>
              <a:tblGrid>
                <a:gridCol w="9019540"/>
              </a:tblGrid>
              <a:tr h="5774054">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732155" algn="l" rtl="0" eaLnBrk="0">
                        <a:lnSpc>
                          <a:spcPct val="88000"/>
                        </a:lnSpc>
                      </a:pPr>
                      <a:r>
                        <a:rPr sz="16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6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随机干扰项的意义：</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marL="1017905" indent="-285750" algn="l" rtl="0" eaLnBrk="0">
                        <a:lnSpc>
                          <a:spcPct val="94000"/>
                        </a:lnSpc>
                        <a:spcBef>
                          <a:spcPts val="575"/>
                        </a:spcBef>
                        <a:buFont typeface="Wingdings" panose="05000000000000000000" pitchFamily="2" charset="2"/>
                        <a:buChar char="ü"/>
                      </a:pPr>
                      <a:r>
                        <a:rPr sz="16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50" dirty="0">
                          <a:solidFill>
                            <a:srgbClr val="000000">
                              <a:alpha val="100000"/>
                            </a:srgbClr>
                          </a:solidFill>
                          <a:latin typeface="Times New Roman" panose="02020603050405020304"/>
                          <a:ea typeface="Times New Roman" panose="02020603050405020304"/>
                          <a:cs typeface="Times New Roman" panose="02020603050405020304"/>
                        </a:rPr>
                        <a:t>1</a:t>
                      </a:r>
                      <a:r>
                        <a:rPr sz="19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）反映因理论的含糊性导致的缺失变量的影响；</a:t>
                      </a:r>
                      <a:endParaRPr sz="19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23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1017905" indent="-285750" algn="l" rtl="0" eaLnBrk="0">
                        <a:lnSpc>
                          <a:spcPct val="94000"/>
                        </a:lnSpc>
                        <a:spcBef>
                          <a:spcPts val="580"/>
                        </a:spcBef>
                        <a:buFont typeface="Wingdings" panose="05000000000000000000" pitchFamily="2" charset="2"/>
                        <a:buChar char="ü"/>
                      </a:pPr>
                      <a:r>
                        <a:rPr sz="16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80" dirty="0">
                          <a:solidFill>
                            <a:srgbClr val="000000">
                              <a:alpha val="100000"/>
                            </a:srgbClr>
                          </a:solidFill>
                          <a:latin typeface="Times New Roman" panose="02020603050405020304"/>
                          <a:ea typeface="Times New Roman" panose="02020603050405020304"/>
                          <a:cs typeface="Times New Roman" panose="02020603050405020304"/>
                        </a:rPr>
                        <a:t>2</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）反映因数据</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的不可获性导致的缺失变量的影响；</a:t>
                      </a:r>
                      <a:endParaRPr sz="19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25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1017905" indent="-285750" algn="l" rtl="0" eaLnBrk="0">
                        <a:lnSpc>
                          <a:spcPct val="125000"/>
                        </a:lnSpc>
                        <a:spcBef>
                          <a:spcPts val="570"/>
                        </a:spcBef>
                        <a:buFont typeface="Wingdings" panose="05000000000000000000" pitchFamily="2" charset="2"/>
                        <a:buChar char="ü"/>
                      </a:pPr>
                      <a:r>
                        <a:rPr sz="16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80" dirty="0">
                          <a:solidFill>
                            <a:srgbClr val="000000">
                              <a:alpha val="100000"/>
                            </a:srgbClr>
                          </a:solidFill>
                          <a:latin typeface="Times New Roman" panose="02020603050405020304"/>
                          <a:ea typeface="Times New Roman" panose="02020603050405020304"/>
                          <a:cs typeface="Times New Roman" panose="02020603050405020304"/>
                        </a:rPr>
                        <a:t>3</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）反映许多非核心变量的影响，这些变量的影响合起来都</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很小，</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0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从成本的角度没有必要引入模型；</a:t>
                      </a:r>
                      <a:endParaRPr sz="20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14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1017905" indent="-285750" algn="l" rtl="0" eaLnBrk="0">
                        <a:lnSpc>
                          <a:spcPct val="94000"/>
                        </a:lnSpc>
                        <a:spcBef>
                          <a:spcPts val="570"/>
                        </a:spcBef>
                        <a:buFont typeface="Wingdings" panose="05000000000000000000" pitchFamily="2" charset="2"/>
                        <a:buChar char="ü"/>
                      </a:pPr>
                      <a:r>
                        <a:rPr sz="16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4</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）反映人类行为的内在随机性的干扰；</a:t>
                      </a:r>
                      <a:endParaRPr sz="19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23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1017905" indent="-285750" algn="l" rtl="0" eaLnBrk="0">
                        <a:lnSpc>
                          <a:spcPct val="94000"/>
                        </a:lnSpc>
                        <a:spcBef>
                          <a:spcPts val="580"/>
                        </a:spcBef>
                        <a:buFont typeface="Wingdings" panose="05000000000000000000" pitchFamily="2" charset="2"/>
                        <a:buChar char="ü"/>
                      </a:pPr>
                      <a:r>
                        <a:rPr sz="16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5</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）反映测度变量时可能存在的误差的影响；</a:t>
                      </a:r>
                      <a:endParaRPr sz="1900" dirty="0">
                        <a:latin typeface="宋体" panose="02010600030101010101" pitchFamily="2" charset="-122"/>
                        <a:ea typeface="宋体" panose="02010600030101010101" pitchFamily="2" charset="-122"/>
                        <a:cs typeface="宋体" panose="02010600030101010101" pitchFamily="2" charset="-122"/>
                      </a:endParaRPr>
                    </a:p>
                    <a:p>
                      <a:pPr marL="171450" indent="-171450" algn="l" rtl="0" eaLnBrk="0">
                        <a:lnSpc>
                          <a:spcPct val="123000"/>
                        </a:lnSpc>
                        <a:buFont typeface="Wingdings" panose="05000000000000000000" pitchFamily="2" charset="2"/>
                        <a:buChar char="ü"/>
                      </a:pPr>
                      <a:endParaRPr sz="1000" dirty="0">
                        <a:latin typeface="Arial" panose="020B0604020202020204"/>
                        <a:ea typeface="Arial" panose="020B0604020202020204"/>
                        <a:cs typeface="Arial" panose="020B0604020202020204"/>
                      </a:endParaRPr>
                    </a:p>
                    <a:p>
                      <a:pPr marL="171450" indent="-171450" algn="l" rtl="0" eaLnBrk="0">
                        <a:lnSpc>
                          <a:spcPct val="121000"/>
                        </a:lnSpc>
                        <a:buFont typeface="Wingdings" panose="05000000000000000000" pitchFamily="2" charset="2"/>
                        <a:buChar char="ü"/>
                      </a:pPr>
                      <a:endParaRPr sz="400" dirty="0">
                        <a:latin typeface="Arial" panose="020B0604020202020204"/>
                        <a:ea typeface="Arial" panose="020B0604020202020204"/>
                        <a:cs typeface="Arial" panose="020B0604020202020204"/>
                      </a:endParaRPr>
                    </a:p>
                    <a:p>
                      <a:pPr marL="1017905" indent="-285750" algn="l" rtl="0" eaLnBrk="0">
                        <a:lnSpc>
                          <a:spcPct val="94000"/>
                        </a:lnSpc>
                        <a:buFont typeface="Wingdings" panose="05000000000000000000" pitchFamily="2" charset="2"/>
                        <a:buChar char="ü"/>
                      </a:pPr>
                      <a:r>
                        <a:rPr sz="16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80" dirty="0">
                          <a:solidFill>
                            <a:srgbClr val="000000">
                              <a:alpha val="100000"/>
                            </a:srgbClr>
                          </a:solidFill>
                          <a:latin typeface="Times New Roman" panose="02020603050405020304"/>
                          <a:ea typeface="Times New Roman" panose="02020603050405020304"/>
                          <a:cs typeface="Times New Roman" panose="02020603050405020304"/>
                        </a:rPr>
                        <a:t>6</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）反映错误的函数形式设定可能带来的干扰。</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25194">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22250"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24</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0" name="table 250"/>
          <p:cNvGraphicFramePr>
            <a:graphicFrameLocks noGrp="1"/>
          </p:cNvGraphicFramePr>
          <p:nvPr/>
        </p:nvGraphicFramePr>
        <p:xfrm>
          <a:off x="60832" y="66928"/>
          <a:ext cx="9019539" cy="6699250"/>
        </p:xfrm>
        <a:graphic>
          <a:graphicData uri="http://schemas.openxmlformats.org/drawingml/2006/table">
            <a:tbl>
              <a:tblPr/>
              <a:tblGrid>
                <a:gridCol w="1013460"/>
                <a:gridCol w="2080895"/>
                <a:gridCol w="5925184"/>
              </a:tblGrid>
              <a:tr h="3771265">
                <a:tc gridSpan="3">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149350" algn="l" rtl="0" eaLnBrk="0">
                        <a:lnSpc>
                          <a:spcPct val="87000"/>
                        </a:lnSpc>
                      </a:pP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第三节</a:t>
                      </a:r>
                      <a:r>
                        <a:rPr sz="3600" kern="0" spc="-10" dirty="0">
                          <a:solidFill>
                            <a:srgbClr val="000000">
                              <a:alpha val="100000"/>
                            </a:srgbClr>
                          </a:solidFill>
                          <a:latin typeface="幼圆" panose="02010509060101010101" charset="-122"/>
                          <a:ea typeface="幼圆" panose="02010509060101010101" charset="-122"/>
                          <a:cs typeface="幼圆" panose="02010509060101010101" charset="-122"/>
                        </a:rPr>
                        <a:t>  </a:t>
                      </a: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简单线性回归模型的假设</a:t>
                      </a:r>
                      <a:endParaRPr sz="3600" dirty="0">
                        <a:latin typeface="幼圆" panose="02010509060101010101" charset="-122"/>
                        <a:ea typeface="幼圆" panose="02010509060101010101" charset="-122"/>
                        <a:cs typeface="幼圆" panose="02010509060101010101" charset="-122"/>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968375" algn="l" rtl="0" eaLnBrk="0">
                        <a:lnSpc>
                          <a:spcPct val="87000"/>
                        </a:lnSpc>
                        <a:spcBef>
                          <a:spcPts val="760"/>
                        </a:spcBef>
                      </a:pPr>
                      <a:r>
                        <a:rPr sz="22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4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5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一、与被解释变量</a:t>
                      </a:r>
                      <a:r>
                        <a:rPr sz="2500" b="1" kern="0" spc="60" dirty="0">
                          <a:solidFill>
                            <a:srgbClr val="000000">
                              <a:alpha val="100000"/>
                            </a:srgbClr>
                          </a:solidFill>
                          <a:latin typeface="Perpetua" panose="02020502060401020303"/>
                          <a:ea typeface="Perpetua" panose="02020502060401020303"/>
                          <a:cs typeface="Perpetua" panose="02020502060401020303"/>
                        </a:rPr>
                        <a:t>Y</a:t>
                      </a:r>
                      <a:r>
                        <a:rPr sz="2500" b="1"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a:t>
                      </a:r>
                      <a:r>
                        <a:rPr sz="2500" b="1"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应的回归假设</a:t>
                      </a:r>
                      <a:endParaRPr sz="2500" dirty="0">
                        <a:latin typeface="宋体" panose="02010600030101010101" pitchFamily="2" charset="-122"/>
                        <a:ea typeface="宋体" panose="02010600030101010101" pitchFamily="2" charset="-122"/>
                        <a:cs typeface="宋体" panose="02010600030101010101" pitchFamily="2" charset="-122"/>
                      </a:endParaRPr>
                    </a:p>
                    <a:p>
                      <a:pPr marL="1174750" algn="l" rtl="0" eaLnBrk="0">
                        <a:lnSpc>
                          <a:spcPct val="94000"/>
                        </a:lnSpc>
                        <a:spcBef>
                          <a:spcPts val="1740"/>
                        </a:spcBef>
                      </a:pPr>
                      <a:r>
                        <a:rPr sz="1900" b="1" u="sng"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2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40" dirty="0">
                          <a:solidFill>
                            <a:srgbClr val="000000">
                              <a:alpha val="100000"/>
                            </a:srgbClr>
                          </a:solidFill>
                          <a:latin typeface="Times New Roman" panose="02020603050405020304"/>
                          <a:ea typeface="Times New Roman" panose="02020603050405020304"/>
                          <a:cs typeface="Times New Roman" panose="02020603050405020304"/>
                        </a:rPr>
                        <a:t>1</a:t>
                      </a:r>
                      <a:r>
                        <a:rPr sz="1900" b="1"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554480" algn="l" rtl="0" eaLnBrk="0">
                        <a:lnSpc>
                          <a:spcPct val="87000"/>
                        </a:lnSpc>
                        <a:spcBef>
                          <a:spcPts val="245"/>
                        </a:spcBef>
                      </a:pPr>
                      <a:r>
                        <a:rPr sz="19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每个取值，</a:t>
                      </a:r>
                      <a:r>
                        <a:rPr sz="1900" kern="0" spc="-4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的均值由线性回归</a:t>
                      </a:r>
                      <a:r>
                        <a:rPr sz="2100" i="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给出；</a:t>
                      </a:r>
                      <a:endParaRPr sz="2100" dirty="0">
                        <a:latin typeface="宋体" panose="02010600030101010101" pitchFamily="2" charset="-122"/>
                        <a:ea typeface="宋体" panose="02010600030101010101" pitchFamily="2" charset="-122"/>
                        <a:cs typeface="宋体" panose="02010600030101010101" pitchFamily="2" charset="-122"/>
                      </a:endParaRPr>
                    </a:p>
                    <a:p>
                      <a:pPr marL="3340100" algn="l" rtl="0" eaLnBrk="0">
                        <a:lnSpc>
                          <a:spcPct val="99000"/>
                        </a:lnSpc>
                        <a:spcBef>
                          <a:spcPts val="1645"/>
                        </a:spcBef>
                      </a:pPr>
                      <a:r>
                        <a:rPr sz="2100" i="1" kern="0" spc="19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190" dirty="0">
                          <a:solidFill>
                            <a:srgbClr val="000000">
                              <a:alpha val="100000"/>
                            </a:srgbClr>
                          </a:solidFill>
                          <a:latin typeface="Times New Roman" panose="02020603050405020304"/>
                          <a:ea typeface="Times New Roman" panose="02020603050405020304"/>
                          <a:cs typeface="Times New Roman" panose="02020603050405020304"/>
                        </a:rPr>
                        <a:t>y </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9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90" dirty="0">
                          <a:solidFill>
                            <a:srgbClr val="000000">
                              <a:alpha val="100000"/>
                            </a:srgbClr>
                          </a:solidFill>
                          <a:latin typeface="Arial" panose="020B0604020202020204"/>
                          <a:ea typeface="Arial" panose="020B0604020202020204"/>
                          <a:cs typeface="Arial" panose="020B0604020202020204"/>
                        </a:rPr>
                        <a:t>= </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β</a:t>
                      </a:r>
                      <a:r>
                        <a:rPr sz="1800" kern="0" spc="19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90" dirty="0">
                          <a:solidFill>
                            <a:srgbClr val="000000">
                              <a:alpha val="100000"/>
                            </a:srgbClr>
                          </a:solidFill>
                          <a:latin typeface="Arial" panose="020B0604020202020204"/>
                          <a:ea typeface="Arial" panose="020B0604020202020204"/>
                          <a:cs typeface="Arial" panose="020B0604020202020204"/>
                        </a:rPr>
                        <a:t>+</a:t>
                      </a:r>
                      <a:r>
                        <a:rPr sz="2100" kern="0" spc="-100" dirty="0">
                          <a:solidFill>
                            <a:srgbClr val="000000">
                              <a:alpha val="100000"/>
                            </a:srgbClr>
                          </a:solidFill>
                          <a:latin typeface="Arial" panose="020B0604020202020204"/>
                          <a:ea typeface="Arial" panose="020B0604020202020204"/>
                          <a:cs typeface="Arial" panose="020B0604020202020204"/>
                        </a:rPr>
                        <a:t> </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β</a:t>
                      </a:r>
                      <a:r>
                        <a:rPr sz="1800" kern="0" spc="190" baseline="-29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80" dirty="0">
                          <a:solidFill>
                            <a:srgbClr val="000000">
                              <a:alpha val="100000"/>
                            </a:srgbClr>
                          </a:solidFill>
                          <a:latin typeface="Times New Roman" panose="02020603050405020304"/>
                          <a:ea typeface="Times New Roman" panose="02020603050405020304"/>
                          <a:cs typeface="Times New Roman" panose="02020603050405020304"/>
                        </a:rPr>
                        <a:t>x</a:t>
                      </a:r>
                      <a:endParaRPr sz="2100" dirty="0">
                        <a:latin typeface="Times New Roman" panose="02020603050405020304"/>
                        <a:ea typeface="Times New Roman" panose="02020603050405020304"/>
                        <a:cs typeface="Times New Roman" panose="02020603050405020304"/>
                      </a:endParaRPr>
                    </a:p>
                    <a:p>
                      <a:pPr marL="1174750" algn="l" rtl="0" eaLnBrk="0">
                        <a:lnSpc>
                          <a:spcPct val="94000"/>
                        </a:lnSpc>
                        <a:spcBef>
                          <a:spcPts val="830"/>
                        </a:spcBef>
                      </a:pPr>
                      <a:r>
                        <a:rPr sz="1900" b="1" u="sng"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60" dirty="0">
                          <a:solidFill>
                            <a:srgbClr val="000000">
                              <a:alpha val="100000"/>
                            </a:srgbClr>
                          </a:solidFill>
                          <a:latin typeface="Times New Roman" panose="02020603050405020304"/>
                          <a:ea typeface="Times New Roman" panose="02020603050405020304"/>
                          <a:cs typeface="Times New Roman" panose="02020603050405020304"/>
                        </a:rPr>
                        <a:t>2</a:t>
                      </a:r>
                      <a:r>
                        <a:rPr sz="1900" b="1"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554480" algn="l" rtl="0" eaLnBrk="0">
                        <a:lnSpc>
                          <a:spcPct val="94000"/>
                        </a:lnSpc>
                        <a:spcBef>
                          <a:spcPts val="255"/>
                        </a:spcBef>
                      </a:pP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的每个取值，</a:t>
                      </a:r>
                      <a:r>
                        <a:rPr sz="1900" kern="0" spc="-3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的值围绕其均值构成分布，其</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概率分布</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51535">
                <a:tc gridSpan="2">
                  <a:txBody>
                    <a:bodyPr/>
                    <a:lstStyle/>
                    <a:p>
                      <a:pPr algn="l" rtl="0" eaLnBrk="0">
                        <a:lnSpc>
                          <a:spcPct val="100000"/>
                        </a:lnSpc>
                      </a:pPr>
                      <a:endParaRPr sz="100" dirty="0">
                        <a:latin typeface="Arial" panose="020B0604020202020204"/>
                        <a:ea typeface="Arial" panose="020B0604020202020204"/>
                        <a:cs typeface="Arial" panose="020B0604020202020204"/>
                      </a:endParaRPr>
                    </a:p>
                    <a:p>
                      <a:pPr marL="1179830" algn="l" rtl="0" eaLnBrk="0">
                        <a:lnSpc>
                          <a:spcPct val="88000"/>
                        </a:lnSpc>
                      </a:pPr>
                      <a:r>
                        <a:rPr sz="1900" kern="0" spc="-1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具有同方差：</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19000"/>
                        </a:lnSpc>
                      </a:pPr>
                      <a:endParaRPr sz="400" dirty="0">
                        <a:latin typeface="Arial" panose="020B0604020202020204"/>
                        <a:ea typeface="Arial" panose="020B0604020202020204"/>
                        <a:cs typeface="Arial" panose="020B0604020202020204"/>
                      </a:endParaRPr>
                    </a:p>
                    <a:p>
                      <a:pPr marL="1141730" algn="l" rtl="0" eaLnBrk="0">
                        <a:lnSpc>
                          <a:spcPct val="94000"/>
                        </a:lnSpc>
                        <a:spcBef>
                          <a:spcPts val="5"/>
                        </a:spcBef>
                      </a:pPr>
                      <a:r>
                        <a:rPr sz="1900" b="1" u="sng"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b="1" u="sng" kern="0" spc="40" dirty="0">
                          <a:solidFill>
                            <a:srgbClr val="000000">
                              <a:alpha val="100000"/>
                            </a:srgbClr>
                          </a:solidFill>
                          <a:latin typeface="Times New Roman" panose="02020603050405020304"/>
                          <a:ea typeface="Times New Roman" panose="02020603050405020304"/>
                          <a:cs typeface="Times New Roman" panose="02020603050405020304"/>
                        </a:rPr>
                        <a:t>3</a:t>
                      </a:r>
                      <a:r>
                        <a:rPr sz="1900" b="1"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c hMerge="1">
                  <a:tcPr marL="0" marR="0" marT="0" marB="0">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45000"/>
                        </a:lnSpc>
                      </a:pPr>
                      <a:endParaRPr sz="1000" dirty="0">
                        <a:latin typeface="Arial" panose="020B0604020202020204"/>
                        <a:ea typeface="Arial" panose="020B0604020202020204"/>
                        <a:cs typeface="Arial" panose="020B0604020202020204"/>
                      </a:endParaRPr>
                    </a:p>
                    <a:p>
                      <a:pPr marL="592455" algn="l" rtl="0" eaLnBrk="0">
                        <a:lnSpc>
                          <a:spcPct val="93000"/>
                        </a:lnSpc>
                        <a:spcBef>
                          <a:spcPts val="0"/>
                        </a:spcBef>
                      </a:pPr>
                      <a:r>
                        <a:rPr sz="2200" kern="0" spc="0" dirty="0">
                          <a:solidFill>
                            <a:srgbClr val="000000">
                              <a:alpha val="100000"/>
                            </a:srgbClr>
                          </a:solidFill>
                          <a:latin typeface="Times New Roman" panose="02020603050405020304"/>
                          <a:ea typeface="Times New Roman" panose="02020603050405020304"/>
                          <a:cs typeface="Times New Roman" panose="02020603050405020304"/>
                        </a:rPr>
                        <a:t>var</a:t>
                      </a:r>
                      <a:r>
                        <a:rPr sz="2200" kern="0" spc="50" dirty="0">
                          <a:solidFill>
                            <a:srgbClr val="000000">
                              <a:alpha val="100000"/>
                            </a:srgbClr>
                          </a:solidFill>
                          <a:latin typeface="Times New Roman" panose="02020603050405020304"/>
                          <a:ea typeface="Times New Roman" panose="02020603050405020304"/>
                          <a:cs typeface="Times New Roman" panose="02020603050405020304"/>
                        </a:rPr>
                        <a:t>(</a:t>
                      </a:r>
                      <a:r>
                        <a:rPr sz="2200" i="1" kern="0" spc="50" dirty="0">
                          <a:solidFill>
                            <a:srgbClr val="000000">
                              <a:alpha val="100000"/>
                            </a:srgbClr>
                          </a:solidFill>
                          <a:latin typeface="Times New Roman" panose="02020603050405020304"/>
                          <a:ea typeface="Times New Roman" panose="02020603050405020304"/>
                          <a:cs typeface="Times New Roman" panose="02020603050405020304"/>
                        </a:rPr>
                        <a:t>y </a:t>
                      </a:r>
                      <a:r>
                        <a:rPr sz="2200" kern="0" spc="50" dirty="0">
                          <a:solidFill>
                            <a:srgbClr val="000000">
                              <a:alpha val="100000"/>
                            </a:srgbClr>
                          </a:solidFill>
                          <a:latin typeface="Times New Roman" panose="02020603050405020304"/>
                          <a:ea typeface="Times New Roman" panose="02020603050405020304"/>
                          <a:cs typeface="Times New Roman" panose="02020603050405020304"/>
                        </a:rPr>
                        <a:t>|</a:t>
                      </a:r>
                      <a:r>
                        <a:rPr sz="22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200" i="1" kern="0" spc="5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50" dirty="0">
                          <a:solidFill>
                            <a:srgbClr val="000000">
                              <a:alpha val="100000"/>
                            </a:srgbClr>
                          </a:solidFill>
                          <a:latin typeface="Arial" panose="020B0604020202020204"/>
                          <a:ea typeface="Arial" panose="020B0604020202020204"/>
                          <a:cs typeface="Arial" panose="020B0604020202020204"/>
                        </a:rPr>
                        <a:t>= </a:t>
                      </a:r>
                      <a:r>
                        <a:rPr sz="2200" kern="0" spc="50" dirty="0">
                          <a:solidFill>
                            <a:srgbClr val="000000">
                              <a:alpha val="100000"/>
                            </a:srgbClr>
                          </a:solidFill>
                          <a:latin typeface="Times New Roman" panose="02020603050405020304"/>
                          <a:ea typeface="Times New Roman" panose="02020603050405020304"/>
                          <a:cs typeface="Times New Roman" panose="02020603050405020304"/>
                        </a:rPr>
                        <a:t>σ</a:t>
                      </a:r>
                      <a:r>
                        <a:rPr sz="2200" kern="0" spc="-4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50" baseline="49000" dirty="0">
                          <a:solidFill>
                            <a:srgbClr val="000000">
                              <a:alpha val="100000"/>
                            </a:srgbClr>
                          </a:solidFill>
                          <a:latin typeface="Times New Roman" panose="02020603050405020304"/>
                          <a:ea typeface="Times New Roman" panose="02020603050405020304"/>
                          <a:cs typeface="Times New Roman" panose="02020603050405020304"/>
                        </a:rPr>
                        <a:t>2</a:t>
                      </a:r>
                      <a:endParaRPr sz="2000" baseline="490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1136650">
                <a:tc gridSpan="3">
                  <a:txBody>
                    <a:bodyPr/>
                    <a:lstStyle/>
                    <a:p>
                      <a:pPr algn="l" rtl="0" eaLnBrk="0">
                        <a:lnSpc>
                          <a:spcPct val="126000"/>
                        </a:lnSpc>
                      </a:pPr>
                      <a:endParaRPr sz="100" dirty="0">
                        <a:latin typeface="Arial" panose="020B0604020202020204"/>
                        <a:ea typeface="Arial" panose="020B0604020202020204"/>
                        <a:cs typeface="Arial" panose="020B0604020202020204"/>
                      </a:endParaRPr>
                    </a:p>
                    <a:p>
                      <a:pPr marL="1144905" indent="369570" algn="l" rtl="0" eaLnBrk="0">
                        <a:lnSpc>
                          <a:spcPct val="96000"/>
                        </a:lnSpc>
                      </a:pPr>
                      <a:r>
                        <a:rPr sz="1900" kern="0" spc="10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的值不相关，且具</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有零协方差，意味着</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自身不存在线</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性关系：</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9000"/>
                        </a:lnSpc>
                      </a:pPr>
                      <a:endParaRPr sz="600" dirty="0">
                        <a:latin typeface="Arial" panose="020B0604020202020204"/>
                        <a:ea typeface="Arial" panose="020B0604020202020204"/>
                        <a:cs typeface="Arial" panose="020B0604020202020204"/>
                      </a:endParaRPr>
                    </a:p>
                    <a:p>
                      <a:pPr marL="3419475" algn="l" rtl="0" eaLnBrk="0">
                        <a:lnSpc>
                          <a:spcPct val="100000"/>
                        </a:lnSpc>
                        <a:spcBef>
                          <a:spcPts val="5"/>
                        </a:spcBef>
                      </a:pPr>
                      <a:r>
                        <a:rPr sz="2500" kern="0" spc="230" dirty="0">
                          <a:solidFill>
                            <a:srgbClr val="000000">
                              <a:alpha val="100000"/>
                            </a:srgbClr>
                          </a:solidFill>
                          <a:latin typeface="Times New Roman" panose="02020603050405020304"/>
                          <a:ea typeface="Times New Roman" panose="02020603050405020304"/>
                          <a:cs typeface="Times New Roman" panose="02020603050405020304"/>
                        </a:rPr>
                        <a:t>cov(</a:t>
                      </a:r>
                      <a:r>
                        <a:rPr sz="2500" i="1" kern="0" spc="230" dirty="0">
                          <a:solidFill>
                            <a:srgbClr val="000000">
                              <a:alpha val="100000"/>
                            </a:srgbClr>
                          </a:solidFill>
                          <a:latin typeface="Times New Roman" panose="02020603050405020304"/>
                          <a:ea typeface="Times New Roman" panose="02020603050405020304"/>
                          <a:cs typeface="Times New Roman" panose="02020603050405020304"/>
                        </a:rPr>
                        <a:t>y</a:t>
                      </a:r>
                      <a:r>
                        <a:rPr sz="2200" i="1" kern="0" spc="230" baseline="-21000" dirty="0">
                          <a:solidFill>
                            <a:srgbClr val="000000">
                              <a:alpha val="100000"/>
                            </a:srgbClr>
                          </a:solidFill>
                          <a:latin typeface="Times New Roman" panose="02020603050405020304"/>
                          <a:ea typeface="Times New Roman" panose="02020603050405020304"/>
                          <a:cs typeface="Times New Roman" panose="02020603050405020304"/>
                        </a:rPr>
                        <a:t>i</a:t>
                      </a:r>
                      <a:r>
                        <a:rPr sz="3800" kern="0" spc="230" baseline="-1200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230" dirty="0">
                          <a:solidFill>
                            <a:srgbClr val="000000">
                              <a:alpha val="100000"/>
                            </a:srgbClr>
                          </a:solidFill>
                          <a:latin typeface="Times New Roman" panose="02020603050405020304"/>
                          <a:ea typeface="Times New Roman" panose="02020603050405020304"/>
                          <a:cs typeface="Times New Roman" panose="02020603050405020304"/>
                        </a:rPr>
                        <a:t>y</a:t>
                      </a:r>
                      <a:r>
                        <a:rPr sz="2200" i="1" kern="0" spc="230" baseline="-26000" dirty="0">
                          <a:solidFill>
                            <a:srgbClr val="000000">
                              <a:alpha val="100000"/>
                            </a:srgbClr>
                          </a:solidFill>
                          <a:latin typeface="Times New Roman" panose="02020603050405020304"/>
                          <a:ea typeface="Times New Roman" panose="02020603050405020304"/>
                          <a:cs typeface="Times New Roman" panose="02020603050405020304"/>
                        </a:rPr>
                        <a:t>j</a:t>
                      </a:r>
                      <a:r>
                        <a:rPr sz="1400" i="1"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230" dirty="0">
                          <a:solidFill>
                            <a:srgbClr val="000000">
                              <a:alpha val="100000"/>
                            </a:srgbClr>
                          </a:solidFill>
                          <a:latin typeface="Arial" panose="020B0604020202020204"/>
                          <a:ea typeface="Arial" panose="020B0604020202020204"/>
                          <a:cs typeface="Arial" panose="020B0604020202020204"/>
                        </a:rPr>
                        <a:t>=</a:t>
                      </a:r>
                      <a:r>
                        <a:rPr sz="2500" kern="0" spc="50" dirty="0">
                          <a:solidFill>
                            <a:srgbClr val="000000">
                              <a:alpha val="100000"/>
                            </a:srgbClr>
                          </a:solidFill>
                          <a:latin typeface="Arial" panose="020B0604020202020204"/>
                          <a:ea typeface="Arial" panose="020B0604020202020204"/>
                          <a:cs typeface="Arial" panose="020B0604020202020204"/>
                        </a:rPr>
                        <a:t> </a:t>
                      </a:r>
                      <a:r>
                        <a:rPr sz="2500" kern="0" spc="220" dirty="0">
                          <a:solidFill>
                            <a:srgbClr val="000000">
                              <a:alpha val="100000"/>
                            </a:srgbClr>
                          </a:solidFill>
                          <a:latin typeface="Times New Roman" panose="02020603050405020304"/>
                          <a:ea typeface="Times New Roman" panose="02020603050405020304"/>
                          <a:cs typeface="Times New Roman" panose="02020603050405020304"/>
                        </a:rPr>
                        <a:t>0</a:t>
                      </a:r>
                      <a:endParaRPr sz="25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939800">
                <a:tc>
                  <a:txBody>
                    <a:bodyPr/>
                    <a:lstStyle/>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marL="218440" algn="l" rtl="0" eaLnBrk="0">
                        <a:lnSpc>
                          <a:spcPct val="80000"/>
                        </a:lnSpc>
                        <a:spcBef>
                          <a:spcPts val="5"/>
                        </a:spcBef>
                      </a:pPr>
                      <a:r>
                        <a:rPr sz="1300" b="1" kern="0" spc="0" dirty="0">
                          <a:solidFill>
                            <a:srgbClr val="FFFFFF">
                              <a:alpha val="100000"/>
                            </a:srgbClr>
                          </a:solidFill>
                          <a:latin typeface="Franklin Gothic Book" panose="020B0503020102020204"/>
                          <a:ea typeface="Franklin Gothic Book" panose="020B0503020102020204"/>
                          <a:cs typeface="Franklin Gothic Book" panose="020B0503020102020204"/>
                        </a:rPr>
                        <a:t>25</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gridSpan="2">
                  <a:txBody>
                    <a:bodyPr/>
                    <a:lstStyle/>
                    <a:p>
                      <a:pPr algn="l" rtl="0" eaLnBrk="0">
                        <a:lnSpc>
                          <a:spcPct val="100000"/>
                        </a:lnSpc>
                      </a:pPr>
                      <a:endParaRPr sz="800" dirty="0">
                        <a:latin typeface="Arial" panose="020B0604020202020204"/>
                        <a:ea typeface="Arial" panose="020B0604020202020204"/>
                        <a:cs typeface="Arial" panose="020B0604020202020204"/>
                      </a:endParaRPr>
                    </a:p>
                    <a:p>
                      <a:pPr marL="470535" algn="l" rtl="0" eaLnBrk="0">
                        <a:lnSpc>
                          <a:spcPct val="100000"/>
                        </a:lnSpc>
                        <a:spcBef>
                          <a:spcPts val="5"/>
                        </a:spcBef>
                      </a:pPr>
                      <a:r>
                        <a:rPr sz="1900" kern="0" spc="70" dirty="0">
                          <a:solidFill>
                            <a:srgbClr val="000000">
                              <a:alpha val="100000"/>
                            </a:srgbClr>
                          </a:solidFill>
                          <a:latin typeface="华文仿宋" panose="02010600040101010101" charset="-122"/>
                          <a:ea typeface="华文仿宋" panose="02010600040101010101" charset="-122"/>
                          <a:cs typeface="华文仿宋" panose="02010600040101010101" charset="-122"/>
                        </a:rPr>
                        <a:t>这一假设可以进一步</a:t>
                      </a:r>
                      <a:r>
                        <a:rPr sz="1900" kern="0" spc="60" dirty="0">
                          <a:solidFill>
                            <a:srgbClr val="000000">
                              <a:alpha val="100000"/>
                            </a:srgbClr>
                          </a:solidFill>
                          <a:latin typeface="华文仿宋" panose="02010600040101010101" charset="-122"/>
                          <a:ea typeface="华文仿宋" panose="02010600040101010101" charset="-122"/>
                          <a:cs typeface="华文仿宋" panose="02010600040101010101" charset="-122"/>
                        </a:rPr>
                        <a:t>强化为假定y的值全部在统计上独立。</a:t>
                      </a:r>
                      <a:endParaRPr sz="1900" dirty="0">
                        <a:latin typeface="华文仿宋" panose="02010600040101010101" charset="-122"/>
                        <a:ea typeface="华文仿宋" panose="02010600040101010101" charset="-122"/>
                        <a:cs typeface="华文仿宋" panose="02010600040101010101"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4" name="table 254"/>
          <p:cNvGraphicFramePr>
            <a:graphicFrameLocks noGrp="1"/>
          </p:cNvGraphicFramePr>
          <p:nvPr/>
        </p:nvGraphicFramePr>
        <p:xfrm>
          <a:off x="60832" y="66928"/>
          <a:ext cx="9019540" cy="6699250"/>
        </p:xfrm>
        <a:graphic>
          <a:graphicData uri="http://schemas.openxmlformats.org/drawingml/2006/table">
            <a:tbl>
              <a:tblPr/>
              <a:tblGrid>
                <a:gridCol w="9019540"/>
              </a:tblGrid>
              <a:tr h="5606415">
                <a:tc>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1174750" algn="l" rtl="0" eaLnBrk="0">
                        <a:lnSpc>
                          <a:spcPct val="94000"/>
                        </a:lnSpc>
                        <a:spcBef>
                          <a:spcPts val="5"/>
                        </a:spcBef>
                      </a:pPr>
                      <a:r>
                        <a:rPr sz="1900" u="sng"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4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u="sng" kern="0" spc="70" dirty="0">
                          <a:solidFill>
                            <a:srgbClr val="000000">
                              <a:alpha val="100000"/>
                            </a:srgbClr>
                          </a:solidFill>
                          <a:latin typeface="Times New Roman" panose="02020603050405020304"/>
                          <a:ea typeface="Times New Roman" panose="02020603050405020304"/>
                          <a:cs typeface="Times New Roman" panose="02020603050405020304"/>
                        </a:rPr>
                        <a:t>4</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2530475" algn="l" rtl="0" eaLnBrk="0">
                        <a:lnSpc>
                          <a:spcPct val="94000"/>
                        </a:lnSpc>
                        <a:spcBef>
                          <a:spcPts val="1455"/>
                        </a:spcBef>
                      </a:pPr>
                      <a:r>
                        <a:rPr sz="1900" kern="0" spc="9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不是随机的，且必须取两个以上的</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数值。</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1174750" algn="l" rtl="0" eaLnBrk="0">
                        <a:lnSpc>
                          <a:spcPct val="94000"/>
                        </a:lnSpc>
                        <a:spcBef>
                          <a:spcPts val="580"/>
                        </a:spcBef>
                      </a:pPr>
                      <a:r>
                        <a:rPr sz="1900" u="sng"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2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u="sng" kern="0" spc="30" dirty="0">
                          <a:solidFill>
                            <a:srgbClr val="000000">
                              <a:alpha val="100000"/>
                            </a:srgbClr>
                          </a:solidFill>
                          <a:latin typeface="Times New Roman" panose="02020603050405020304"/>
                          <a:ea typeface="Times New Roman" panose="02020603050405020304"/>
                          <a:cs typeface="Times New Roman" panose="02020603050405020304"/>
                        </a:rPr>
                        <a:t>5</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可选</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2506980" algn="l" rtl="0" eaLnBrk="0">
                        <a:lnSpc>
                          <a:spcPct val="90000"/>
                        </a:lnSpc>
                        <a:spcBef>
                          <a:spcPts val="1440"/>
                        </a:spcBef>
                      </a:pPr>
                      <a:r>
                        <a:rPr sz="20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对于每个</a:t>
                      </a:r>
                      <a:r>
                        <a:rPr sz="2000" kern="0" spc="-40" dirty="0">
                          <a:solidFill>
                            <a:srgbClr val="000000">
                              <a:alpha val="100000"/>
                            </a:srgbClr>
                          </a:solidFill>
                          <a:latin typeface="Times New Roman" panose="02020603050405020304"/>
                          <a:ea typeface="Times New Roman" panose="02020603050405020304"/>
                          <a:cs typeface="Times New Roman" panose="02020603050405020304"/>
                        </a:rPr>
                        <a:t>x</a:t>
                      </a:r>
                      <a:r>
                        <a:rPr sz="20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的值，</a:t>
                      </a:r>
                      <a:r>
                        <a:rPr sz="2000" kern="0" spc="-40" dirty="0">
                          <a:solidFill>
                            <a:srgbClr val="000000">
                              <a:alpha val="100000"/>
                            </a:srgbClr>
                          </a:solidFill>
                          <a:latin typeface="Times New Roman" panose="02020603050405020304"/>
                          <a:ea typeface="Times New Roman" panose="02020603050405020304"/>
                          <a:cs typeface="Times New Roman" panose="02020603050405020304"/>
                        </a:rPr>
                        <a:t>y</a:t>
                      </a:r>
                      <a:r>
                        <a:rPr sz="20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值在其均值附近呈正态分布：</a:t>
                      </a:r>
                      <a:endParaRPr sz="20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3483610" algn="l" rtl="0" eaLnBrk="0">
                        <a:lnSpc>
                          <a:spcPts val="3050"/>
                        </a:lnSpc>
                        <a:spcBef>
                          <a:spcPts val="5"/>
                        </a:spcBef>
                      </a:pPr>
                      <a:r>
                        <a:rPr sz="2400" i="1" kern="0" spc="30" dirty="0">
                          <a:solidFill>
                            <a:srgbClr val="000000">
                              <a:alpha val="100000"/>
                            </a:srgbClr>
                          </a:solidFill>
                          <a:latin typeface="Times New Roman" panose="02020603050405020304"/>
                          <a:ea typeface="Times New Roman" panose="02020603050405020304"/>
                          <a:cs typeface="Times New Roman" panose="02020603050405020304"/>
                        </a:rPr>
                        <a:t>y </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30" dirty="0">
                          <a:solidFill>
                            <a:srgbClr val="000000">
                              <a:alpha val="100000"/>
                            </a:srgbClr>
                          </a:solidFill>
                          <a:latin typeface="Times New Roman" panose="02020603050405020304"/>
                          <a:ea typeface="Times New Roman" panose="02020603050405020304"/>
                          <a:cs typeface="Times New Roman" panose="02020603050405020304"/>
                        </a:rPr>
                        <a:t>N</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3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Arial" panose="020B0604020202020204"/>
                          <a:ea typeface="Arial" panose="020B0604020202020204"/>
                          <a:cs typeface="Arial" panose="020B0604020202020204"/>
                        </a:rPr>
                        <a:t>+</a:t>
                      </a:r>
                      <a:r>
                        <a:rPr sz="2400" kern="0" spc="-150" dirty="0">
                          <a:solidFill>
                            <a:srgbClr val="000000">
                              <a:alpha val="100000"/>
                            </a:srgbClr>
                          </a:solidFill>
                          <a:latin typeface="Arial" panose="020B0604020202020204"/>
                          <a:ea typeface="Arial" panose="020B0604020202020204"/>
                          <a:cs typeface="Arial" panose="020B0604020202020204"/>
                        </a:rPr>
                        <a:t> </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3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σ</a:t>
                      </a:r>
                      <a:r>
                        <a:rPr sz="2400" kern="0" spc="-4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30" baseline="72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92835">
                <a:tc>
                  <a:txBody>
                    <a:bodyPr/>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8440" algn="l" rtl="0" eaLnBrk="0">
                        <a:lnSpc>
                          <a:spcPct val="80000"/>
                        </a:lnSpc>
                      </a:pPr>
                      <a:r>
                        <a:rPr sz="1300" b="1" kern="0" spc="0" dirty="0">
                          <a:solidFill>
                            <a:srgbClr val="FFFFFF">
                              <a:alpha val="100000"/>
                            </a:srgbClr>
                          </a:solidFill>
                          <a:latin typeface="Franklin Gothic Book" panose="020B0503020102020204"/>
                          <a:ea typeface="Franklin Gothic Book" panose="020B0503020102020204"/>
                          <a:cs typeface="Franklin Gothic Book" panose="020B0503020102020204"/>
                        </a:rPr>
                        <a:t>26</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8" name="table 258"/>
          <p:cNvGraphicFramePr>
            <a:graphicFrameLocks noGrp="1"/>
          </p:cNvGraphicFramePr>
          <p:nvPr/>
        </p:nvGraphicFramePr>
        <p:xfrm>
          <a:off x="60832" y="66928"/>
          <a:ext cx="9019538" cy="6699248"/>
        </p:xfrm>
        <a:graphic>
          <a:graphicData uri="http://schemas.openxmlformats.org/drawingml/2006/table">
            <a:tbl>
              <a:tblPr/>
              <a:tblGrid>
                <a:gridCol w="752475"/>
                <a:gridCol w="2068829"/>
                <a:gridCol w="6198234"/>
              </a:tblGrid>
              <a:tr h="2122170">
                <a:tc rowSpan="3">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22885" algn="l" rtl="0" eaLnBrk="0">
                        <a:lnSpc>
                          <a:spcPct val="80000"/>
                        </a:lnSpc>
                      </a:pPr>
                      <a:r>
                        <a:rPr sz="13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27</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13995" algn="l" rtl="0" eaLnBrk="0">
                        <a:lnSpc>
                          <a:spcPct val="97000"/>
                        </a:lnSpc>
                        <a:spcBef>
                          <a:spcPts val="0"/>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二、与随机误差项</a:t>
                      </a:r>
                      <a:r>
                        <a:rPr sz="2400" b="1" kern="0" spc="-10" dirty="0">
                          <a:solidFill>
                            <a:srgbClr val="000000">
                              <a:alpha val="100000"/>
                            </a:srgbClr>
                          </a:solidFill>
                          <a:latin typeface="Perpetua" panose="02020502060401020303"/>
                          <a:ea typeface="Perpetua" panose="02020502060401020303"/>
                          <a:cs typeface="Perpetua" panose="02020502060401020303"/>
                        </a:rPr>
                        <a:t>e</a:t>
                      </a:r>
                      <a:r>
                        <a:rPr sz="2400" b="1"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对应的回</a:t>
                      </a:r>
                      <a:r>
                        <a:rPr sz="24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归假设</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19000"/>
                        </a:lnSpc>
                      </a:pPr>
                      <a:endParaRPr sz="400" dirty="0">
                        <a:latin typeface="Arial" panose="020B0604020202020204"/>
                        <a:ea typeface="Arial" panose="020B0604020202020204"/>
                        <a:cs typeface="Arial" panose="020B0604020202020204"/>
                      </a:endParaRPr>
                    </a:p>
                    <a:p>
                      <a:pPr marL="210185" algn="l" rtl="0" eaLnBrk="0">
                        <a:lnSpc>
                          <a:spcPct val="88000"/>
                        </a:lnSpc>
                        <a:spcBef>
                          <a:spcPts val="0"/>
                        </a:spcBef>
                      </a:pPr>
                      <a:r>
                        <a:rPr sz="16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随机误差项可定义为</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513839">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0185" algn="l" rtl="0" eaLnBrk="0">
                        <a:lnSpc>
                          <a:spcPct val="93000"/>
                        </a:lnSpc>
                      </a:pPr>
                      <a:r>
                        <a:rPr sz="15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5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800" kern="0" spc="-1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重写为：</a:t>
                      </a:r>
                      <a:endParaRPr sz="18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a:noFill/>
                    </a:lnR>
                    <a:lnT>
                      <a:noFill/>
                    </a:lnT>
                    <a:lnB>
                      <a:noFill/>
                    </a:lnB>
                  </a:tcPr>
                </a:tc>
                <a:tc>
                  <a:txBody>
                    <a:bodyPr/>
                    <a:lstStyle/>
                    <a:p>
                      <a:pPr algn="l" rtl="0" eaLnBrk="0">
                        <a:lnSpc>
                          <a:spcPct val="101000"/>
                        </a:lnSpc>
                      </a:pPr>
                      <a:endParaRPr sz="800" dirty="0">
                        <a:latin typeface="Arial" panose="020B0604020202020204"/>
                        <a:ea typeface="Arial" panose="020B0604020202020204"/>
                        <a:cs typeface="Arial" panose="020B0604020202020204"/>
                      </a:endParaRPr>
                    </a:p>
                    <a:p>
                      <a:pPr marL="372745" algn="l" rtl="0" eaLnBrk="0">
                        <a:lnSpc>
                          <a:spcPct val="80000"/>
                        </a:lnSpc>
                      </a:pP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e </a:t>
                      </a:r>
                      <a:r>
                        <a:rPr sz="2400" kern="0" spc="130" dirty="0">
                          <a:solidFill>
                            <a:srgbClr val="000000">
                              <a:alpha val="100000"/>
                            </a:srgbClr>
                          </a:solidFill>
                          <a:latin typeface="Arial" panose="020B0604020202020204"/>
                          <a:ea typeface="Arial" panose="020B0604020202020204"/>
                          <a:cs typeface="Arial" panose="020B0604020202020204"/>
                        </a:rPr>
                        <a:t>=</a:t>
                      </a:r>
                      <a:r>
                        <a:rPr sz="2400" kern="0" spc="-60" dirty="0">
                          <a:solidFill>
                            <a:srgbClr val="000000">
                              <a:alpha val="100000"/>
                            </a:srgbClr>
                          </a:solidFill>
                          <a:latin typeface="Arial" panose="020B0604020202020204"/>
                          <a:ea typeface="Arial" panose="020B0604020202020204"/>
                          <a:cs typeface="Arial" panose="020B0604020202020204"/>
                        </a:rPr>
                        <a:t> </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y</a:t>
                      </a:r>
                      <a:r>
                        <a:rPr sz="24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30" dirty="0">
                          <a:solidFill>
                            <a:srgbClr val="000000">
                              <a:alpha val="100000"/>
                            </a:srgbClr>
                          </a:solidFill>
                          <a:latin typeface="Arial" panose="020B0604020202020204"/>
                          <a:ea typeface="Arial" panose="020B0604020202020204"/>
                          <a:cs typeface="Arial" panose="020B0604020202020204"/>
                        </a:rPr>
                        <a:t>-</a:t>
                      </a:r>
                      <a:r>
                        <a:rPr sz="2400" kern="0" spc="-240" dirty="0">
                          <a:solidFill>
                            <a:srgbClr val="000000">
                              <a:alpha val="100000"/>
                            </a:srgbClr>
                          </a:solidFill>
                          <a:latin typeface="Arial" panose="020B0604020202020204"/>
                          <a:ea typeface="Arial" panose="020B0604020202020204"/>
                          <a:cs typeface="Arial" panose="020B0604020202020204"/>
                        </a:rPr>
                        <a:t> </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E</a:t>
                      </a:r>
                      <a:r>
                        <a:rPr sz="2400" i="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3100" kern="0" spc="130" dirty="0">
                          <a:solidFill>
                            <a:srgbClr val="000000">
                              <a:alpha val="100000"/>
                            </a:srgbClr>
                          </a:solidFill>
                          <a:latin typeface="Arial" panose="020B0604020202020204"/>
                          <a:ea typeface="Arial" panose="020B0604020202020204"/>
                          <a:cs typeface="Arial" panose="020B0604020202020204"/>
                        </a:rPr>
                        <a:t>(</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y </a:t>
                      </a:r>
                      <a:r>
                        <a:rPr sz="2400" kern="0" spc="13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x</a:t>
                      </a:r>
                      <a:r>
                        <a:rPr sz="3100" kern="0" spc="130" dirty="0">
                          <a:solidFill>
                            <a:srgbClr val="000000">
                              <a:alpha val="100000"/>
                            </a:srgbClr>
                          </a:solidFill>
                          <a:latin typeface="Arial" panose="020B0604020202020204"/>
                          <a:ea typeface="Arial" panose="020B0604020202020204"/>
                          <a:cs typeface="Arial" panose="020B0604020202020204"/>
                        </a:rPr>
                        <a:t>)</a:t>
                      </a:r>
                      <a:r>
                        <a:rPr sz="3100" kern="0" spc="-300" dirty="0">
                          <a:solidFill>
                            <a:srgbClr val="000000">
                              <a:alpha val="100000"/>
                            </a:srgbClr>
                          </a:solidFill>
                          <a:latin typeface="Arial" panose="020B0604020202020204"/>
                          <a:ea typeface="Arial" panose="020B0604020202020204"/>
                          <a:cs typeface="Arial" panose="020B0604020202020204"/>
                        </a:rPr>
                        <a:t> </a:t>
                      </a:r>
                      <a:r>
                        <a:rPr sz="2400" kern="0" spc="130" dirty="0">
                          <a:solidFill>
                            <a:srgbClr val="000000">
                              <a:alpha val="100000"/>
                            </a:srgbClr>
                          </a:solidFill>
                          <a:latin typeface="Arial" panose="020B0604020202020204"/>
                          <a:ea typeface="Arial" panose="020B0604020202020204"/>
                          <a:cs typeface="Arial" panose="020B0604020202020204"/>
                        </a:rPr>
                        <a:t>=</a:t>
                      </a:r>
                      <a:r>
                        <a:rPr sz="2400" kern="0" spc="-90" dirty="0">
                          <a:solidFill>
                            <a:srgbClr val="000000">
                              <a:alpha val="100000"/>
                            </a:srgbClr>
                          </a:solidFill>
                          <a:latin typeface="Arial" panose="020B0604020202020204"/>
                          <a:ea typeface="Arial" panose="020B0604020202020204"/>
                          <a:cs typeface="Arial" panose="020B0604020202020204"/>
                        </a:rPr>
                        <a:t> </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y</a:t>
                      </a:r>
                      <a:r>
                        <a:rPr sz="24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30" dirty="0">
                          <a:solidFill>
                            <a:srgbClr val="000000">
                              <a:alpha val="100000"/>
                            </a:srgbClr>
                          </a:solidFill>
                          <a:latin typeface="Arial" panose="020B0604020202020204"/>
                          <a:ea typeface="Arial" panose="020B0604020202020204"/>
                          <a:cs typeface="Arial" panose="020B0604020202020204"/>
                        </a:rPr>
                        <a:t>-</a:t>
                      </a:r>
                      <a:r>
                        <a:rPr sz="2400" kern="0" spc="13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13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30" dirty="0">
                          <a:solidFill>
                            <a:srgbClr val="000000">
                              <a:alpha val="100000"/>
                            </a:srgbClr>
                          </a:solidFill>
                          <a:latin typeface="Arial" panose="020B0604020202020204"/>
                          <a:ea typeface="Arial" panose="020B0604020202020204"/>
                          <a:cs typeface="Arial" panose="020B0604020202020204"/>
                        </a:rPr>
                        <a:t>-</a:t>
                      </a:r>
                      <a:r>
                        <a:rPr sz="2400" kern="0" spc="13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13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x</a:t>
                      </a:r>
                      <a:endParaRPr sz="2400" dirty="0">
                        <a:latin typeface="Times New Roman" panose="02020603050405020304"/>
                        <a:ea typeface="Times New Roman" panose="02020603050405020304"/>
                        <a:cs typeface="Times New Roman" panose="02020603050405020304"/>
                      </a:endParaRPr>
                    </a:p>
                    <a:p>
                      <a:pPr marL="405765" algn="l" rtl="0" eaLnBrk="0">
                        <a:lnSpc>
                          <a:spcPts val="6045"/>
                        </a:lnSpc>
                      </a:pPr>
                      <a:r>
                        <a:rPr sz="2600" i="1" kern="0" spc="520" dirty="0">
                          <a:solidFill>
                            <a:srgbClr val="000000">
                              <a:alpha val="100000"/>
                            </a:srgbClr>
                          </a:solidFill>
                          <a:latin typeface="Times New Roman" panose="02020603050405020304"/>
                          <a:ea typeface="Times New Roman" panose="02020603050405020304"/>
                          <a:cs typeface="Times New Roman" panose="02020603050405020304"/>
                        </a:rPr>
                        <a:t>y</a:t>
                      </a:r>
                      <a:r>
                        <a:rPr sz="2600" i="1" kern="0" spc="5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520" dirty="0">
                          <a:solidFill>
                            <a:srgbClr val="000000">
                              <a:alpha val="100000"/>
                            </a:srgbClr>
                          </a:solidFill>
                          <a:latin typeface="Arial" panose="020B0604020202020204"/>
                          <a:ea typeface="Arial" panose="020B0604020202020204"/>
                          <a:cs typeface="Arial" panose="020B0604020202020204"/>
                        </a:rPr>
                        <a:t>= </a:t>
                      </a:r>
                      <a:r>
                        <a:rPr sz="2600" kern="0" spc="520" dirty="0">
                          <a:solidFill>
                            <a:srgbClr val="000000">
                              <a:alpha val="100000"/>
                            </a:srgbClr>
                          </a:solidFill>
                          <a:latin typeface="Times New Roman" panose="02020603050405020304"/>
                          <a:ea typeface="Times New Roman" panose="02020603050405020304"/>
                          <a:cs typeface="Times New Roman" panose="02020603050405020304"/>
                        </a:rPr>
                        <a:t>β</a:t>
                      </a:r>
                      <a:r>
                        <a:rPr sz="2600" kern="0" spc="-45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520" baseline="-46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520" dirty="0">
                          <a:solidFill>
                            <a:srgbClr val="000000">
                              <a:alpha val="100000"/>
                            </a:srgbClr>
                          </a:solidFill>
                          <a:latin typeface="Arial" panose="020B0604020202020204"/>
                          <a:ea typeface="Arial" panose="020B0604020202020204"/>
                          <a:cs typeface="Arial" panose="020B0604020202020204"/>
                        </a:rPr>
                        <a:t>+</a:t>
                      </a:r>
                      <a:r>
                        <a:rPr sz="2600" kern="0" spc="70" dirty="0">
                          <a:solidFill>
                            <a:srgbClr val="000000">
                              <a:alpha val="100000"/>
                            </a:srgbClr>
                          </a:solidFill>
                          <a:latin typeface="Arial" panose="020B0604020202020204"/>
                          <a:ea typeface="Arial" panose="020B0604020202020204"/>
                          <a:cs typeface="Arial" panose="020B0604020202020204"/>
                        </a:rPr>
                        <a:t> </a:t>
                      </a:r>
                      <a:r>
                        <a:rPr sz="2600" kern="0" spc="52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520" baseline="-46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520" dirty="0">
                          <a:solidFill>
                            <a:srgbClr val="000000">
                              <a:alpha val="100000"/>
                            </a:srgbClr>
                          </a:solidFill>
                          <a:latin typeface="Times New Roman" panose="02020603050405020304"/>
                          <a:ea typeface="Times New Roman" panose="02020603050405020304"/>
                          <a:cs typeface="Times New Roman" panose="02020603050405020304"/>
                        </a:rPr>
                        <a:t>x</a:t>
                      </a:r>
                      <a:r>
                        <a:rPr sz="2600" i="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520" dirty="0">
                          <a:solidFill>
                            <a:srgbClr val="000000">
                              <a:alpha val="100000"/>
                            </a:srgbClr>
                          </a:solidFill>
                          <a:latin typeface="Arial" panose="020B0604020202020204"/>
                          <a:ea typeface="Arial" panose="020B0604020202020204"/>
                          <a:cs typeface="Arial" panose="020B0604020202020204"/>
                        </a:rPr>
                        <a:t>+</a:t>
                      </a:r>
                      <a:r>
                        <a:rPr sz="2600" kern="0" spc="90" dirty="0">
                          <a:solidFill>
                            <a:srgbClr val="000000">
                              <a:alpha val="100000"/>
                            </a:srgbClr>
                          </a:solidFill>
                          <a:latin typeface="Arial" panose="020B0604020202020204"/>
                          <a:ea typeface="Arial" panose="020B0604020202020204"/>
                          <a:cs typeface="Arial" panose="020B0604020202020204"/>
                        </a:rPr>
                        <a:t> </a:t>
                      </a:r>
                      <a:r>
                        <a:rPr sz="2600" i="1" kern="0" spc="520" dirty="0">
                          <a:solidFill>
                            <a:srgbClr val="000000">
                              <a:alpha val="100000"/>
                            </a:srgbClr>
                          </a:solidFill>
                          <a:latin typeface="Times New Roman" panose="02020603050405020304"/>
                          <a:ea typeface="Times New Roman" panose="02020603050405020304"/>
                          <a:cs typeface="Times New Roman" panose="02020603050405020304"/>
                        </a:rPr>
                        <a:t>e</a:t>
                      </a:r>
                      <a:endParaRPr sz="26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3063239">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rtl="0" eaLnBrk="0">
                        <a:lnSpc>
                          <a:spcPct val="161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0185" algn="l" rtl="0" eaLnBrk="0">
                        <a:lnSpc>
                          <a:spcPct val="94000"/>
                        </a:lnSpc>
                      </a:pPr>
                      <a:r>
                        <a:rPr sz="16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其中，</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是被解释变量，</a:t>
                      </a:r>
                      <a:r>
                        <a:rPr sz="1900" kern="0" spc="-1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是解释变量。</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210185" algn="l" rtl="0" eaLnBrk="0">
                        <a:lnSpc>
                          <a:spcPct val="94000"/>
                        </a:lnSpc>
                        <a:spcBef>
                          <a:spcPts val="580"/>
                        </a:spcBef>
                      </a:pPr>
                      <a:r>
                        <a:rPr sz="16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6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给定</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，随机误差项的条</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件期望值等于</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98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1920240" algn="l" rtl="0" eaLnBrk="0">
                        <a:lnSpc>
                          <a:spcPct val="100000"/>
                        </a:lnSpc>
                        <a:spcBef>
                          <a:spcPts val="0"/>
                        </a:spcBef>
                      </a:pPr>
                      <a:r>
                        <a:rPr sz="2400" i="1" kern="0" spc="21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21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2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10" dirty="0">
                          <a:solidFill>
                            <a:srgbClr val="000000">
                              <a:alpha val="100000"/>
                            </a:srgbClr>
                          </a:solidFill>
                          <a:latin typeface="Arial" panose="020B0604020202020204"/>
                          <a:ea typeface="Arial" panose="020B0604020202020204"/>
                          <a:cs typeface="Arial" panose="020B0604020202020204"/>
                        </a:rPr>
                        <a:t>=</a:t>
                      </a:r>
                      <a:r>
                        <a:rPr sz="2400" kern="0" spc="-30" dirty="0">
                          <a:solidFill>
                            <a:srgbClr val="000000">
                              <a:alpha val="100000"/>
                            </a:srgbClr>
                          </a:solidFill>
                          <a:latin typeface="Arial" panose="020B0604020202020204"/>
                          <a:ea typeface="Arial" panose="020B0604020202020204"/>
                          <a:cs typeface="Arial" panose="020B0604020202020204"/>
                        </a:rPr>
                        <a:t> </a:t>
                      </a:r>
                      <a:r>
                        <a:rPr sz="2400" i="1" kern="0" spc="21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210" dirty="0">
                          <a:solidFill>
                            <a:srgbClr val="000000">
                              <a:alpha val="100000"/>
                            </a:srgbClr>
                          </a:solidFill>
                          <a:latin typeface="Times New Roman" panose="02020603050405020304"/>
                          <a:ea typeface="Times New Roman" panose="02020603050405020304"/>
                          <a:cs typeface="Times New Roman" panose="02020603050405020304"/>
                        </a:rPr>
                        <a:t>y </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2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10" dirty="0">
                          <a:solidFill>
                            <a:srgbClr val="000000">
                              <a:alpha val="100000"/>
                            </a:srgbClr>
                          </a:solidFill>
                          <a:latin typeface="Arial" panose="020B0604020202020204"/>
                          <a:ea typeface="Arial" panose="020B0604020202020204"/>
                          <a:cs typeface="Arial" panose="020B0604020202020204"/>
                        </a:rPr>
                        <a:t>-</a:t>
                      </a:r>
                      <a:r>
                        <a:rPr sz="2400" kern="0" spc="21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10" baseline="-28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0" dirty="0">
                          <a:solidFill>
                            <a:srgbClr val="000000">
                              <a:alpha val="100000"/>
                            </a:srgbClr>
                          </a:solidFill>
                          <a:latin typeface="Arial" panose="020B0604020202020204"/>
                          <a:ea typeface="Arial" panose="020B0604020202020204"/>
                          <a:cs typeface="Arial" panose="020B0604020202020204"/>
                        </a:rPr>
                        <a:t>-</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0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200" dirty="0">
                          <a:solidFill>
                            <a:srgbClr val="000000">
                              <a:alpha val="100000"/>
                            </a:srgbClr>
                          </a:solidFill>
                          <a:latin typeface="Times New Roman" panose="02020603050405020304"/>
                          <a:ea typeface="Times New Roman" panose="02020603050405020304"/>
                          <a:cs typeface="Times New Roman" panose="02020603050405020304"/>
                        </a:rPr>
                        <a:t>x </a:t>
                      </a:r>
                      <a:r>
                        <a:rPr sz="2400" kern="0" spc="200" dirty="0">
                          <a:solidFill>
                            <a:srgbClr val="000000">
                              <a:alpha val="100000"/>
                            </a:srgbClr>
                          </a:solidFill>
                          <a:latin typeface="Arial" panose="020B0604020202020204"/>
                          <a:ea typeface="Arial" panose="020B0604020202020204"/>
                          <a:cs typeface="Arial" panose="020B0604020202020204"/>
                        </a:rPr>
                        <a:t>=</a:t>
                      </a:r>
                      <a:r>
                        <a:rPr sz="2400" kern="0" spc="0" dirty="0">
                          <a:solidFill>
                            <a:srgbClr val="000000">
                              <a:alpha val="100000"/>
                            </a:srgbClr>
                          </a:solidFill>
                          <a:latin typeface="Arial" panose="020B0604020202020204"/>
                          <a:ea typeface="Arial" panose="020B0604020202020204"/>
                          <a:cs typeface="Arial" panose="020B0604020202020204"/>
                        </a:rPr>
                        <a:t> </a:t>
                      </a:r>
                      <a:r>
                        <a:rPr sz="2400" kern="0" spc="200" dirty="0">
                          <a:solidFill>
                            <a:srgbClr val="000000">
                              <a:alpha val="100000"/>
                            </a:srgbClr>
                          </a:solidFill>
                          <a:latin typeface="Times New Roman" panose="02020603050405020304"/>
                          <a:ea typeface="Times New Roman" panose="02020603050405020304"/>
                          <a:cs typeface="Times New Roman" panose="02020603050405020304"/>
                        </a:rPr>
                        <a:t>0</a:t>
                      </a:r>
                      <a:endParaRPr sz="24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2" name="table 262"/>
          <p:cNvGraphicFramePr>
            <a:graphicFrameLocks noGrp="1"/>
          </p:cNvGraphicFramePr>
          <p:nvPr/>
        </p:nvGraphicFramePr>
        <p:xfrm>
          <a:off x="60832" y="66928"/>
          <a:ext cx="9019540" cy="6699250"/>
        </p:xfrm>
        <a:graphic>
          <a:graphicData uri="http://schemas.openxmlformats.org/drawingml/2006/table">
            <a:tbl>
              <a:tblPr/>
              <a:tblGrid>
                <a:gridCol w="978535"/>
                <a:gridCol w="8041005"/>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8440" algn="l" rtl="0" eaLnBrk="0">
                        <a:lnSpc>
                          <a:spcPct val="80000"/>
                        </a:lnSpc>
                      </a:pPr>
                      <a:r>
                        <a:rPr sz="1300" b="1" kern="0" spc="0" dirty="0">
                          <a:solidFill>
                            <a:srgbClr val="FFFFFF">
                              <a:alpha val="100000"/>
                            </a:srgbClr>
                          </a:solidFill>
                          <a:latin typeface="Franklin Gothic Book" panose="020B0503020102020204"/>
                          <a:ea typeface="Franklin Gothic Book" panose="020B0503020102020204"/>
                          <a:cs typeface="Franklin Gothic Book" panose="020B0503020102020204"/>
                        </a:rPr>
                        <a:t>28</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913380" algn="l" rtl="0" eaLnBrk="0">
                        <a:lnSpc>
                          <a:spcPct val="90000"/>
                        </a:lnSpc>
                        <a:spcBef>
                          <a:spcPts val="0"/>
                        </a:spcBef>
                      </a:pPr>
                      <a:r>
                        <a:rPr sz="2400"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和</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的关系</a:t>
                      </a:r>
                      <a:endParaRPr sz="24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64" name="picture 264"/>
          <p:cNvPicPr>
            <a:picLocks noChangeAspect="1"/>
          </p:cNvPicPr>
          <p:nvPr/>
        </p:nvPicPr>
        <p:blipFill>
          <a:blip r:embed="rId1"/>
          <a:stretch>
            <a:fillRect/>
          </a:stretch>
        </p:blipFill>
        <p:spPr>
          <a:xfrm rot="21600000">
            <a:off x="1475993" y="1341120"/>
            <a:ext cx="6565392"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8" name="table 268"/>
          <p:cNvGraphicFramePr>
            <a:graphicFrameLocks noGrp="1"/>
          </p:cNvGraphicFramePr>
          <p:nvPr/>
        </p:nvGraphicFramePr>
        <p:xfrm>
          <a:off x="60832" y="66928"/>
          <a:ext cx="9019540" cy="6699248"/>
        </p:xfrm>
        <a:graphic>
          <a:graphicData uri="http://schemas.openxmlformats.org/drawingml/2006/table">
            <a:tbl>
              <a:tblPr/>
              <a:tblGrid>
                <a:gridCol w="9019540"/>
              </a:tblGrid>
              <a:tr h="5734684">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marL="1517015" algn="l" rtl="0" eaLnBrk="0">
                        <a:lnSpc>
                          <a:spcPct val="90000"/>
                        </a:lnSpc>
                        <a:spcBef>
                          <a:spcPts val="5"/>
                        </a:spcBef>
                      </a:pPr>
                      <a:r>
                        <a:rPr sz="2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基于</a:t>
                      </a:r>
                      <a:r>
                        <a:rPr sz="2200" b="1" kern="0" spc="-20" dirty="0">
                          <a:solidFill>
                            <a:srgbClr val="000000">
                              <a:alpha val="100000"/>
                            </a:srgbClr>
                          </a:solidFill>
                          <a:latin typeface="Times New Roman" panose="02020603050405020304"/>
                          <a:ea typeface="Times New Roman" panose="02020603050405020304"/>
                          <a:cs typeface="Times New Roman" panose="02020603050405020304"/>
                        </a:rPr>
                        <a:t>e</a:t>
                      </a:r>
                      <a:r>
                        <a:rPr sz="2200" b="1"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的回归假设</a:t>
                      </a:r>
                      <a:endParaRPr sz="2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42000"/>
                        </a:lnSpc>
                      </a:pPr>
                      <a:endParaRPr sz="1000" dirty="0">
                        <a:latin typeface="Arial" panose="020B0604020202020204"/>
                        <a:ea typeface="Arial" panose="020B0604020202020204"/>
                        <a:cs typeface="Arial" panose="020B0604020202020204"/>
                      </a:endParaRPr>
                    </a:p>
                    <a:p>
                      <a:pPr marL="1584960" algn="l" rtl="0" eaLnBrk="0">
                        <a:lnSpc>
                          <a:spcPct val="94000"/>
                        </a:lnSpc>
                        <a:spcBef>
                          <a:spcPts val="575"/>
                        </a:spcBef>
                      </a:pPr>
                      <a:r>
                        <a:rPr sz="1900" b="1" u="sng"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0" dirty="0">
                          <a:solidFill>
                            <a:srgbClr val="000000">
                              <a:alpha val="100000"/>
                            </a:srgbClr>
                          </a:solidFill>
                          <a:latin typeface="Times New Roman" panose="02020603050405020304"/>
                          <a:ea typeface="Times New Roman" panose="02020603050405020304"/>
                          <a:cs typeface="Times New Roman" panose="02020603050405020304"/>
                        </a:rPr>
                        <a:t>SR</a:t>
                      </a:r>
                      <a:r>
                        <a:rPr sz="1900" b="1" u="sng" kern="0" spc="70" dirty="0">
                          <a:solidFill>
                            <a:srgbClr val="000000">
                              <a:alpha val="100000"/>
                            </a:srgbClr>
                          </a:solidFill>
                          <a:latin typeface="Times New Roman" panose="02020603050405020304"/>
                          <a:ea typeface="Times New Roman" panose="02020603050405020304"/>
                          <a:cs typeface="Times New Roman" panose="02020603050405020304"/>
                        </a:rPr>
                        <a:t>1</a:t>
                      </a:r>
                      <a:r>
                        <a:rPr sz="1900" b="1"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837690" algn="l" rtl="0" eaLnBrk="0">
                        <a:lnSpc>
                          <a:spcPct val="100000"/>
                        </a:lnSpc>
                        <a:spcBef>
                          <a:spcPts val="1410"/>
                        </a:spcBef>
                      </a:pP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对于每个</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值，</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值为</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60" dirty="0">
                          <a:solidFill>
                            <a:srgbClr val="000000">
                              <a:alpha val="100000"/>
                            </a:srgbClr>
                          </a:solidFill>
                          <a:latin typeface="Times New Roman" panose="02020603050405020304"/>
                          <a:ea typeface="Times New Roman" panose="02020603050405020304"/>
                          <a:cs typeface="Times New Roman" panose="02020603050405020304"/>
                        </a:rPr>
                        <a:t>y </a:t>
                      </a:r>
                      <a:r>
                        <a:rPr sz="2500" kern="0" spc="60" dirty="0">
                          <a:solidFill>
                            <a:srgbClr val="000000">
                              <a:alpha val="100000"/>
                            </a:srgbClr>
                          </a:solidFill>
                          <a:latin typeface="Arial" panose="020B0604020202020204"/>
                          <a:ea typeface="Arial" panose="020B0604020202020204"/>
                          <a:cs typeface="Arial" panose="020B0604020202020204"/>
                        </a:rPr>
                        <a:t>= </a:t>
                      </a:r>
                      <a:r>
                        <a:rPr sz="2500" kern="0" spc="60" dirty="0">
                          <a:solidFill>
                            <a:srgbClr val="000000">
                              <a:alpha val="100000"/>
                            </a:srgbClr>
                          </a:solidFill>
                          <a:latin typeface="Times New Roman" panose="02020603050405020304"/>
                          <a:ea typeface="Times New Roman" panose="02020603050405020304"/>
                          <a:cs typeface="Times New Roman" panose="02020603050405020304"/>
                        </a:rPr>
                        <a:t>β</a:t>
                      </a:r>
                      <a:r>
                        <a:rPr sz="2500" kern="0" spc="-48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60" baseline="-28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31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60" dirty="0">
                          <a:solidFill>
                            <a:srgbClr val="000000">
                              <a:alpha val="100000"/>
                            </a:srgbClr>
                          </a:solidFill>
                          <a:latin typeface="Arial" panose="020B0604020202020204"/>
                          <a:ea typeface="Arial" panose="020B0604020202020204"/>
                          <a:cs typeface="Arial" panose="020B0604020202020204"/>
                        </a:rPr>
                        <a:t>+</a:t>
                      </a:r>
                      <a:r>
                        <a:rPr sz="2500" kern="0" spc="-170" dirty="0">
                          <a:solidFill>
                            <a:srgbClr val="000000">
                              <a:alpha val="100000"/>
                            </a:srgbClr>
                          </a:solidFill>
                          <a:latin typeface="Arial" panose="020B0604020202020204"/>
                          <a:ea typeface="Arial" panose="020B0604020202020204"/>
                          <a:cs typeface="Arial" panose="020B0604020202020204"/>
                        </a:rPr>
                        <a:t> </a:t>
                      </a:r>
                      <a:r>
                        <a:rPr sz="2500" kern="0" spc="6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6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5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60" dirty="0">
                          <a:solidFill>
                            <a:srgbClr val="000000">
                              <a:alpha val="100000"/>
                            </a:srgbClr>
                          </a:solidFill>
                          <a:latin typeface="Arial" panose="020B0604020202020204"/>
                          <a:ea typeface="Arial" panose="020B0604020202020204"/>
                          <a:cs typeface="Arial" panose="020B0604020202020204"/>
                        </a:rPr>
                        <a:t>+</a:t>
                      </a:r>
                      <a:r>
                        <a:rPr sz="2500" kern="0" spc="-140" dirty="0">
                          <a:solidFill>
                            <a:srgbClr val="000000">
                              <a:alpha val="100000"/>
                            </a:srgbClr>
                          </a:solidFill>
                          <a:latin typeface="Arial" panose="020B0604020202020204"/>
                          <a:ea typeface="Arial" panose="020B0604020202020204"/>
                          <a:cs typeface="Arial" panose="020B0604020202020204"/>
                        </a:rPr>
                        <a:t> </a:t>
                      </a:r>
                      <a:r>
                        <a:rPr sz="2500" i="1" kern="0" spc="60" dirty="0">
                          <a:solidFill>
                            <a:srgbClr val="000000">
                              <a:alpha val="100000"/>
                            </a:srgbClr>
                          </a:solidFill>
                          <a:latin typeface="Times New Roman" panose="02020603050405020304"/>
                          <a:ea typeface="Times New Roman" panose="02020603050405020304"/>
                          <a:cs typeface="Times New Roman" panose="02020603050405020304"/>
                        </a:rPr>
                        <a:t>e</a:t>
                      </a:r>
                      <a:endParaRPr sz="2500" dirty="0">
                        <a:latin typeface="Times New Roman" panose="02020603050405020304"/>
                        <a:ea typeface="Times New Roman" panose="02020603050405020304"/>
                        <a:cs typeface="Times New Roman" panose="02020603050405020304"/>
                      </a:endParaRPr>
                    </a:p>
                    <a:p>
                      <a:pPr marL="1584960" algn="l" rtl="0" eaLnBrk="0">
                        <a:lnSpc>
                          <a:spcPct val="94000"/>
                        </a:lnSpc>
                        <a:spcBef>
                          <a:spcPts val="875"/>
                        </a:spcBef>
                      </a:pPr>
                      <a:r>
                        <a:rPr sz="1900" b="1" u="sng"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0" dirty="0">
                          <a:solidFill>
                            <a:srgbClr val="000000">
                              <a:alpha val="100000"/>
                            </a:srgbClr>
                          </a:solidFill>
                          <a:latin typeface="Times New Roman" panose="02020603050405020304"/>
                          <a:ea typeface="Times New Roman" panose="02020603050405020304"/>
                          <a:cs typeface="Times New Roman" panose="02020603050405020304"/>
                        </a:rPr>
                        <a:t>SR</a:t>
                      </a:r>
                      <a:r>
                        <a:rPr sz="1900" b="1" u="sng" kern="0" spc="70" dirty="0">
                          <a:solidFill>
                            <a:srgbClr val="000000">
                              <a:alpha val="100000"/>
                            </a:srgbClr>
                          </a:solidFill>
                          <a:latin typeface="Times New Roman" panose="02020603050405020304"/>
                          <a:ea typeface="Times New Roman" panose="02020603050405020304"/>
                          <a:cs typeface="Times New Roman" panose="02020603050405020304"/>
                        </a:rPr>
                        <a:t>2</a:t>
                      </a:r>
                      <a:r>
                        <a:rPr sz="1900" b="1"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852930" algn="l" rtl="0" eaLnBrk="0">
                        <a:lnSpc>
                          <a:spcPct val="99000"/>
                        </a:lnSpc>
                        <a:spcBef>
                          <a:spcPts val="1440"/>
                        </a:spcBef>
                      </a:pPr>
                      <a:r>
                        <a:rPr sz="1900" kern="0" spc="1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随机误差项</a:t>
                      </a:r>
                      <a:r>
                        <a:rPr sz="1900" kern="0" spc="130" dirty="0">
                          <a:solidFill>
                            <a:srgbClr val="000000">
                              <a:alpha val="100000"/>
                            </a:srgbClr>
                          </a:solidFill>
                          <a:latin typeface="Times New Roman" panose="02020603050405020304"/>
                          <a:ea typeface="Times New Roman" panose="02020603050405020304"/>
                          <a:cs typeface="Times New Roman" panose="02020603050405020304"/>
                        </a:rPr>
                        <a:t>e</a:t>
                      </a:r>
                      <a:r>
                        <a:rPr sz="1900" kern="0" spc="1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的期望值为</a:t>
                      </a:r>
                      <a:r>
                        <a:rPr sz="1900" kern="0" spc="-4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1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13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13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20" dirty="0">
                          <a:solidFill>
                            <a:srgbClr val="000000">
                              <a:alpha val="100000"/>
                            </a:srgbClr>
                          </a:solidFill>
                          <a:latin typeface="Arial" panose="020B0604020202020204"/>
                          <a:ea typeface="Arial" panose="020B0604020202020204"/>
                          <a:cs typeface="Arial" panose="020B0604020202020204"/>
                        </a:rPr>
                        <a:t>= </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0</a:t>
                      </a:r>
                      <a:endParaRPr sz="2400" dirty="0">
                        <a:latin typeface="Times New Roman" panose="02020603050405020304"/>
                        <a:ea typeface="Times New Roman" panose="02020603050405020304"/>
                        <a:cs typeface="Times New Roman" panose="02020603050405020304"/>
                      </a:endParaRPr>
                    </a:p>
                    <a:p>
                      <a:pPr marL="1839595" algn="l" rtl="0" eaLnBrk="0">
                        <a:lnSpc>
                          <a:spcPts val="2605"/>
                        </a:lnSpc>
                        <a:spcBef>
                          <a:spcPts val="1440"/>
                        </a:spcBef>
                      </a:pP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这等价于假定：</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y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Arial" panose="020B0604020202020204"/>
                          <a:ea typeface="Arial" panose="020B0604020202020204"/>
                          <a:cs typeface="Arial" panose="020B0604020202020204"/>
                        </a:rPr>
                        <a:t>=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4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80" baseline="-17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Arial" panose="020B0604020202020204"/>
                          <a:ea typeface="Arial" panose="020B0604020202020204"/>
                          <a:cs typeface="Arial" panose="020B0604020202020204"/>
                        </a:rPr>
                        <a:t>+</a:t>
                      </a:r>
                      <a:r>
                        <a:rPr sz="2100" kern="0" spc="-130" dirty="0">
                          <a:solidFill>
                            <a:srgbClr val="000000">
                              <a:alpha val="100000"/>
                            </a:srgbClr>
                          </a:solidFill>
                          <a:latin typeface="Arial" panose="020B0604020202020204"/>
                          <a:ea typeface="Arial" panose="020B0604020202020204"/>
                          <a:cs typeface="Arial" panose="020B0604020202020204"/>
                        </a:rPr>
                        <a:t>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70" baseline="-1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x</a:t>
                      </a:r>
                      <a:endParaRPr sz="2100" dirty="0">
                        <a:latin typeface="Times New Roman" panose="02020603050405020304"/>
                        <a:ea typeface="Times New Roman" panose="02020603050405020304"/>
                        <a:cs typeface="Times New Roman" panose="02020603050405020304"/>
                      </a:endParaRPr>
                    </a:p>
                    <a:p>
                      <a:pPr marL="1584960" algn="l" rtl="0" eaLnBrk="0">
                        <a:lnSpc>
                          <a:spcPct val="94000"/>
                        </a:lnSpc>
                        <a:spcBef>
                          <a:spcPts val="1565"/>
                        </a:spcBef>
                      </a:pPr>
                      <a:r>
                        <a:rPr sz="1900" b="1" u="sng"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0" dirty="0">
                          <a:solidFill>
                            <a:srgbClr val="000000">
                              <a:alpha val="100000"/>
                            </a:srgbClr>
                          </a:solidFill>
                          <a:latin typeface="Times New Roman" panose="02020603050405020304"/>
                          <a:ea typeface="Times New Roman" panose="02020603050405020304"/>
                          <a:cs typeface="Times New Roman" panose="02020603050405020304"/>
                        </a:rPr>
                        <a:t>SR</a:t>
                      </a:r>
                      <a:r>
                        <a:rPr sz="1900" b="1" u="sng" kern="0" spc="70" dirty="0">
                          <a:solidFill>
                            <a:srgbClr val="000000">
                              <a:alpha val="100000"/>
                            </a:srgbClr>
                          </a:solidFill>
                          <a:latin typeface="Times New Roman" panose="02020603050405020304"/>
                          <a:ea typeface="Times New Roman" panose="02020603050405020304"/>
                          <a:cs typeface="Times New Roman" panose="02020603050405020304"/>
                        </a:rPr>
                        <a:t>3</a:t>
                      </a:r>
                      <a:r>
                        <a:rPr sz="1900" b="1"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726565" algn="l" rtl="0" eaLnBrk="0">
                        <a:lnSpc>
                          <a:spcPct val="91000"/>
                        </a:lnSpc>
                        <a:spcBef>
                          <a:spcPts val="1000"/>
                        </a:spcBef>
                      </a:pPr>
                      <a:r>
                        <a:rPr sz="20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随机误差项</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e</a:t>
                      </a:r>
                      <a:r>
                        <a:rPr sz="20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的方差是：</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var</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10" dirty="0">
                          <a:solidFill>
                            <a:srgbClr val="000000">
                              <a:alpha val="100000"/>
                            </a:srgbClr>
                          </a:solidFill>
                          <a:latin typeface="Times New Roman" panose="02020603050405020304"/>
                          <a:ea typeface="Times New Roman" panose="02020603050405020304"/>
                          <a:cs typeface="Times New Roman" panose="02020603050405020304"/>
                        </a:rPr>
                        <a:t>e</a:t>
                      </a:r>
                      <a:r>
                        <a:rPr sz="24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0" dirty="0">
                          <a:solidFill>
                            <a:srgbClr val="000000">
                              <a:alpha val="100000"/>
                            </a:srgbClr>
                          </a:solidFill>
                          <a:latin typeface="Arial" panose="020B0604020202020204"/>
                          <a:ea typeface="Arial" panose="020B0604020202020204"/>
                          <a:cs typeface="Arial" panose="020B0604020202020204"/>
                        </a:rPr>
                        <a:t>= </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σ</a:t>
                      </a:r>
                      <a:r>
                        <a:rPr sz="2400" kern="0" spc="-4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100" baseline="52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0" dirty="0">
                          <a:solidFill>
                            <a:srgbClr val="000000">
                              <a:alpha val="100000"/>
                            </a:srgbClr>
                          </a:solidFill>
                          <a:latin typeface="Arial" panose="020B0604020202020204"/>
                          <a:ea typeface="Arial" panose="020B0604020202020204"/>
                          <a:cs typeface="Arial" panose="020B0604020202020204"/>
                        </a:rPr>
                        <a:t>= </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var</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y </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0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a:p>
                      <a:pPr marL="1711960" indent="9525" algn="l" rtl="0" eaLnBrk="0">
                        <a:lnSpc>
                          <a:spcPct val="177000"/>
                        </a:lnSpc>
                        <a:spcBef>
                          <a:spcPts val="5"/>
                        </a:spcBef>
                      </a:pP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随机变量</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和</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e</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具有相同的方差，</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因为它们的差异仅在于</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是否包含一个常数项。</a:t>
                      </a:r>
                      <a:endParaRPr sz="19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64564">
                <a:tc>
                  <a:txBody>
                    <a:bodyPr/>
                    <a:lstStyle/>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8440" algn="l" rtl="0" eaLnBrk="0">
                        <a:lnSpc>
                          <a:spcPct val="80000"/>
                        </a:lnSpc>
                      </a:pPr>
                      <a:r>
                        <a:rPr sz="1300" b="1" kern="0" spc="0" dirty="0">
                          <a:solidFill>
                            <a:srgbClr val="FFFFFF">
                              <a:alpha val="100000"/>
                            </a:srgbClr>
                          </a:solidFill>
                          <a:latin typeface="Franklin Gothic Book" panose="020B0503020102020204"/>
                          <a:ea typeface="Franklin Gothic Book" panose="020B0503020102020204"/>
                          <a:cs typeface="Franklin Gothic Book" panose="020B0503020102020204"/>
                        </a:rPr>
                        <a:t>29</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2" name="table 272"/>
          <p:cNvGraphicFramePr>
            <a:graphicFrameLocks noGrp="1"/>
          </p:cNvGraphicFramePr>
          <p:nvPr/>
        </p:nvGraphicFramePr>
        <p:xfrm>
          <a:off x="60832" y="66928"/>
          <a:ext cx="9019539" cy="6699250"/>
        </p:xfrm>
        <a:graphic>
          <a:graphicData uri="http://schemas.openxmlformats.org/drawingml/2006/table">
            <a:tbl>
              <a:tblPr/>
              <a:tblGrid>
                <a:gridCol w="989330"/>
                <a:gridCol w="803020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3995"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30</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546100" algn="l" rtl="0" eaLnBrk="0">
                        <a:lnSpc>
                          <a:spcPct val="94000"/>
                        </a:lnSpc>
                      </a:pPr>
                      <a:r>
                        <a:rPr sz="1900" b="1" u="sng"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0" dirty="0">
                          <a:solidFill>
                            <a:srgbClr val="000000">
                              <a:alpha val="100000"/>
                            </a:srgbClr>
                          </a:solidFill>
                          <a:latin typeface="Times New Roman" panose="02020603050405020304"/>
                          <a:ea typeface="Times New Roman" panose="02020603050405020304"/>
                          <a:cs typeface="Times New Roman" panose="02020603050405020304"/>
                        </a:rPr>
                        <a:t>SR</a:t>
                      </a:r>
                      <a:r>
                        <a:rPr sz="1900" b="1" u="sng" kern="0" spc="30" dirty="0">
                          <a:solidFill>
                            <a:srgbClr val="000000">
                              <a:alpha val="100000"/>
                            </a:srgbClr>
                          </a:solidFill>
                          <a:latin typeface="Times New Roman" panose="02020603050405020304"/>
                          <a:ea typeface="Times New Roman" panose="02020603050405020304"/>
                          <a:cs typeface="Times New Roman" panose="02020603050405020304"/>
                        </a:rPr>
                        <a:t>4</a:t>
                      </a:r>
                      <a:r>
                        <a:rPr sz="1900" b="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1053465" algn="l" rtl="0" eaLnBrk="0">
                        <a:lnSpc>
                          <a:spcPts val="2495"/>
                        </a:lnSpc>
                        <a:spcBef>
                          <a:spcPts val="1450"/>
                        </a:spcBef>
                      </a:pP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任何一对随机误差项</a:t>
                      </a:r>
                      <a:r>
                        <a:rPr sz="19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0" baseline="-6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和</a:t>
                      </a:r>
                      <a:r>
                        <a:rPr sz="1900" kern="0" spc="-3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0" baseline="-6000" dirty="0">
                          <a:solidFill>
                            <a:srgbClr val="000000">
                              <a:alpha val="100000"/>
                            </a:srgbClr>
                          </a:solidFill>
                          <a:latin typeface="Times New Roman" panose="02020603050405020304"/>
                          <a:ea typeface="Times New Roman" panose="02020603050405020304"/>
                          <a:cs typeface="Times New Roman" panose="02020603050405020304"/>
                        </a:rPr>
                        <a:t>j</a:t>
                      </a:r>
                      <a:r>
                        <a:rPr sz="13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的协方差为：</a:t>
                      </a:r>
                      <a:endParaRPr sz="1900" dirty="0">
                        <a:latin typeface="宋体" panose="02010600030101010101" pitchFamily="2" charset="-122"/>
                        <a:ea typeface="宋体" panose="02010600030101010101" pitchFamily="2" charset="-122"/>
                        <a:cs typeface="宋体" panose="02010600030101010101" pitchFamily="2" charset="-122"/>
                      </a:endParaRPr>
                    </a:p>
                    <a:p>
                      <a:pPr marL="1648460" algn="l" rtl="0" eaLnBrk="0">
                        <a:lnSpc>
                          <a:spcPct val="100000"/>
                        </a:lnSpc>
                        <a:spcBef>
                          <a:spcPts val="1030"/>
                        </a:spcBef>
                      </a:pPr>
                      <a:r>
                        <a:rPr sz="2300" kern="0" spc="0" dirty="0">
                          <a:solidFill>
                            <a:srgbClr val="000000">
                              <a:alpha val="100000"/>
                            </a:srgbClr>
                          </a:solidFill>
                          <a:latin typeface="Times New Roman" panose="02020603050405020304"/>
                          <a:ea typeface="Times New Roman" panose="02020603050405020304"/>
                          <a:cs typeface="Times New Roman" panose="02020603050405020304"/>
                        </a:rPr>
                        <a:t>cov</a:t>
                      </a:r>
                      <a:r>
                        <a:rPr sz="23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3600" kern="0" spc="70" baseline="-1200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j</a:t>
                      </a:r>
                      <a:r>
                        <a:rPr sz="13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70" dirty="0">
                          <a:solidFill>
                            <a:srgbClr val="000000">
                              <a:alpha val="100000"/>
                            </a:srgbClr>
                          </a:solidFill>
                          <a:latin typeface="Arial" panose="020B0604020202020204"/>
                          <a:ea typeface="Arial" panose="020B0604020202020204"/>
                          <a:cs typeface="Arial" panose="020B0604020202020204"/>
                        </a:rPr>
                        <a:t>= </a:t>
                      </a:r>
                      <a:r>
                        <a:rPr sz="2300" kern="0" spc="0" dirty="0">
                          <a:solidFill>
                            <a:srgbClr val="000000">
                              <a:alpha val="100000"/>
                            </a:srgbClr>
                          </a:solidFill>
                          <a:latin typeface="Times New Roman" panose="02020603050405020304"/>
                          <a:ea typeface="Times New Roman" panose="02020603050405020304"/>
                          <a:cs typeface="Times New Roman" panose="02020603050405020304"/>
                        </a:rPr>
                        <a:t>cov</a:t>
                      </a:r>
                      <a:r>
                        <a:rPr sz="23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3600" kern="0" spc="70" baseline="-1200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j</a:t>
                      </a:r>
                      <a:r>
                        <a:rPr sz="13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70" dirty="0">
                          <a:solidFill>
                            <a:srgbClr val="000000">
                              <a:alpha val="100000"/>
                            </a:srgbClr>
                          </a:solidFill>
                          <a:latin typeface="Arial" panose="020B0604020202020204"/>
                          <a:ea typeface="Arial" panose="020B0604020202020204"/>
                          <a:cs typeface="Arial" panose="020B0604020202020204"/>
                        </a:rPr>
                        <a:t>= </a:t>
                      </a:r>
                      <a:r>
                        <a:rPr sz="2300" kern="0" spc="70" dirty="0">
                          <a:solidFill>
                            <a:srgbClr val="000000">
                              <a:alpha val="100000"/>
                            </a:srgbClr>
                          </a:solidFill>
                          <a:latin typeface="Times New Roman" panose="02020603050405020304"/>
                          <a:ea typeface="Times New Roman" panose="02020603050405020304"/>
                          <a:cs typeface="Times New Roman" panose="02020603050405020304"/>
                        </a:rPr>
                        <a:t>0</a:t>
                      </a:r>
                      <a:endParaRPr sz="2300" dirty="0">
                        <a:latin typeface="Times New Roman" panose="02020603050405020304"/>
                        <a:ea typeface="Times New Roman" panose="02020603050405020304"/>
                        <a:cs typeface="Times New Roman" panose="02020603050405020304"/>
                      </a:endParaRPr>
                    </a:p>
                    <a:p>
                      <a:pPr marL="447040" indent="186690" algn="l" rtl="0" eaLnBrk="0">
                        <a:lnSpc>
                          <a:spcPct val="163000"/>
                        </a:lnSpc>
                        <a:spcBef>
                          <a:spcPts val="10"/>
                        </a:spcBef>
                      </a:pPr>
                      <a:r>
                        <a:rPr sz="20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这一假设的更强版本是，随机残</a:t>
                      </a:r>
                      <a:r>
                        <a:rPr sz="20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差项</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0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是统计独立的，此时，</a:t>
                      </a:r>
                      <a:r>
                        <a:rPr sz="20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的观测值也是统计独立的。</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3000"/>
                        </a:lnSpc>
                      </a:pPr>
                      <a:endParaRPr sz="1000" dirty="0">
                        <a:latin typeface="Arial" panose="020B0604020202020204"/>
                        <a:ea typeface="Arial" panose="020B0604020202020204"/>
                        <a:cs typeface="Arial" panose="020B0604020202020204"/>
                      </a:endParaRPr>
                    </a:p>
                    <a:p>
                      <a:pPr marL="545465" algn="l" rtl="0" eaLnBrk="0">
                        <a:lnSpc>
                          <a:spcPct val="94000"/>
                        </a:lnSpc>
                        <a:spcBef>
                          <a:spcPts val="575"/>
                        </a:spcBef>
                      </a:pPr>
                      <a:r>
                        <a:rPr sz="1900" b="1" u="sng"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0" dirty="0">
                          <a:solidFill>
                            <a:srgbClr val="000000">
                              <a:alpha val="100000"/>
                            </a:srgbClr>
                          </a:solidFill>
                          <a:latin typeface="Times New Roman" panose="02020603050405020304"/>
                          <a:ea typeface="Times New Roman" panose="02020603050405020304"/>
                          <a:cs typeface="Times New Roman" panose="02020603050405020304"/>
                        </a:rPr>
                        <a:t>SR</a:t>
                      </a:r>
                      <a:r>
                        <a:rPr sz="1900" b="1" u="sng" kern="0" spc="30" dirty="0">
                          <a:solidFill>
                            <a:srgbClr val="000000">
                              <a:alpha val="100000"/>
                            </a:srgbClr>
                          </a:solidFill>
                          <a:latin typeface="Times New Roman" panose="02020603050405020304"/>
                          <a:ea typeface="Times New Roman" panose="02020603050405020304"/>
                          <a:cs typeface="Times New Roman" panose="02020603050405020304"/>
                        </a:rPr>
                        <a:t>5</a:t>
                      </a:r>
                      <a:r>
                        <a:rPr sz="1900" b="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1900" b="1"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989330" algn="l" rtl="0" eaLnBrk="0">
                        <a:lnSpc>
                          <a:spcPct val="94000"/>
                        </a:lnSpc>
                        <a:spcBef>
                          <a:spcPts val="1455"/>
                        </a:spcBef>
                      </a:pP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变量</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是非随机的，且必须包括两个不同</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的取值。</a:t>
                      </a:r>
                      <a:endParaRPr sz="1900" dirty="0">
                        <a:latin typeface="宋体" panose="02010600030101010101" pitchFamily="2" charset="-122"/>
                        <a:ea typeface="宋体" panose="02010600030101010101" pitchFamily="2" charset="-122"/>
                        <a:cs typeface="宋体" panose="02010600030101010101" pitchFamily="2" charset="-122"/>
                      </a:endParaRPr>
                    </a:p>
                    <a:p>
                      <a:pPr marL="543560" algn="l" rtl="0" eaLnBrk="0">
                        <a:lnSpc>
                          <a:spcPct val="94000"/>
                        </a:lnSpc>
                        <a:spcBef>
                          <a:spcPts val="1630"/>
                        </a:spcBef>
                      </a:pPr>
                      <a:r>
                        <a:rPr sz="1900" b="1" u="sng"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假设</a:t>
                      </a:r>
                      <a:r>
                        <a:rPr sz="1900" u="sng" kern="0" spc="-3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u="sng" kern="0" spc="0" dirty="0">
                          <a:solidFill>
                            <a:srgbClr val="000000">
                              <a:alpha val="100000"/>
                            </a:srgbClr>
                          </a:solidFill>
                          <a:latin typeface="Times New Roman" panose="02020603050405020304"/>
                          <a:ea typeface="Times New Roman" panose="02020603050405020304"/>
                          <a:cs typeface="Times New Roman" panose="02020603050405020304"/>
                        </a:rPr>
                        <a:t>SR</a:t>
                      </a:r>
                      <a:r>
                        <a:rPr sz="1900" b="1" u="sng" kern="0" spc="50" dirty="0">
                          <a:solidFill>
                            <a:srgbClr val="000000">
                              <a:alpha val="100000"/>
                            </a:srgbClr>
                          </a:solidFill>
                          <a:latin typeface="Times New Roman" panose="02020603050405020304"/>
                          <a:ea typeface="Times New Roman" panose="02020603050405020304"/>
                          <a:cs typeface="Times New Roman" panose="02020603050405020304"/>
                        </a:rPr>
                        <a:t>6</a:t>
                      </a:r>
                      <a:r>
                        <a:rPr sz="1900" b="1" u="sng"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（可选）</a:t>
                      </a:r>
                      <a:r>
                        <a:rPr sz="1900" u="sng" kern="0" spc="-8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7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p>
                      <a:pPr marL="548640" indent="443230" algn="l" rtl="0" eaLnBrk="0">
                        <a:lnSpc>
                          <a:spcPct val="152000"/>
                        </a:lnSpc>
                        <a:spcBef>
                          <a:spcPts val="375"/>
                        </a:spcBef>
                      </a:pP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如果</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y</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的值服从正态分布，则</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e</a:t>
                      </a:r>
                      <a:r>
                        <a:rPr sz="19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的值在其均值附近也服</a:t>
                      </a:r>
                      <a:r>
                        <a:rPr sz="19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从</a:t>
                      </a:r>
                      <a:r>
                        <a:rPr sz="19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正态分布。反之亦然。</a:t>
                      </a:r>
                      <a:endParaRPr sz="19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3000"/>
                        </a:lnSpc>
                      </a:pPr>
                      <a:endParaRPr sz="9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552700" algn="l" rtl="0" eaLnBrk="0">
                        <a:lnSpc>
                          <a:spcPct val="97000"/>
                        </a:lnSpc>
                      </a:pPr>
                      <a:r>
                        <a:rPr sz="2500" i="1" kern="0" spc="40" dirty="0">
                          <a:solidFill>
                            <a:srgbClr val="000000">
                              <a:alpha val="100000"/>
                            </a:srgbClr>
                          </a:solidFill>
                          <a:latin typeface="Times New Roman" panose="02020603050405020304"/>
                          <a:ea typeface="Times New Roman" panose="02020603050405020304"/>
                          <a:cs typeface="Times New Roman" panose="02020603050405020304"/>
                        </a:rPr>
                        <a:t>e </a:t>
                      </a:r>
                      <a:r>
                        <a:rPr sz="25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2500" i="1" kern="0" spc="40" dirty="0">
                          <a:solidFill>
                            <a:srgbClr val="000000">
                              <a:alpha val="100000"/>
                            </a:srgbClr>
                          </a:solidFill>
                          <a:latin typeface="Times New Roman" panose="02020603050405020304"/>
                          <a:ea typeface="Times New Roman" panose="02020603050405020304"/>
                          <a:cs typeface="Times New Roman" panose="02020603050405020304"/>
                        </a:rPr>
                        <a:t>N</a:t>
                      </a:r>
                      <a:r>
                        <a:rPr sz="2500" kern="0" spc="40" dirty="0">
                          <a:solidFill>
                            <a:srgbClr val="000000">
                              <a:alpha val="100000"/>
                            </a:srgbClr>
                          </a:solidFill>
                          <a:latin typeface="Times New Roman" panose="02020603050405020304"/>
                          <a:ea typeface="Times New Roman" panose="02020603050405020304"/>
                          <a:cs typeface="Times New Roman" panose="02020603050405020304"/>
                        </a:rPr>
                        <a:t>(0,</a:t>
                      </a:r>
                      <a:r>
                        <a:rPr sz="25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40" dirty="0">
                          <a:solidFill>
                            <a:srgbClr val="000000">
                              <a:alpha val="100000"/>
                            </a:srgbClr>
                          </a:solidFill>
                          <a:latin typeface="Times New Roman" panose="02020603050405020304"/>
                          <a:ea typeface="Times New Roman" panose="02020603050405020304"/>
                          <a:cs typeface="Times New Roman" panose="02020603050405020304"/>
                        </a:rPr>
                        <a:t>σ</a:t>
                      </a:r>
                      <a:r>
                        <a:rPr sz="2200" kern="0" spc="40" baseline="50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25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 name="table 276"/>
          <p:cNvGraphicFramePr>
            <a:graphicFrameLocks noGrp="1"/>
          </p:cNvGraphicFramePr>
          <p:nvPr/>
        </p:nvGraphicFramePr>
        <p:xfrm>
          <a:off x="60832" y="66928"/>
          <a:ext cx="9019539" cy="6699250"/>
        </p:xfrm>
        <a:graphic>
          <a:graphicData uri="http://schemas.openxmlformats.org/drawingml/2006/table">
            <a:tbl>
              <a:tblPr/>
              <a:tblGrid>
                <a:gridCol w="906780"/>
                <a:gridCol w="81127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9075"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31</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31060" algn="l" rtl="0" eaLnBrk="0">
                        <a:lnSpc>
                          <a:spcPct val="90000"/>
                        </a:lnSpc>
                        <a:spcBef>
                          <a:spcPts val="0"/>
                        </a:spcBef>
                      </a:pP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y</a:t>
                      </a:r>
                      <a:r>
                        <a:rPr sz="2400" b="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400" b="1"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40" dirty="0">
                          <a:solidFill>
                            <a:srgbClr val="000000">
                              <a:alpha val="100000"/>
                            </a:srgbClr>
                          </a:solidFill>
                          <a:latin typeface="Times New Roman" panose="02020603050405020304"/>
                          <a:ea typeface="Times New Roman" panose="02020603050405020304"/>
                          <a:cs typeface="Times New Roman" panose="02020603050405020304"/>
                        </a:rPr>
                        <a:t>e</a:t>
                      </a:r>
                      <a:r>
                        <a:rPr sz="2400" b="1"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、回归线的关系</a:t>
                      </a:r>
                      <a:endParaRPr sz="24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78" name="picture 278"/>
          <p:cNvPicPr>
            <a:picLocks noChangeAspect="1"/>
          </p:cNvPicPr>
          <p:nvPr/>
        </p:nvPicPr>
        <p:blipFill>
          <a:blip r:embed="rId1"/>
          <a:stretch>
            <a:fillRect/>
          </a:stretch>
        </p:blipFill>
        <p:spPr>
          <a:xfrm rot="21600000">
            <a:off x="1331976" y="1412747"/>
            <a:ext cx="6565392" cy="4572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2" name="table 282"/>
          <p:cNvGraphicFramePr>
            <a:graphicFrameLocks noGrp="1"/>
          </p:cNvGraphicFramePr>
          <p:nvPr/>
        </p:nvGraphicFramePr>
        <p:xfrm>
          <a:off x="60832" y="66928"/>
          <a:ext cx="9019540" cy="6699249"/>
        </p:xfrm>
        <a:graphic>
          <a:graphicData uri="http://schemas.openxmlformats.org/drawingml/2006/table">
            <a:tbl>
              <a:tblPr/>
              <a:tblGrid>
                <a:gridCol w="735965"/>
                <a:gridCol w="3736975"/>
                <a:gridCol w="4546600"/>
              </a:tblGrid>
              <a:tr h="3074670">
                <a:tc gridSpan="3">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223135" algn="l" rtl="0" eaLnBrk="0">
                        <a:lnSpc>
                          <a:spcPct val="86000"/>
                        </a:lnSpc>
                      </a:pP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第四节</a:t>
                      </a:r>
                      <a:r>
                        <a:rPr sz="3600" kern="0" spc="-10" dirty="0">
                          <a:solidFill>
                            <a:srgbClr val="000000">
                              <a:alpha val="100000"/>
                            </a:srgbClr>
                          </a:solidFill>
                          <a:latin typeface="幼圆" panose="02010509060101010101" charset="-122"/>
                          <a:ea typeface="幼圆" panose="02010509060101010101" charset="-122"/>
                          <a:cs typeface="幼圆" panose="02010509060101010101" charset="-122"/>
                        </a:rPr>
                        <a:t>  </a:t>
                      </a: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估计回归参数</a:t>
                      </a:r>
                      <a:endParaRPr sz="3600" dirty="0">
                        <a:latin typeface="幼圆" panose="02010509060101010101" charset="-122"/>
                        <a:ea typeface="幼圆" panose="02010509060101010101" charset="-122"/>
                        <a:cs typeface="幼圆" panose="02010509060101010101" charset="-122"/>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445770" algn="l" rtl="0" eaLnBrk="0">
                        <a:lnSpc>
                          <a:spcPct val="87000"/>
                        </a:lnSpc>
                        <a:spcBef>
                          <a:spcPts val="67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比如说，两个变量X和Y在总体中可能存在以下关系：</a:t>
                      </a:r>
                      <a:endParaRPr sz="2200" dirty="0">
                        <a:latin typeface="宋体" panose="02010600030101010101" pitchFamily="2" charset="-122"/>
                        <a:ea typeface="宋体" panose="02010600030101010101" pitchFamily="2" charset="-122"/>
                        <a:cs typeface="宋体" panose="02010600030101010101" pitchFamily="2" charset="-122"/>
                      </a:endParaRPr>
                    </a:p>
                    <a:p>
                      <a:pPr marL="2271395" algn="l" rtl="0" eaLnBrk="0">
                        <a:lnSpc>
                          <a:spcPct val="98000"/>
                        </a:lnSpc>
                        <a:spcBef>
                          <a:spcPts val="1620"/>
                        </a:spcBef>
                      </a:pPr>
                      <a:r>
                        <a:rPr sz="4000" i="1" kern="0" spc="-10" baseline="4000" dirty="0">
                          <a:solidFill>
                            <a:srgbClr val="000000">
                              <a:alpha val="100000"/>
                            </a:srgbClr>
                          </a:solidFill>
                          <a:latin typeface="Times New Roman" panose="02020603050405020304"/>
                          <a:ea typeface="Times New Roman" panose="02020603050405020304"/>
                          <a:cs typeface="Times New Roman" panose="02020603050405020304"/>
                        </a:rPr>
                        <a:t>PRF</a:t>
                      </a:r>
                      <a:r>
                        <a:rPr sz="26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10" baseline="4000" dirty="0">
                          <a:solidFill>
                            <a:srgbClr val="000000">
                              <a:alpha val="100000"/>
                            </a:srgbClr>
                          </a:solidFill>
                          <a:latin typeface="Times New Roman" panose="02020603050405020304"/>
                          <a:ea typeface="Times New Roman" panose="02020603050405020304"/>
                          <a:cs typeface="Times New Roman" panose="02020603050405020304"/>
                        </a:rPr>
                        <a:t>:</a:t>
                      </a:r>
                      <a:r>
                        <a:rPr sz="26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10" baseline="4000" dirty="0">
                          <a:solidFill>
                            <a:srgbClr val="000000">
                              <a:alpha val="100000"/>
                            </a:srgbClr>
                          </a:solidFill>
                          <a:latin typeface="Times New Roman" panose="02020603050405020304"/>
                          <a:ea typeface="Times New Roman" panose="02020603050405020304"/>
                          <a:cs typeface="Times New Roman" panose="02020603050405020304"/>
                        </a:rPr>
                        <a:t>E</a:t>
                      </a:r>
                      <a:r>
                        <a:rPr sz="26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10" dirty="0">
                          <a:solidFill>
                            <a:srgbClr val="000000">
                              <a:alpha val="100000"/>
                            </a:srgbClr>
                          </a:solidFill>
                          <a:latin typeface="Arial" panose="020B0604020202020204"/>
                          <a:ea typeface="Arial" panose="020B0604020202020204"/>
                          <a:cs typeface="Arial" panose="020B0604020202020204"/>
                        </a:rPr>
                        <a:t>(</a:t>
                      </a:r>
                      <a:r>
                        <a:rPr sz="4000" i="1" kern="0" spc="-10" baseline="4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20" dirty="0">
                          <a:solidFill>
                            <a:srgbClr val="000000">
                              <a:alpha val="100000"/>
                            </a:srgbClr>
                          </a:solidFill>
                          <a:latin typeface="Arial" panose="020B0604020202020204"/>
                          <a:ea typeface="Arial" panose="020B0604020202020204"/>
                          <a:cs typeface="Arial" panose="020B0604020202020204"/>
                        </a:rPr>
                        <a:t>)</a:t>
                      </a:r>
                      <a:r>
                        <a:rPr sz="3800" kern="0" spc="-440" dirty="0">
                          <a:solidFill>
                            <a:srgbClr val="000000">
                              <a:alpha val="100000"/>
                            </a:srgbClr>
                          </a:solidFill>
                          <a:latin typeface="Arial" panose="020B0604020202020204"/>
                          <a:ea typeface="Arial" panose="020B0604020202020204"/>
                          <a:cs typeface="Arial" panose="020B0604020202020204"/>
                        </a:rPr>
                        <a:t> </a:t>
                      </a:r>
                      <a:r>
                        <a:rPr sz="4000" kern="0" spc="-20" baseline="4000" dirty="0">
                          <a:solidFill>
                            <a:srgbClr val="000000">
                              <a:alpha val="100000"/>
                            </a:srgbClr>
                          </a:solidFill>
                          <a:latin typeface="Arial" panose="020B0604020202020204"/>
                          <a:ea typeface="Arial" panose="020B0604020202020204"/>
                          <a:cs typeface="Arial" panose="020B0604020202020204"/>
                        </a:rPr>
                        <a:t>=</a:t>
                      </a:r>
                      <a:r>
                        <a:rPr sz="2600" kern="0" spc="-20" dirty="0">
                          <a:solidFill>
                            <a:srgbClr val="000000">
                              <a:alpha val="100000"/>
                            </a:srgbClr>
                          </a:solidFill>
                          <a:latin typeface="Arial" panose="020B0604020202020204"/>
                          <a:ea typeface="Arial" panose="020B0604020202020204"/>
                          <a:cs typeface="Arial" panose="020B0604020202020204"/>
                        </a:rPr>
                        <a:t> </a:t>
                      </a:r>
                      <a:r>
                        <a:rPr sz="4200" kern="0" spc="-20" baseline="4000" dirty="0">
                          <a:solidFill>
                            <a:srgbClr val="000000">
                              <a:alpha val="100000"/>
                            </a:srgbClr>
                          </a:solidFill>
                          <a:latin typeface="Arial" panose="020B0604020202020204"/>
                          <a:ea typeface="Arial" panose="020B0604020202020204"/>
                          <a:cs typeface="Arial" panose="020B0604020202020204"/>
                        </a:rPr>
                        <a:t>β</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20" baseline="4000" dirty="0">
                          <a:solidFill>
                            <a:srgbClr val="000000">
                              <a:alpha val="100000"/>
                            </a:srgbClr>
                          </a:solidFill>
                          <a:latin typeface="Arial" panose="020B0604020202020204"/>
                          <a:ea typeface="Arial" panose="020B0604020202020204"/>
                          <a:cs typeface="Arial" panose="020B0604020202020204"/>
                        </a:rPr>
                        <a:t>+</a:t>
                      </a:r>
                      <a:r>
                        <a:rPr sz="2600" kern="0" spc="-230" dirty="0">
                          <a:solidFill>
                            <a:srgbClr val="000000">
                              <a:alpha val="100000"/>
                            </a:srgbClr>
                          </a:solidFill>
                          <a:latin typeface="Arial" panose="020B0604020202020204"/>
                          <a:ea typeface="Arial" panose="020B0604020202020204"/>
                          <a:cs typeface="Arial" panose="020B0604020202020204"/>
                        </a:rPr>
                        <a:t> </a:t>
                      </a:r>
                      <a:r>
                        <a:rPr sz="4200" kern="0" spc="-20" baseline="4000" dirty="0">
                          <a:solidFill>
                            <a:srgbClr val="000000">
                              <a:alpha val="100000"/>
                            </a:srgbClr>
                          </a:solidFill>
                          <a:latin typeface="Arial" panose="020B0604020202020204"/>
                          <a:ea typeface="Arial" panose="020B0604020202020204"/>
                          <a:cs typeface="Arial" panose="020B0604020202020204"/>
                        </a:rPr>
                        <a:t>β</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2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20" baseline="-23000" dirty="0">
                          <a:solidFill>
                            <a:srgbClr val="000000">
                              <a:alpha val="100000"/>
                            </a:srgbClr>
                          </a:solidFill>
                          <a:latin typeface="Times New Roman" panose="02020603050405020304"/>
                          <a:ea typeface="Times New Roman" panose="02020603050405020304"/>
                          <a:cs typeface="Times New Roman" panose="02020603050405020304"/>
                        </a:rPr>
                        <a:t>i</a:t>
                      </a:r>
                      <a:endParaRPr sz="2300" baseline="-23000" dirty="0">
                        <a:latin typeface="Times New Roman" panose="02020603050405020304"/>
                        <a:ea typeface="Times New Roman" panose="02020603050405020304"/>
                        <a:cs typeface="Times New Roman" panose="02020603050405020304"/>
                      </a:endParaRPr>
                    </a:p>
                    <a:p>
                      <a:pPr algn="l" rtl="0" eaLnBrk="0">
                        <a:lnSpc>
                          <a:spcPct val="105000"/>
                        </a:lnSpc>
                      </a:pPr>
                      <a:endParaRPr sz="600" dirty="0">
                        <a:latin typeface="Arial" panose="020B0604020202020204"/>
                        <a:ea typeface="Arial" panose="020B0604020202020204"/>
                        <a:cs typeface="Arial" panose="020B0604020202020204"/>
                      </a:endParaRPr>
                    </a:p>
                    <a:p>
                      <a:pPr marL="445770" algn="l" rtl="0" eaLnBrk="0">
                        <a:lnSpc>
                          <a:spcPct val="87000"/>
                        </a:lnSpc>
                        <a:spcBef>
                          <a:spcPts val="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2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为检验这一关系是否成立，从总体中随机抽样得到两个样本：</a:t>
                      </a:r>
                      <a:endParaRPr sz="22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3624579">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3995" algn="l" rtl="0" eaLnBrk="0">
                        <a:lnSpc>
                          <a:spcPct val="80000"/>
                        </a:lnSpc>
                        <a:spcBef>
                          <a:spcPts val="5"/>
                        </a:spcBef>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32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284" name="path 284"/>
          <p:cNvSpPr/>
          <p:nvPr/>
        </p:nvSpPr>
        <p:spPr>
          <a:xfrm>
            <a:off x="4286265" y="2034640"/>
            <a:ext cx="16434" cy="411322"/>
          </a:xfrm>
          <a:custGeom>
            <a:avLst/>
            <a:gdLst/>
            <a:ahLst/>
            <a:cxnLst/>
            <a:rect l="0" t="0" r="0" b="0"/>
            <a:pathLst>
              <a:path w="25" h="647">
                <a:moveTo>
                  <a:pt x="12" y="12"/>
                </a:moveTo>
                <a:lnTo>
                  <a:pt x="12" y="634"/>
                </a:lnTo>
              </a:path>
            </a:pathLst>
          </a:custGeom>
          <a:noFill/>
          <a:ln w="16428" cap="sq">
            <a:solidFill>
              <a:srgbClr val="000000"/>
            </a:solidFill>
            <a:prstDash val="solid"/>
            <a:round/>
          </a:ln>
        </p:spPr>
        <p:txBody>
          <a:bodyPr rtlCol="0"/>
          <a:lstStyle/>
          <a:p>
            <a:pPr algn="ctr"/>
            <a:endParaRPr lang="zh-CN" altLang="en-US"/>
          </a:p>
        </p:txBody>
      </p:sp>
      <p:pic>
        <p:nvPicPr>
          <p:cNvPr id="286" name="picture 286"/>
          <p:cNvPicPr>
            <a:picLocks noChangeAspect="1"/>
          </p:cNvPicPr>
          <p:nvPr/>
        </p:nvPicPr>
        <p:blipFill>
          <a:blip r:embed="rId1"/>
          <a:stretch>
            <a:fillRect/>
          </a:stretch>
        </p:blipFill>
        <p:spPr>
          <a:xfrm rot="21600000">
            <a:off x="4572000" y="3374897"/>
            <a:ext cx="3581400" cy="3292602"/>
          </a:xfrm>
          <a:prstGeom prst="rect">
            <a:avLst/>
          </a:prstGeom>
        </p:spPr>
      </p:pic>
      <p:pic>
        <p:nvPicPr>
          <p:cNvPr id="288" name="picture 288"/>
          <p:cNvPicPr>
            <a:picLocks noChangeAspect="1"/>
          </p:cNvPicPr>
          <p:nvPr/>
        </p:nvPicPr>
        <p:blipFill>
          <a:blip r:embed="rId2"/>
          <a:stretch>
            <a:fillRect/>
          </a:stretch>
        </p:blipFill>
        <p:spPr>
          <a:xfrm rot="21600000">
            <a:off x="990600" y="3326129"/>
            <a:ext cx="3505200" cy="32971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textbox 294"/>
          <p:cNvSpPr/>
          <p:nvPr/>
        </p:nvSpPr>
        <p:spPr>
          <a:xfrm>
            <a:off x="51307" y="57403"/>
            <a:ext cx="9039225" cy="6718934"/>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25095" algn="l" rtl="0" eaLnBrk="0">
              <a:lnSpc>
                <a:spcPct val="80000"/>
              </a:lnSpc>
              <a:spcBef>
                <a:spcPts val="5"/>
              </a:spcBef>
            </a:pPr>
            <a:endParaRPr sz="1300" dirty="0">
              <a:latin typeface="Franklin Gothic Book" panose="020B0503020102020204"/>
              <a:ea typeface="Franklin Gothic Book" panose="020B0503020102020204"/>
              <a:cs typeface="Franklin Gothic Book" panose="020B0503020102020204"/>
            </a:endParaRPr>
          </a:p>
        </p:txBody>
      </p:sp>
      <p:pic>
        <p:nvPicPr>
          <p:cNvPr id="296" name="picture 296"/>
          <p:cNvPicPr>
            <a:picLocks noChangeAspect="1"/>
          </p:cNvPicPr>
          <p:nvPr/>
        </p:nvPicPr>
        <p:blipFill>
          <a:blip r:embed="rId1"/>
          <a:stretch>
            <a:fillRect/>
          </a:stretch>
        </p:blipFill>
        <p:spPr>
          <a:xfrm rot="21600000">
            <a:off x="467868" y="836676"/>
            <a:ext cx="7772400" cy="49354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8" name="table 298"/>
          <p:cNvGraphicFramePr>
            <a:graphicFrameLocks noGrp="1"/>
          </p:cNvGraphicFramePr>
          <p:nvPr/>
        </p:nvGraphicFramePr>
        <p:xfrm>
          <a:off x="60832" y="66928"/>
          <a:ext cx="9019538" cy="6704901"/>
        </p:xfrm>
        <a:graphic>
          <a:graphicData uri="http://schemas.openxmlformats.org/drawingml/2006/table">
            <a:tbl>
              <a:tblPr/>
              <a:tblGrid>
                <a:gridCol w="934720"/>
                <a:gridCol w="1504314"/>
                <a:gridCol w="2980054"/>
                <a:gridCol w="3600450"/>
              </a:tblGrid>
              <a:tr h="4316729">
                <a:tc gridSpan="4">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1387475" algn="l" rtl="0" eaLnBrk="0">
                        <a:lnSpc>
                          <a:spcPct val="83000"/>
                        </a:lnSpc>
                        <a:spcBef>
                          <a:spcPts val="0"/>
                        </a:spcBef>
                      </a:pPr>
                      <a:r>
                        <a:rPr sz="22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上图中的拟合线称之为：</a:t>
                      </a:r>
                      <a:r>
                        <a:rPr sz="22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样本回归线</a:t>
                      </a:r>
                      <a:r>
                        <a:rPr sz="22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。通过对样本点的拟</a:t>
                      </a:r>
                      <a:endParaRPr sz="2200" dirty="0">
                        <a:latin typeface="宋体" panose="02010600030101010101" pitchFamily="2" charset="-122"/>
                        <a:ea typeface="宋体" panose="02010600030101010101" pitchFamily="2" charset="-122"/>
                        <a:cs typeface="宋体" panose="02010600030101010101" pitchFamily="2" charset="-122"/>
                      </a:endParaRPr>
                    </a:p>
                    <a:p>
                      <a:pPr marL="941705" algn="l" rtl="0" eaLnBrk="0">
                        <a:lnSpc>
                          <a:spcPts val="3960"/>
                        </a:lnSpc>
                      </a:pPr>
                      <a:r>
                        <a:rPr sz="220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合（</a:t>
                      </a:r>
                      <a:r>
                        <a:rPr sz="2200" b="1" kern="0" spc="-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尽可能好地拟合样本的散点</a:t>
                      </a:r>
                      <a:r>
                        <a:rPr sz="22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）而得到。</a:t>
                      </a:r>
                      <a:endParaRPr sz="2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42000"/>
                        </a:lnSpc>
                      </a:pPr>
                      <a:endParaRPr sz="1000" dirty="0">
                        <a:latin typeface="Arial" panose="020B0604020202020204"/>
                        <a:ea typeface="Arial" panose="020B0604020202020204"/>
                        <a:cs typeface="Arial" panose="020B0604020202020204"/>
                      </a:endParaRPr>
                    </a:p>
                    <a:p>
                      <a:pPr marL="1384300" algn="l" rtl="0" eaLnBrk="0">
                        <a:lnSpc>
                          <a:spcPct val="83000"/>
                        </a:lnSpc>
                        <a:spcBef>
                          <a:spcPts val="665"/>
                        </a:spcBef>
                      </a:pPr>
                      <a:r>
                        <a:rPr sz="2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样本回归线至多不过是真实的总体回归线的</a:t>
                      </a:r>
                      <a:r>
                        <a:rPr sz="22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近似，一般认</a:t>
                      </a:r>
                      <a:endParaRPr sz="2200" dirty="0">
                        <a:latin typeface="宋体" panose="02010600030101010101" pitchFamily="2" charset="-122"/>
                        <a:ea typeface="宋体" panose="02010600030101010101" pitchFamily="2" charset="-122"/>
                        <a:cs typeface="宋体" panose="02010600030101010101" pitchFamily="2" charset="-122"/>
                      </a:endParaRPr>
                    </a:p>
                    <a:p>
                      <a:pPr marL="944880" indent="-635" algn="l" rtl="0" eaLnBrk="0">
                        <a:lnSpc>
                          <a:spcPct val="155000"/>
                        </a:lnSpc>
                        <a:spcBef>
                          <a:spcPts val="35"/>
                        </a:spcBef>
                      </a:pPr>
                      <a:r>
                        <a:rPr sz="2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为，从</a:t>
                      </a:r>
                      <a:r>
                        <a:rPr sz="2200" kern="0" spc="0" dirty="0">
                          <a:solidFill>
                            <a:srgbClr val="000000">
                              <a:alpha val="100000"/>
                            </a:srgbClr>
                          </a:solidFill>
                          <a:latin typeface="Perpetua" panose="02020502060401020303"/>
                          <a:ea typeface="Perpetua" panose="02020502060401020303"/>
                          <a:cs typeface="Perpetua" panose="02020502060401020303"/>
                        </a:rPr>
                        <a:t>N</a:t>
                      </a:r>
                      <a:r>
                        <a:rPr sz="2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个不同的样本会得到</a:t>
                      </a:r>
                      <a:r>
                        <a:rPr sz="2200" kern="0" spc="0" dirty="0">
                          <a:solidFill>
                            <a:srgbClr val="000000">
                              <a:alpha val="100000"/>
                            </a:srgbClr>
                          </a:solidFill>
                          <a:latin typeface="Perpetua" panose="02020502060401020303"/>
                          <a:ea typeface="Perpetua" panose="02020502060401020303"/>
                          <a:cs typeface="Perpetua" panose="02020502060401020303"/>
                        </a:rPr>
                        <a:t>N</a:t>
                      </a:r>
                      <a:r>
                        <a:rPr sz="2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个不</a:t>
                      </a:r>
                      <a:r>
                        <a:rPr sz="22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同的样本回归线，而且这</a:t>
                      </a:r>
                      <a:r>
                        <a:rPr sz="2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些样本回归线不大可能是一样的。</a:t>
                      </a:r>
                      <a:endParaRPr sz="2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15000"/>
                        </a:lnSpc>
                      </a:pPr>
                      <a:endParaRPr sz="1000" dirty="0">
                        <a:latin typeface="Arial" panose="020B0604020202020204"/>
                        <a:ea typeface="Arial" panose="020B0604020202020204"/>
                        <a:cs typeface="Arial" panose="020B0604020202020204"/>
                      </a:endParaRPr>
                    </a:p>
                    <a:p>
                      <a:pPr marL="1319530" algn="l" rtl="0" eaLnBrk="0">
                        <a:lnSpc>
                          <a:spcPct val="87000"/>
                        </a:lnSpc>
                        <a:spcBef>
                          <a:spcPts val="670"/>
                        </a:spcBef>
                      </a:pPr>
                      <a:r>
                        <a:rPr sz="2200" kern="0" spc="-1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将样本回归线表示如下：</a:t>
                      </a:r>
                      <a:endParaRPr sz="22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3000"/>
                        </a:lnSpc>
                      </a:pPr>
                      <a:endParaRPr sz="1300" dirty="0">
                        <a:latin typeface="Arial" panose="020B0604020202020204"/>
                        <a:ea typeface="Arial" panose="020B0604020202020204"/>
                        <a:cs typeface="Arial" panose="020B0604020202020204"/>
                      </a:endParaRPr>
                    </a:p>
                    <a:p>
                      <a:pPr algn="l" rtl="0" eaLnBrk="0">
                        <a:lnSpc>
                          <a:spcPct val="12000"/>
                        </a:lnSpc>
                      </a:pPr>
                      <a:endParaRPr sz="100" dirty="0">
                        <a:latin typeface="Arial" panose="020B0604020202020204"/>
                        <a:ea typeface="Arial" panose="020B0604020202020204"/>
                        <a:cs typeface="Arial" panose="020B0604020202020204"/>
                      </a:endParaRPr>
                    </a:p>
                    <a:p>
                      <a:pPr marL="3420110" algn="l" rtl="0" eaLnBrk="0">
                        <a:lnSpc>
                          <a:spcPct val="100000"/>
                        </a:lnSpc>
                      </a:pPr>
                      <a:r>
                        <a:rPr sz="2700" i="1" kern="0" spc="0" dirty="0">
                          <a:solidFill>
                            <a:srgbClr val="000000">
                              <a:alpha val="100000"/>
                            </a:srgbClr>
                          </a:solidFill>
                          <a:latin typeface="Times New Roman" panose="02020603050405020304"/>
                          <a:ea typeface="Times New Roman" panose="02020603050405020304"/>
                          <a:cs typeface="Times New Roman" panose="02020603050405020304"/>
                        </a:rPr>
                        <a:t>SRF</a:t>
                      </a:r>
                      <a:r>
                        <a:rPr sz="27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70" dirty="0">
                          <a:solidFill>
                            <a:srgbClr val="000000">
                              <a:alpha val="100000"/>
                            </a:srgbClr>
                          </a:solidFill>
                          <a:latin typeface="Times New Roman" panose="02020603050405020304"/>
                          <a:ea typeface="Times New Roman" panose="02020603050405020304"/>
                          <a:cs typeface="Times New Roman" panose="02020603050405020304"/>
                        </a:rPr>
                        <a:t>:</a:t>
                      </a:r>
                      <a:r>
                        <a:rPr sz="27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400" i="1" kern="0" spc="0" baseline="-33000" dirty="0">
                          <a:solidFill>
                            <a:srgbClr val="000000">
                              <a:alpha val="100000"/>
                            </a:srgbClr>
                          </a:solidFill>
                          <a:latin typeface="Times New Roman" panose="02020603050405020304"/>
                          <a:ea typeface="Times New Roman" panose="02020603050405020304"/>
                          <a:cs typeface="Times New Roman" panose="02020603050405020304"/>
                        </a:rPr>
                        <a:t>i</a:t>
                      </a:r>
                      <a:r>
                        <a:rPr sz="15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70" dirty="0">
                          <a:solidFill>
                            <a:srgbClr val="000000">
                              <a:alpha val="100000"/>
                            </a:srgbClr>
                          </a:solidFill>
                          <a:latin typeface="Times New Roman" panose="02020603050405020304"/>
                          <a:ea typeface="Times New Roman" panose="02020603050405020304"/>
                          <a:cs typeface="Times New Roman" panose="02020603050405020304"/>
                        </a:rPr>
                        <a:t>=</a:t>
                      </a:r>
                      <a:r>
                        <a:rPr sz="27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70" dirty="0">
                          <a:solidFill>
                            <a:srgbClr val="000000">
                              <a:alpha val="100000"/>
                            </a:srgbClr>
                          </a:solidFill>
                          <a:latin typeface="Times New Roman" panose="02020603050405020304"/>
                          <a:ea typeface="Times New Roman" panose="02020603050405020304"/>
                          <a:cs typeface="Times New Roman" panose="02020603050405020304"/>
                        </a:rPr>
                        <a:t>+</a:t>
                      </a:r>
                      <a:r>
                        <a:rPr sz="27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400" i="1" kern="0" spc="0" baseline="-33000" dirty="0">
                          <a:solidFill>
                            <a:srgbClr val="000000">
                              <a:alpha val="100000"/>
                            </a:srgbClr>
                          </a:solidFill>
                          <a:latin typeface="Times New Roman" panose="02020603050405020304"/>
                          <a:ea typeface="Times New Roman" panose="02020603050405020304"/>
                          <a:cs typeface="Times New Roman" panose="02020603050405020304"/>
                        </a:rPr>
                        <a:t>i</a:t>
                      </a:r>
                      <a:endParaRPr sz="2400" baseline="-33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619125">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3995" algn="l" rtl="0" eaLnBrk="0">
                        <a:lnSpc>
                          <a:spcPct val="80000"/>
                        </a:lnSpc>
                        <a:spcBef>
                          <a:spcPts val="0"/>
                        </a:spcBef>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34</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9000"/>
                        </a:lnSpc>
                      </a:pPr>
                      <a:endParaRPr sz="700" dirty="0">
                        <a:latin typeface="Arial" panose="020B0604020202020204"/>
                        <a:ea typeface="Arial" panose="020B0604020202020204"/>
                        <a:cs typeface="Arial" panose="020B0604020202020204"/>
                      </a:endParaRPr>
                    </a:p>
                    <a:p>
                      <a:pPr marL="572135" algn="l" rtl="0" eaLnBrk="0">
                        <a:lnSpc>
                          <a:spcPct val="91000"/>
                        </a:lnSpc>
                        <a:spcBef>
                          <a:spcPts val="5"/>
                        </a:spcBef>
                        <a:tabLst>
                          <a:tab pos="676275" algn="l"/>
                        </a:tabLst>
                      </a:pPr>
                      <a:r>
                        <a:rPr sz="2400" kern="0" spc="0" dirty="0">
                          <a:solidFill>
                            <a:srgbClr val="000000">
                              <a:alpha val="100000"/>
                            </a:srgbClr>
                          </a:solidFill>
                          <a:latin typeface="Arial" panose="020B0604020202020204"/>
                          <a:ea typeface="Arial" panose="020B0604020202020204"/>
                          <a:cs typeface="Arial" panose="020B0604020202020204"/>
                        </a:rPr>
                        <a:t>	</a:t>
                      </a:r>
                      <a:r>
                        <a:rPr sz="2400" kern="0" spc="-60" dirty="0">
                          <a:solidFill>
                            <a:srgbClr val="000000">
                              <a:alpha val="100000"/>
                            </a:srgbClr>
                          </a:solidFill>
                          <a:latin typeface="Arial" panose="020B0604020202020204"/>
                          <a:ea typeface="Arial" panose="020B0604020202020204"/>
                          <a:cs typeface="Arial" panose="020B0604020202020204"/>
                        </a:rPr>
                        <a:t>=</a:t>
                      </a:r>
                      <a:r>
                        <a:rPr sz="2400" kern="0" spc="-80" dirty="0">
                          <a:solidFill>
                            <a:srgbClr val="000000">
                              <a:alpha val="100000"/>
                            </a:srgbClr>
                          </a:solidFill>
                          <a:latin typeface="Arial" panose="020B0604020202020204"/>
                          <a:ea typeface="Arial" panose="020B0604020202020204"/>
                          <a:cs typeface="Arial" panose="020B0604020202020204"/>
                        </a:rPr>
                        <a:t> </a:t>
                      </a:r>
                      <a:r>
                        <a:rPr sz="2400" i="1" kern="0" spc="-50" dirty="0">
                          <a:solidFill>
                            <a:srgbClr val="000000">
                              <a:alpha val="100000"/>
                            </a:srgbClr>
                          </a:solidFill>
                          <a:latin typeface="Times New Roman" panose="02020603050405020304"/>
                          <a:ea typeface="Times New Roman" panose="02020603050405020304"/>
                          <a:cs typeface="Times New Roman" panose="02020603050405020304"/>
                        </a:rPr>
                        <a:t>E</a:t>
                      </a:r>
                      <a:r>
                        <a:rPr sz="2400" i="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5500" kern="0" spc="-50" baseline="-4000" dirty="0">
                          <a:solidFill>
                            <a:srgbClr val="000000">
                              <a:alpha val="100000"/>
                            </a:srgbClr>
                          </a:solidFill>
                          <a:latin typeface="Arial" panose="020B0604020202020204"/>
                          <a:ea typeface="Arial" panose="020B0604020202020204"/>
                          <a:cs typeface="Arial" panose="020B0604020202020204"/>
                        </a:rPr>
                        <a:t>(</a:t>
                      </a:r>
                      <a:r>
                        <a:rPr sz="2400" i="1" kern="0" spc="40" dirty="0">
                          <a:solidFill>
                            <a:srgbClr val="000000">
                              <a:alpha val="100000"/>
                            </a:srgbClr>
                          </a:solidFill>
                          <a:latin typeface="Times New Roman" panose="02020603050405020304"/>
                          <a:ea typeface="Times New Roman" panose="02020603050405020304"/>
                          <a:cs typeface="Times New Roman" panose="02020603050405020304"/>
                        </a:rPr>
                        <a:t>Y</a:t>
                      </a:r>
                      <a:endParaRPr sz="24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1000"/>
                        </a:lnSpc>
                      </a:pPr>
                      <a:endParaRPr sz="700" dirty="0">
                        <a:latin typeface="Arial" panose="020B0604020202020204"/>
                        <a:ea typeface="Arial" panose="020B0604020202020204"/>
                        <a:cs typeface="Arial" panose="020B0604020202020204"/>
                      </a:endParaRPr>
                    </a:p>
                    <a:p>
                      <a:pPr marL="67945" algn="l" rtl="0" eaLnBrk="0">
                        <a:lnSpc>
                          <a:spcPct val="90000"/>
                        </a:lnSpc>
                        <a:spcBef>
                          <a:spcPts val="5"/>
                        </a:spcBef>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30" dirty="0">
                          <a:solidFill>
                            <a:srgbClr val="000000">
                              <a:alpha val="100000"/>
                            </a:srgbClr>
                          </a:solidFill>
                          <a:latin typeface="Arial" panose="020B0604020202020204"/>
                          <a:ea typeface="Arial" panose="020B0604020202020204"/>
                          <a:cs typeface="Arial" panose="020B0604020202020204"/>
                        </a:rPr>
                        <a:t>)</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的估计量</a:t>
                      </a:r>
                      <a:endParaRPr sz="24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c rowSpan="2">
                  <a:txBody>
                    <a:bodyPr/>
                    <a:lstStyle/>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302260" algn="l" rtl="0" eaLnBrk="0">
                        <a:lnSpc>
                          <a:spcPts val="2800"/>
                        </a:lnSpc>
                        <a:spcBef>
                          <a:spcPts val="0"/>
                        </a:spcBef>
                        <a:tabLst>
                          <a:tab pos="23272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467995" algn="l" rtl="0" eaLnBrk="0">
                        <a:lnSpc>
                          <a:spcPts val="3500"/>
                        </a:lnSpc>
                        <a:spcBef>
                          <a:spcPts val="1020"/>
                        </a:spcBef>
                        <a:tabLst>
                          <a:tab pos="22586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6000"/>
                        </a:lnSpc>
                      </a:pPr>
                      <a:endParaRPr sz="800" dirty="0">
                        <a:latin typeface="Arial" panose="020B0604020202020204"/>
                        <a:ea typeface="Arial" panose="020B0604020202020204"/>
                        <a:cs typeface="Arial" panose="020B0604020202020204"/>
                      </a:endParaRPr>
                    </a:p>
                    <a:p>
                      <a:pPr marL="298450" algn="l" rtl="0" eaLnBrk="0">
                        <a:lnSpc>
                          <a:spcPts val="3460"/>
                        </a:lnSpc>
                        <a:spcBef>
                          <a:spcPts val="5"/>
                        </a:spcBef>
                        <a:tabLst>
                          <a:tab pos="144335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r h="1763395">
                <a:tc vMerge="1">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gridSpan="2">
                  <a:txBody>
                    <a:bodyPr/>
                    <a:lstStyle/>
                    <a:p>
                      <a:pPr algn="l" rtl="0" eaLnBrk="0">
                        <a:lnSpc>
                          <a:spcPct val="108000"/>
                        </a:lnSpc>
                      </a:pPr>
                      <a:endParaRPr sz="700" dirty="0">
                        <a:latin typeface="Arial" panose="020B0604020202020204"/>
                        <a:ea typeface="Arial" panose="020B0604020202020204"/>
                        <a:cs typeface="Arial" panose="020B0604020202020204"/>
                      </a:endParaRPr>
                    </a:p>
                    <a:p>
                      <a:pPr marL="574040" algn="l" rtl="0" eaLnBrk="0">
                        <a:lnSpc>
                          <a:spcPts val="3030"/>
                        </a:lnSpc>
                        <a:spcBef>
                          <a:spcPts val="5"/>
                        </a:spcBef>
                        <a:tabLst>
                          <a:tab pos="590550" algn="l"/>
                        </a:tabLst>
                      </a:pPr>
                      <a:r>
                        <a:rPr sz="13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9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2500" i="1" kern="0" spc="-40" dirty="0">
                          <a:solidFill>
                            <a:srgbClr val="000000">
                              <a:alpha val="100000"/>
                            </a:srgbClr>
                          </a:solidFill>
                          <a:latin typeface="Arial" panose="020B0604020202020204"/>
                          <a:ea typeface="Arial" panose="020B0604020202020204"/>
                          <a:cs typeface="Arial" panose="020B0604020202020204"/>
                        </a:rPr>
                        <a:t>β</a:t>
                      </a:r>
                      <a:r>
                        <a:rPr sz="2100" kern="0" spc="-4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的估计量</a:t>
                      </a:r>
                      <a:endParaRPr sz="2400" dirty="0">
                        <a:latin typeface="宋体" panose="02010600030101010101" pitchFamily="2" charset="-122"/>
                        <a:ea typeface="宋体" panose="02010600030101010101" pitchFamily="2" charset="-122"/>
                        <a:cs typeface="宋体" panose="02010600030101010101" pitchFamily="2" charset="-122"/>
                      </a:endParaRPr>
                    </a:p>
                    <a:p>
                      <a:pPr marL="575945" algn="l" rtl="0" eaLnBrk="0">
                        <a:lnSpc>
                          <a:spcPts val="3030"/>
                        </a:lnSpc>
                        <a:spcBef>
                          <a:spcPts val="1235"/>
                        </a:spcBef>
                        <a:tabLst>
                          <a:tab pos="590550" algn="l"/>
                        </a:tabLst>
                      </a:pPr>
                      <a:r>
                        <a:rPr sz="13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500" i="1" kern="0" spc="-30" dirty="0">
                          <a:solidFill>
                            <a:srgbClr val="000000">
                              <a:alpha val="100000"/>
                            </a:srgbClr>
                          </a:solidFill>
                          <a:latin typeface="Arial" panose="020B0604020202020204"/>
                          <a:ea typeface="Arial" panose="020B0604020202020204"/>
                          <a:cs typeface="Arial" panose="020B0604020202020204"/>
                        </a:rPr>
                        <a:t>β</a:t>
                      </a:r>
                      <a:r>
                        <a:rPr sz="2100" kern="0" spc="-3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的估计量</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511810" algn="l" rtl="0" eaLnBrk="0">
                        <a:lnSpc>
                          <a:spcPts val="2920"/>
                        </a:lnSpc>
                        <a:tabLst>
                          <a:tab pos="517525" algn="l"/>
                        </a:tabLst>
                      </a:pPr>
                      <a:r>
                        <a:rPr sz="13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30" baseline="-17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称之为残差，是</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0" baseline="-17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的估计</a:t>
                      </a:r>
                      <a:r>
                        <a:rPr sz="23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量</a:t>
                      </a:r>
                      <a:endParaRPr sz="23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hMerge="1">
                  <a:tcPr marL="0" marR="0" marT="0" marB="0">
                    <a:lnL>
                      <a:noFill/>
                    </a:lnL>
                    <a:lnR>
                      <a:noFill/>
                    </a:lnR>
                    <a:lnT>
                      <a:noFill/>
                    </a:lnT>
                    <a:lnB w="6350" cap="flat" cmpd="sng" algn="ctr">
                      <a:solidFill>
                        <a:srgbClr val="000000"/>
                      </a:solidFill>
                      <a:prstDash val="solid"/>
                      <a:round/>
                      <a:headEnd type="none" w="med" len="med"/>
                      <a:tailEnd type="none" w="med" len="med"/>
                    </a:lnB>
                  </a:tcPr>
                </a:tc>
                <a:tc v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300" name="textbox 300"/>
          <p:cNvSpPr/>
          <p:nvPr/>
        </p:nvSpPr>
        <p:spPr>
          <a:xfrm>
            <a:off x="1375472" y="6244757"/>
            <a:ext cx="151129" cy="297179"/>
          </a:xfrm>
          <a:prstGeom prst="rect">
            <a:avLst/>
          </a:prstGeom>
          <a:noFill/>
          <a:ln w="0" cap="flat">
            <a:noFill/>
            <a:prstDash val="solid"/>
            <a:miter lim="0"/>
          </a:ln>
        </p:spPr>
        <p:txBody>
          <a:bodyPr vert="horz" wrap="square" lIns="0" tIns="0" rIns="0" bIns="0"/>
          <a:lstStyle/>
          <a:p>
            <a:pPr algn="l" rtl="0" eaLnBrk="0">
              <a:lnSpc>
                <a:spcPct val="95000"/>
              </a:lnSpc>
            </a:pPr>
            <a:endParaRPr sz="100" dirty="0">
              <a:latin typeface="Arial" panose="020B0604020202020204"/>
              <a:ea typeface="Arial" panose="020B0604020202020204"/>
              <a:cs typeface="Arial" panose="020B0604020202020204"/>
            </a:endParaRPr>
          </a:p>
          <a:p>
            <a:pPr marL="12700" algn="l" rtl="0" eaLnBrk="0">
              <a:lnSpc>
                <a:spcPct val="77000"/>
              </a:lnSpc>
            </a:pP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2300" dirty="0">
              <a:latin typeface="Times New Roman" panose="02020603050405020304"/>
              <a:ea typeface="Times New Roman" panose="02020603050405020304"/>
              <a:cs typeface="Times New Roman" panose="02020603050405020304"/>
            </a:endParaRPr>
          </a:p>
        </p:txBody>
      </p:sp>
      <p:sp>
        <p:nvSpPr>
          <p:cNvPr id="302" name="textbox 302"/>
          <p:cNvSpPr/>
          <p:nvPr/>
        </p:nvSpPr>
        <p:spPr>
          <a:xfrm>
            <a:off x="1408884" y="6231261"/>
            <a:ext cx="118110" cy="2971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135"/>
              </a:lnSpc>
            </a:pPr>
            <a:r>
              <a:rPr sz="1700" kern="0" spc="-90" dirty="0">
                <a:solidFill>
                  <a:srgbClr val="000000">
                    <a:alpha val="100000"/>
                  </a:srgbClr>
                </a:solidFill>
                <a:latin typeface="Times New Roman" panose="02020603050405020304"/>
                <a:ea typeface="Times New Roman" panose="02020603050405020304"/>
                <a:cs typeface="Times New Roman" panose="02020603050405020304"/>
              </a:rPr>
              <a:t>^</a:t>
            </a:r>
            <a:endParaRPr sz="1700" dirty="0">
              <a:latin typeface="Times New Roman" panose="02020603050405020304"/>
              <a:ea typeface="Times New Roman" panose="02020603050405020304"/>
              <a:cs typeface="Times New Roman" panose="02020603050405020304"/>
            </a:endParaRPr>
          </a:p>
        </p:txBody>
      </p:sp>
      <p:sp>
        <p:nvSpPr>
          <p:cNvPr id="304" name="textbox 304"/>
          <p:cNvSpPr/>
          <p:nvPr/>
        </p:nvSpPr>
        <p:spPr>
          <a:xfrm>
            <a:off x="1408166" y="5696007"/>
            <a:ext cx="192404" cy="32639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algn="r" rtl="0" eaLnBrk="0">
              <a:lnSpc>
                <a:spcPct val="79000"/>
              </a:lnSpc>
            </a:pPr>
            <a:r>
              <a:rPr sz="2500" i="1" kern="0" spc="-130" dirty="0">
                <a:solidFill>
                  <a:srgbClr val="000000">
                    <a:alpha val="100000"/>
                  </a:srgbClr>
                </a:solidFill>
                <a:latin typeface="Arial" panose="020B0604020202020204"/>
                <a:ea typeface="Arial" panose="020B0604020202020204"/>
                <a:cs typeface="Arial" panose="020B0604020202020204"/>
              </a:rPr>
              <a:t>β</a:t>
            </a:r>
            <a:endParaRPr sz="2500" dirty="0">
              <a:latin typeface="Arial" panose="020B0604020202020204"/>
              <a:ea typeface="Arial" panose="020B0604020202020204"/>
              <a:cs typeface="Arial" panose="020B0604020202020204"/>
            </a:endParaRPr>
          </a:p>
        </p:txBody>
      </p:sp>
      <p:sp>
        <p:nvSpPr>
          <p:cNvPr id="306" name="textbox 306"/>
          <p:cNvSpPr/>
          <p:nvPr/>
        </p:nvSpPr>
        <p:spPr>
          <a:xfrm>
            <a:off x="1463613" y="5611949"/>
            <a:ext cx="120650" cy="3073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20"/>
              </a:lnSpc>
            </a:pPr>
            <a:r>
              <a:rPr sz="17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700" dirty="0">
              <a:latin typeface="Times New Roman" panose="02020603050405020304"/>
              <a:ea typeface="Times New Roman" panose="02020603050405020304"/>
              <a:cs typeface="Times New Roman" panose="02020603050405020304"/>
            </a:endParaRPr>
          </a:p>
        </p:txBody>
      </p:sp>
      <p:sp>
        <p:nvSpPr>
          <p:cNvPr id="308" name="textbox 308"/>
          <p:cNvSpPr/>
          <p:nvPr/>
        </p:nvSpPr>
        <p:spPr>
          <a:xfrm>
            <a:off x="1408166" y="5153859"/>
            <a:ext cx="192404" cy="32639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algn="r" rtl="0" eaLnBrk="0">
              <a:lnSpc>
                <a:spcPct val="79000"/>
              </a:lnSpc>
            </a:pPr>
            <a:r>
              <a:rPr sz="2500" i="1" kern="0" spc="-130" dirty="0">
                <a:solidFill>
                  <a:srgbClr val="000000">
                    <a:alpha val="100000"/>
                  </a:srgbClr>
                </a:solidFill>
                <a:latin typeface="Arial" panose="020B0604020202020204"/>
                <a:ea typeface="Arial" panose="020B0604020202020204"/>
                <a:cs typeface="Arial" panose="020B0604020202020204"/>
              </a:rPr>
              <a:t>β</a:t>
            </a:r>
            <a:endParaRPr sz="2500" dirty="0">
              <a:latin typeface="Arial" panose="020B0604020202020204"/>
              <a:ea typeface="Arial" panose="020B0604020202020204"/>
              <a:cs typeface="Arial" panose="020B0604020202020204"/>
            </a:endParaRPr>
          </a:p>
        </p:txBody>
      </p:sp>
      <p:sp>
        <p:nvSpPr>
          <p:cNvPr id="310" name="textbox 310"/>
          <p:cNvSpPr/>
          <p:nvPr/>
        </p:nvSpPr>
        <p:spPr>
          <a:xfrm>
            <a:off x="1463613" y="5069799"/>
            <a:ext cx="120650" cy="3073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20"/>
              </a:lnSpc>
            </a:pPr>
            <a:r>
              <a:rPr sz="17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700" dirty="0">
              <a:latin typeface="Times New Roman" panose="02020603050405020304"/>
              <a:ea typeface="Times New Roman" panose="02020603050405020304"/>
              <a:cs typeface="Times New Roman" panose="02020603050405020304"/>
            </a:endParaRPr>
          </a:p>
        </p:txBody>
      </p:sp>
      <p:pic>
        <p:nvPicPr>
          <p:cNvPr id="312" name="picture 312"/>
          <p:cNvPicPr>
            <a:picLocks noChangeAspect="1"/>
          </p:cNvPicPr>
          <p:nvPr/>
        </p:nvPicPr>
        <p:blipFill>
          <a:blip r:embed="rId1"/>
          <a:stretch>
            <a:fillRect/>
          </a:stretch>
        </p:blipFill>
        <p:spPr>
          <a:xfrm rot="21600000">
            <a:off x="5778743" y="5792427"/>
            <a:ext cx="1145095" cy="439321"/>
          </a:xfrm>
          <a:prstGeom prst="rect">
            <a:avLst/>
          </a:prstGeom>
        </p:spPr>
      </p:pic>
      <p:pic>
        <p:nvPicPr>
          <p:cNvPr id="314" name="picture 314"/>
          <p:cNvPicPr>
            <a:picLocks noChangeAspect="1"/>
          </p:cNvPicPr>
          <p:nvPr/>
        </p:nvPicPr>
        <p:blipFill>
          <a:blip r:embed="rId2"/>
          <a:stretch>
            <a:fillRect/>
          </a:stretch>
        </p:blipFill>
        <p:spPr>
          <a:xfrm rot="21600000">
            <a:off x="5948308" y="5218343"/>
            <a:ext cx="1790638" cy="444443"/>
          </a:xfrm>
          <a:prstGeom prst="rect">
            <a:avLst/>
          </a:prstGeom>
        </p:spPr>
      </p:pic>
      <p:pic>
        <p:nvPicPr>
          <p:cNvPr id="316" name="picture 316"/>
          <p:cNvPicPr>
            <a:picLocks noChangeAspect="1"/>
          </p:cNvPicPr>
          <p:nvPr/>
        </p:nvPicPr>
        <p:blipFill>
          <a:blip r:embed="rId3"/>
          <a:stretch>
            <a:fillRect/>
          </a:stretch>
        </p:blipFill>
        <p:spPr>
          <a:xfrm rot="21600000">
            <a:off x="5782633" y="4732911"/>
            <a:ext cx="2025196" cy="355774"/>
          </a:xfrm>
          <a:prstGeom prst="rect">
            <a:avLst/>
          </a:prstGeom>
        </p:spPr>
      </p:pic>
      <p:sp>
        <p:nvSpPr>
          <p:cNvPr id="318" name="textbox 318"/>
          <p:cNvSpPr/>
          <p:nvPr/>
        </p:nvSpPr>
        <p:spPr>
          <a:xfrm>
            <a:off x="1374814" y="4575082"/>
            <a:ext cx="205740" cy="412115"/>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121000"/>
              </a:lnSpc>
            </a:pPr>
            <a:r>
              <a:rPr sz="2100" i="1" kern="0" spc="230" dirty="0">
                <a:solidFill>
                  <a:srgbClr val="000000">
                    <a:alpha val="100000"/>
                  </a:srgbClr>
                </a:solidFill>
                <a:latin typeface="Times New Roman" panose="02020603050405020304"/>
                <a:ea typeface="Times New Roman" panose="02020603050405020304"/>
                <a:cs typeface="Times New Roman" panose="02020603050405020304"/>
              </a:rPr>
              <a:t>Y</a:t>
            </a:r>
            <a:r>
              <a:rPr sz="1200" i="1" kern="0" spc="-340" dirty="0">
                <a:solidFill>
                  <a:srgbClr val="000000">
                    <a:alpha val="100000"/>
                  </a:srgbClr>
                </a:solidFill>
                <a:latin typeface="Times New Roman" panose="02020603050405020304"/>
                <a:ea typeface="Times New Roman" panose="02020603050405020304"/>
                <a:cs typeface="Times New Roman" panose="02020603050405020304"/>
              </a:rPr>
              <a:t>i</a:t>
            </a:r>
            <a:endParaRPr sz="1200" dirty="0">
              <a:latin typeface="Times New Roman" panose="02020603050405020304"/>
              <a:ea typeface="Times New Roman" panose="02020603050405020304"/>
              <a:cs typeface="Times New Roman" panose="02020603050405020304"/>
            </a:endParaRPr>
          </a:p>
        </p:txBody>
      </p:sp>
      <p:sp>
        <p:nvSpPr>
          <p:cNvPr id="320" name="textbox 320"/>
          <p:cNvSpPr/>
          <p:nvPr/>
        </p:nvSpPr>
        <p:spPr>
          <a:xfrm>
            <a:off x="1443040" y="4482352"/>
            <a:ext cx="120650" cy="3073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20"/>
              </a:lnSpc>
            </a:pPr>
            <a:r>
              <a:rPr sz="17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700" dirty="0">
              <a:latin typeface="Times New Roman" panose="02020603050405020304"/>
              <a:ea typeface="Times New Roman" panose="02020603050405020304"/>
              <a:cs typeface="Times New Roman" panose="02020603050405020304"/>
            </a:endParaRPr>
          </a:p>
        </p:txBody>
      </p:sp>
      <p:sp>
        <p:nvSpPr>
          <p:cNvPr id="322" name="textbox 322"/>
          <p:cNvSpPr/>
          <p:nvPr/>
        </p:nvSpPr>
        <p:spPr>
          <a:xfrm>
            <a:off x="5758568" y="3876383"/>
            <a:ext cx="343534" cy="40957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7000"/>
              </a:lnSpc>
            </a:pPr>
            <a:r>
              <a:rPr sz="2900" kern="0" spc="10" dirty="0">
                <a:solidFill>
                  <a:srgbClr val="000000">
                    <a:alpha val="100000"/>
                  </a:srgbClr>
                </a:solidFill>
                <a:latin typeface="Arial" panose="020B0604020202020204"/>
                <a:ea typeface="Arial" panose="020B0604020202020204"/>
                <a:cs typeface="Arial" panose="020B0604020202020204"/>
              </a:rPr>
              <a:t>β</a:t>
            </a:r>
            <a:r>
              <a:rPr sz="16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600" dirty="0">
              <a:latin typeface="Times New Roman" panose="02020603050405020304"/>
              <a:ea typeface="Times New Roman" panose="02020603050405020304"/>
              <a:cs typeface="Times New Roman" panose="02020603050405020304"/>
            </a:endParaRPr>
          </a:p>
        </p:txBody>
      </p:sp>
      <p:sp>
        <p:nvSpPr>
          <p:cNvPr id="324" name="textbox 324"/>
          <p:cNvSpPr/>
          <p:nvPr/>
        </p:nvSpPr>
        <p:spPr>
          <a:xfrm>
            <a:off x="5863032" y="3780725"/>
            <a:ext cx="133350" cy="3467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525"/>
              </a:lnSpc>
            </a:pPr>
            <a:r>
              <a:rPr sz="19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p:txBody>
      </p:sp>
      <p:sp>
        <p:nvSpPr>
          <p:cNvPr id="326" name="textbox 326"/>
          <p:cNvSpPr/>
          <p:nvPr/>
        </p:nvSpPr>
        <p:spPr>
          <a:xfrm>
            <a:off x="5238932" y="3876383"/>
            <a:ext cx="321309" cy="40957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7000"/>
              </a:lnSpc>
            </a:pPr>
            <a:r>
              <a:rPr sz="2900" kern="0" spc="530" dirty="0">
                <a:solidFill>
                  <a:srgbClr val="000000">
                    <a:alpha val="100000"/>
                  </a:srgbClr>
                </a:solidFill>
                <a:latin typeface="Arial" panose="020B0604020202020204"/>
                <a:ea typeface="Arial" panose="020B0604020202020204"/>
                <a:cs typeface="Arial" panose="020B0604020202020204"/>
              </a:rPr>
              <a:t>β</a:t>
            </a:r>
            <a:r>
              <a:rPr sz="1600" kern="0" spc="-690" dirty="0">
                <a:solidFill>
                  <a:srgbClr val="000000">
                    <a:alpha val="100000"/>
                  </a:srgbClr>
                </a:solidFill>
                <a:latin typeface="Times New Roman" panose="02020603050405020304"/>
                <a:ea typeface="Times New Roman" panose="02020603050405020304"/>
                <a:cs typeface="Times New Roman" panose="02020603050405020304"/>
              </a:rPr>
              <a:t>1</a:t>
            </a:r>
            <a:endParaRPr sz="1600" dirty="0">
              <a:latin typeface="Times New Roman" panose="02020603050405020304"/>
              <a:ea typeface="Times New Roman" panose="02020603050405020304"/>
              <a:cs typeface="Times New Roman" panose="02020603050405020304"/>
            </a:endParaRPr>
          </a:p>
        </p:txBody>
      </p:sp>
      <p:sp>
        <p:nvSpPr>
          <p:cNvPr id="328" name="textbox 328"/>
          <p:cNvSpPr/>
          <p:nvPr/>
        </p:nvSpPr>
        <p:spPr>
          <a:xfrm>
            <a:off x="5352259" y="3780725"/>
            <a:ext cx="133350" cy="3467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525"/>
              </a:lnSpc>
            </a:pPr>
            <a:r>
              <a:rPr sz="19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2" name="table 332"/>
          <p:cNvGraphicFramePr>
            <a:graphicFrameLocks noGrp="1"/>
          </p:cNvGraphicFramePr>
          <p:nvPr/>
        </p:nvGraphicFramePr>
        <p:xfrm>
          <a:off x="60832" y="66928"/>
          <a:ext cx="9019539" cy="6699248"/>
        </p:xfrm>
        <a:graphic>
          <a:graphicData uri="http://schemas.openxmlformats.org/drawingml/2006/table">
            <a:tbl>
              <a:tblPr/>
              <a:tblGrid>
                <a:gridCol w="1805304"/>
                <a:gridCol w="2264410"/>
                <a:gridCol w="4949825"/>
              </a:tblGrid>
              <a:tr h="4180204">
                <a:tc gridSpan="2">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66470" algn="l" rtl="0" eaLnBrk="0">
                        <a:lnSpc>
                          <a:spcPct val="87000"/>
                        </a:lnSpc>
                      </a:pPr>
                      <a:r>
                        <a:rPr sz="19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900" kern="0" spc="1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300" kern="0" spc="-1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回归分析的目的：</a:t>
                      </a:r>
                      <a:endParaRPr sz="23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51000"/>
                        </a:lnSpc>
                      </a:pPr>
                      <a:endParaRPr sz="1000" dirty="0">
                        <a:latin typeface="Arial" panose="020B0604020202020204"/>
                        <a:ea typeface="Arial" panose="020B0604020202020204"/>
                        <a:cs typeface="Arial" panose="020B0604020202020204"/>
                      </a:endParaRPr>
                    </a:p>
                    <a:p>
                      <a:pPr marL="966470" algn="l" rtl="0" eaLnBrk="0">
                        <a:lnSpc>
                          <a:spcPct val="86000"/>
                        </a:lnSpc>
                        <a:spcBef>
                          <a:spcPts val="720"/>
                        </a:spcBef>
                      </a:pPr>
                      <a:r>
                        <a:rPr sz="2000" kern="0" spc="-1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根据样本回归方</a:t>
                      </a:r>
                      <a:r>
                        <a:rPr sz="2400" kern="0" spc="-1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程：</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1918335" algn="l" rtl="0" eaLnBrk="0">
                        <a:lnSpc>
                          <a:spcPct val="100000"/>
                        </a:lnSpc>
                        <a:spcBef>
                          <a:spcPts val="905"/>
                        </a:spcBef>
                      </a:pPr>
                      <a:r>
                        <a:rPr sz="4600" kern="0" spc="490" baseline="-3000" dirty="0">
                          <a:solidFill>
                            <a:srgbClr val="000000">
                              <a:alpha val="100000"/>
                            </a:srgbClr>
                          </a:solidFill>
                          <a:latin typeface="Times New Roman" panose="02020603050405020304"/>
                          <a:ea typeface="Times New Roman" panose="02020603050405020304"/>
                          <a:cs typeface="Times New Roman" panose="02020603050405020304"/>
                        </a:rPr>
                        <a:t>=</a:t>
                      </a:r>
                      <a:r>
                        <a:rPr sz="29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4600" kern="0" spc="490" baseline="-3000" dirty="0">
                          <a:solidFill>
                            <a:srgbClr val="000000">
                              <a:alpha val="100000"/>
                            </a:srgbClr>
                          </a:solidFill>
                          <a:latin typeface="Times New Roman" panose="02020603050405020304"/>
                          <a:ea typeface="Times New Roman" panose="02020603050405020304"/>
                          <a:cs typeface="Times New Roman" panose="02020603050405020304"/>
                        </a:rPr>
                        <a:t>+</a:t>
                      </a:r>
                      <a:r>
                        <a:rPr sz="29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46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600" i="1" kern="0" spc="0" baseline="-36000" dirty="0">
                          <a:solidFill>
                            <a:srgbClr val="000000">
                              <a:alpha val="100000"/>
                            </a:srgbClr>
                          </a:solidFill>
                          <a:latin typeface="Times New Roman" panose="02020603050405020304"/>
                          <a:ea typeface="Times New Roman" panose="02020603050405020304"/>
                          <a:cs typeface="Times New Roman" panose="02020603050405020304"/>
                        </a:rPr>
                        <a:t>i</a:t>
                      </a:r>
                      <a:endParaRPr sz="2600" baseline="-36000" dirty="0">
                        <a:latin typeface="Times New Roman" panose="02020603050405020304"/>
                        <a:ea typeface="Times New Roman" panose="02020603050405020304"/>
                        <a:cs typeface="Times New Roman" panose="02020603050405020304"/>
                      </a:endParaRPr>
                    </a:p>
                    <a:p>
                      <a:pPr algn="l" rtl="0" eaLnBrk="0">
                        <a:lnSpc>
                          <a:spcPct val="105000"/>
                        </a:lnSpc>
                      </a:pPr>
                      <a:endParaRPr sz="13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66470" algn="l" rtl="0" eaLnBrk="0">
                        <a:lnSpc>
                          <a:spcPct val="86000"/>
                        </a:lnSpc>
                      </a:pPr>
                      <a:r>
                        <a:rPr sz="2000" kern="0" spc="-1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估计总体回归方</a:t>
                      </a:r>
                      <a:r>
                        <a:rPr sz="2400" kern="0" spc="-1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程：</a:t>
                      </a:r>
                      <a:endParaRPr sz="24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rowSpan="2">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539875">
                <a:tc>
                  <a:txBody>
                    <a:bodyPr/>
                    <a:lstStyle/>
                    <a:p>
                      <a:pPr algn="l" rtl="0" eaLnBrk="0">
                        <a:lnSpc>
                          <a:spcPct val="108000"/>
                        </a:lnSpc>
                      </a:pPr>
                      <a:endParaRPr sz="600" dirty="0">
                        <a:latin typeface="Arial" panose="020B0604020202020204"/>
                        <a:ea typeface="Arial" panose="020B0604020202020204"/>
                        <a:cs typeface="Arial" panose="020B0604020202020204"/>
                      </a:endParaRPr>
                    </a:p>
                    <a:p>
                      <a:pPr algn="r" rtl="0" eaLnBrk="0">
                        <a:lnSpc>
                          <a:spcPct val="85000"/>
                        </a:lnSpc>
                        <a:spcBef>
                          <a:spcPts val="5"/>
                        </a:spcBef>
                      </a:pPr>
                      <a:r>
                        <a:rPr sz="4000" i="1" kern="0" spc="-20" baseline="5000" dirty="0">
                          <a:solidFill>
                            <a:srgbClr val="000000">
                              <a:alpha val="100000"/>
                            </a:srgbClr>
                          </a:solidFill>
                          <a:latin typeface="Times New Roman" panose="02020603050405020304"/>
                          <a:ea typeface="Times New Roman" panose="02020603050405020304"/>
                          <a:cs typeface="Times New Roman" panose="02020603050405020304"/>
                        </a:rPr>
                        <a:t>E</a:t>
                      </a:r>
                      <a:r>
                        <a:rPr sz="26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20" dirty="0">
                          <a:solidFill>
                            <a:srgbClr val="000000">
                              <a:alpha val="100000"/>
                            </a:srgbClr>
                          </a:solidFill>
                          <a:latin typeface="Arial" panose="020B0604020202020204"/>
                          <a:ea typeface="Arial" panose="020B0604020202020204"/>
                          <a:cs typeface="Arial" panose="020B0604020202020204"/>
                        </a:rPr>
                        <a:t>(</a:t>
                      </a:r>
                      <a:r>
                        <a:rPr sz="4000" i="1" kern="0" spc="-20" baseline="5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20" baseline="-18000" dirty="0">
                          <a:solidFill>
                            <a:srgbClr val="000000">
                              <a:alpha val="100000"/>
                            </a:srgbClr>
                          </a:solidFill>
                          <a:latin typeface="Times New Roman" panose="02020603050405020304"/>
                          <a:ea typeface="Times New Roman" panose="02020603050405020304"/>
                          <a:cs typeface="Times New Roman" panose="02020603050405020304"/>
                        </a:rPr>
                        <a:t>i</a:t>
                      </a:r>
                      <a:endParaRPr sz="2300" baseline="-18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6000"/>
                        </a:lnSpc>
                      </a:pPr>
                      <a:endParaRPr sz="600" dirty="0">
                        <a:latin typeface="Arial" panose="020B0604020202020204"/>
                        <a:ea typeface="Arial" panose="020B0604020202020204"/>
                        <a:cs typeface="Arial" panose="020B0604020202020204"/>
                      </a:endParaRPr>
                    </a:p>
                    <a:p>
                      <a:pPr marL="73660" algn="l" rtl="0" eaLnBrk="0">
                        <a:lnSpc>
                          <a:spcPct val="92000"/>
                        </a:lnSpc>
                        <a:spcBef>
                          <a:spcPts val="5"/>
                        </a:spcBef>
                      </a:pPr>
                      <a:r>
                        <a:rPr sz="4000" i="1" kern="0" spc="-6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6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60" dirty="0">
                          <a:solidFill>
                            <a:srgbClr val="000000">
                              <a:alpha val="100000"/>
                            </a:srgbClr>
                          </a:solidFill>
                          <a:latin typeface="Arial" panose="020B0604020202020204"/>
                          <a:ea typeface="Arial" panose="020B0604020202020204"/>
                          <a:cs typeface="Arial" panose="020B0604020202020204"/>
                        </a:rPr>
                        <a:t>)</a:t>
                      </a:r>
                      <a:r>
                        <a:rPr sz="3800" kern="0" spc="-440" dirty="0">
                          <a:solidFill>
                            <a:srgbClr val="000000">
                              <a:alpha val="100000"/>
                            </a:srgbClr>
                          </a:solidFill>
                          <a:latin typeface="Arial" panose="020B0604020202020204"/>
                          <a:ea typeface="Arial" panose="020B0604020202020204"/>
                          <a:cs typeface="Arial" panose="020B0604020202020204"/>
                        </a:rPr>
                        <a:t> </a:t>
                      </a:r>
                      <a:r>
                        <a:rPr sz="4000" kern="0" spc="-60" baseline="4000" dirty="0">
                          <a:solidFill>
                            <a:srgbClr val="000000">
                              <a:alpha val="100000"/>
                            </a:srgbClr>
                          </a:solidFill>
                          <a:latin typeface="Arial" panose="020B0604020202020204"/>
                          <a:ea typeface="Arial" panose="020B0604020202020204"/>
                          <a:cs typeface="Arial" panose="020B0604020202020204"/>
                        </a:rPr>
                        <a:t>=</a:t>
                      </a:r>
                      <a:r>
                        <a:rPr sz="2600" kern="0" spc="-100" dirty="0">
                          <a:solidFill>
                            <a:srgbClr val="000000">
                              <a:alpha val="100000"/>
                            </a:srgbClr>
                          </a:solidFill>
                          <a:latin typeface="Arial" panose="020B0604020202020204"/>
                          <a:ea typeface="Arial" panose="020B0604020202020204"/>
                          <a:cs typeface="Arial" panose="020B0604020202020204"/>
                        </a:rPr>
                        <a:t> </a:t>
                      </a:r>
                      <a:r>
                        <a:rPr sz="4200" kern="0" spc="-60" baseline="4000" dirty="0">
                          <a:solidFill>
                            <a:srgbClr val="000000">
                              <a:alpha val="100000"/>
                            </a:srgbClr>
                          </a:solidFill>
                          <a:latin typeface="Arial" panose="020B0604020202020204"/>
                          <a:ea typeface="Arial" panose="020B0604020202020204"/>
                          <a:cs typeface="Arial" panose="020B0604020202020204"/>
                        </a:rPr>
                        <a:t>β</a:t>
                      </a:r>
                      <a:r>
                        <a:rPr sz="2300" kern="0" spc="-6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140" baseline="4000" dirty="0">
                          <a:solidFill>
                            <a:srgbClr val="000000">
                              <a:alpha val="100000"/>
                            </a:srgbClr>
                          </a:solidFill>
                          <a:latin typeface="Arial" panose="020B0604020202020204"/>
                          <a:ea typeface="Arial" panose="020B0604020202020204"/>
                          <a:cs typeface="Arial" panose="020B0604020202020204"/>
                        </a:rPr>
                        <a:t>+</a:t>
                      </a:r>
                      <a:r>
                        <a:rPr sz="2600" kern="0" spc="-230" dirty="0">
                          <a:solidFill>
                            <a:srgbClr val="000000">
                              <a:alpha val="100000"/>
                            </a:srgbClr>
                          </a:solidFill>
                          <a:latin typeface="Arial" panose="020B0604020202020204"/>
                          <a:ea typeface="Arial" panose="020B0604020202020204"/>
                          <a:cs typeface="Arial" panose="020B0604020202020204"/>
                        </a:rPr>
                        <a:t> </a:t>
                      </a:r>
                      <a:r>
                        <a:rPr sz="4200" kern="0" spc="140" baseline="4000" dirty="0">
                          <a:solidFill>
                            <a:srgbClr val="000000">
                              <a:alpha val="100000"/>
                            </a:srgbClr>
                          </a:solidFill>
                          <a:latin typeface="Arial" panose="020B0604020202020204"/>
                          <a:ea typeface="Arial" panose="020B0604020202020204"/>
                          <a:cs typeface="Arial" panose="020B0604020202020204"/>
                        </a:rPr>
                        <a:t>β</a:t>
                      </a:r>
                      <a:r>
                        <a:rPr sz="2300" kern="0" spc="14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i</a:t>
                      </a:r>
                      <a:endParaRPr sz="2300" baseline="-20000" dirty="0">
                        <a:latin typeface="Times New Roman" panose="02020603050405020304"/>
                        <a:ea typeface="Times New Roman" panose="02020603050405020304"/>
                        <a:cs typeface="Times New Roman" panose="02020603050405020304"/>
                      </a:endParaRPr>
                    </a:p>
                  </a:txBody>
                  <a:tcPr marL="0" marR="0" marT="0" marB="0">
                    <a:lnL w="3175" cap="flat" cmpd="sng" algn="ctr">
                      <a:solidFill>
                        <a:srgbClr val="000000"/>
                      </a:solidFill>
                      <a:prstDash val="solid"/>
                      <a:round/>
                      <a:headEnd type="none" w="med" len="med"/>
                      <a:tailEnd type="none" w="med" len="med"/>
                    </a:lnL>
                    <a:lnR>
                      <a:noFill/>
                    </a:lnR>
                    <a:lnT>
                      <a:noFill/>
                    </a:lnT>
                    <a:lnB>
                      <a:noFill/>
                    </a:lnB>
                  </a:tcPr>
                </a:tc>
                <a:tc vMerge="1">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79169">
                <a:tc gridSpan="3">
                  <a:txBody>
                    <a:bodyPr/>
                    <a:lstStyle/>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marL="213995" algn="l" rtl="0" eaLnBrk="0">
                        <a:lnSpc>
                          <a:spcPct val="80000"/>
                        </a:lnSpc>
                        <a:spcBef>
                          <a:spcPts val="5"/>
                        </a:spcBef>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35</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334" name="textbox 334"/>
          <p:cNvSpPr/>
          <p:nvPr/>
        </p:nvSpPr>
        <p:spPr>
          <a:xfrm>
            <a:off x="2730661" y="3161634"/>
            <a:ext cx="368300" cy="440055"/>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88000"/>
              </a:lnSpc>
            </a:pPr>
            <a:r>
              <a:rPr sz="3100" kern="0" spc="20" dirty="0">
                <a:solidFill>
                  <a:srgbClr val="000000">
                    <a:alpha val="100000"/>
                  </a:srgbClr>
                </a:solidFill>
                <a:latin typeface="Arial" panose="020B0604020202020204"/>
                <a:ea typeface="Arial" panose="020B0604020202020204"/>
                <a:cs typeface="Arial" panose="020B0604020202020204"/>
              </a:rPr>
              <a:t>β</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2</a:t>
            </a:r>
            <a:endParaRPr sz="1700" dirty="0">
              <a:latin typeface="Times New Roman" panose="02020603050405020304"/>
              <a:ea typeface="Times New Roman" panose="02020603050405020304"/>
              <a:cs typeface="Times New Roman" panose="02020603050405020304"/>
            </a:endParaRPr>
          </a:p>
        </p:txBody>
      </p:sp>
      <p:sp>
        <p:nvSpPr>
          <p:cNvPr id="336" name="textbox 336"/>
          <p:cNvSpPr/>
          <p:nvPr/>
        </p:nvSpPr>
        <p:spPr>
          <a:xfrm>
            <a:off x="2837811" y="3058438"/>
            <a:ext cx="141604" cy="3721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725"/>
              </a:lnSpc>
            </a:pPr>
            <a:r>
              <a:rPr sz="2100" kern="0" spc="-9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338" name="textbox 338"/>
          <p:cNvSpPr/>
          <p:nvPr/>
        </p:nvSpPr>
        <p:spPr>
          <a:xfrm>
            <a:off x="2169873" y="3161634"/>
            <a:ext cx="344804" cy="440055"/>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88000"/>
              </a:lnSpc>
            </a:pPr>
            <a:r>
              <a:rPr sz="3100" kern="0" spc="-70" dirty="0">
                <a:solidFill>
                  <a:srgbClr val="000000">
                    <a:alpha val="100000"/>
                  </a:srgbClr>
                </a:solidFill>
                <a:latin typeface="Arial" panose="020B0604020202020204"/>
                <a:ea typeface="Arial" panose="020B0604020202020204"/>
                <a:cs typeface="Arial" panose="020B0604020202020204"/>
              </a:rPr>
              <a:t>β</a:t>
            </a:r>
            <a:r>
              <a:rPr sz="1700" kern="0" spc="-70" dirty="0">
                <a:solidFill>
                  <a:srgbClr val="000000">
                    <a:alpha val="100000"/>
                  </a:srgbClr>
                </a:solidFill>
                <a:latin typeface="Times New Roman" panose="02020603050405020304"/>
                <a:ea typeface="Times New Roman" panose="02020603050405020304"/>
                <a:cs typeface="Times New Roman" panose="02020603050405020304"/>
              </a:rPr>
              <a:t>1</a:t>
            </a:r>
            <a:endParaRPr sz="1700" dirty="0">
              <a:latin typeface="Times New Roman" panose="02020603050405020304"/>
              <a:ea typeface="Times New Roman" panose="02020603050405020304"/>
              <a:cs typeface="Times New Roman" panose="02020603050405020304"/>
            </a:endParaRPr>
          </a:p>
        </p:txBody>
      </p:sp>
      <p:sp>
        <p:nvSpPr>
          <p:cNvPr id="340" name="textbox 340"/>
          <p:cNvSpPr/>
          <p:nvPr/>
        </p:nvSpPr>
        <p:spPr>
          <a:xfrm>
            <a:off x="2250753" y="3058438"/>
            <a:ext cx="141604" cy="3721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725"/>
              </a:lnSpc>
            </a:pPr>
            <a:r>
              <a:rPr sz="2100" kern="0" spc="-9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sp>
        <p:nvSpPr>
          <p:cNvPr id="342" name="textbox 342"/>
          <p:cNvSpPr/>
          <p:nvPr/>
        </p:nvSpPr>
        <p:spPr>
          <a:xfrm>
            <a:off x="1692992" y="3177630"/>
            <a:ext cx="245745" cy="50101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20000"/>
              </a:lnSpc>
            </a:pPr>
            <a:r>
              <a:rPr sz="2600" i="1" kern="0" spc="270" dirty="0">
                <a:solidFill>
                  <a:srgbClr val="000000">
                    <a:alpha val="100000"/>
                  </a:srgbClr>
                </a:solidFill>
                <a:latin typeface="Times New Roman" panose="02020603050405020304"/>
                <a:ea typeface="Times New Roman" panose="02020603050405020304"/>
                <a:cs typeface="Times New Roman" panose="02020603050405020304"/>
              </a:rPr>
              <a:t>Y</a:t>
            </a:r>
            <a:r>
              <a:rPr sz="1500" i="1" kern="0" spc="-410" dirty="0">
                <a:solidFill>
                  <a:srgbClr val="000000">
                    <a:alpha val="100000"/>
                  </a:srgbClr>
                </a:solidFill>
                <a:latin typeface="Times New Roman" panose="02020603050405020304"/>
                <a:ea typeface="Times New Roman" panose="02020603050405020304"/>
                <a:cs typeface="Times New Roman" panose="02020603050405020304"/>
              </a:rPr>
              <a:t>i</a:t>
            </a:r>
            <a:endParaRPr sz="1500" dirty="0">
              <a:latin typeface="Times New Roman" panose="02020603050405020304"/>
              <a:ea typeface="Times New Roman" panose="02020603050405020304"/>
              <a:cs typeface="Times New Roman" panose="02020603050405020304"/>
            </a:endParaRPr>
          </a:p>
        </p:txBody>
      </p:sp>
      <p:sp>
        <p:nvSpPr>
          <p:cNvPr id="344" name="textbox 344"/>
          <p:cNvSpPr/>
          <p:nvPr/>
        </p:nvSpPr>
        <p:spPr>
          <a:xfrm>
            <a:off x="1777080" y="3064365"/>
            <a:ext cx="141604" cy="3721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725"/>
              </a:lnSpc>
            </a:pPr>
            <a:r>
              <a:rPr sz="2100" kern="0" spc="-9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p:txBody>
      </p:sp>
      <p:graphicFrame>
        <p:nvGraphicFramePr>
          <p:cNvPr id="346" name="table 346"/>
          <p:cNvGraphicFramePr>
            <a:graphicFrameLocks noGrp="1"/>
          </p:cNvGraphicFramePr>
          <p:nvPr/>
        </p:nvGraphicFramePr>
        <p:xfrm>
          <a:off x="4285996" y="1441450"/>
          <a:ext cx="4406899" cy="3916045"/>
        </p:xfrm>
        <a:graphic>
          <a:graphicData uri="http://schemas.openxmlformats.org/drawingml/2006/table">
            <a:tbl>
              <a:tblPr/>
              <a:tblGrid>
                <a:gridCol w="4406899"/>
              </a:tblGrid>
              <a:tr h="391604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348" name="picture 348"/>
          <p:cNvPicPr>
            <a:picLocks noChangeAspect="1"/>
          </p:cNvPicPr>
          <p:nvPr/>
        </p:nvPicPr>
        <p:blipFill>
          <a:blip r:embed="rId1"/>
          <a:stretch>
            <a:fillRect/>
          </a:stretch>
        </p:blipFill>
        <p:spPr>
          <a:xfrm rot="21600000">
            <a:off x="4292345" y="1447800"/>
            <a:ext cx="4394454" cy="390982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8" name="table 398"/>
          <p:cNvGraphicFramePr>
            <a:graphicFrameLocks noGrp="1"/>
          </p:cNvGraphicFramePr>
          <p:nvPr/>
        </p:nvGraphicFramePr>
        <p:xfrm>
          <a:off x="60832" y="66928"/>
          <a:ext cx="9019540" cy="6699249"/>
        </p:xfrm>
        <a:graphic>
          <a:graphicData uri="http://schemas.openxmlformats.org/drawingml/2006/table">
            <a:tbl>
              <a:tblPr/>
              <a:tblGrid>
                <a:gridCol w="9019540"/>
              </a:tblGrid>
              <a:tr h="5981065">
                <a:tc>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1549400" algn="l" rtl="0" eaLnBrk="0">
                        <a:lnSpc>
                          <a:spcPct val="85000"/>
                        </a:lnSpc>
                        <a:spcBef>
                          <a:spcPts val="5"/>
                        </a:spcBef>
                      </a:pPr>
                      <a:r>
                        <a:rPr sz="3200" b="1" kern="0" spc="-30" dirty="0">
                          <a:solidFill>
                            <a:srgbClr val="000000">
                              <a:alpha val="100000"/>
                            </a:srgbClr>
                          </a:solidFill>
                          <a:latin typeface="幼圆" panose="02010509060101010101" charset="-122"/>
                          <a:ea typeface="幼圆" panose="02010509060101010101" charset="-122"/>
                          <a:cs typeface="幼圆" panose="02010509060101010101" charset="-122"/>
                        </a:rPr>
                        <a:t>一、普通最小二乘估计的计算程序</a:t>
                      </a:r>
                      <a:endParaRPr sz="3200" dirty="0">
                        <a:latin typeface="幼圆" panose="02010509060101010101" charset="-122"/>
                        <a:ea typeface="幼圆" panose="02010509060101010101" charset="-122"/>
                        <a:cs typeface="幼圆" panose="02010509060101010101" charset="-122"/>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marL="968375" algn="l" rtl="0" eaLnBrk="0">
                        <a:lnSpc>
                          <a:spcPts val="3400"/>
                        </a:lnSpc>
                        <a:spcBef>
                          <a:spcPts val="760"/>
                        </a:spcBef>
                      </a:pPr>
                      <a:r>
                        <a:rPr sz="22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500" kern="0" spc="20" dirty="0" err="1">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未知参数</a:t>
                      </a:r>
                      <a:r>
                        <a:rPr lang="el-GR" altLang="zh-CN" sz="2500" kern="0" spc="60" dirty="0">
                          <a:solidFill>
                            <a:srgbClr val="000000">
                              <a:alpha val="100000"/>
                            </a:srgbClr>
                          </a:solidFill>
                          <a:latin typeface="Times New Roman" panose="02020603050405020304"/>
                          <a:ea typeface="Times New Roman" panose="02020603050405020304"/>
                          <a:cs typeface="Times New Roman" panose="02020603050405020304"/>
                        </a:rPr>
                        <a:t>β</a:t>
                      </a:r>
                      <a:r>
                        <a:rPr lang="el-GR" altLang="zh-CN" sz="2500" kern="0" spc="-48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200" kern="0" spc="60" baseline="-28000" dirty="0">
                          <a:solidFill>
                            <a:srgbClr val="000000">
                              <a:alpha val="100000"/>
                            </a:srgbClr>
                          </a:solidFill>
                          <a:latin typeface="Times New Roman" panose="02020603050405020304"/>
                          <a:ea typeface="Times New Roman" panose="02020603050405020304"/>
                          <a:cs typeface="Times New Roman" panose="02020603050405020304"/>
                        </a:rPr>
                        <a:t>1</a:t>
                      </a:r>
                      <a:r>
                        <a:rPr lang="zh-CN" altLang="en-US" sz="2200" kern="0" spc="60" baseline="-28000" dirty="0">
                          <a:solidFill>
                            <a:srgbClr val="000000">
                              <a:alpha val="100000"/>
                            </a:srgbClr>
                          </a:solidFill>
                          <a:latin typeface="Times New Roman" panose="02020603050405020304"/>
                          <a:ea typeface="Times New Roman" panose="02020603050405020304"/>
                          <a:cs typeface="Times New Roman" panose="02020603050405020304"/>
                        </a:rPr>
                        <a:t>，</a:t>
                      </a:r>
                      <a:r>
                        <a:rPr lang="el-GR" altLang="zh-CN" sz="1400" kern="0" spc="310" dirty="0">
                          <a:solidFill>
                            <a:srgbClr val="000000">
                              <a:alpha val="100000"/>
                            </a:srgbClr>
                          </a:solidFill>
                          <a:latin typeface="Times New Roman" panose="02020603050405020304"/>
                          <a:ea typeface="Times New Roman" panose="02020603050405020304"/>
                          <a:cs typeface="Times New Roman" panose="02020603050405020304"/>
                        </a:rPr>
                        <a:t> </a:t>
                      </a:r>
                      <a:r>
                        <a:rPr lang="el-GR" altLang="zh-CN" sz="2500" kern="0" spc="-170" dirty="0">
                          <a:solidFill>
                            <a:srgbClr val="000000">
                              <a:alpha val="100000"/>
                            </a:srgbClr>
                          </a:solidFill>
                          <a:latin typeface="Arial" panose="020B0604020202020204"/>
                          <a:ea typeface="Arial" panose="020B0604020202020204"/>
                          <a:cs typeface="Arial" panose="020B0604020202020204"/>
                        </a:rPr>
                        <a:t> </a:t>
                      </a:r>
                      <a:r>
                        <a:rPr lang="el-GR" altLang="zh-CN" sz="2500" kern="0" spc="60" dirty="0">
                          <a:solidFill>
                            <a:srgbClr val="000000">
                              <a:alpha val="100000"/>
                            </a:srgbClr>
                          </a:solidFill>
                          <a:latin typeface="Times New Roman" panose="02020603050405020304"/>
                          <a:ea typeface="Times New Roman" panose="02020603050405020304"/>
                          <a:cs typeface="Times New Roman" panose="02020603050405020304"/>
                        </a:rPr>
                        <a:t>β</a:t>
                      </a:r>
                      <a:r>
                        <a:rPr lang="el-GR" altLang="zh-CN" sz="2200" kern="0" spc="6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2500" kern="0" spc="20" dirty="0" err="1">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的最小二乘估计量可以通过最小</a:t>
                      </a:r>
                      <a:endParaRPr sz="2500" dirty="0">
                        <a:latin typeface="宋体" panose="02010600030101010101" pitchFamily="2" charset="-122"/>
                        <a:ea typeface="宋体" panose="02010600030101010101" pitchFamily="2" charset="-122"/>
                        <a:cs typeface="宋体" panose="02010600030101010101" pitchFamily="2" charset="-122"/>
                      </a:endParaRPr>
                    </a:p>
                    <a:p>
                      <a:pPr marL="1233170" algn="l" rtl="0" eaLnBrk="0">
                        <a:lnSpc>
                          <a:spcPts val="3880"/>
                        </a:lnSpc>
                      </a:pPr>
                      <a:r>
                        <a:rPr sz="25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化残差平方和函数来得到：</a:t>
                      </a:r>
                      <a:endParaRPr sz="25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906395" algn="l" rtl="0" eaLnBrk="0">
                        <a:lnSpc>
                          <a:spcPts val="6475"/>
                        </a:lnSpc>
                        <a:spcBef>
                          <a:spcPts val="310"/>
                        </a:spcBef>
                        <a:tabLst>
                          <a:tab pos="63214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marL="2391410" algn="l" rtl="0" eaLnBrk="0">
                        <a:lnSpc>
                          <a:spcPts val="5575"/>
                        </a:lnSpc>
                        <a:spcBef>
                          <a:spcPts val="300"/>
                        </a:spcBef>
                        <a:tabLst>
                          <a:tab pos="655510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4000"/>
                        </a:lnSpc>
                      </a:pPr>
                      <a:endParaRPr sz="800" dirty="0">
                        <a:latin typeface="Arial" panose="020B0604020202020204"/>
                        <a:ea typeface="Arial" panose="020B0604020202020204"/>
                        <a:cs typeface="Arial" panose="020B0604020202020204"/>
                      </a:endParaRPr>
                    </a:p>
                    <a:p>
                      <a:pPr marL="2391410" algn="l" rtl="0" eaLnBrk="0">
                        <a:lnSpc>
                          <a:spcPts val="5575"/>
                        </a:lnSpc>
                        <a:spcBef>
                          <a:spcPts val="5"/>
                        </a:spcBef>
                        <a:tabLst>
                          <a:tab pos="739838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18184">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3995"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38</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400" name="picture 400"/>
          <p:cNvPicPr>
            <a:picLocks noChangeAspect="1"/>
          </p:cNvPicPr>
          <p:nvPr/>
        </p:nvPicPr>
        <p:blipFill>
          <a:blip r:embed="rId1"/>
          <a:stretch>
            <a:fillRect/>
          </a:stretch>
        </p:blipFill>
        <p:spPr>
          <a:xfrm rot="21600000">
            <a:off x="2452702" y="5178598"/>
            <a:ext cx="5007328" cy="708084"/>
          </a:xfrm>
          <a:prstGeom prst="rect">
            <a:avLst/>
          </a:prstGeom>
        </p:spPr>
      </p:pic>
      <p:pic>
        <p:nvPicPr>
          <p:cNvPr id="402" name="picture 402"/>
          <p:cNvPicPr>
            <a:picLocks noChangeAspect="1"/>
          </p:cNvPicPr>
          <p:nvPr/>
        </p:nvPicPr>
        <p:blipFill>
          <a:blip r:embed="rId2"/>
          <a:stretch>
            <a:fillRect/>
          </a:stretch>
        </p:blipFill>
        <p:spPr>
          <a:xfrm rot="21600000">
            <a:off x="2452702" y="4342815"/>
            <a:ext cx="4163744" cy="708091"/>
          </a:xfrm>
          <a:prstGeom prst="rect">
            <a:avLst/>
          </a:prstGeom>
        </p:spPr>
      </p:pic>
      <p:pic>
        <p:nvPicPr>
          <p:cNvPr id="404" name="picture 404"/>
          <p:cNvPicPr>
            <a:picLocks noChangeAspect="1"/>
          </p:cNvPicPr>
          <p:nvPr/>
        </p:nvPicPr>
        <p:blipFill>
          <a:blip r:embed="rId3"/>
          <a:stretch>
            <a:fillRect/>
          </a:stretch>
        </p:blipFill>
        <p:spPr>
          <a:xfrm rot="21600000">
            <a:off x="2967431" y="3084274"/>
            <a:ext cx="3415795" cy="82256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textbox 410"/>
          <p:cNvSpPr/>
          <p:nvPr/>
        </p:nvSpPr>
        <p:spPr>
          <a:xfrm>
            <a:off x="51307" y="57403"/>
            <a:ext cx="9039225" cy="6718934"/>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25095" algn="l" rtl="0" eaLnBrk="0">
              <a:lnSpc>
                <a:spcPct val="80000"/>
              </a:lnSpc>
              <a:spcBef>
                <a:spcPts val="5"/>
              </a:spcBef>
            </a:pPr>
            <a:endParaRPr sz="1300" dirty="0">
              <a:latin typeface="Franklin Gothic Book" panose="020B0503020102020204"/>
              <a:ea typeface="Franklin Gothic Book" panose="020B0503020102020204"/>
              <a:cs typeface="Franklin Gothic Book" panose="020B0503020102020204"/>
            </a:endParaRPr>
          </a:p>
        </p:txBody>
      </p:sp>
      <p:pic>
        <p:nvPicPr>
          <p:cNvPr id="412" name="picture 412"/>
          <p:cNvPicPr>
            <a:picLocks noChangeAspect="1"/>
          </p:cNvPicPr>
          <p:nvPr/>
        </p:nvPicPr>
        <p:blipFill>
          <a:blip r:embed="rId1"/>
          <a:stretch>
            <a:fillRect/>
          </a:stretch>
        </p:blipFill>
        <p:spPr>
          <a:xfrm rot="21600000">
            <a:off x="1403603" y="980694"/>
            <a:ext cx="6566154" cy="4572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6" name="table 436"/>
          <p:cNvGraphicFramePr>
            <a:graphicFrameLocks noGrp="1"/>
          </p:cNvGraphicFramePr>
          <p:nvPr/>
        </p:nvGraphicFramePr>
        <p:xfrm>
          <a:off x="60832" y="66928"/>
          <a:ext cx="9019540" cy="6699250"/>
        </p:xfrm>
        <a:graphic>
          <a:graphicData uri="http://schemas.openxmlformats.org/drawingml/2006/table">
            <a:tbl>
              <a:tblPr/>
              <a:tblGrid>
                <a:gridCol w="9019540"/>
              </a:tblGrid>
              <a:tr h="3691890">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309370" algn="l" rtl="0" eaLnBrk="0">
                        <a:lnSpc>
                          <a:spcPct val="85000"/>
                        </a:lnSpc>
                        <a:spcBef>
                          <a:spcPts val="5"/>
                        </a:spcBef>
                      </a:pPr>
                      <a:r>
                        <a:rPr sz="3600" b="1" kern="0" spc="-10" dirty="0">
                          <a:solidFill>
                            <a:srgbClr val="000000">
                              <a:alpha val="100000"/>
                            </a:srgbClr>
                          </a:solidFill>
                          <a:latin typeface="幼圆" panose="02010509060101010101" charset="-122"/>
                          <a:ea typeface="幼圆" panose="02010509060101010101" charset="-122"/>
                          <a:cs typeface="幼圆" panose="02010509060101010101" charset="-122"/>
                        </a:rPr>
                        <a:t>二、普通最小二乘估计结果的解读</a:t>
                      </a:r>
                      <a:endParaRPr sz="36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300736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4630" algn="l" rtl="0" eaLnBrk="0">
                        <a:lnSpc>
                          <a:spcPct val="80000"/>
                        </a:lnSpc>
                        <a:spcBef>
                          <a:spcPts val="5"/>
                        </a:spcBef>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42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438" name="picture 438"/>
          <p:cNvPicPr>
            <a:picLocks noChangeAspect="1"/>
          </p:cNvPicPr>
          <p:nvPr/>
        </p:nvPicPr>
        <p:blipFill>
          <a:blip r:embed="rId1"/>
          <a:stretch>
            <a:fillRect/>
          </a:stretch>
        </p:blipFill>
        <p:spPr>
          <a:xfrm rot="21600000">
            <a:off x="914400" y="1917192"/>
            <a:ext cx="7772400" cy="406984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2" name="table 442"/>
          <p:cNvGraphicFramePr>
            <a:graphicFrameLocks noGrp="1"/>
          </p:cNvGraphicFramePr>
          <p:nvPr/>
        </p:nvGraphicFramePr>
        <p:xfrm>
          <a:off x="60832" y="66928"/>
          <a:ext cx="9019540" cy="6699249"/>
        </p:xfrm>
        <a:graphic>
          <a:graphicData uri="http://schemas.openxmlformats.org/drawingml/2006/table">
            <a:tbl>
              <a:tblPr/>
              <a:tblGrid>
                <a:gridCol w="9019540"/>
              </a:tblGrid>
              <a:tr h="5904865">
                <a:tc>
                  <a:txBody>
                    <a:bodyPr/>
                    <a:lstStyle/>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3237230" algn="l" rtl="0" eaLnBrk="0">
                        <a:lnSpc>
                          <a:spcPct val="100000"/>
                        </a:lnSpc>
                      </a:pPr>
                      <a:r>
                        <a:rPr sz="2600" i="1" kern="0" spc="130" baseline="-28000" dirty="0">
                          <a:solidFill>
                            <a:srgbClr val="000000">
                              <a:alpha val="100000"/>
                            </a:srgbClr>
                          </a:solidFill>
                          <a:latin typeface="Times New Roman" panose="02020603050405020304"/>
                          <a:ea typeface="Times New Roman" panose="02020603050405020304"/>
                          <a:cs typeface="Times New Roman" panose="02020603050405020304"/>
                        </a:rPr>
                        <a:t>i</a:t>
                      </a:r>
                      <a:r>
                        <a:rPr sz="16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130" dirty="0">
                          <a:solidFill>
                            <a:srgbClr val="000000">
                              <a:alpha val="100000"/>
                            </a:srgbClr>
                          </a:solidFill>
                          <a:latin typeface="Arial" panose="020B0604020202020204"/>
                          <a:ea typeface="Arial" panose="020B0604020202020204"/>
                          <a:cs typeface="Arial" panose="020B0604020202020204"/>
                        </a:rPr>
                        <a:t>= </a:t>
                      </a:r>
                      <a:r>
                        <a:rPr sz="2900" kern="0" spc="130" dirty="0">
                          <a:solidFill>
                            <a:srgbClr val="000000">
                              <a:alpha val="100000"/>
                            </a:srgbClr>
                          </a:solidFill>
                          <a:latin typeface="Times New Roman" panose="02020603050405020304"/>
                          <a:ea typeface="Times New Roman" panose="02020603050405020304"/>
                          <a:cs typeface="Times New Roman" panose="02020603050405020304"/>
                        </a:rPr>
                        <a:t>83</a:t>
                      </a:r>
                      <a:r>
                        <a:rPr sz="2900"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130" dirty="0">
                          <a:solidFill>
                            <a:srgbClr val="000000">
                              <a:alpha val="100000"/>
                            </a:srgbClr>
                          </a:solidFill>
                          <a:latin typeface="Times New Roman" panose="02020603050405020304"/>
                          <a:ea typeface="Times New Roman" panose="02020603050405020304"/>
                          <a:cs typeface="Times New Roman" panose="02020603050405020304"/>
                        </a:rPr>
                        <a:t>.42 </a:t>
                      </a:r>
                      <a:r>
                        <a:rPr sz="2900" kern="0" spc="130" dirty="0">
                          <a:solidFill>
                            <a:srgbClr val="000000">
                              <a:alpha val="100000"/>
                            </a:srgbClr>
                          </a:solidFill>
                          <a:latin typeface="Arial" panose="020B0604020202020204"/>
                          <a:ea typeface="Arial" panose="020B0604020202020204"/>
                          <a:cs typeface="Arial" panose="020B0604020202020204"/>
                        </a:rPr>
                        <a:t>+</a:t>
                      </a:r>
                      <a:r>
                        <a:rPr sz="2900" kern="0" spc="130" dirty="0">
                          <a:solidFill>
                            <a:srgbClr val="000000">
                              <a:alpha val="100000"/>
                            </a:srgbClr>
                          </a:solidFill>
                          <a:latin typeface="Times New Roman" panose="02020603050405020304"/>
                          <a:ea typeface="Times New Roman" panose="02020603050405020304"/>
                          <a:cs typeface="Times New Roman" panose="02020603050405020304"/>
                        </a:rPr>
                        <a:t>10</a:t>
                      </a:r>
                      <a:r>
                        <a:rPr sz="2900" kern="0" spc="-37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120" dirty="0">
                          <a:solidFill>
                            <a:srgbClr val="000000">
                              <a:alpha val="100000"/>
                            </a:srgbClr>
                          </a:solidFill>
                          <a:latin typeface="Times New Roman" panose="02020603050405020304"/>
                          <a:ea typeface="Times New Roman" panose="02020603050405020304"/>
                          <a:cs typeface="Times New Roman" panose="02020603050405020304"/>
                        </a:rPr>
                        <a:t>.21</a:t>
                      </a:r>
                      <a:r>
                        <a:rPr sz="29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600" i="1" kern="0" spc="0" baseline="-28000" dirty="0">
                          <a:solidFill>
                            <a:srgbClr val="000000">
                              <a:alpha val="100000"/>
                            </a:srgbClr>
                          </a:solidFill>
                          <a:latin typeface="Times New Roman" panose="02020603050405020304"/>
                          <a:ea typeface="Times New Roman" panose="02020603050405020304"/>
                          <a:cs typeface="Times New Roman" panose="02020603050405020304"/>
                        </a:rPr>
                        <a:t>i</a:t>
                      </a:r>
                      <a:endParaRPr sz="2600" baseline="-28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94384">
                <a:tc>
                  <a:txBody>
                    <a:bodyPr/>
                    <a:lstStyle/>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marL="214630"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43</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444" name="textbox 444"/>
          <p:cNvSpPr/>
          <p:nvPr/>
        </p:nvSpPr>
        <p:spPr>
          <a:xfrm>
            <a:off x="3046637" y="477717"/>
            <a:ext cx="252095" cy="414019"/>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8000"/>
              </a:lnSpc>
            </a:pPr>
            <a:r>
              <a:rPr sz="2900" i="1" kern="0" spc="480" dirty="0">
                <a:solidFill>
                  <a:srgbClr val="000000">
                    <a:alpha val="100000"/>
                  </a:srgbClr>
                </a:solidFill>
                <a:latin typeface="Times New Roman" panose="02020603050405020304"/>
                <a:ea typeface="Times New Roman" panose="02020603050405020304"/>
                <a:cs typeface="Times New Roman" panose="02020603050405020304"/>
              </a:rPr>
              <a:t>y</a:t>
            </a:r>
            <a:endParaRPr sz="2900" dirty="0">
              <a:latin typeface="Times New Roman" panose="02020603050405020304"/>
              <a:ea typeface="Times New Roman" panose="02020603050405020304"/>
              <a:cs typeface="Times New Roman" panose="02020603050405020304"/>
            </a:endParaRPr>
          </a:p>
        </p:txBody>
      </p:sp>
      <p:sp>
        <p:nvSpPr>
          <p:cNvPr id="446" name="textbox 446"/>
          <p:cNvSpPr/>
          <p:nvPr/>
        </p:nvSpPr>
        <p:spPr>
          <a:xfrm>
            <a:off x="3124505" y="460569"/>
            <a:ext cx="156845" cy="370204"/>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algn="r" rtl="0" eaLnBrk="0">
              <a:lnSpc>
                <a:spcPct val="94000"/>
              </a:lnSpc>
            </a:pPr>
            <a:r>
              <a:rPr sz="2400" kern="0" spc="-110" dirty="0">
                <a:solidFill>
                  <a:srgbClr val="000000">
                    <a:alpha val="100000"/>
                  </a:srgbClr>
                </a:solidFill>
                <a:latin typeface="Times New Roman" panose="02020603050405020304"/>
                <a:ea typeface="Times New Roman" panose="02020603050405020304"/>
                <a:cs typeface="Times New Roman" panose="02020603050405020304"/>
              </a:rPr>
              <a:t>^</a:t>
            </a:r>
            <a:endParaRPr sz="2400" dirty="0">
              <a:latin typeface="Times New Roman" panose="02020603050405020304"/>
              <a:ea typeface="Times New Roman" panose="02020603050405020304"/>
              <a:cs typeface="Times New Roman" panose="02020603050405020304"/>
            </a:endParaRPr>
          </a:p>
        </p:txBody>
      </p:sp>
      <p:pic>
        <p:nvPicPr>
          <p:cNvPr id="448" name="picture 448"/>
          <p:cNvPicPr>
            <a:picLocks noChangeAspect="1"/>
          </p:cNvPicPr>
          <p:nvPr/>
        </p:nvPicPr>
        <p:blipFill>
          <a:blip r:embed="rId1"/>
          <a:stretch>
            <a:fillRect/>
          </a:stretch>
        </p:blipFill>
        <p:spPr>
          <a:xfrm rot="21600000">
            <a:off x="1259586" y="980694"/>
            <a:ext cx="6696456" cy="475259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textbox 454"/>
          <p:cNvSpPr/>
          <p:nvPr/>
        </p:nvSpPr>
        <p:spPr>
          <a:xfrm>
            <a:off x="51307" y="57403"/>
            <a:ext cx="9039225" cy="6718934"/>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52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283335" algn="l" rtl="0" eaLnBrk="0">
              <a:lnSpc>
                <a:spcPct val="86000"/>
              </a:lnSpc>
            </a:pPr>
            <a:r>
              <a:rPr sz="2400" b="1" u="sng"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边际效应</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1254125" algn="l" rtl="0" eaLnBrk="0">
              <a:lnSpc>
                <a:spcPts val="3000"/>
              </a:lnSpc>
              <a:spcBef>
                <a:spcPts val="725"/>
              </a:spcBef>
            </a:pPr>
            <a:r>
              <a:rPr sz="2400" i="1" kern="0" spc="-20" dirty="0">
                <a:solidFill>
                  <a:srgbClr val="000000">
                    <a:alpha val="100000"/>
                  </a:srgbClr>
                </a:solidFill>
                <a:latin typeface="Times New Roman" panose="02020603050405020304"/>
                <a:ea typeface="Times New Roman" panose="02020603050405020304"/>
                <a:cs typeface="Times New Roman" panose="02020603050405020304"/>
              </a:rPr>
              <a:t>b</a:t>
            </a:r>
            <a:r>
              <a:rPr sz="2400" kern="0" spc="-20" baseline="-16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10.21</a:t>
            </a:r>
            <a:r>
              <a:rPr sz="24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是参数</a:t>
            </a:r>
            <a:r>
              <a:rPr sz="2400" kern="0" spc="-20" dirty="0">
                <a:solidFill>
                  <a:srgbClr val="000000">
                    <a:alpha val="100000"/>
                  </a:srgbClr>
                </a:solidFill>
                <a:latin typeface="Arial" panose="020B0604020202020204"/>
                <a:ea typeface="Arial" panose="020B0604020202020204"/>
                <a:cs typeface="Arial" panose="020B0604020202020204"/>
              </a:rPr>
              <a:t>β</a:t>
            </a:r>
            <a:r>
              <a:rPr sz="2400" kern="0" spc="-30" baseline="-16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的估计值，解释为：当家户的周</a:t>
            </a:r>
            <a:endParaRPr sz="2400" dirty="0">
              <a:latin typeface="宋体" panose="02010600030101010101" pitchFamily="2" charset="-122"/>
              <a:ea typeface="宋体" panose="02010600030101010101" pitchFamily="2" charset="-122"/>
              <a:cs typeface="宋体" panose="02010600030101010101" pitchFamily="2" charset="-122"/>
            </a:endParaRPr>
          </a:p>
          <a:p>
            <a:pPr marL="574675" indent="7620" algn="l" rtl="0" eaLnBrk="0">
              <a:lnSpc>
                <a:spcPct val="145000"/>
              </a:lnSpc>
              <a:spcBef>
                <a:spcPts val="30"/>
              </a:spcBef>
            </a:pP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收入增加</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100</a:t>
            </a:r>
            <a:r>
              <a:rPr sz="24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美元，</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家户的平均食品支出预期将增加</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10.21</a:t>
            </a:r>
            <a:r>
              <a:rPr sz="2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美元。</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5000"/>
              </a:lnSpc>
            </a:pPr>
            <a:endParaRPr sz="1000" dirty="0">
              <a:latin typeface="Arial" panose="020B0604020202020204"/>
              <a:ea typeface="Arial" panose="020B0604020202020204"/>
              <a:cs typeface="Arial" panose="020B0604020202020204"/>
            </a:endParaRPr>
          </a:p>
          <a:p>
            <a:pPr marL="1254125" algn="l" rtl="0" eaLnBrk="0">
              <a:lnSpc>
                <a:spcPts val="3000"/>
              </a:lnSpc>
              <a:spcBef>
                <a:spcPts val="720"/>
              </a:spcBef>
            </a:pPr>
            <a:r>
              <a:rPr sz="2400" i="1" kern="0" spc="-20" dirty="0">
                <a:solidFill>
                  <a:srgbClr val="000000">
                    <a:alpha val="100000"/>
                  </a:srgbClr>
                </a:solidFill>
                <a:latin typeface="Times New Roman" panose="02020603050405020304"/>
                <a:ea typeface="Times New Roman" panose="02020603050405020304"/>
                <a:cs typeface="Times New Roman" panose="02020603050405020304"/>
              </a:rPr>
              <a:t>b</a:t>
            </a:r>
            <a:r>
              <a:rPr sz="2400" kern="0" spc="-2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15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83.42</a:t>
            </a:r>
            <a:r>
              <a:rPr sz="24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是参数</a:t>
            </a:r>
            <a:r>
              <a:rPr sz="2400" kern="0" spc="-20" dirty="0">
                <a:solidFill>
                  <a:srgbClr val="000000">
                    <a:alpha val="100000"/>
                  </a:srgbClr>
                </a:solidFill>
                <a:latin typeface="Arial" panose="020B0604020202020204"/>
                <a:ea typeface="Arial" panose="020B0604020202020204"/>
                <a:cs typeface="Arial" panose="020B0604020202020204"/>
              </a:rPr>
              <a:t>β</a:t>
            </a:r>
            <a:r>
              <a:rPr sz="2400" kern="0" spc="-2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15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的估计值，解释为：收入为</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0</a:t>
            </a:r>
            <a:r>
              <a:rPr sz="24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的家</a:t>
            </a:r>
            <a:endParaRPr sz="2400" dirty="0">
              <a:latin typeface="宋体" panose="02010600030101010101" pitchFamily="2" charset="-122"/>
              <a:ea typeface="宋体" panose="02010600030101010101" pitchFamily="2" charset="-122"/>
              <a:cs typeface="宋体" panose="02010600030101010101" pitchFamily="2" charset="-122"/>
            </a:endParaRPr>
          </a:p>
          <a:p>
            <a:pPr marL="916305" algn="l" rtl="0" eaLnBrk="0">
              <a:lnSpc>
                <a:spcPts val="3720"/>
              </a:lnSpc>
            </a:pPr>
            <a:r>
              <a:rPr sz="2400" kern="0" spc="-1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户平均每周的食品支出。</a:t>
            </a:r>
            <a:endParaRPr sz="2400" dirty="0">
              <a:latin typeface="宋体" panose="02010600030101010101" pitchFamily="2" charset="-122"/>
              <a:ea typeface="宋体" panose="02010600030101010101" pitchFamily="2" charset="-122"/>
              <a:cs typeface="宋体" panose="02010600030101010101" pitchFamily="2" charset="-122"/>
            </a:endParaRPr>
          </a:p>
          <a:p>
            <a:pPr marL="1361440" algn="l" rtl="0" eaLnBrk="0">
              <a:lnSpc>
                <a:spcPct val="86000"/>
              </a:lnSpc>
              <a:spcBef>
                <a:spcPts val="1920"/>
              </a:spcBef>
            </a:pPr>
            <a:r>
              <a:rPr sz="2400" b="1" u="sng"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弹性</a:t>
            </a:r>
            <a:endParaRPr sz="24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50000"/>
              </a:lnSpc>
            </a:pPr>
            <a:endParaRPr sz="1000" dirty="0">
              <a:latin typeface="Arial" panose="020B0604020202020204"/>
              <a:ea typeface="Arial" panose="020B0604020202020204"/>
              <a:cs typeface="Arial" panose="020B0604020202020204"/>
            </a:endParaRPr>
          </a:p>
          <a:p>
            <a:pPr marL="1205230" algn="l" rtl="0" eaLnBrk="0">
              <a:lnSpc>
                <a:spcPct val="85000"/>
              </a:lnSpc>
              <a:spcBef>
                <a:spcPts val="710"/>
              </a:spcBef>
            </a:pPr>
            <a:r>
              <a:rPr sz="3600" kern="0" spc="0" baseline="-60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在线性经济模型中，有</a:t>
            </a:r>
            <a:r>
              <a:rPr sz="3600" kern="0" spc="-10" baseline="-60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3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endParaRPr sz="23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marL="1205230" algn="l" rtl="0" eaLnBrk="0">
              <a:lnSpc>
                <a:spcPct val="89000"/>
              </a:lnSpc>
              <a:spcBef>
                <a:spcPts val="725"/>
              </a:spcBef>
            </a:pP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平均支出对收入的弹性为</a:t>
            </a: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endParaRPr sz="2400" dirty="0">
              <a:latin typeface="宋体" panose="02010600030101010101" pitchFamily="2" charset="-122"/>
              <a:ea typeface="宋体" panose="02010600030101010101" pitchFamily="2" charset="-122"/>
              <a:cs typeface="宋体" panose="02010600030101010101" pitchFamily="2" charset="-122"/>
            </a:endParaRPr>
          </a:p>
          <a:p>
            <a:pPr marL="1206500" algn="l" rtl="0" eaLnBrk="0">
              <a:lnSpc>
                <a:spcPts val="3540"/>
              </a:lnSpc>
              <a:spcBef>
                <a:spcPts val="1825"/>
              </a:spcBef>
            </a:pPr>
            <a:r>
              <a:rPr sz="24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通常计算的弹性是在均值点上的弹性</a:t>
            </a:r>
            <a:r>
              <a:rPr sz="18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16000"/>
              </a:lnSpc>
            </a:pPr>
            <a:endParaRPr sz="300" dirty="0">
              <a:latin typeface="Arial" panose="020B0604020202020204"/>
              <a:ea typeface="Arial" panose="020B0604020202020204"/>
              <a:cs typeface="Arial" panose="020B0604020202020204"/>
            </a:endParaRPr>
          </a:p>
          <a:p>
            <a:pPr marL="124460" algn="l" rtl="0" eaLnBrk="0">
              <a:lnSpc>
                <a:spcPct val="79000"/>
              </a:lnSpc>
            </a:pPr>
            <a:r>
              <a:rPr sz="1300" kern="0" spc="0" dirty="0">
                <a:solidFill>
                  <a:srgbClr val="FFFFFF">
                    <a:alpha val="100000"/>
                  </a:srgbClr>
                </a:solidFill>
                <a:latin typeface="Franklin Gothic Book" panose="020B0503020102020204"/>
                <a:ea typeface="Franklin Gothic Book" panose="020B0503020102020204"/>
                <a:cs typeface="Franklin Gothic Book" panose="020B0503020102020204"/>
              </a:rPr>
              <a:t>                                                                                                             </a:t>
            </a:r>
            <a:endParaRPr sz="1300" dirty="0">
              <a:latin typeface="Franklin Gothic Book" panose="020B0503020102020204"/>
              <a:ea typeface="Franklin Gothic Book" panose="020B0503020102020204"/>
              <a:cs typeface="Franklin Gothic Book" panose="020B0503020102020204"/>
            </a:endParaRPr>
          </a:p>
        </p:txBody>
      </p:sp>
      <p:pic>
        <p:nvPicPr>
          <p:cNvPr id="456" name="picture 456"/>
          <p:cNvPicPr>
            <a:picLocks noChangeAspect="1"/>
          </p:cNvPicPr>
          <p:nvPr/>
        </p:nvPicPr>
        <p:blipFill>
          <a:blip r:embed="rId1"/>
          <a:stretch>
            <a:fillRect/>
          </a:stretch>
        </p:blipFill>
        <p:spPr>
          <a:xfrm rot="21600000">
            <a:off x="5028431" y="6167744"/>
            <a:ext cx="3268709" cy="509692"/>
          </a:xfrm>
          <a:prstGeom prst="rect">
            <a:avLst/>
          </a:prstGeom>
        </p:spPr>
      </p:pic>
      <p:pic>
        <p:nvPicPr>
          <p:cNvPr id="458" name="picture 458"/>
          <p:cNvPicPr>
            <a:picLocks noChangeAspect="1"/>
          </p:cNvPicPr>
          <p:nvPr/>
        </p:nvPicPr>
        <p:blipFill>
          <a:blip r:embed="rId2"/>
          <a:stretch>
            <a:fillRect/>
          </a:stretch>
        </p:blipFill>
        <p:spPr>
          <a:xfrm rot="21600000">
            <a:off x="4732781" y="4988810"/>
            <a:ext cx="4078356" cy="655656"/>
          </a:xfrm>
          <a:prstGeom prst="rect">
            <a:avLst/>
          </a:prstGeom>
        </p:spPr>
      </p:pic>
      <p:pic>
        <p:nvPicPr>
          <p:cNvPr id="460" name="picture 460"/>
          <p:cNvPicPr>
            <a:picLocks noChangeAspect="1"/>
          </p:cNvPicPr>
          <p:nvPr/>
        </p:nvPicPr>
        <p:blipFill>
          <a:blip r:embed="rId3"/>
          <a:stretch>
            <a:fillRect/>
          </a:stretch>
        </p:blipFill>
        <p:spPr>
          <a:xfrm rot="21600000">
            <a:off x="4748870" y="4256878"/>
            <a:ext cx="1167073" cy="58958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textbox 464"/>
          <p:cNvSpPr/>
          <p:nvPr/>
        </p:nvSpPr>
        <p:spPr>
          <a:xfrm>
            <a:off x="51307" y="57403"/>
            <a:ext cx="9039225" cy="6718934"/>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25095" algn="l" rtl="0" eaLnBrk="0">
              <a:lnSpc>
                <a:spcPct val="80000"/>
              </a:lnSpc>
              <a:spcBef>
                <a:spcPts val="5"/>
              </a:spcBef>
            </a:pPr>
            <a:endParaRPr sz="1300" dirty="0">
              <a:latin typeface="Franklin Gothic Book" panose="020B0503020102020204"/>
              <a:ea typeface="Franklin Gothic Book" panose="020B0503020102020204"/>
              <a:cs typeface="Franklin Gothic Book" panose="020B0503020102020204"/>
            </a:endParaRPr>
          </a:p>
        </p:txBody>
      </p:sp>
      <p:pic>
        <p:nvPicPr>
          <p:cNvPr id="466" name="picture 466"/>
          <p:cNvPicPr>
            <a:picLocks noChangeAspect="1"/>
          </p:cNvPicPr>
          <p:nvPr/>
        </p:nvPicPr>
        <p:blipFill>
          <a:blip r:embed="rId1"/>
          <a:stretch>
            <a:fillRect/>
          </a:stretch>
        </p:blipFill>
        <p:spPr>
          <a:xfrm rot="21600000">
            <a:off x="610362" y="1556766"/>
            <a:ext cx="8034527" cy="338404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4" name="table 874"/>
          <p:cNvGraphicFramePr>
            <a:graphicFrameLocks noGrp="1"/>
          </p:cNvGraphicFramePr>
          <p:nvPr/>
        </p:nvGraphicFramePr>
        <p:xfrm>
          <a:off x="60832" y="66928"/>
          <a:ext cx="9019540" cy="6699250"/>
        </p:xfrm>
        <a:graphic>
          <a:graphicData uri="http://schemas.openxmlformats.org/drawingml/2006/table">
            <a:tbl>
              <a:tblPr/>
              <a:tblGrid>
                <a:gridCol w="9019540"/>
              </a:tblGrid>
              <a:tr h="5855970">
                <a:tc>
                  <a:txBody>
                    <a:bodyPr/>
                    <a:lstStyle/>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017395" algn="l" rtl="0" eaLnBrk="0">
                        <a:lnSpc>
                          <a:spcPct val="87000"/>
                        </a:lnSpc>
                      </a:pPr>
                      <a:r>
                        <a:rPr sz="2800" b="1" kern="0" spc="-10" dirty="0" err="1">
                          <a:solidFill>
                            <a:srgbClr val="000000">
                              <a:alpha val="100000"/>
                            </a:srgbClr>
                          </a:solidFill>
                          <a:latin typeface="幼圆" panose="02010509060101010101" charset="-122"/>
                          <a:ea typeface="幼圆" panose="02010509060101010101" charset="-122"/>
                          <a:cs typeface="幼圆" panose="02010509060101010101" charset="-122"/>
                        </a:rPr>
                        <a:t>第</a:t>
                      </a:r>
                      <a:r>
                        <a:rPr lang="en-US" sz="2800" b="1" kern="0" spc="-10" dirty="0" err="1">
                          <a:solidFill>
                            <a:srgbClr val="000000">
                              <a:alpha val="100000"/>
                            </a:srgbClr>
                          </a:solidFill>
                          <a:latin typeface="幼圆" panose="02010509060101010101" charset="-122"/>
                          <a:ea typeface="幼圆" panose="02010509060101010101" charset="-122"/>
                          <a:cs typeface="幼圆" panose="02010509060101010101" charset="-122"/>
                        </a:rPr>
                        <a:t>五</a:t>
                      </a:r>
                      <a:r>
                        <a:rPr sz="2800" b="1" kern="0" spc="-10" dirty="0" err="1">
                          <a:solidFill>
                            <a:srgbClr val="000000">
                              <a:alpha val="100000"/>
                            </a:srgbClr>
                          </a:solidFill>
                          <a:latin typeface="幼圆" panose="02010509060101010101" charset="-122"/>
                          <a:ea typeface="幼圆" panose="02010509060101010101" charset="-122"/>
                          <a:cs typeface="幼圆" panose="02010509060101010101" charset="-122"/>
                        </a:rPr>
                        <a:t>节</a:t>
                      </a:r>
                      <a:r>
                        <a:rPr lang="zh-CN" altLang="en-US" sz="2800" b="1" kern="0" spc="-10" dirty="0">
                          <a:solidFill>
                            <a:srgbClr val="000000">
                              <a:alpha val="100000"/>
                            </a:srgbClr>
                          </a:solidFill>
                          <a:latin typeface="幼圆" panose="02010509060101010101" charset="-122"/>
                          <a:ea typeface="幼圆" panose="02010509060101010101" charset="-122"/>
                          <a:cs typeface="幼圆" panose="02010509060101010101" charset="-122"/>
                        </a:rPr>
                        <a:t> </a:t>
                      </a:r>
                      <a:r>
                        <a:rPr sz="2800" kern="0" spc="-620" dirty="0">
                          <a:solidFill>
                            <a:srgbClr val="000000">
                              <a:alpha val="100000"/>
                            </a:srgbClr>
                          </a:solidFill>
                          <a:latin typeface="幼圆" panose="02010509060101010101" charset="-122"/>
                          <a:ea typeface="幼圆" panose="02010509060101010101" charset="-122"/>
                          <a:cs typeface="幼圆" panose="02010509060101010101" charset="-122"/>
                        </a:rPr>
                        <a:t> </a:t>
                      </a:r>
                      <a:r>
                        <a:rPr lang="zh-CN" altLang="en-US" sz="2800" kern="0" spc="-620" dirty="0">
                          <a:solidFill>
                            <a:srgbClr val="000000">
                              <a:alpha val="100000"/>
                            </a:srgbClr>
                          </a:solidFill>
                          <a:latin typeface="幼圆" panose="02010509060101010101" charset="-122"/>
                          <a:ea typeface="幼圆" panose="02010509060101010101" charset="-122"/>
                          <a:cs typeface="幼圆" panose="02010509060101010101" charset="-122"/>
                        </a:rPr>
                        <a:t> </a:t>
                      </a:r>
                      <a:r>
                        <a:rPr sz="2800" b="1" kern="0" spc="-10" dirty="0" err="1">
                          <a:solidFill>
                            <a:srgbClr val="000000">
                              <a:alpha val="100000"/>
                            </a:srgbClr>
                          </a:solidFill>
                          <a:latin typeface="幼圆" panose="02010509060101010101" charset="-122"/>
                          <a:ea typeface="幼圆" panose="02010509060101010101" charset="-122"/>
                          <a:cs typeface="幼圆" panose="02010509060101010101" charset="-122"/>
                        </a:rPr>
                        <a:t>最小二乘估计量的概率分布</a:t>
                      </a:r>
                      <a:endParaRPr sz="2800" dirty="0">
                        <a:latin typeface="幼圆" panose="02010509060101010101" charset="-122"/>
                        <a:ea typeface="幼圆" panose="02010509060101010101" charset="-122"/>
                        <a:cs typeface="幼圆" panose="02010509060101010101" charset="-122"/>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1255395" indent="-288925" algn="l" rtl="0" eaLnBrk="0">
                        <a:lnSpc>
                          <a:spcPct val="93000"/>
                        </a:lnSpc>
                        <a:spcBef>
                          <a:spcPts val="725"/>
                        </a:spcBef>
                      </a:pPr>
                      <a:r>
                        <a:rPr sz="20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如果正态性假设成立（有关误差项的假设</a:t>
                      </a:r>
                      <a:r>
                        <a:rPr sz="2400" kern="0" spc="-20" dirty="0">
                          <a:solidFill>
                            <a:srgbClr val="000000">
                              <a:alpha val="100000"/>
                            </a:srgbClr>
                          </a:solidFill>
                          <a:latin typeface="Perpetua" panose="02020502060401020303"/>
                          <a:ea typeface="Perpetua" panose="02020502060401020303"/>
                          <a:cs typeface="Perpetua" panose="02020502060401020303"/>
                        </a:rPr>
                        <a:t>SR6</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则最</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50" dirty="0">
                          <a:solidFill>
                            <a:srgbClr val="000000">
                              <a:alpha val="100000"/>
                            </a:srgbClr>
                          </a:solidFill>
                          <a:latin typeface="楷体" panose="02010609060101010101" charset="-122"/>
                          <a:ea typeface="楷体" panose="02010609060101010101" charset="-122"/>
                          <a:cs typeface="楷体" panose="02010609060101010101" charset="-122"/>
                        </a:rPr>
                        <a:t>小二乘估计量服从正</a:t>
                      </a:r>
                      <a:r>
                        <a:rPr sz="2400" kern="0" spc="-60" dirty="0">
                          <a:solidFill>
                            <a:srgbClr val="000000">
                              <a:alpha val="100000"/>
                            </a:srgbClr>
                          </a:solidFill>
                          <a:latin typeface="楷体" panose="02010609060101010101" charset="-122"/>
                          <a:ea typeface="楷体" panose="02010609060101010101" charset="-122"/>
                          <a:cs typeface="楷体" panose="02010609060101010101" charset="-122"/>
                        </a:rPr>
                        <a:t>态分布：</a:t>
                      </a:r>
                      <a:endParaRPr sz="2400" dirty="0">
                        <a:latin typeface="楷体" panose="02010609060101010101" charset="-122"/>
                        <a:ea typeface="楷体" panose="02010609060101010101" charset="-122"/>
                        <a:cs typeface="楷体" panose="02010609060101010101" charset="-122"/>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marL="2974340" algn="l" rtl="0" eaLnBrk="0">
                        <a:lnSpc>
                          <a:spcPts val="8935"/>
                        </a:lnSpc>
                        <a:spcBef>
                          <a:spcPts val="310"/>
                        </a:spcBef>
                        <a:tabLst>
                          <a:tab pos="64992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9000"/>
                        </a:lnSpc>
                      </a:pPr>
                      <a:endParaRPr sz="200" dirty="0">
                        <a:latin typeface="Arial" panose="020B0604020202020204"/>
                        <a:ea typeface="Arial" panose="020B0604020202020204"/>
                        <a:cs typeface="Arial" panose="020B0604020202020204"/>
                      </a:endParaRPr>
                    </a:p>
                    <a:p>
                      <a:pPr marL="2974340" algn="l" rtl="0" eaLnBrk="0">
                        <a:lnSpc>
                          <a:spcPts val="8945"/>
                        </a:lnSpc>
                        <a:spcBef>
                          <a:spcPts val="0"/>
                        </a:spcBef>
                        <a:tabLst>
                          <a:tab pos="62845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43280">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marL="221615" algn="l" rtl="0" eaLnBrk="0">
                        <a:lnSpc>
                          <a:spcPct val="80000"/>
                        </a:lnSpc>
                        <a:spcBef>
                          <a:spcPts val="0"/>
                        </a:spcBef>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70</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876" name="picture 876"/>
          <p:cNvPicPr>
            <a:picLocks noChangeAspect="1"/>
          </p:cNvPicPr>
          <p:nvPr/>
        </p:nvPicPr>
        <p:blipFill>
          <a:blip r:embed="rId1"/>
          <a:stretch>
            <a:fillRect/>
          </a:stretch>
        </p:blipFill>
        <p:spPr>
          <a:xfrm rot="21600000">
            <a:off x="3035691" y="4499409"/>
            <a:ext cx="3310369" cy="1136173"/>
          </a:xfrm>
          <a:prstGeom prst="rect">
            <a:avLst/>
          </a:prstGeom>
        </p:spPr>
      </p:pic>
      <p:pic>
        <p:nvPicPr>
          <p:cNvPr id="878" name="picture 878"/>
          <p:cNvPicPr>
            <a:picLocks noChangeAspect="1"/>
          </p:cNvPicPr>
          <p:nvPr/>
        </p:nvPicPr>
        <p:blipFill>
          <a:blip r:embed="rId2"/>
          <a:stretch>
            <a:fillRect/>
          </a:stretch>
        </p:blipFill>
        <p:spPr>
          <a:xfrm rot="21600000">
            <a:off x="3035674" y="2593599"/>
            <a:ext cx="3525333" cy="113474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8" name="table 888"/>
          <p:cNvGraphicFramePr>
            <a:graphicFrameLocks noGrp="1"/>
          </p:cNvGraphicFramePr>
          <p:nvPr/>
        </p:nvGraphicFramePr>
        <p:xfrm>
          <a:off x="60832" y="66928"/>
          <a:ext cx="9019539" cy="6699249"/>
        </p:xfrm>
        <a:graphic>
          <a:graphicData uri="http://schemas.openxmlformats.org/drawingml/2006/table">
            <a:tbl>
              <a:tblPr/>
              <a:tblGrid>
                <a:gridCol w="1985645"/>
                <a:gridCol w="7033894"/>
              </a:tblGrid>
              <a:tr h="5928359">
                <a:tc gridSpan="2">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marL="2750820" algn="l" rtl="0" eaLnBrk="0">
                        <a:lnSpc>
                          <a:spcPct val="85000"/>
                        </a:lnSpc>
                        <a:spcBef>
                          <a:spcPts val="5"/>
                        </a:spcBef>
                      </a:pPr>
                      <a:r>
                        <a:rPr sz="2500" b="1" kern="0" spc="90" dirty="0">
                          <a:solidFill>
                            <a:srgbClr val="000000">
                              <a:alpha val="100000"/>
                            </a:srgbClr>
                          </a:solidFill>
                          <a:latin typeface="幼圆" panose="02010509060101010101" charset="-122"/>
                          <a:ea typeface="幼圆" panose="02010509060101010101" charset="-122"/>
                          <a:cs typeface="幼圆" panose="02010509060101010101" charset="-122"/>
                        </a:rPr>
                        <a:t>估计最小二乘估计量的方差</a:t>
                      </a:r>
                      <a:endParaRPr sz="2500" dirty="0">
                        <a:latin typeface="幼圆" panose="02010509060101010101" charset="-122"/>
                        <a:ea typeface="幼圆" panose="02010509060101010101" charset="-122"/>
                        <a:cs typeface="幼圆" panose="02010509060101010101"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966470" algn="l" rtl="0" eaLnBrk="0">
                        <a:lnSpc>
                          <a:spcPct val="90000"/>
                        </a:lnSpc>
                        <a:spcBef>
                          <a:spcPts val="725"/>
                        </a:spcBef>
                      </a:pPr>
                      <a:r>
                        <a:rPr sz="20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如果假设</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E(e</a:t>
                      </a:r>
                      <a:r>
                        <a:rPr sz="1200" kern="0" spc="-70" dirty="0">
                          <a:solidFill>
                            <a:srgbClr val="000000">
                              <a:alpha val="100000"/>
                            </a:srgbClr>
                          </a:solidFill>
                          <a:latin typeface="Times New Roman" panose="02020603050405020304"/>
                          <a:ea typeface="Times New Roman" panose="02020603050405020304"/>
                          <a:cs typeface="Times New Roman" panose="02020603050405020304"/>
                        </a:rPr>
                        <a:t>i</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)=0</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成立，则随机误差项</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e</a:t>
                      </a:r>
                      <a:r>
                        <a:rPr sz="1200" kern="0" spc="-70" dirty="0">
                          <a:solidFill>
                            <a:srgbClr val="000000">
                              <a:alpha val="100000"/>
                            </a:srgbClr>
                          </a:solidFill>
                          <a:latin typeface="Times New Roman" panose="02020603050405020304"/>
                          <a:ea typeface="Times New Roman" panose="02020603050405020304"/>
                          <a:cs typeface="Times New Roman" panose="02020603050405020304"/>
                        </a:rPr>
                        <a:t>i</a:t>
                      </a:r>
                      <a:r>
                        <a:rPr sz="12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的方差等于：</a:t>
                      </a:r>
                      <a:endParaRPr sz="2400" dirty="0">
                        <a:latin typeface="楷体" panose="02010609060101010101" charset="-122"/>
                        <a:ea typeface="楷体" panose="02010609060101010101" charset="-122"/>
                        <a:cs typeface="楷体" panose="02010609060101010101" charset="-122"/>
                      </a:endParaRPr>
                    </a:p>
                    <a:p>
                      <a:pPr marL="2553970" algn="l" rtl="0" eaLnBrk="0">
                        <a:lnSpc>
                          <a:spcPts val="3260"/>
                        </a:lnSpc>
                        <a:spcBef>
                          <a:spcPts val="1925"/>
                        </a:spcBef>
                      </a:pPr>
                      <a:r>
                        <a:rPr sz="2600" kern="0" spc="0" dirty="0">
                          <a:solidFill>
                            <a:srgbClr val="000000">
                              <a:alpha val="100000"/>
                            </a:srgbClr>
                          </a:solidFill>
                          <a:latin typeface="Times New Roman" panose="02020603050405020304"/>
                          <a:ea typeface="Times New Roman" panose="02020603050405020304"/>
                          <a:cs typeface="Times New Roman" panose="02020603050405020304"/>
                        </a:rPr>
                        <a:t>var</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0" baseline="-19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Arial" panose="020B0604020202020204"/>
                          <a:ea typeface="Arial" panose="020B0604020202020204"/>
                          <a:cs typeface="Arial" panose="020B0604020202020204"/>
                        </a:rPr>
                        <a:t>= </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σ</a:t>
                      </a:r>
                      <a:r>
                        <a:rPr sz="2300" kern="0" spc="30" baseline="6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Arial" panose="020B0604020202020204"/>
                          <a:ea typeface="Arial" panose="020B0604020202020204"/>
                          <a:cs typeface="Arial" panose="020B0604020202020204"/>
                        </a:rPr>
                        <a:t>= </a:t>
                      </a:r>
                      <a:r>
                        <a:rPr sz="2600" i="1"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0" baseline="-19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Arial" panose="020B0604020202020204"/>
                          <a:ea typeface="Arial" panose="020B0604020202020204"/>
                          <a:cs typeface="Arial" panose="020B0604020202020204"/>
                        </a:rPr>
                        <a:t>-</a:t>
                      </a:r>
                      <a:r>
                        <a:rPr sz="2600" kern="0" spc="-250" dirty="0">
                          <a:solidFill>
                            <a:srgbClr val="000000">
                              <a:alpha val="100000"/>
                            </a:srgbClr>
                          </a:solidFill>
                          <a:latin typeface="Arial" panose="020B0604020202020204"/>
                          <a:ea typeface="Arial" panose="020B0604020202020204"/>
                          <a:cs typeface="Arial" panose="020B0604020202020204"/>
                        </a:rPr>
                        <a:t> </a:t>
                      </a:r>
                      <a:r>
                        <a:rPr sz="2600" i="1"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0" baseline="-19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30" baseline="6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Arial" panose="020B0604020202020204"/>
                          <a:ea typeface="Arial" panose="020B0604020202020204"/>
                          <a:cs typeface="Arial" panose="020B0604020202020204"/>
                        </a:rPr>
                        <a:t>= </a:t>
                      </a:r>
                      <a:r>
                        <a:rPr sz="2600" i="1"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0" baseline="-19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30" baseline="63000" dirty="0">
                          <a:solidFill>
                            <a:srgbClr val="000000">
                              <a:alpha val="100000"/>
                            </a:srgbClr>
                          </a:solidFill>
                          <a:latin typeface="Times New Roman" panose="02020603050405020304"/>
                          <a:ea typeface="Times New Roman" panose="02020603050405020304"/>
                          <a:cs typeface="Times New Roman" panose="02020603050405020304"/>
                        </a:rPr>
                        <a:t>2</a:t>
                      </a:r>
                      <a:endParaRPr sz="2300" baseline="63000" dirty="0">
                        <a:latin typeface="Times New Roman" panose="02020603050405020304"/>
                        <a:ea typeface="Times New Roman" panose="02020603050405020304"/>
                        <a:cs typeface="Times New Roman" panose="02020603050405020304"/>
                      </a:endParaRPr>
                    </a:p>
                    <a:p>
                      <a:pPr algn="l" rtl="0" eaLnBrk="0">
                        <a:lnSpc>
                          <a:spcPct val="129000"/>
                        </a:lnSpc>
                      </a:pPr>
                      <a:endParaRPr sz="1000" dirty="0">
                        <a:latin typeface="Arial" panose="020B0604020202020204"/>
                        <a:ea typeface="Arial" panose="020B0604020202020204"/>
                        <a:cs typeface="Arial" panose="020B0604020202020204"/>
                      </a:endParaRPr>
                    </a:p>
                    <a:p>
                      <a:pPr marL="1237615" indent="-271145" algn="l" rtl="0" eaLnBrk="0">
                        <a:lnSpc>
                          <a:spcPct val="107000"/>
                        </a:lnSpc>
                        <a:spcBef>
                          <a:spcPts val="725"/>
                        </a:spcBef>
                      </a:pPr>
                      <a:r>
                        <a:rPr sz="20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“期望”即为平均值，因此可以利用干扰项平方的平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均值来估计</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σ2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2400" dirty="0">
                        <a:latin typeface="楷体" panose="02010609060101010101" charset="-122"/>
                        <a:ea typeface="楷体" panose="02010609060101010101" charset="-122"/>
                        <a:cs typeface="楷体" panose="02010609060101010101" charset="-122"/>
                      </a:endParaRPr>
                    </a:p>
                    <a:p>
                      <a:pPr marL="3847465" algn="l" rtl="0" eaLnBrk="0">
                        <a:lnSpc>
                          <a:spcPts val="6375"/>
                        </a:lnSpc>
                        <a:spcBef>
                          <a:spcPts val="800"/>
                        </a:spcBef>
                        <a:tabLst>
                          <a:tab pos="52451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36000"/>
                        </a:lnSpc>
                      </a:pPr>
                      <a:endParaRPr sz="1000" dirty="0">
                        <a:latin typeface="Arial" panose="020B0604020202020204"/>
                        <a:ea typeface="Arial" panose="020B0604020202020204"/>
                        <a:cs typeface="Arial" panose="020B0604020202020204"/>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966470" algn="l" rtl="0" eaLnBrk="0">
                        <a:lnSpc>
                          <a:spcPct val="86000"/>
                        </a:lnSpc>
                      </a:pPr>
                      <a:r>
                        <a:rPr sz="20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40" dirty="0">
                          <a:solidFill>
                            <a:srgbClr val="000000">
                              <a:alpha val="100000"/>
                            </a:srgbClr>
                          </a:solidFill>
                          <a:latin typeface="楷体" panose="02010609060101010101" charset="-122"/>
                          <a:ea typeface="楷体" panose="02010609060101010101" charset="-122"/>
                          <a:cs typeface="楷体" panose="02010609060101010101" charset="-122"/>
                        </a:rPr>
                        <a:t>其中，干扰项等于：</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70890">
                <a:tc>
                  <a:txBody>
                    <a:bodyPr/>
                    <a:lstStyle/>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marL="221615" algn="l" rtl="0" eaLnBrk="0">
                        <a:lnSpc>
                          <a:spcPct val="80000"/>
                        </a:lnSpc>
                        <a:spcBef>
                          <a:spcPts val="5"/>
                        </a:spcBef>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72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5000"/>
                        </a:lnSpc>
                      </a:pPr>
                      <a:endParaRPr sz="900" dirty="0">
                        <a:latin typeface="Arial" panose="020B0604020202020204"/>
                        <a:ea typeface="Arial" panose="020B0604020202020204"/>
                        <a:cs typeface="Arial" panose="020B0604020202020204"/>
                      </a:endParaRPr>
                    </a:p>
                    <a:p>
                      <a:pPr marL="1443355" algn="l" rtl="0" eaLnBrk="0">
                        <a:lnSpc>
                          <a:spcPct val="92000"/>
                        </a:lnSpc>
                        <a:spcBef>
                          <a:spcPts val="5"/>
                        </a:spcBef>
                      </a:pPr>
                      <a:r>
                        <a:rPr sz="4000" i="1" kern="0" spc="0" baseline="400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140" baseline="4000" dirty="0">
                          <a:solidFill>
                            <a:srgbClr val="000000">
                              <a:alpha val="100000"/>
                            </a:srgbClr>
                          </a:solidFill>
                          <a:latin typeface="Arial" panose="020B0604020202020204"/>
                          <a:ea typeface="Arial" panose="020B0604020202020204"/>
                          <a:cs typeface="Arial" panose="020B0604020202020204"/>
                        </a:rPr>
                        <a:t>=</a:t>
                      </a:r>
                      <a:r>
                        <a:rPr sz="2600" kern="0" spc="-70" dirty="0">
                          <a:solidFill>
                            <a:srgbClr val="000000">
                              <a:alpha val="100000"/>
                            </a:srgbClr>
                          </a:solidFill>
                          <a:latin typeface="Arial" panose="020B0604020202020204"/>
                          <a:ea typeface="Arial" panose="020B0604020202020204"/>
                          <a:cs typeface="Arial" panose="020B0604020202020204"/>
                        </a:rPr>
                        <a:t> </a:t>
                      </a:r>
                      <a:r>
                        <a:rPr sz="4000" i="1" kern="0" spc="0" baseline="4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140" baseline="4000" dirty="0">
                          <a:solidFill>
                            <a:srgbClr val="000000">
                              <a:alpha val="100000"/>
                            </a:srgbClr>
                          </a:solidFill>
                          <a:latin typeface="Arial" panose="020B0604020202020204"/>
                          <a:ea typeface="Arial" panose="020B0604020202020204"/>
                          <a:cs typeface="Arial" panose="020B0604020202020204"/>
                        </a:rPr>
                        <a:t>-</a:t>
                      </a:r>
                      <a:r>
                        <a:rPr sz="2600" kern="0" spc="-260" dirty="0">
                          <a:solidFill>
                            <a:srgbClr val="000000">
                              <a:alpha val="100000"/>
                            </a:srgbClr>
                          </a:solidFill>
                          <a:latin typeface="Arial" panose="020B0604020202020204"/>
                          <a:ea typeface="Arial" panose="020B0604020202020204"/>
                          <a:cs typeface="Arial" panose="020B0604020202020204"/>
                        </a:rPr>
                        <a:t> </a:t>
                      </a:r>
                      <a:r>
                        <a:rPr sz="4000" kern="0" spc="140" baseline="40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4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4000" kern="0" spc="140" baseline="4000" dirty="0">
                          <a:solidFill>
                            <a:srgbClr val="000000">
                              <a:alpha val="100000"/>
                            </a:srgbClr>
                          </a:solidFill>
                          <a:latin typeface="Arial" panose="020B0604020202020204"/>
                          <a:ea typeface="Arial" panose="020B0604020202020204"/>
                          <a:cs typeface="Arial" panose="020B0604020202020204"/>
                        </a:rPr>
                        <a:t>-</a:t>
                      </a:r>
                      <a:r>
                        <a:rPr sz="2600" kern="0" spc="-250" dirty="0">
                          <a:solidFill>
                            <a:srgbClr val="000000">
                              <a:alpha val="100000"/>
                            </a:srgbClr>
                          </a:solidFill>
                          <a:latin typeface="Arial" panose="020B0604020202020204"/>
                          <a:ea typeface="Arial" panose="020B0604020202020204"/>
                          <a:cs typeface="Arial" panose="020B0604020202020204"/>
                        </a:rPr>
                        <a:t> </a:t>
                      </a:r>
                      <a:r>
                        <a:rPr sz="4000" kern="0" spc="140" baseline="40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14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4000" i="1" kern="0" spc="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endParaRPr sz="2300" baseline="-230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890" name="picture 890"/>
          <p:cNvPicPr>
            <a:picLocks noChangeAspect="1"/>
          </p:cNvPicPr>
          <p:nvPr/>
        </p:nvPicPr>
        <p:blipFill>
          <a:blip r:embed="rId1"/>
          <a:stretch>
            <a:fillRect/>
          </a:stretch>
        </p:blipFill>
        <p:spPr>
          <a:xfrm rot="21600000">
            <a:off x="3908790" y="4229458"/>
            <a:ext cx="1397819" cy="80964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4" name="table 894"/>
          <p:cNvGraphicFramePr>
            <a:graphicFrameLocks noGrp="1"/>
          </p:cNvGraphicFramePr>
          <p:nvPr/>
        </p:nvGraphicFramePr>
        <p:xfrm>
          <a:off x="60832" y="66928"/>
          <a:ext cx="9019540" cy="6699250"/>
        </p:xfrm>
        <a:graphic>
          <a:graphicData uri="http://schemas.openxmlformats.org/drawingml/2006/table">
            <a:tbl>
              <a:tblPr/>
              <a:tblGrid>
                <a:gridCol w="9019540"/>
              </a:tblGrid>
              <a:tr h="6038850">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marL="1237615" indent="-271145" algn="l" rtl="0" eaLnBrk="0">
                        <a:lnSpc>
                          <a:spcPct val="93000"/>
                        </a:lnSpc>
                        <a:spcBef>
                          <a:spcPts val="0"/>
                        </a:spcBef>
                      </a:pPr>
                      <a:r>
                        <a:rPr sz="20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利用最小二乘估计量替换未知参数，获得最小二乘残</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60" dirty="0">
                          <a:solidFill>
                            <a:srgbClr val="000000">
                              <a:alpha val="100000"/>
                            </a:srgbClr>
                          </a:solidFill>
                          <a:latin typeface="楷体" panose="02010609060101010101" charset="-122"/>
                          <a:ea typeface="楷体" panose="02010609060101010101" charset="-122"/>
                          <a:cs typeface="楷体" panose="02010609060101010101" charset="-122"/>
                        </a:rPr>
                        <a:t>差：</a:t>
                      </a:r>
                      <a:endParaRPr sz="2400" dirty="0">
                        <a:latin typeface="楷体" panose="02010609060101010101" charset="-122"/>
                        <a:ea typeface="楷体" panose="02010609060101010101" charset="-122"/>
                        <a:cs typeface="楷体" panose="0201060906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2972435" algn="l" rtl="0" eaLnBrk="0">
                        <a:lnSpc>
                          <a:spcPct val="92000"/>
                        </a:lnSpc>
                        <a:spcBef>
                          <a:spcPts val="790"/>
                        </a:spcBef>
                        <a:tabLst>
                          <a:tab pos="2978785" algn="l"/>
                        </a:tabLst>
                      </a:pPr>
                      <a:r>
                        <a:rPr sz="1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17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70" dirty="0">
                          <a:solidFill>
                            <a:srgbClr val="000000">
                              <a:alpha val="100000"/>
                            </a:srgbClr>
                          </a:solidFill>
                          <a:latin typeface="Arial" panose="020B0604020202020204"/>
                          <a:ea typeface="Arial" panose="020B0604020202020204"/>
                          <a:cs typeface="Arial" panose="020B0604020202020204"/>
                        </a:rPr>
                        <a:t>=</a:t>
                      </a:r>
                      <a:r>
                        <a:rPr sz="2600" kern="0" spc="-70" dirty="0">
                          <a:solidFill>
                            <a:srgbClr val="000000">
                              <a:alpha val="100000"/>
                            </a:srgbClr>
                          </a:solidFill>
                          <a:latin typeface="Arial" panose="020B0604020202020204"/>
                          <a:ea typeface="Arial" panose="020B0604020202020204"/>
                          <a:cs typeface="Arial" panose="020B06040202020202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70" dirty="0">
                          <a:solidFill>
                            <a:srgbClr val="000000">
                              <a:alpha val="100000"/>
                            </a:srgbClr>
                          </a:solidFill>
                          <a:latin typeface="Arial" panose="020B0604020202020204"/>
                          <a:ea typeface="Arial" panose="020B0604020202020204"/>
                          <a:cs typeface="Arial" panose="020B0604020202020204"/>
                        </a:rPr>
                        <a:t>-</a:t>
                      </a:r>
                      <a:r>
                        <a:rPr sz="2600" kern="0" spc="210" dirty="0">
                          <a:solidFill>
                            <a:srgbClr val="000000">
                              <a:alpha val="100000"/>
                            </a:srgbClr>
                          </a:solidFill>
                          <a:latin typeface="Arial" panose="020B0604020202020204"/>
                          <a:ea typeface="Arial" panose="020B0604020202020204"/>
                          <a:cs typeface="Arial" panose="020B0604020202020204"/>
                        </a:rPr>
                        <a:t>  </a:t>
                      </a:r>
                      <a:r>
                        <a:rPr sz="2300" i="1" kern="0" spc="17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70" dirty="0">
                          <a:solidFill>
                            <a:srgbClr val="000000">
                              <a:alpha val="100000"/>
                            </a:srgbClr>
                          </a:solidFill>
                          <a:latin typeface="Arial" panose="020B0604020202020204"/>
                          <a:ea typeface="Arial" panose="020B0604020202020204"/>
                          <a:cs typeface="Arial" panose="020B0604020202020204"/>
                        </a:rPr>
                        <a:t>=</a:t>
                      </a:r>
                      <a:r>
                        <a:rPr sz="2600" kern="0" spc="-80" dirty="0">
                          <a:solidFill>
                            <a:srgbClr val="000000">
                              <a:alpha val="100000"/>
                            </a:srgbClr>
                          </a:solidFill>
                          <a:latin typeface="Arial" panose="020B0604020202020204"/>
                          <a:ea typeface="Arial" panose="020B0604020202020204"/>
                          <a:cs typeface="Arial" panose="020B06040202020202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70" dirty="0">
                          <a:solidFill>
                            <a:srgbClr val="000000">
                              <a:alpha val="100000"/>
                            </a:srgbClr>
                          </a:solidFill>
                          <a:latin typeface="Arial" panose="020B0604020202020204"/>
                          <a:ea typeface="Arial" panose="020B0604020202020204"/>
                          <a:cs typeface="Arial" panose="020B0604020202020204"/>
                        </a:rPr>
                        <a:t>-</a:t>
                      </a:r>
                      <a:r>
                        <a:rPr sz="2600" i="1" kern="0" spc="17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16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60" dirty="0">
                          <a:solidFill>
                            <a:srgbClr val="000000">
                              <a:alpha val="100000"/>
                            </a:srgbClr>
                          </a:solidFill>
                          <a:latin typeface="Arial" panose="020B0604020202020204"/>
                          <a:ea typeface="Arial" panose="020B0604020202020204"/>
                          <a:cs typeface="Arial" panose="020B0604020202020204"/>
                        </a:rPr>
                        <a:t>-</a:t>
                      </a:r>
                      <a:r>
                        <a:rPr sz="2600" i="1" kern="0" spc="16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16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endParaRPr sz="2300" baseline="-25000" dirty="0">
                        <a:latin typeface="Times New Roman" panose="02020603050405020304"/>
                        <a:ea typeface="Times New Roman" panose="02020603050405020304"/>
                        <a:cs typeface="Times New Roman" panose="02020603050405020304"/>
                      </a:endParaRPr>
                    </a:p>
                    <a:p>
                      <a:pPr marL="3801110" algn="l" rtl="0" eaLnBrk="0">
                        <a:lnSpc>
                          <a:spcPts val="6365"/>
                        </a:lnSpc>
                        <a:spcBef>
                          <a:spcPts val="1125"/>
                        </a:spcBef>
                        <a:tabLst>
                          <a:tab pos="520319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60000"/>
                        </a:lnSpc>
                      </a:pPr>
                      <a:endParaRPr sz="1000" dirty="0">
                        <a:latin typeface="Arial" panose="020B0604020202020204"/>
                        <a:ea typeface="Arial" panose="020B0604020202020204"/>
                        <a:cs typeface="Arial" panose="020B0604020202020204"/>
                      </a:endParaRPr>
                    </a:p>
                    <a:p>
                      <a:pPr marL="966470" algn="l" rtl="0" eaLnBrk="0">
                        <a:lnSpc>
                          <a:spcPct val="86000"/>
                        </a:lnSpc>
                        <a:spcBef>
                          <a:spcPts val="730"/>
                        </a:spcBef>
                      </a:pPr>
                      <a:r>
                        <a:rPr sz="20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为保证获得无偏估</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计量，作如下修正:</a:t>
                      </a:r>
                      <a:endParaRPr sz="2400" dirty="0">
                        <a:latin typeface="楷体" panose="02010609060101010101" charset="-122"/>
                        <a:ea typeface="楷体" panose="02010609060101010101" charset="-122"/>
                        <a:cs typeface="楷体" panose="02010609060101010101" charset="-122"/>
                      </a:endParaRPr>
                    </a:p>
                    <a:p>
                      <a:pPr algn="l" rtl="0" eaLnBrk="0">
                        <a:lnSpc>
                          <a:spcPct val="188000"/>
                        </a:lnSpc>
                      </a:pPr>
                      <a:endParaRPr sz="1000" dirty="0">
                        <a:latin typeface="Arial" panose="020B0604020202020204"/>
                        <a:ea typeface="Arial" panose="020B0604020202020204"/>
                        <a:cs typeface="Arial" panose="020B0604020202020204"/>
                      </a:endParaRPr>
                    </a:p>
                    <a:p>
                      <a:pPr marL="3571875" algn="l" rtl="0" eaLnBrk="0">
                        <a:lnSpc>
                          <a:spcPts val="6985"/>
                        </a:lnSpc>
                        <a:spcBef>
                          <a:spcPts val="300"/>
                        </a:spcBef>
                        <a:tabLst>
                          <a:tab pos="540956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966470" algn="l" rtl="0" eaLnBrk="0">
                        <a:lnSpc>
                          <a:spcPct val="84000"/>
                        </a:lnSpc>
                        <a:spcBef>
                          <a:spcPts val="0"/>
                        </a:spcBef>
                      </a:pPr>
                      <a:r>
                        <a:rPr sz="20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80" dirty="0">
                          <a:solidFill>
                            <a:srgbClr val="000000">
                              <a:alpha val="100000"/>
                            </a:srgbClr>
                          </a:solidFill>
                          <a:latin typeface="楷体" panose="02010609060101010101" charset="-122"/>
                          <a:ea typeface="楷体" panose="02010609060101010101" charset="-122"/>
                          <a:cs typeface="楷体" panose="02010609060101010101" charset="-122"/>
                        </a:rPr>
                        <a:t>从而保证：</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660400">
                <a:tc>
                  <a:txBody>
                    <a:bodyPr/>
                    <a:lstStyle/>
                    <a:p>
                      <a:pPr algn="l" rtl="0" eaLnBrk="0">
                        <a:lnSpc>
                          <a:spcPct val="180000"/>
                        </a:lnSpc>
                      </a:pPr>
                      <a:endParaRPr sz="1000" dirty="0">
                        <a:latin typeface="Arial" panose="020B0604020202020204"/>
                        <a:ea typeface="Arial" panose="020B0604020202020204"/>
                        <a:cs typeface="Arial" panose="020B0604020202020204"/>
                      </a:endParaRPr>
                    </a:p>
                    <a:p>
                      <a:pPr marL="221615" algn="l" rtl="0" eaLnBrk="0">
                        <a:lnSpc>
                          <a:spcPct val="80000"/>
                        </a:lnSpc>
                        <a:spcBef>
                          <a:spcPts val="0"/>
                        </a:spcBef>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73</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896" name="picture 896"/>
          <p:cNvPicPr>
            <a:picLocks noChangeAspect="1"/>
          </p:cNvPicPr>
          <p:nvPr/>
        </p:nvPicPr>
        <p:blipFill>
          <a:blip r:embed="rId1"/>
          <a:stretch>
            <a:fillRect/>
          </a:stretch>
        </p:blipFill>
        <p:spPr>
          <a:xfrm rot="21600000">
            <a:off x="3825511" y="5507339"/>
            <a:ext cx="1484752" cy="494134"/>
          </a:xfrm>
          <a:prstGeom prst="rect">
            <a:avLst/>
          </a:prstGeom>
        </p:spPr>
      </p:pic>
      <p:pic>
        <p:nvPicPr>
          <p:cNvPr id="898" name="picture 898"/>
          <p:cNvPicPr>
            <a:picLocks noChangeAspect="1"/>
          </p:cNvPicPr>
          <p:nvPr/>
        </p:nvPicPr>
        <p:blipFill>
          <a:blip r:embed="rId2"/>
          <a:stretch>
            <a:fillRect/>
          </a:stretch>
        </p:blipFill>
        <p:spPr>
          <a:xfrm rot="21600000">
            <a:off x="3632825" y="4007840"/>
            <a:ext cx="1837815" cy="887350"/>
          </a:xfrm>
          <a:prstGeom prst="rect">
            <a:avLst/>
          </a:prstGeom>
        </p:spPr>
      </p:pic>
      <p:pic>
        <p:nvPicPr>
          <p:cNvPr id="900" name="picture 900"/>
          <p:cNvPicPr>
            <a:picLocks noChangeAspect="1"/>
          </p:cNvPicPr>
          <p:nvPr/>
        </p:nvPicPr>
        <p:blipFill>
          <a:blip r:embed="rId3"/>
          <a:stretch>
            <a:fillRect/>
          </a:stretch>
        </p:blipFill>
        <p:spPr>
          <a:xfrm rot="21600000">
            <a:off x="3862013" y="2223804"/>
            <a:ext cx="1402327" cy="808434"/>
          </a:xfrm>
          <a:prstGeom prst="rect">
            <a:avLst/>
          </a:prstGeom>
        </p:spPr>
      </p:pic>
      <p:sp>
        <p:nvSpPr>
          <p:cNvPr id="902" name="textbox 902"/>
          <p:cNvSpPr/>
          <p:nvPr/>
        </p:nvSpPr>
        <p:spPr>
          <a:xfrm>
            <a:off x="4023971" y="1703669"/>
            <a:ext cx="202564" cy="371475"/>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87000"/>
              </a:lnSpc>
            </a:pPr>
            <a:r>
              <a:rPr sz="2600" i="1" kern="0" spc="220" dirty="0">
                <a:solidFill>
                  <a:srgbClr val="000000">
                    <a:alpha val="100000"/>
                  </a:srgbClr>
                </a:solidFill>
                <a:latin typeface="Times New Roman" panose="02020603050405020304"/>
                <a:ea typeface="Times New Roman" panose="02020603050405020304"/>
                <a:cs typeface="Times New Roman" panose="02020603050405020304"/>
              </a:rPr>
              <a:t>y</a:t>
            </a:r>
            <a:endParaRPr sz="2600" dirty="0">
              <a:latin typeface="Times New Roman" panose="02020603050405020304"/>
              <a:ea typeface="Times New Roman" panose="02020603050405020304"/>
              <a:cs typeface="Times New Roman" panose="02020603050405020304"/>
            </a:endParaRPr>
          </a:p>
        </p:txBody>
      </p:sp>
      <p:sp>
        <p:nvSpPr>
          <p:cNvPr id="904" name="textbox 904"/>
          <p:cNvSpPr/>
          <p:nvPr/>
        </p:nvSpPr>
        <p:spPr>
          <a:xfrm>
            <a:off x="4056845" y="1688400"/>
            <a:ext cx="128270" cy="3327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415"/>
              </a:lnSpc>
            </a:pPr>
            <a:r>
              <a:rPr sz="18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
        <p:nvSpPr>
          <p:cNvPr id="906" name="textbox 906"/>
          <p:cNvSpPr/>
          <p:nvPr/>
        </p:nvSpPr>
        <p:spPr>
          <a:xfrm>
            <a:off x="2886992" y="1703669"/>
            <a:ext cx="165735" cy="332740"/>
          </a:xfrm>
          <a:prstGeom prst="rect">
            <a:avLst/>
          </a:prstGeom>
          <a:noFill/>
          <a:ln w="0" cap="flat">
            <a:noFill/>
            <a:prstDash val="solid"/>
            <a:miter lim="0"/>
          </a:ln>
        </p:spPr>
        <p:txBody>
          <a:bodyPr vert="horz" wrap="square" lIns="0" tIns="0" rIns="0" bIns="0"/>
          <a:lstStyle/>
          <a:p>
            <a:pPr algn="l" rtl="0" eaLnBrk="0">
              <a:lnSpc>
                <a:spcPct val="71000"/>
              </a:lnSpc>
            </a:pPr>
            <a:endParaRPr sz="100" dirty="0">
              <a:latin typeface="Arial" panose="020B0604020202020204"/>
              <a:ea typeface="Arial" panose="020B0604020202020204"/>
              <a:cs typeface="Arial" panose="020B0604020202020204"/>
            </a:endParaRPr>
          </a:p>
          <a:p>
            <a:pPr marL="12700" algn="l" rtl="0" eaLnBrk="0">
              <a:lnSpc>
                <a:spcPct val="78000"/>
              </a:lnSpc>
            </a:pPr>
            <a:r>
              <a:rPr sz="2600" i="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2600" dirty="0">
              <a:latin typeface="Times New Roman" panose="02020603050405020304"/>
              <a:ea typeface="Times New Roman" panose="02020603050405020304"/>
              <a:cs typeface="Times New Roman" panose="02020603050405020304"/>
            </a:endParaRPr>
          </a:p>
        </p:txBody>
      </p:sp>
      <p:sp>
        <p:nvSpPr>
          <p:cNvPr id="908" name="textbox 908"/>
          <p:cNvSpPr/>
          <p:nvPr/>
        </p:nvSpPr>
        <p:spPr>
          <a:xfrm>
            <a:off x="2924279" y="1688400"/>
            <a:ext cx="128270" cy="3327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415"/>
              </a:lnSpc>
            </a:pPr>
            <a:r>
              <a:rPr sz="18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 name="textbox 998"/>
          <p:cNvSpPr/>
          <p:nvPr/>
        </p:nvSpPr>
        <p:spPr>
          <a:xfrm>
            <a:off x="34290" y="57150"/>
            <a:ext cx="9056370" cy="6751320"/>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1873885" algn="l" rtl="0" eaLnBrk="0">
              <a:lnSpc>
                <a:spcPct val="86000"/>
              </a:lnSpc>
              <a:spcBef>
                <a:spcPts val="0"/>
              </a:spcBef>
            </a:pPr>
            <a:r>
              <a:rPr sz="2800" b="1" kern="0" spc="-10" dirty="0">
                <a:solidFill>
                  <a:srgbClr val="000000">
                    <a:alpha val="100000"/>
                  </a:srgbClr>
                </a:solidFill>
                <a:latin typeface="幼圆" panose="02010509060101010101" charset="-122"/>
                <a:ea typeface="幼圆" panose="02010509060101010101" charset="-122"/>
                <a:cs typeface="幼圆" panose="02010509060101010101" charset="-122"/>
              </a:rPr>
              <a:t>第六节：应用</a:t>
            </a:r>
            <a:r>
              <a:rPr sz="2800" b="1" kern="0" spc="-10" dirty="0">
                <a:solidFill>
                  <a:srgbClr val="000000">
                    <a:alpha val="100000"/>
                  </a:srgbClr>
                </a:solidFill>
                <a:latin typeface="Franklin Gothic Book" panose="020B0503020102020204"/>
                <a:ea typeface="Franklin Gothic Book" panose="020B0503020102020204"/>
                <a:cs typeface="Franklin Gothic Book" panose="020B0503020102020204"/>
              </a:rPr>
              <a:t>OLS</a:t>
            </a:r>
            <a:r>
              <a:rPr sz="2800" b="1" kern="0" spc="-10" dirty="0">
                <a:solidFill>
                  <a:srgbClr val="000000">
                    <a:alpha val="100000"/>
                  </a:srgbClr>
                </a:solidFill>
                <a:latin typeface="幼圆" panose="02010509060101010101" charset="-122"/>
                <a:ea typeface="幼圆" panose="02010509060101010101" charset="-122"/>
                <a:cs typeface="幼圆" panose="02010509060101010101" charset="-122"/>
              </a:rPr>
              <a:t>估计非线性关系</a:t>
            </a:r>
            <a:endParaRPr sz="2800" dirty="0">
              <a:latin typeface="幼圆" panose="02010509060101010101" charset="-122"/>
              <a:ea typeface="幼圆" panose="02010509060101010101" charset="-122"/>
              <a:cs typeface="幼圆" panose="020105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1559560" algn="l" rtl="0" eaLnBrk="0">
              <a:lnSpc>
                <a:spcPct val="83000"/>
              </a:lnSpc>
              <a:spcBef>
                <a:spcPts val="720"/>
              </a:spcBef>
            </a:pP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经济变量并未总是直接的线性联系；事实上，许多</a:t>
            </a:r>
            <a:endParaRPr sz="2400" dirty="0">
              <a:latin typeface="楷体" panose="02010609060101010101" charset="-122"/>
              <a:ea typeface="楷体" panose="02010609060101010101" charset="-122"/>
              <a:cs typeface="楷体" panose="02010609060101010101" charset="-122"/>
            </a:endParaRPr>
          </a:p>
          <a:p>
            <a:pPr marL="919480" algn="l" rtl="0" eaLnBrk="0">
              <a:lnSpc>
                <a:spcPts val="4030"/>
              </a:lnSpc>
            </a:pP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经济关系呈现出曲线联系，我们称</a:t>
            </a:r>
            <a:r>
              <a:rPr sz="2400" kern="0" spc="-80" dirty="0">
                <a:solidFill>
                  <a:srgbClr val="000000">
                    <a:alpha val="100000"/>
                  </a:srgbClr>
                </a:solidFill>
                <a:latin typeface="楷体" panose="02010609060101010101" charset="-122"/>
                <a:ea typeface="楷体" panose="02010609060101010101" charset="-122"/>
                <a:cs typeface="楷体" panose="02010609060101010101" charset="-122"/>
              </a:rPr>
              <a:t>之为曲线形式。</a:t>
            </a:r>
            <a:endParaRPr sz="2400" dirty="0">
              <a:latin typeface="楷体" panose="02010609060101010101" charset="-122"/>
              <a:ea typeface="楷体" panose="02010609060101010101" charset="-122"/>
              <a:cs typeface="楷体" panose="02010609060101010101" charset="-122"/>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578610" algn="l" rtl="0" eaLnBrk="0">
              <a:lnSpc>
                <a:spcPts val="3000"/>
              </a:lnSpc>
              <a:spcBef>
                <a:spcPts val="720"/>
              </a:spcBef>
            </a:pP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简单线性回归模型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y = β</a:t>
            </a:r>
            <a:r>
              <a:rPr sz="2400" kern="0" spc="-20" baseline="-17000" dirty="0">
                <a:solidFill>
                  <a:srgbClr val="000000">
                    <a:alpha val="100000"/>
                  </a:srgbClr>
                </a:solidFill>
                <a:latin typeface="Times New Roman" panose="02020603050405020304"/>
                <a:ea typeface="Times New Roman" panose="02020603050405020304"/>
                <a:cs typeface="Times New Roman" panose="02020603050405020304"/>
              </a:rPr>
              <a:t>1</a:t>
            </a:r>
            <a:r>
              <a:rPr sz="15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 β</a:t>
            </a:r>
            <a:r>
              <a:rPr sz="2400" kern="0" spc="-20" baseline="-17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 e</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可以表示变量间的</a:t>
            </a:r>
            <a:endParaRPr sz="2400" dirty="0">
              <a:latin typeface="楷体" panose="02010609060101010101" charset="-122"/>
              <a:ea typeface="楷体" panose="02010609060101010101" charset="-122"/>
              <a:cs typeface="楷体" panose="02010609060101010101" charset="-122"/>
            </a:endParaRPr>
          </a:p>
          <a:p>
            <a:pPr marL="916940" indent="-4445" algn="l" rtl="0" eaLnBrk="0">
              <a:lnSpc>
                <a:spcPct val="137000"/>
              </a:lnSpc>
              <a:spcBef>
                <a:spcPts val="20"/>
              </a:spcBef>
            </a:pP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非线性关系，因为变量</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y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和</a:t>
            </a:r>
            <a:r>
              <a:rPr sz="2400" kern="0" spc="-58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可以转换形</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式，包括取变量</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的对数、平方项、立方</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项或者倒数，以及取值为</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0</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或</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的     </a:t>
            </a:r>
            <a:r>
              <a:rPr sz="2400" kern="0" spc="-80" dirty="0">
                <a:solidFill>
                  <a:srgbClr val="000000">
                    <a:alpha val="100000"/>
                  </a:srgbClr>
                </a:solidFill>
                <a:latin typeface="楷体" panose="02010609060101010101" charset="-122"/>
                <a:ea typeface="楷体" panose="02010609060101010101" charset="-122"/>
                <a:cs typeface="楷体" panose="02010609060101010101" charset="-122"/>
              </a:rPr>
              <a:t>指示变量。</a:t>
            </a:r>
            <a:endParaRPr sz="2400" dirty="0">
              <a:latin typeface="楷体" panose="02010609060101010101" charset="-122"/>
              <a:ea typeface="楷体" panose="02010609060101010101" charset="-122"/>
              <a:cs typeface="楷体" panose="02010609060101010101" charset="-122"/>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marL="1566545" algn="l" rtl="0" eaLnBrk="0">
              <a:lnSpc>
                <a:spcPct val="89000"/>
              </a:lnSpc>
              <a:spcBef>
                <a:spcPts val="725"/>
              </a:spcBef>
            </a:pP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包括这些可能的取值，简单线性回归模型可以用于</a:t>
            </a:r>
            <a:endParaRPr sz="2400" dirty="0">
              <a:latin typeface="楷体" panose="02010609060101010101" charset="-122"/>
              <a:ea typeface="楷体" panose="02010609060101010101" charset="-122"/>
              <a:cs typeface="楷体" panose="02010609060101010101" charset="-122"/>
            </a:endParaRPr>
          </a:p>
          <a:p>
            <a:pPr algn="l" rtl="0" eaLnBrk="0">
              <a:lnSpc>
                <a:spcPct val="101000"/>
              </a:lnSpc>
            </a:pPr>
            <a:endParaRPr sz="12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32080" algn="l" rtl="0" eaLnBrk="0">
              <a:lnSpc>
                <a:spcPct val="86000"/>
              </a:lnSpc>
            </a:pPr>
            <a:r>
              <a:rPr sz="1300" kern="0" spc="0" dirty="0">
                <a:solidFill>
                  <a:srgbClr val="FFFFFF">
                    <a:alpha val="100000"/>
                  </a:srgbClr>
                </a:solidFill>
                <a:latin typeface="Franklin Gothic Book" panose="020B0503020102020204"/>
                <a:ea typeface="Franklin Gothic Book" panose="020B0503020102020204"/>
                <a:cs typeface="Franklin Gothic Book" panose="020B0503020102020204"/>
              </a:rPr>
              <a:t>             </a:t>
            </a:r>
            <a:r>
              <a:rPr lang="en-US" sz="1300" kern="0" spc="0" dirty="0">
                <a:solidFill>
                  <a:srgbClr val="FFFFFF">
                    <a:alpha val="100000"/>
                  </a:srgbClr>
                </a:solidFill>
                <a:latin typeface="Franklin Gothic Book" panose="020B0503020102020204"/>
                <a:ea typeface="Franklin Gothic Book" panose="020B0503020102020204"/>
                <a:cs typeface="Franklin Gothic Book" panose="020B0503020102020204"/>
              </a:rPr>
              <a:t>     </a:t>
            </a:r>
            <a:r>
              <a:rPr sz="2400" kern="0" spc="-120" dirty="0">
                <a:solidFill>
                  <a:srgbClr val="000000">
                    <a:alpha val="100000"/>
                  </a:srgbClr>
                </a:solidFill>
                <a:latin typeface="楷体" panose="02010609060101010101" charset="-122"/>
                <a:ea typeface="楷体" panose="02010609060101010101" charset="-122"/>
                <a:cs typeface="楷体" panose="02010609060101010101" charset="-122"/>
              </a:rPr>
              <a:t>考虑变量间的非线性</a:t>
            </a:r>
            <a:r>
              <a:rPr sz="2400" kern="0" spc="-130" dirty="0">
                <a:solidFill>
                  <a:srgbClr val="000000">
                    <a:alpha val="100000"/>
                  </a:srgbClr>
                </a:solidFill>
                <a:latin typeface="楷体" panose="02010609060101010101" charset="-122"/>
                <a:ea typeface="楷体" panose="02010609060101010101" charset="-122"/>
                <a:cs typeface="楷体" panose="02010609060101010101" charset="-122"/>
              </a:rPr>
              <a:t>关系。</a:t>
            </a:r>
            <a:endParaRPr sz="24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0" name="table 1000"/>
          <p:cNvGraphicFramePr>
            <a:graphicFrameLocks noGrp="1"/>
          </p:cNvGraphicFramePr>
          <p:nvPr/>
        </p:nvGraphicFramePr>
        <p:xfrm>
          <a:off x="60832" y="66928"/>
          <a:ext cx="9019540" cy="6699249"/>
        </p:xfrm>
        <a:graphic>
          <a:graphicData uri="http://schemas.openxmlformats.org/drawingml/2006/table">
            <a:tbl>
              <a:tblPr/>
              <a:tblGrid>
                <a:gridCol w="1339850"/>
                <a:gridCol w="7679690"/>
              </a:tblGrid>
              <a:tr h="3144520">
                <a:tc gridSpan="2">
                  <a:txBody>
                    <a:bodyPr/>
                    <a:lstStyle/>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657225" algn="l" rtl="0" eaLnBrk="0">
                        <a:lnSpc>
                          <a:spcPts val="3020"/>
                        </a:lnSpc>
                      </a:pPr>
                      <a:r>
                        <a:rPr sz="22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3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500" kern="0" spc="60" dirty="0">
                          <a:solidFill>
                            <a:srgbClr val="000000">
                              <a:alpha val="100000"/>
                            </a:srgbClr>
                          </a:solidFill>
                          <a:latin typeface="楷体" panose="02010609060101010101" charset="-122"/>
                          <a:ea typeface="楷体" panose="02010609060101010101" charset="-122"/>
                          <a:cs typeface="楷体" panose="02010609060101010101" charset="-122"/>
                        </a:rPr>
                        <a:t>考虑房价的线性模型</a:t>
                      </a:r>
                      <a:r>
                        <a:rPr sz="2500" kern="0" spc="50" dirty="0">
                          <a:solidFill>
                            <a:srgbClr val="000000">
                              <a:alpha val="100000"/>
                            </a:srgbClr>
                          </a:solidFill>
                          <a:latin typeface="Perpetua" panose="02020502060401020303"/>
                          <a:ea typeface="Perpetua" panose="02020502060401020303"/>
                          <a:cs typeface="Perpetua" panose="02020502060401020303"/>
                        </a:rPr>
                        <a:t>:</a:t>
                      </a:r>
                      <a:endParaRPr sz="2500" dirty="0">
                        <a:latin typeface="Perpetua" panose="02020502060401020303"/>
                        <a:ea typeface="Perpetua" panose="02020502060401020303"/>
                        <a:cs typeface="Perpetua" panose="02020502060401020303"/>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2903855" algn="l" rtl="0" eaLnBrk="0">
                        <a:lnSpc>
                          <a:spcPct val="99000"/>
                        </a:lnSpc>
                        <a:spcBef>
                          <a:spcPts val="640"/>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i="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20" dirty="0">
                          <a:solidFill>
                            <a:srgbClr val="000000">
                              <a:alpha val="100000"/>
                            </a:srgbClr>
                          </a:solidFill>
                          <a:latin typeface="Arial" panose="020B0604020202020204"/>
                          <a:ea typeface="Arial" panose="020B0604020202020204"/>
                          <a:cs typeface="Arial" panose="020B0604020202020204"/>
                        </a:rPr>
                        <a:t>= </a:t>
                      </a:r>
                      <a:r>
                        <a:rPr sz="2100" kern="0" spc="22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4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2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20" dirty="0">
                          <a:solidFill>
                            <a:srgbClr val="000000">
                              <a:alpha val="100000"/>
                            </a:srgbClr>
                          </a:solidFill>
                          <a:latin typeface="Arial" panose="020B0604020202020204"/>
                          <a:ea typeface="Arial" panose="020B0604020202020204"/>
                          <a:cs typeface="Arial" panose="020B0604020202020204"/>
                        </a:rPr>
                        <a:t>+</a:t>
                      </a:r>
                      <a:r>
                        <a:rPr sz="2100" kern="0" spc="-130" dirty="0">
                          <a:solidFill>
                            <a:srgbClr val="000000">
                              <a:alpha val="100000"/>
                            </a:srgbClr>
                          </a:solidFill>
                          <a:latin typeface="Arial" panose="020B0604020202020204"/>
                          <a:ea typeface="Arial" panose="020B0604020202020204"/>
                          <a:cs typeface="Arial" panose="020B0604020202020204"/>
                        </a:rPr>
                        <a:t> </a:t>
                      </a:r>
                      <a:r>
                        <a:rPr sz="2100" kern="0" spc="22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22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SQFT</a:t>
                      </a:r>
                      <a:r>
                        <a:rPr sz="2100" i="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10" dirty="0">
                          <a:solidFill>
                            <a:srgbClr val="000000">
                              <a:alpha val="100000"/>
                            </a:srgbClr>
                          </a:solidFill>
                          <a:latin typeface="Arial" panose="020B0604020202020204"/>
                          <a:ea typeface="Arial" panose="020B0604020202020204"/>
                          <a:cs typeface="Arial" panose="020B0604020202020204"/>
                        </a:rPr>
                        <a:t>+</a:t>
                      </a:r>
                      <a:r>
                        <a:rPr sz="2100" kern="0" spc="-110" dirty="0">
                          <a:solidFill>
                            <a:srgbClr val="000000">
                              <a:alpha val="100000"/>
                            </a:srgbClr>
                          </a:solidFill>
                          <a:latin typeface="Arial" panose="020B0604020202020204"/>
                          <a:ea typeface="Arial" panose="020B0604020202020204"/>
                          <a:cs typeface="Arial" panose="020B0604020202020204"/>
                        </a:rPr>
                        <a:t> </a:t>
                      </a:r>
                      <a:r>
                        <a:rPr sz="2100" i="1" kern="0" spc="210" dirty="0">
                          <a:solidFill>
                            <a:srgbClr val="000000">
                              <a:alpha val="100000"/>
                            </a:srgbClr>
                          </a:solidFill>
                          <a:latin typeface="Times New Roman" panose="02020603050405020304"/>
                          <a:ea typeface="Times New Roman" panose="02020603050405020304"/>
                          <a:cs typeface="Times New Roman" panose="02020603050405020304"/>
                        </a:rPr>
                        <a:t>e</a:t>
                      </a:r>
                      <a:endParaRPr sz="2100" dirty="0">
                        <a:latin typeface="Times New Roman" panose="02020603050405020304"/>
                        <a:ea typeface="Times New Roman" panose="02020603050405020304"/>
                        <a:cs typeface="Times New Roman" panose="02020603050405020304"/>
                      </a:endParaRPr>
                    </a:p>
                    <a:p>
                      <a:pPr algn="l" rtl="0" eaLnBrk="0">
                        <a:lnSpc>
                          <a:spcPct val="125000"/>
                        </a:lnSpc>
                      </a:pPr>
                      <a:endParaRPr sz="1000" dirty="0">
                        <a:latin typeface="Arial" panose="020B0604020202020204"/>
                        <a:ea typeface="Arial" panose="020B0604020202020204"/>
                        <a:cs typeface="Arial" panose="020B0604020202020204"/>
                      </a:endParaRPr>
                    </a:p>
                    <a:p>
                      <a:pPr marL="657225" algn="l" rtl="0" eaLnBrk="0">
                        <a:lnSpc>
                          <a:spcPts val="3180"/>
                        </a:lnSpc>
                        <a:spcBef>
                          <a:spcPts val="760"/>
                        </a:spcBef>
                      </a:pPr>
                      <a:r>
                        <a:rPr sz="22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5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500" kern="0" spc="20" dirty="0">
                          <a:solidFill>
                            <a:srgbClr val="000000">
                              <a:alpha val="100000"/>
                            </a:srgbClr>
                          </a:solidFill>
                          <a:latin typeface="楷体" panose="02010609060101010101" charset="-122"/>
                          <a:ea typeface="楷体" panose="02010609060101010101" charset="-122"/>
                          <a:cs typeface="楷体" panose="02010609060101010101" charset="-122"/>
                        </a:rPr>
                        <a:t>线性模型中，建筑面积对房价的影响系数恒定为</a:t>
                      </a:r>
                      <a:r>
                        <a:rPr sz="25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25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2500" dirty="0">
                        <a:latin typeface="楷体" panose="02010609060101010101" charset="-122"/>
                        <a:ea typeface="楷体" panose="02010609060101010101" charset="-122"/>
                        <a:cs typeface="楷体" panose="02010609060101010101" charset="-122"/>
                      </a:endParaRPr>
                    </a:p>
                    <a:p>
                      <a:pPr algn="l" rtl="0" eaLnBrk="0">
                        <a:lnSpc>
                          <a:spcPct val="103000"/>
                        </a:lnSpc>
                      </a:pPr>
                      <a:endParaRPr sz="7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939800" indent="-282575" algn="l" rtl="0" eaLnBrk="0">
                        <a:lnSpc>
                          <a:spcPct val="88000"/>
                        </a:lnSpc>
                      </a:pPr>
                      <a:r>
                        <a:rPr sz="22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3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500" kern="0" spc="80" dirty="0">
                          <a:solidFill>
                            <a:srgbClr val="000000">
                              <a:alpha val="100000"/>
                            </a:srgbClr>
                          </a:solidFill>
                          <a:latin typeface="楷体" panose="02010609060101010101" charset="-122"/>
                          <a:ea typeface="楷体" panose="02010609060101010101" charset="-122"/>
                          <a:cs typeface="楷体" panose="02010609060101010101" charset="-122"/>
                        </a:rPr>
                        <a:t>更符合现实的假设是：更大更</a:t>
                      </a:r>
                      <a:r>
                        <a:rPr sz="2500" kern="0" spc="70" dirty="0">
                          <a:solidFill>
                            <a:srgbClr val="000000">
                              <a:alpha val="100000"/>
                            </a:srgbClr>
                          </a:solidFill>
                          <a:latin typeface="楷体" panose="02010609060101010101" charset="-122"/>
                          <a:ea typeface="楷体" panose="02010609060101010101" charset="-122"/>
                          <a:cs typeface="楷体" panose="02010609060101010101" charset="-122"/>
                        </a:rPr>
                        <a:t>贵的房屋与较小较低价</a:t>
                      </a:r>
                      <a:r>
                        <a:rPr sz="25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600" kern="0" spc="-20" dirty="0">
                          <a:solidFill>
                            <a:srgbClr val="000000">
                              <a:alpha val="100000"/>
                            </a:srgbClr>
                          </a:solidFill>
                          <a:latin typeface="楷体" panose="02010609060101010101" charset="-122"/>
                          <a:ea typeface="楷体" panose="02010609060101010101" charset="-122"/>
                          <a:cs typeface="楷体" panose="02010609060101010101" charset="-122"/>
                        </a:rPr>
                        <a:t>的房屋相比，每增加一平方英尺的价格提高的更多。</a:t>
                      </a:r>
                      <a:endParaRPr sz="26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3554729">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15265" algn="l" rtl="0" eaLnBrk="0">
                        <a:lnSpc>
                          <a:spcPct val="80000"/>
                        </a:lnSpc>
                        <a:spcBef>
                          <a:spcPts val="5"/>
                        </a:spcBef>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80</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1002" name="table 1002"/>
          <p:cNvGraphicFramePr>
            <a:graphicFrameLocks noGrp="1"/>
          </p:cNvGraphicFramePr>
          <p:nvPr/>
        </p:nvGraphicFramePr>
        <p:xfrm>
          <a:off x="2198814" y="3296792"/>
          <a:ext cx="4699634" cy="3400425"/>
        </p:xfrm>
        <a:graphic>
          <a:graphicData uri="http://schemas.openxmlformats.org/drawingml/2006/table">
            <a:tbl>
              <a:tblPr/>
              <a:tblGrid>
                <a:gridCol w="4699634"/>
              </a:tblGrid>
              <a:tr h="340042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D34817"/>
                      </a:solidFill>
                      <a:prstDash val="solid"/>
                      <a:round/>
                      <a:headEnd type="none" w="med" len="med"/>
                      <a:tailEnd type="none" w="med" len="med"/>
                    </a:lnL>
                    <a:lnR w="9525" cap="flat" cmpd="sng" algn="ctr">
                      <a:solidFill>
                        <a:srgbClr val="D34817"/>
                      </a:solidFill>
                      <a:prstDash val="solid"/>
                      <a:round/>
                      <a:headEnd type="none" w="med" len="med"/>
                      <a:tailEnd type="none" w="med" len="med"/>
                    </a:lnR>
                    <a:lnT w="9525" cap="flat" cmpd="sng" algn="ctr">
                      <a:solidFill>
                        <a:srgbClr val="D34817"/>
                      </a:solidFill>
                      <a:prstDash val="solid"/>
                      <a:round/>
                      <a:headEnd type="none" w="med" len="med"/>
                      <a:tailEnd type="none" w="med" len="med"/>
                    </a:lnT>
                    <a:lnB w="9525" cap="flat" cmpd="sng" algn="ctr">
                      <a:solidFill>
                        <a:srgbClr val="D34817"/>
                      </a:solidFill>
                      <a:prstDash val="solid"/>
                      <a:round/>
                      <a:headEnd type="none" w="med" len="med"/>
                      <a:tailEnd type="none" w="med" len="med"/>
                    </a:lnB>
                  </a:tcPr>
                </a:tc>
              </a:tr>
            </a:tbl>
          </a:graphicData>
        </a:graphic>
      </p:graphicFrame>
      <p:pic>
        <p:nvPicPr>
          <p:cNvPr id="1004" name="picture 1004"/>
          <p:cNvPicPr>
            <a:picLocks noChangeAspect="1"/>
          </p:cNvPicPr>
          <p:nvPr/>
        </p:nvPicPr>
        <p:blipFill>
          <a:blip r:embed="rId1"/>
          <a:stretch>
            <a:fillRect/>
          </a:stretch>
        </p:blipFill>
        <p:spPr>
          <a:xfrm rot="21600000">
            <a:off x="2208275" y="3306347"/>
            <a:ext cx="4672060" cy="338253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8" name="table 1008"/>
          <p:cNvGraphicFramePr>
            <a:graphicFrameLocks noGrp="1"/>
          </p:cNvGraphicFramePr>
          <p:nvPr/>
        </p:nvGraphicFramePr>
        <p:xfrm>
          <a:off x="60832" y="66928"/>
          <a:ext cx="9019539" cy="6699248"/>
        </p:xfrm>
        <a:graphic>
          <a:graphicData uri="http://schemas.openxmlformats.org/drawingml/2006/table">
            <a:tbl>
              <a:tblPr/>
              <a:tblGrid>
                <a:gridCol w="753744"/>
                <a:gridCol w="3865245"/>
                <a:gridCol w="4400550"/>
              </a:tblGrid>
              <a:tr h="1510664">
                <a:tc gridSpan="3">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966470" algn="l" rtl="0" eaLnBrk="0">
                        <a:lnSpc>
                          <a:spcPct val="83000"/>
                        </a:lnSpc>
                        <a:spcBef>
                          <a:spcPts val="5"/>
                        </a:spcBef>
                      </a:pPr>
                      <a:r>
                        <a:rPr sz="20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针对样本数据，可以考虑利用二次函数和对数线性函</a:t>
                      </a:r>
                      <a:endParaRPr sz="2400" dirty="0">
                        <a:latin typeface="楷体" panose="02010609060101010101" charset="-122"/>
                        <a:ea typeface="楷体" panose="02010609060101010101" charset="-122"/>
                        <a:cs typeface="楷体" panose="02010609060101010101" charset="-122"/>
                      </a:endParaRPr>
                    </a:p>
                    <a:p>
                      <a:pPr marL="1227455" algn="l" rtl="0" eaLnBrk="0">
                        <a:lnSpc>
                          <a:spcPts val="4320"/>
                        </a:lnSpc>
                      </a:pPr>
                      <a:r>
                        <a:rPr sz="2300" kern="0" spc="-140" dirty="0">
                          <a:solidFill>
                            <a:srgbClr val="000000">
                              <a:alpha val="100000"/>
                            </a:srgbClr>
                          </a:solidFill>
                          <a:latin typeface="楷体" panose="02010609060101010101" charset="-122"/>
                          <a:ea typeface="楷体" panose="02010609060101010101" charset="-122"/>
                          <a:cs typeface="楷体" panose="02010609060101010101" charset="-122"/>
                        </a:rPr>
                        <a:t>数进行拟合：</a:t>
                      </a:r>
                      <a:endParaRPr sz="23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188584">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19075" algn="l" rtl="0" eaLnBrk="0">
                        <a:lnSpc>
                          <a:spcPct val="80000"/>
                        </a:lnSpc>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81</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785495" algn="l" rtl="0" eaLnBrk="0">
                        <a:lnSpc>
                          <a:spcPts val="2250"/>
                        </a:lnSpc>
                      </a:pPr>
                      <a:r>
                        <a:rPr sz="1800" kern="0" spc="20" dirty="0">
                          <a:solidFill>
                            <a:srgbClr val="000000">
                              <a:alpha val="100000"/>
                            </a:srgbClr>
                          </a:solidFill>
                          <a:latin typeface="楷体" panose="02010609060101010101" charset="-122"/>
                          <a:ea typeface="楷体" panose="02010609060101010101" charset="-122"/>
                          <a:cs typeface="楷体" panose="02010609060101010101" charset="-122"/>
                        </a:rPr>
                        <a:t>二次函数</a:t>
                      </a:r>
                      <a:r>
                        <a:rPr sz="1800" i="1" kern="0" spc="20" dirty="0">
                          <a:solidFill>
                            <a:srgbClr val="000000">
                              <a:alpha val="100000"/>
                            </a:srgbClr>
                          </a:solidFill>
                          <a:latin typeface="Times New Roman" panose="02020603050405020304"/>
                          <a:ea typeface="Times New Roman" panose="02020603050405020304"/>
                          <a:cs typeface="Times New Roman" panose="02020603050405020304"/>
                        </a:rPr>
                        <a:t>y </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 β</a:t>
                      </a:r>
                      <a:r>
                        <a:rPr sz="1800" kern="0" spc="20" baseline="-13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β</a:t>
                      </a:r>
                      <a:r>
                        <a:rPr sz="1800" kern="0" spc="10" baseline="-13000" dirty="0">
                          <a:solidFill>
                            <a:srgbClr val="000000">
                              <a:alpha val="100000"/>
                            </a:srgbClr>
                          </a:solidFill>
                          <a:latin typeface="Times New Roman" panose="02020603050405020304"/>
                          <a:ea typeface="Times New Roman" panose="02020603050405020304"/>
                          <a:cs typeface="Times New Roman" panose="02020603050405020304"/>
                        </a:rPr>
                        <a:t>2</a:t>
                      </a:r>
                      <a:r>
                        <a:rPr sz="18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800" kern="0" spc="10" baseline="42000" dirty="0">
                          <a:solidFill>
                            <a:srgbClr val="000000">
                              <a:alpha val="100000"/>
                            </a:srgbClr>
                          </a:solidFill>
                          <a:latin typeface="Times New Roman" panose="02020603050405020304"/>
                          <a:ea typeface="Times New Roman" panose="02020603050405020304"/>
                          <a:cs typeface="Times New Roman" panose="02020603050405020304"/>
                        </a:rPr>
                        <a:t>2</a:t>
                      </a:r>
                      <a:endParaRPr sz="1800" baseline="42000" dirty="0">
                        <a:latin typeface="Times New Roman" panose="02020603050405020304"/>
                        <a:ea typeface="Times New Roman" panose="02020603050405020304"/>
                        <a:cs typeface="Times New Roman" panose="020206030504050203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593090" algn="l" rtl="0" eaLnBrk="0">
                        <a:lnSpc>
                          <a:spcPct val="100000"/>
                        </a:lnSpc>
                        <a:spcBef>
                          <a:spcPts val="600"/>
                        </a:spcBef>
                      </a:pP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slope</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30" dirty="0">
                          <a:solidFill>
                            <a:srgbClr val="000000">
                              <a:alpha val="100000"/>
                            </a:srgbClr>
                          </a:solidFill>
                          <a:latin typeface="Arial" panose="020B0604020202020204"/>
                          <a:ea typeface="Arial" panose="020B0604020202020204"/>
                          <a:cs typeface="Arial" panose="020B0604020202020204"/>
                        </a:rPr>
                        <a:t>= </a:t>
                      </a:r>
                      <a:r>
                        <a:rPr sz="2000" kern="0" spc="30" dirty="0">
                          <a:solidFill>
                            <a:srgbClr val="000000">
                              <a:alpha val="100000"/>
                            </a:srgbClr>
                          </a:solidFill>
                          <a:latin typeface="Times New Roman" panose="02020603050405020304"/>
                          <a:ea typeface="Times New Roman" panose="02020603050405020304"/>
                          <a:cs typeface="Times New Roman" panose="02020603050405020304"/>
                        </a:rPr>
                        <a:t>2</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1800" kern="0" spc="30" baseline="-29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x</a:t>
                      </a:r>
                      <a:endParaRPr sz="2000" dirty="0">
                        <a:latin typeface="Times New Roman" panose="02020603050405020304"/>
                        <a:ea typeface="Times New Roman" panose="02020603050405020304"/>
                        <a:cs typeface="Times New Roman" panose="02020603050405020304"/>
                      </a:endParaRPr>
                    </a:p>
                    <a:p>
                      <a:pPr algn="l" rtl="0" eaLnBrk="0">
                        <a:lnSpc>
                          <a:spcPct val="101000"/>
                        </a:lnSpc>
                      </a:pPr>
                      <a:endParaRPr sz="600" dirty="0">
                        <a:latin typeface="Arial" panose="020B0604020202020204"/>
                        <a:ea typeface="Arial" panose="020B0604020202020204"/>
                        <a:cs typeface="Arial" panose="020B0604020202020204"/>
                      </a:endParaRPr>
                    </a:p>
                    <a:p>
                      <a:pPr marL="568960" algn="l" rtl="0" eaLnBrk="0">
                        <a:lnSpc>
                          <a:spcPct val="100000"/>
                        </a:lnSpc>
                        <a:spcBef>
                          <a:spcPts val="5"/>
                        </a:spcBef>
                      </a:pPr>
                      <a:r>
                        <a:rPr sz="2200" kern="0" spc="150" dirty="0">
                          <a:solidFill>
                            <a:srgbClr val="000000">
                              <a:alpha val="100000"/>
                            </a:srgbClr>
                          </a:solidFill>
                          <a:latin typeface="Arial" panose="020B0604020202020204"/>
                          <a:ea typeface="Arial" panose="020B0604020202020204"/>
                          <a:cs typeface="Arial" panose="020B0604020202020204"/>
                        </a:rPr>
                        <a:t>ε</a:t>
                      </a:r>
                      <a:r>
                        <a:rPr sz="2200" kern="0" spc="-280" dirty="0">
                          <a:solidFill>
                            <a:srgbClr val="000000">
                              <a:alpha val="100000"/>
                            </a:srgbClr>
                          </a:solidFill>
                          <a:latin typeface="Arial" panose="020B0604020202020204"/>
                          <a:ea typeface="Arial" panose="020B0604020202020204"/>
                          <a:cs typeface="Arial" panose="020B0604020202020204"/>
                        </a:rPr>
                        <a:t> </a:t>
                      </a:r>
                      <a:r>
                        <a:rPr sz="2000" kern="0" spc="150" dirty="0">
                          <a:solidFill>
                            <a:srgbClr val="000000">
                              <a:alpha val="100000"/>
                            </a:srgbClr>
                          </a:solidFill>
                          <a:latin typeface="Arial" panose="020B0604020202020204"/>
                          <a:ea typeface="Arial" panose="020B0604020202020204"/>
                          <a:cs typeface="Arial" panose="020B0604020202020204"/>
                        </a:rPr>
                        <a:t>=</a:t>
                      </a:r>
                      <a:r>
                        <a:rPr sz="2000" kern="0" spc="-5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slope</a:t>
                      </a:r>
                      <a:r>
                        <a:rPr sz="2000" kern="0" spc="150" dirty="0">
                          <a:solidFill>
                            <a:srgbClr val="000000">
                              <a:alpha val="100000"/>
                            </a:srgbClr>
                          </a:solidFill>
                          <a:latin typeface="Arial" panose="020B0604020202020204"/>
                          <a:ea typeface="Arial" panose="020B0604020202020204"/>
                          <a:cs typeface="Arial" panose="020B0604020202020204"/>
                        </a:rPr>
                        <a:t>×</a:t>
                      </a:r>
                      <a:r>
                        <a:rPr sz="2000" kern="0" spc="-24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000" i="1"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000" i="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50" dirty="0">
                          <a:solidFill>
                            <a:srgbClr val="000000">
                              <a:alpha val="100000"/>
                            </a:srgbClr>
                          </a:solidFill>
                          <a:latin typeface="Arial" panose="020B0604020202020204"/>
                          <a:ea typeface="Arial" panose="020B0604020202020204"/>
                          <a:cs typeface="Arial" panose="020B0604020202020204"/>
                        </a:rPr>
                        <a:t>= </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2</a:t>
                      </a:r>
                      <a:r>
                        <a:rPr sz="2000" i="1" kern="0" spc="150" dirty="0">
                          <a:solidFill>
                            <a:srgbClr val="000000">
                              <a:alpha val="100000"/>
                            </a:srgbClr>
                          </a:solidFill>
                          <a:latin typeface="Times New Roman" panose="02020603050405020304"/>
                          <a:ea typeface="Times New Roman" panose="02020603050405020304"/>
                          <a:cs typeface="Times New Roman" panose="02020603050405020304"/>
                        </a:rPr>
                        <a:t>b</a:t>
                      </a:r>
                      <a:r>
                        <a:rPr sz="1800" kern="0" spc="150" baseline="-32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150" dirty="0">
                          <a:solidFill>
                            <a:srgbClr val="000000">
                              <a:alpha val="100000"/>
                            </a:srgbClr>
                          </a:solidFill>
                          <a:latin typeface="Times New Roman" panose="02020603050405020304"/>
                          <a:ea typeface="Times New Roman" panose="02020603050405020304"/>
                          <a:cs typeface="Times New Roman" panose="02020603050405020304"/>
                        </a:rPr>
                        <a:t>x</a:t>
                      </a:r>
                      <a:r>
                        <a:rPr sz="1800" kern="0" spc="150" baseline="52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150" dirty="0">
                          <a:solidFill>
                            <a:srgbClr val="000000">
                              <a:alpha val="100000"/>
                            </a:srgbClr>
                          </a:solidFill>
                          <a:latin typeface="Times New Roman" panose="02020603050405020304"/>
                          <a:ea typeface="Times New Roman" panose="02020603050405020304"/>
                          <a:cs typeface="Times New Roman" panose="02020603050405020304"/>
                        </a:rPr>
                        <a:t>y</a:t>
                      </a:r>
                      <a:endParaRPr sz="2000" dirty="0">
                        <a:latin typeface="Times New Roman" panose="02020603050405020304"/>
                        <a:ea typeface="Times New Roman" panose="02020603050405020304"/>
                        <a:cs typeface="Times New Roman" panose="02020603050405020304"/>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61645" algn="l" rtl="0" eaLnBrk="0">
                        <a:lnSpc>
                          <a:spcPts val="2250"/>
                        </a:lnSpc>
                      </a:pPr>
                      <a:r>
                        <a:rPr sz="1800" kern="0" spc="-10" dirty="0">
                          <a:solidFill>
                            <a:srgbClr val="000000">
                              <a:alpha val="100000"/>
                            </a:srgbClr>
                          </a:solidFill>
                          <a:latin typeface="楷体" panose="02010609060101010101" charset="-122"/>
                          <a:ea typeface="楷体" panose="02010609060101010101" charset="-122"/>
                          <a:cs typeface="楷体" panose="02010609060101010101" charset="-122"/>
                        </a:rPr>
                        <a:t>对数线性函数</a:t>
                      </a:r>
                      <a:r>
                        <a:rPr sz="1800" kern="0" spc="-400" dirty="0">
                          <a:solidFill>
                            <a:srgbClr val="000000">
                              <a:alpha val="100000"/>
                            </a:srgbClr>
                          </a:solidFill>
                          <a:latin typeface="楷体" panose="02010609060101010101" charset="-122"/>
                          <a:ea typeface="楷体" panose="02010609060101010101" charset="-122"/>
                          <a:cs typeface="楷体" panose="02010609060101010101" charset="-122"/>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ln</a:t>
                      </a:r>
                      <a:r>
                        <a:rPr sz="1800" i="1" kern="0" spc="-10" dirty="0">
                          <a:solidFill>
                            <a:srgbClr val="000000">
                              <a:alpha val="100000"/>
                            </a:srgbClr>
                          </a:solidFill>
                          <a:latin typeface="Times New Roman" panose="02020603050405020304"/>
                          <a:ea typeface="Times New Roman" panose="02020603050405020304"/>
                          <a:cs typeface="Times New Roman" panose="02020603050405020304"/>
                        </a:rPr>
                        <a:t>y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β</a:t>
                      </a:r>
                      <a:r>
                        <a:rPr sz="1800" kern="0" spc="-10" baseline="-15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 β</a:t>
                      </a:r>
                      <a:r>
                        <a:rPr sz="1800" kern="0" spc="-10" baseline="-15000" dirty="0">
                          <a:solidFill>
                            <a:srgbClr val="000000">
                              <a:alpha val="100000"/>
                            </a:srgbClr>
                          </a:solidFill>
                          <a:latin typeface="Times New Roman" panose="02020603050405020304"/>
                          <a:ea typeface="Times New Roman" panose="02020603050405020304"/>
                          <a:cs typeface="Times New Roman" panose="02020603050405020304"/>
                        </a:rPr>
                        <a:t>2</a:t>
                      </a:r>
                      <a:r>
                        <a:rPr sz="1800" i="1" kern="0" spc="-10" dirty="0">
                          <a:solidFill>
                            <a:srgbClr val="000000">
                              <a:alpha val="100000"/>
                            </a:srgbClr>
                          </a:solidFill>
                          <a:latin typeface="Times New Roman" panose="02020603050405020304"/>
                          <a:ea typeface="Times New Roman" panose="02020603050405020304"/>
                          <a:cs typeface="Times New Roman" panose="02020603050405020304"/>
                        </a:rPr>
                        <a:t>x</a:t>
                      </a:r>
                      <a:endParaRPr sz="1800" dirty="0">
                        <a:latin typeface="Times New Roman" panose="02020603050405020304"/>
                        <a:ea typeface="Times New Roman" panose="02020603050405020304"/>
                        <a:cs typeface="Times New Roman" panose="020206030504050203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803275" algn="l" rtl="0" eaLnBrk="0">
                        <a:lnSpc>
                          <a:spcPct val="99000"/>
                        </a:lnSpc>
                        <a:spcBef>
                          <a:spcPts val="635"/>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slope</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Arial" panose="020B0604020202020204"/>
                          <a:ea typeface="Arial" panose="020B0604020202020204"/>
                          <a:cs typeface="Arial" panose="020B0604020202020204"/>
                        </a:rPr>
                        <a:t>=</a:t>
                      </a:r>
                      <a:r>
                        <a:rPr sz="2100" kern="0" spc="-110" dirty="0">
                          <a:solidFill>
                            <a:srgbClr val="000000">
                              <a:alpha val="100000"/>
                            </a:srgbClr>
                          </a:solidFill>
                          <a:latin typeface="Arial" panose="020B0604020202020204"/>
                          <a:ea typeface="Arial" panose="020B0604020202020204"/>
                          <a:cs typeface="Arial" panose="020B06040202020202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b</a:t>
                      </a:r>
                      <a:r>
                        <a:rPr sz="1900" kern="0" spc="1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y</a:t>
                      </a:r>
                      <a:endParaRPr sz="2100" dirty="0">
                        <a:latin typeface="Times New Roman" panose="02020603050405020304"/>
                        <a:ea typeface="Times New Roman" panose="02020603050405020304"/>
                        <a:cs typeface="Times New Roman" panose="02020603050405020304"/>
                      </a:endParaRPr>
                    </a:p>
                    <a:p>
                      <a:pPr marL="778510" algn="l" rtl="0" eaLnBrk="0">
                        <a:lnSpc>
                          <a:spcPct val="89000"/>
                        </a:lnSpc>
                        <a:spcBef>
                          <a:spcPts val="815"/>
                        </a:spcBef>
                      </a:pPr>
                      <a:r>
                        <a:rPr sz="2200" kern="0" spc="150" dirty="0">
                          <a:solidFill>
                            <a:srgbClr val="000000">
                              <a:alpha val="100000"/>
                            </a:srgbClr>
                          </a:solidFill>
                          <a:latin typeface="Arial" panose="020B0604020202020204"/>
                          <a:ea typeface="Arial" panose="020B0604020202020204"/>
                          <a:cs typeface="Arial" panose="020B0604020202020204"/>
                        </a:rPr>
                        <a:t>ε</a:t>
                      </a:r>
                      <a:r>
                        <a:rPr sz="2200" kern="0" spc="-280" dirty="0">
                          <a:solidFill>
                            <a:srgbClr val="000000">
                              <a:alpha val="100000"/>
                            </a:srgbClr>
                          </a:solidFill>
                          <a:latin typeface="Arial" panose="020B0604020202020204"/>
                          <a:ea typeface="Arial" panose="020B0604020202020204"/>
                          <a:cs typeface="Arial" panose="020B0604020202020204"/>
                        </a:rPr>
                        <a:t> </a:t>
                      </a:r>
                      <a:r>
                        <a:rPr sz="2100" kern="0" spc="150" dirty="0">
                          <a:solidFill>
                            <a:srgbClr val="000000">
                              <a:alpha val="100000"/>
                            </a:srgbClr>
                          </a:solidFill>
                          <a:latin typeface="Arial" panose="020B0604020202020204"/>
                          <a:ea typeface="Arial" panose="020B0604020202020204"/>
                          <a:cs typeface="Arial" panose="020B0604020202020204"/>
                        </a:rPr>
                        <a:t>=</a:t>
                      </a:r>
                      <a:r>
                        <a:rPr sz="2100" kern="0" spc="-90" dirty="0">
                          <a:solidFill>
                            <a:srgbClr val="000000">
                              <a:alpha val="100000"/>
                            </a:srgbClr>
                          </a:solidFill>
                          <a:latin typeface="Arial" panose="020B0604020202020204"/>
                          <a:ea typeface="Arial" panose="020B0604020202020204"/>
                          <a:cs typeface="Arial" panose="020B06040202020202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slope</a:t>
                      </a:r>
                      <a:r>
                        <a:rPr sz="2100" kern="0" spc="150" dirty="0">
                          <a:solidFill>
                            <a:srgbClr val="000000">
                              <a:alpha val="100000"/>
                            </a:srgbClr>
                          </a:solidFill>
                          <a:latin typeface="Arial" panose="020B0604020202020204"/>
                          <a:ea typeface="Arial" panose="020B0604020202020204"/>
                          <a:cs typeface="Arial" panose="020B0604020202020204"/>
                        </a:rPr>
                        <a:t>×</a:t>
                      </a:r>
                      <a:r>
                        <a:rPr sz="2100" kern="0" spc="-280" dirty="0">
                          <a:solidFill>
                            <a:srgbClr val="000000">
                              <a:alpha val="100000"/>
                            </a:srgbClr>
                          </a:solidFill>
                          <a:latin typeface="Arial" panose="020B0604020202020204"/>
                          <a:ea typeface="Arial" panose="020B0604020202020204"/>
                          <a:cs typeface="Arial" panose="020B06040202020202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50" dirty="0">
                          <a:solidFill>
                            <a:srgbClr val="000000">
                              <a:alpha val="100000"/>
                            </a:srgbClr>
                          </a:solidFill>
                          <a:latin typeface="Arial" panose="020B0604020202020204"/>
                          <a:ea typeface="Arial" panose="020B0604020202020204"/>
                          <a:cs typeface="Arial" panose="020B0604020202020204"/>
                        </a:rPr>
                        <a:t>=</a:t>
                      </a:r>
                      <a:r>
                        <a:rPr sz="2100" kern="0" spc="-110" dirty="0">
                          <a:solidFill>
                            <a:srgbClr val="000000">
                              <a:alpha val="100000"/>
                            </a:srgbClr>
                          </a:solidFill>
                          <a:latin typeface="Arial" panose="020B0604020202020204"/>
                          <a:ea typeface="Arial" panose="020B0604020202020204"/>
                          <a:cs typeface="Arial" panose="020B0604020202020204"/>
                        </a:rPr>
                        <a:t> </a:t>
                      </a:r>
                      <a:r>
                        <a:rPr sz="2100" i="1" kern="0" spc="150" dirty="0">
                          <a:solidFill>
                            <a:srgbClr val="000000">
                              <a:alpha val="100000"/>
                            </a:srgbClr>
                          </a:solidFill>
                          <a:latin typeface="Times New Roman" panose="02020603050405020304"/>
                          <a:ea typeface="Times New Roman" panose="02020603050405020304"/>
                          <a:cs typeface="Times New Roman" panose="02020603050405020304"/>
                        </a:rPr>
                        <a:t>b</a:t>
                      </a:r>
                      <a:r>
                        <a:rPr sz="1900" kern="0" spc="15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150" dirty="0">
                          <a:solidFill>
                            <a:srgbClr val="000000">
                              <a:alpha val="100000"/>
                            </a:srgbClr>
                          </a:solidFill>
                          <a:latin typeface="Times New Roman" panose="02020603050405020304"/>
                          <a:ea typeface="Times New Roman" panose="02020603050405020304"/>
                          <a:cs typeface="Times New Roman" panose="02020603050405020304"/>
                        </a:rPr>
                        <a:t>x</a:t>
                      </a:r>
                      <a:endParaRPr sz="2100" dirty="0">
                        <a:latin typeface="Times New Roman" panose="02020603050405020304"/>
                        <a:ea typeface="Times New Roman" panose="02020603050405020304"/>
                        <a:cs typeface="Times New Roman" panose="02020603050405020304"/>
                      </a:endParaRPr>
                    </a:p>
                    <a:p>
                      <a:pPr algn="l" rtl="0" eaLnBrk="0">
                        <a:lnSpc>
                          <a:spcPct val="101000"/>
                        </a:lnSpc>
                      </a:pPr>
                      <a:endParaRPr sz="13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795655" algn="l" rtl="0" eaLnBrk="0">
                        <a:lnSpc>
                          <a:spcPts val="2725"/>
                        </a:lnSpc>
                      </a:pPr>
                      <a:r>
                        <a:rPr sz="2700" kern="0" spc="-50" baseline="1000" dirty="0">
                          <a:solidFill>
                            <a:srgbClr val="000000">
                              <a:alpha val="100000"/>
                            </a:srgbClr>
                          </a:solidFill>
                          <a:latin typeface="Times New Roman" panose="02020603050405020304"/>
                          <a:ea typeface="Times New Roman" panose="02020603050405020304"/>
                          <a:cs typeface="Times New Roman" panose="02020603050405020304"/>
                        </a:rPr>
                        <a:t>η</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50" baseline="1000" dirty="0">
                          <a:solidFill>
                            <a:srgbClr val="000000">
                              <a:alpha val="100000"/>
                            </a:srgbClr>
                          </a:solidFill>
                          <a:latin typeface="Arial" panose="020B0604020202020204"/>
                          <a:ea typeface="Arial" panose="020B0604020202020204"/>
                          <a:cs typeface="Arial" panose="020B0604020202020204"/>
                        </a:rPr>
                        <a:t>=</a:t>
                      </a:r>
                      <a:r>
                        <a:rPr sz="1700" kern="0" spc="10" dirty="0">
                          <a:solidFill>
                            <a:srgbClr val="000000">
                              <a:alpha val="100000"/>
                            </a:srgbClr>
                          </a:solidFill>
                          <a:latin typeface="Arial" panose="020B0604020202020204"/>
                          <a:ea typeface="Arial" panose="020B0604020202020204"/>
                          <a:cs typeface="Arial" panose="020B0604020202020204"/>
                        </a:rPr>
                        <a:t>               </a:t>
                      </a:r>
                      <a:r>
                        <a:rPr sz="1700" kern="0" spc="0" dirty="0">
                          <a:solidFill>
                            <a:srgbClr val="000000">
                              <a:alpha val="100000"/>
                            </a:srgbClr>
                          </a:solidFill>
                          <a:latin typeface="Arial" panose="020B0604020202020204"/>
                          <a:ea typeface="Arial" panose="020B0604020202020204"/>
                          <a:cs typeface="Arial" panose="020B0604020202020204"/>
                        </a:rPr>
                        <a:t>   </a:t>
                      </a:r>
                      <a:r>
                        <a:rPr sz="2700" kern="0" spc="-50" baseline="100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Arial" panose="020B0604020202020204"/>
                          <a:ea typeface="Arial" panose="020B0604020202020204"/>
                          <a:cs typeface="Arial" panose="020B0604020202020204"/>
                        </a:rPr>
                        <a:t> </a:t>
                      </a:r>
                      <a:r>
                        <a:rPr sz="2700" kern="0" spc="-50" baseline="1000" dirty="0">
                          <a:solidFill>
                            <a:srgbClr val="000000">
                              <a:alpha val="100000"/>
                            </a:srgbClr>
                          </a:solidFill>
                          <a:latin typeface="Times New Roman" panose="02020603050405020304"/>
                          <a:ea typeface="Times New Roman" panose="02020603050405020304"/>
                          <a:cs typeface="Times New Roman" panose="02020603050405020304"/>
                        </a:rPr>
                        <a:t>100</a:t>
                      </a:r>
                      <a:r>
                        <a:rPr sz="2700" i="1" kern="0" spc="-50" baseline="1000" dirty="0">
                          <a:solidFill>
                            <a:srgbClr val="000000">
                              <a:alpha val="100000"/>
                            </a:srgbClr>
                          </a:solidFill>
                          <a:latin typeface="Times New Roman" panose="02020603050405020304"/>
                          <a:ea typeface="Times New Roman" panose="02020603050405020304"/>
                          <a:cs typeface="Times New Roman" panose="02020603050405020304"/>
                        </a:rPr>
                        <a:t>b</a:t>
                      </a:r>
                      <a:r>
                        <a:rPr sz="1700" kern="0" spc="-10" baseline="-26000" dirty="0">
                          <a:solidFill>
                            <a:srgbClr val="000000">
                              <a:alpha val="100000"/>
                            </a:srgbClr>
                          </a:solidFill>
                          <a:latin typeface="Times New Roman" panose="02020603050405020304"/>
                          <a:ea typeface="Times New Roman" panose="02020603050405020304"/>
                          <a:cs typeface="Times New Roman" panose="02020603050405020304"/>
                        </a:rPr>
                        <a:t>2</a:t>
                      </a:r>
                      <a:endParaRPr sz="1700" baseline="-260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1010" name="picture 1010"/>
          <p:cNvPicPr>
            <a:picLocks noChangeAspect="1"/>
          </p:cNvPicPr>
          <p:nvPr/>
        </p:nvPicPr>
        <p:blipFill>
          <a:blip r:embed="rId1"/>
          <a:stretch>
            <a:fillRect/>
          </a:stretch>
        </p:blipFill>
        <p:spPr>
          <a:xfrm rot="21600000">
            <a:off x="5813393" y="6089462"/>
            <a:ext cx="985356" cy="584475"/>
          </a:xfrm>
          <a:prstGeom prst="rect">
            <a:avLst/>
          </a:prstGeom>
        </p:spPr>
      </p:pic>
      <p:sp>
        <p:nvSpPr>
          <p:cNvPr id="1012" name="path 1012"/>
          <p:cNvSpPr/>
          <p:nvPr/>
        </p:nvSpPr>
        <p:spPr>
          <a:xfrm>
            <a:off x="6773520" y="5667655"/>
            <a:ext cx="99348" cy="280379"/>
          </a:xfrm>
          <a:custGeom>
            <a:avLst/>
            <a:gdLst/>
            <a:ahLst/>
            <a:cxnLst/>
            <a:rect l="0" t="0" r="0" b="0"/>
            <a:pathLst>
              <a:path w="156" h="441">
                <a:moveTo>
                  <a:pt x="146" y="3"/>
                </a:moveTo>
                <a:lnTo>
                  <a:pt x="9" y="438"/>
                </a:lnTo>
              </a:path>
            </a:pathLst>
          </a:custGeom>
          <a:noFill/>
          <a:ln w="13214" cap="flat">
            <a:solidFill>
              <a:srgbClr val="000000"/>
            </a:solidFill>
            <a:prstDash val="solid"/>
            <a:round/>
          </a:ln>
        </p:spPr>
        <p:txBody>
          <a:bodyPr rtlCol="0"/>
          <a:lstStyle/>
          <a:p>
            <a:pPr algn="ctr"/>
            <a:endParaRPr lang="zh-CN" altLang="en-US"/>
          </a:p>
        </p:txBody>
      </p:sp>
      <p:sp>
        <p:nvSpPr>
          <p:cNvPr id="1014" name="path 1014"/>
          <p:cNvSpPr/>
          <p:nvPr/>
        </p:nvSpPr>
        <p:spPr>
          <a:xfrm>
            <a:off x="3870815" y="5757123"/>
            <a:ext cx="110572" cy="310315"/>
          </a:xfrm>
          <a:custGeom>
            <a:avLst/>
            <a:gdLst/>
            <a:ahLst/>
            <a:cxnLst/>
            <a:rect l="0" t="0" r="0" b="0"/>
            <a:pathLst>
              <a:path w="174" h="488">
                <a:moveTo>
                  <a:pt x="164" y="3"/>
                </a:moveTo>
                <a:lnTo>
                  <a:pt x="9" y="485"/>
                </a:lnTo>
              </a:path>
            </a:pathLst>
          </a:custGeom>
          <a:noFill/>
          <a:ln w="13186" cap="flat">
            <a:solidFill>
              <a:srgbClr val="000000"/>
            </a:solidFill>
            <a:prstDash val="solid"/>
            <a:round/>
          </a:ln>
        </p:spPr>
        <p:txBody>
          <a:bodyPr rtlCol="0"/>
          <a:lstStyle/>
          <a:p>
            <a:pPr algn="ctr"/>
            <a:endParaRPr lang="zh-CN" altLang="en-US"/>
          </a:p>
        </p:txBody>
      </p:sp>
      <p:sp>
        <p:nvSpPr>
          <p:cNvPr id="1016" name="path 1016"/>
          <p:cNvSpPr/>
          <p:nvPr/>
        </p:nvSpPr>
        <p:spPr>
          <a:xfrm>
            <a:off x="2655061" y="5789871"/>
            <a:ext cx="98064" cy="271305"/>
          </a:xfrm>
          <a:custGeom>
            <a:avLst/>
            <a:gdLst/>
            <a:ahLst/>
            <a:cxnLst/>
            <a:rect l="0" t="0" r="0" b="0"/>
            <a:pathLst>
              <a:path w="154" h="427">
                <a:moveTo>
                  <a:pt x="144" y="3"/>
                </a:moveTo>
                <a:lnTo>
                  <a:pt x="9" y="424"/>
                </a:lnTo>
              </a:path>
            </a:pathLst>
          </a:custGeom>
          <a:noFill/>
          <a:ln w="13186" cap="flat">
            <a:solidFill>
              <a:srgbClr val="000000"/>
            </a:solidFill>
            <a:prstDash val="solid"/>
            <a:round/>
          </a:ln>
        </p:spPr>
        <p:txBody>
          <a:bodyPr rtlCol="0"/>
          <a:lstStyle/>
          <a:p>
            <a:pPr algn="ctr"/>
            <a:endParaRPr lang="zh-CN" altLang="en-US"/>
          </a:p>
        </p:txBody>
      </p:sp>
      <p:graphicFrame>
        <p:nvGraphicFramePr>
          <p:cNvPr id="1018" name="table 1018"/>
          <p:cNvGraphicFramePr>
            <a:graphicFrameLocks noGrp="1"/>
          </p:cNvGraphicFramePr>
          <p:nvPr/>
        </p:nvGraphicFramePr>
        <p:xfrm>
          <a:off x="4850447" y="2375471"/>
          <a:ext cx="3486784" cy="2573654"/>
        </p:xfrm>
        <a:graphic>
          <a:graphicData uri="http://schemas.openxmlformats.org/drawingml/2006/table">
            <a:tbl>
              <a:tblPr/>
              <a:tblGrid>
                <a:gridCol w="3486784"/>
              </a:tblGrid>
              <a:tr h="2573654">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C00000"/>
                      </a:solidFill>
                      <a:prstDash val="solid"/>
                      <a:round/>
                      <a:headEnd type="none" w="med" len="med"/>
                      <a:tailEnd type="none" w="med" len="med"/>
                    </a:lnL>
                    <a:lnR w="9525" cap="flat" cmpd="sng" algn="ctr">
                      <a:solidFill>
                        <a:srgbClr val="C00000"/>
                      </a:solidFill>
                      <a:prstDash val="solid"/>
                      <a:round/>
                      <a:headEnd type="none" w="med" len="med"/>
                      <a:tailEnd type="none" w="med" len="med"/>
                    </a:lnR>
                    <a:lnT w="9525" cap="flat" cmpd="sng" algn="ctr">
                      <a:solidFill>
                        <a:srgbClr val="C00000"/>
                      </a:solidFill>
                      <a:prstDash val="solid"/>
                      <a:round/>
                      <a:headEnd type="none" w="med" len="med"/>
                      <a:tailEnd type="none" w="med" len="med"/>
                    </a:lnT>
                    <a:lnB w="9525" cap="flat" cmpd="sng" algn="ctr">
                      <a:solidFill>
                        <a:srgbClr val="C00000"/>
                      </a:solidFill>
                      <a:prstDash val="solid"/>
                      <a:round/>
                      <a:headEnd type="none" w="med" len="med"/>
                      <a:tailEnd type="none" w="med" len="med"/>
                    </a:lnB>
                  </a:tcPr>
                </a:tc>
              </a:tr>
            </a:tbl>
          </a:graphicData>
        </a:graphic>
      </p:graphicFrame>
      <p:graphicFrame>
        <p:nvGraphicFramePr>
          <p:cNvPr id="1020" name="table 1020"/>
          <p:cNvGraphicFramePr>
            <a:graphicFrameLocks noGrp="1"/>
          </p:cNvGraphicFramePr>
          <p:nvPr/>
        </p:nvGraphicFramePr>
        <p:xfrm>
          <a:off x="1026032" y="2375471"/>
          <a:ext cx="3483609" cy="2570479"/>
        </p:xfrm>
        <a:graphic>
          <a:graphicData uri="http://schemas.openxmlformats.org/drawingml/2006/table">
            <a:tbl>
              <a:tblPr/>
              <a:tblGrid>
                <a:gridCol w="3483609"/>
              </a:tblGrid>
              <a:tr h="257047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C00000"/>
                      </a:solidFill>
                      <a:prstDash val="solid"/>
                      <a:round/>
                      <a:headEnd type="none" w="med" len="med"/>
                      <a:tailEnd type="none" w="med" len="med"/>
                    </a:lnL>
                    <a:lnR w="9525" cap="flat" cmpd="sng" algn="ctr">
                      <a:solidFill>
                        <a:srgbClr val="C00000"/>
                      </a:solidFill>
                      <a:prstDash val="solid"/>
                      <a:round/>
                      <a:headEnd type="none" w="med" len="med"/>
                      <a:tailEnd type="none" w="med" len="med"/>
                    </a:lnR>
                    <a:lnT w="9525" cap="flat" cmpd="sng" algn="ctr">
                      <a:solidFill>
                        <a:srgbClr val="C00000"/>
                      </a:solidFill>
                      <a:prstDash val="solid"/>
                      <a:round/>
                      <a:headEnd type="none" w="med" len="med"/>
                      <a:tailEnd type="none" w="med" len="med"/>
                    </a:lnT>
                    <a:lnB w="9525" cap="flat" cmpd="sng" algn="ctr">
                      <a:solidFill>
                        <a:srgbClr val="C00000"/>
                      </a:solidFill>
                      <a:prstDash val="solid"/>
                      <a:round/>
                      <a:headEnd type="none" w="med" len="med"/>
                      <a:tailEnd type="none" w="med" len="med"/>
                    </a:lnB>
                  </a:tcPr>
                </a:tc>
              </a:tr>
            </a:tbl>
          </a:graphicData>
        </a:graphic>
      </p:graphicFrame>
      <p:pic>
        <p:nvPicPr>
          <p:cNvPr id="1022" name="picture 1022"/>
          <p:cNvPicPr>
            <a:picLocks noChangeAspect="1"/>
          </p:cNvPicPr>
          <p:nvPr/>
        </p:nvPicPr>
        <p:blipFill>
          <a:blip r:embed="rId2"/>
          <a:stretch>
            <a:fillRect/>
          </a:stretch>
        </p:blipFill>
        <p:spPr>
          <a:xfrm rot="21600000">
            <a:off x="4860035" y="2385055"/>
            <a:ext cx="3467941" cy="2564134"/>
          </a:xfrm>
          <a:prstGeom prst="rect">
            <a:avLst/>
          </a:prstGeom>
        </p:spPr>
      </p:pic>
      <p:pic>
        <p:nvPicPr>
          <p:cNvPr id="1024" name="picture 1024"/>
          <p:cNvPicPr>
            <a:picLocks noChangeAspect="1"/>
          </p:cNvPicPr>
          <p:nvPr/>
        </p:nvPicPr>
        <p:blipFill>
          <a:blip r:embed="rId3"/>
          <a:stretch>
            <a:fillRect/>
          </a:stretch>
        </p:blipFill>
        <p:spPr>
          <a:xfrm rot="21600000">
            <a:off x="1035558" y="2385059"/>
            <a:ext cx="3464813" cy="2561082"/>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8" name="table 1028"/>
          <p:cNvGraphicFramePr>
            <a:graphicFrameLocks noGrp="1"/>
          </p:cNvGraphicFramePr>
          <p:nvPr/>
        </p:nvGraphicFramePr>
        <p:xfrm>
          <a:off x="60832" y="66928"/>
          <a:ext cx="9019540" cy="6699248"/>
        </p:xfrm>
        <a:graphic>
          <a:graphicData uri="http://schemas.openxmlformats.org/drawingml/2006/table">
            <a:tbl>
              <a:tblPr/>
              <a:tblGrid>
                <a:gridCol w="9019540"/>
              </a:tblGrid>
              <a:tr h="5666104">
                <a:tc>
                  <a:txBody>
                    <a:bodyPr/>
                    <a:lstStyle/>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807720" algn="l" rtl="0" eaLnBrk="0">
                        <a:lnSpc>
                          <a:spcPct val="97000"/>
                        </a:lnSpc>
                        <a:spcBef>
                          <a:spcPts val="5"/>
                        </a:spcBef>
                      </a:pPr>
                      <a:r>
                        <a:rPr sz="20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Perpetua" panose="02020502060401020303"/>
                          <a:ea typeface="Perpetua" panose="02020502060401020303"/>
                          <a:cs typeface="Perpetua" panose="02020502060401020303"/>
                        </a:rPr>
                        <a:t>1.</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构建包括</a:t>
                      </a:r>
                      <a:r>
                        <a:rPr sz="2400" i="1" kern="0" spc="-20" dirty="0">
                          <a:solidFill>
                            <a:srgbClr val="000000">
                              <a:alpha val="100000"/>
                            </a:srgbClr>
                          </a:solidFill>
                          <a:latin typeface="Times New Roman" panose="02020603050405020304"/>
                          <a:ea typeface="Times New Roman" panose="02020603050405020304"/>
                          <a:cs typeface="Times New Roman" panose="02020603050405020304"/>
                        </a:rPr>
                        <a:t>SQFT</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平方项的</a:t>
                      </a:r>
                      <a:r>
                        <a:rPr sz="2400" b="1" kern="0" spc="-20" dirty="0">
                          <a:solidFill>
                            <a:srgbClr val="000000">
                              <a:alpha val="100000"/>
                            </a:srgbClr>
                          </a:solidFill>
                          <a:latin typeface="楷体" panose="02010609060101010101" charset="-122"/>
                          <a:ea typeface="楷体" panose="02010609060101010101" charset="-122"/>
                          <a:cs typeface="楷体" panose="02010609060101010101" charset="-122"/>
                        </a:rPr>
                        <a:t>二</a:t>
                      </a:r>
                      <a:r>
                        <a:rPr sz="2400" b="1" kern="0" spc="-30" dirty="0">
                          <a:solidFill>
                            <a:srgbClr val="000000">
                              <a:alpha val="100000"/>
                            </a:srgbClr>
                          </a:solidFill>
                          <a:latin typeface="楷体" panose="02010609060101010101" charset="-122"/>
                          <a:ea typeface="楷体" panose="02010609060101010101" charset="-122"/>
                          <a:cs typeface="楷体" panose="02010609060101010101" charset="-122"/>
                        </a:rPr>
                        <a:t>次房价模型</a:t>
                      </a:r>
                      <a:r>
                        <a:rPr sz="2400" kern="0" spc="-30" dirty="0">
                          <a:solidFill>
                            <a:srgbClr val="000000">
                              <a:alpha val="100000"/>
                            </a:srgbClr>
                          </a:solidFill>
                          <a:latin typeface="Perpetua" panose="02020502060401020303"/>
                          <a:ea typeface="Perpetua" panose="02020502060401020303"/>
                          <a:cs typeface="Perpetua" panose="02020502060401020303"/>
                        </a:rPr>
                        <a:t>:</a:t>
                      </a:r>
                      <a:endParaRPr sz="2400" dirty="0">
                        <a:latin typeface="Perpetua" panose="02020502060401020303"/>
                        <a:ea typeface="Perpetua" panose="02020502060401020303"/>
                        <a:cs typeface="Perpetua" panose="02020502060401020303"/>
                      </a:endParaRPr>
                    </a:p>
                    <a:p>
                      <a:pPr algn="l" rtl="0" eaLnBrk="0">
                        <a:lnSpc>
                          <a:spcPct val="191000"/>
                        </a:lnSpc>
                      </a:pPr>
                      <a:endParaRPr sz="1000" dirty="0">
                        <a:latin typeface="Arial" panose="020B0604020202020204"/>
                        <a:ea typeface="Arial" panose="020B0604020202020204"/>
                        <a:cs typeface="Arial" panose="020B0604020202020204"/>
                      </a:endParaRPr>
                    </a:p>
                    <a:p>
                      <a:pPr marL="2998470" algn="l" rtl="0" eaLnBrk="0">
                        <a:lnSpc>
                          <a:spcPts val="2675"/>
                        </a:lnSpc>
                        <a:spcBef>
                          <a:spcPts val="630"/>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α</a:t>
                      </a:r>
                      <a:r>
                        <a:rPr sz="2100" kern="0" spc="-35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5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2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α</a:t>
                      </a:r>
                      <a:r>
                        <a:rPr sz="1900" kern="0" spc="5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SQFT</a:t>
                      </a:r>
                      <a:r>
                        <a:rPr sz="1900" kern="0" spc="50" baseline="62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60" dirty="0">
                          <a:solidFill>
                            <a:srgbClr val="000000">
                              <a:alpha val="100000"/>
                            </a:srgbClr>
                          </a:solidFill>
                          <a:latin typeface="Arial" panose="020B0604020202020204"/>
                          <a:ea typeface="Arial" panose="020B0604020202020204"/>
                          <a:cs typeface="Arial" panose="020B0604020202020204"/>
                        </a:rPr>
                        <a:t> </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e</a:t>
                      </a:r>
                      <a:endParaRPr sz="2100" dirty="0">
                        <a:latin typeface="Times New Roman" panose="02020603050405020304"/>
                        <a:ea typeface="Times New Roman" panose="02020603050405020304"/>
                        <a:cs typeface="Times New Roman" panose="02020603050405020304"/>
                      </a:endParaRPr>
                    </a:p>
                    <a:p>
                      <a:pPr algn="l" rtl="0" eaLnBrk="0">
                        <a:lnSpc>
                          <a:spcPct val="150000"/>
                        </a:lnSpc>
                      </a:pPr>
                      <a:endParaRPr sz="1000" dirty="0">
                        <a:latin typeface="Arial" panose="020B0604020202020204"/>
                        <a:ea typeface="Arial" panose="020B0604020202020204"/>
                        <a:cs typeface="Arial" panose="020B0604020202020204"/>
                      </a:endParaRPr>
                    </a:p>
                    <a:p>
                      <a:pPr marL="807720" algn="l" rtl="0" eaLnBrk="0">
                        <a:lnSpc>
                          <a:spcPct val="97000"/>
                        </a:lnSpc>
                        <a:spcBef>
                          <a:spcPts val="730"/>
                        </a:spcBef>
                      </a:pPr>
                      <a:r>
                        <a:rPr sz="20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斜率表示为</a:t>
                      </a:r>
                      <a:r>
                        <a:rPr sz="2400" kern="0" spc="-30" dirty="0">
                          <a:solidFill>
                            <a:srgbClr val="000000">
                              <a:alpha val="100000"/>
                            </a:srgbClr>
                          </a:solidFill>
                          <a:latin typeface="Perpetua" panose="02020502060401020303"/>
                          <a:ea typeface="Perpetua" panose="02020502060401020303"/>
                          <a:cs typeface="Perpetua" panose="02020502060401020303"/>
                        </a:rPr>
                        <a:t>:</a:t>
                      </a:r>
                      <a:endParaRPr sz="2400" dirty="0">
                        <a:latin typeface="Perpetua" panose="02020502060401020303"/>
                        <a:ea typeface="Perpetua" panose="02020502060401020303"/>
                        <a:cs typeface="Perpetua" panose="02020502060401020303"/>
                      </a:endParaRPr>
                    </a:p>
                    <a:p>
                      <a:pPr algn="l" rtl="0" eaLnBrk="0">
                        <a:lnSpc>
                          <a:spcPct val="196000"/>
                        </a:lnSpc>
                      </a:pPr>
                      <a:endParaRPr sz="1000" dirty="0">
                        <a:latin typeface="Arial" panose="020B0604020202020204"/>
                        <a:ea typeface="Arial" panose="020B0604020202020204"/>
                        <a:cs typeface="Arial" panose="020B0604020202020204"/>
                      </a:endParaRPr>
                    </a:p>
                    <a:p>
                      <a:pPr marL="3111500" algn="l" rtl="0" eaLnBrk="0">
                        <a:lnSpc>
                          <a:spcPts val="6640"/>
                        </a:lnSpc>
                        <a:spcBef>
                          <a:spcPts val="305"/>
                        </a:spcBef>
                        <a:tabLst>
                          <a:tab pos="57785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82000"/>
                        </a:lnSpc>
                      </a:pPr>
                      <a:endParaRPr sz="1000" dirty="0">
                        <a:latin typeface="Arial" panose="020B0604020202020204"/>
                        <a:ea typeface="Arial" panose="020B0604020202020204"/>
                        <a:cs typeface="Arial" panose="020B0604020202020204"/>
                      </a:endParaRPr>
                    </a:p>
                    <a:p>
                      <a:pPr marL="807720" algn="l" rtl="0" eaLnBrk="0">
                        <a:lnSpc>
                          <a:spcPts val="2940"/>
                        </a:lnSpc>
                        <a:spcBef>
                          <a:spcPts val="725"/>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如果 </a:t>
                      </a:r>
                      <a:r>
                        <a:rPr sz="2600" kern="0" spc="-10" baseline="-12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1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&gt; 0</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则表示面</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积更大的房屋有更大的斜率，即面</a:t>
                      </a:r>
                      <a:endParaRPr sz="2400" dirty="0">
                        <a:latin typeface="楷体" panose="02010609060101010101" charset="-122"/>
                        <a:ea typeface="楷体" panose="02010609060101010101" charset="-122"/>
                        <a:cs typeface="楷体" panose="02010609060101010101" charset="-122"/>
                      </a:endParaRPr>
                    </a:p>
                    <a:p>
                      <a:pPr algn="l" rtl="0" eaLnBrk="0">
                        <a:lnSpc>
                          <a:spcPct val="103000"/>
                        </a:lnSpc>
                      </a:pPr>
                      <a:endParaRPr sz="1100" dirty="0">
                        <a:latin typeface="Arial" panose="020B0604020202020204"/>
                        <a:ea typeface="Arial" panose="020B0604020202020204"/>
                        <a:cs typeface="Arial" panose="020B0604020202020204"/>
                      </a:endParaRPr>
                    </a:p>
                    <a:p>
                      <a:pPr algn="l" rtl="0" eaLnBrk="0">
                        <a:lnSpc>
                          <a:spcPct val="11000"/>
                        </a:lnSpc>
                      </a:pPr>
                      <a:endParaRPr sz="100" dirty="0">
                        <a:latin typeface="Arial" panose="020B0604020202020204"/>
                        <a:ea typeface="Arial" panose="020B0604020202020204"/>
                        <a:cs typeface="Arial" panose="020B0604020202020204"/>
                      </a:endParaRPr>
                    </a:p>
                    <a:p>
                      <a:pPr marL="1067435" algn="l" rtl="0" eaLnBrk="0">
                        <a:lnSpc>
                          <a:spcPct val="87000"/>
                        </a:lnSpc>
                      </a:pPr>
                      <a:r>
                        <a:rPr sz="2400" kern="0" spc="-60" dirty="0">
                          <a:solidFill>
                            <a:srgbClr val="000000">
                              <a:alpha val="100000"/>
                            </a:srgbClr>
                          </a:solidFill>
                          <a:latin typeface="楷体" panose="02010609060101010101" charset="-122"/>
                          <a:ea typeface="楷体" panose="02010609060101010101" charset="-122"/>
                          <a:cs typeface="楷体" panose="02010609060101010101" charset="-122"/>
                        </a:rPr>
                        <a:t>积更大的房屋随着面积</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的增加房屋的价格提高更多。</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33144">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5265" algn="l" rtl="0" eaLnBrk="0">
                        <a:lnSpc>
                          <a:spcPct val="80000"/>
                        </a:lnSpc>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82</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1030" name="textbox 1030"/>
          <p:cNvSpPr/>
          <p:nvPr/>
        </p:nvSpPr>
        <p:spPr>
          <a:xfrm>
            <a:off x="1769364" y="4415129"/>
            <a:ext cx="149225" cy="3302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400"/>
              </a:lnSpc>
            </a:pPr>
            <a:r>
              <a:rPr sz="1400"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400" dirty="0">
              <a:latin typeface="微软雅黑" panose="020B0503020204020204" charset="-122"/>
              <a:ea typeface="微软雅黑" panose="020B0503020204020204" charset="-122"/>
              <a:cs typeface="微软雅黑" panose="020B0503020204020204" charset="-122"/>
            </a:endParaRPr>
          </a:p>
        </p:txBody>
      </p:sp>
      <p:sp>
        <p:nvSpPr>
          <p:cNvPr id="1032" name="textbox 1032"/>
          <p:cNvSpPr/>
          <p:nvPr/>
        </p:nvSpPr>
        <p:spPr>
          <a:xfrm>
            <a:off x="1791812" y="4415129"/>
            <a:ext cx="193039" cy="33020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algn="r" rtl="0" eaLnBrk="0">
              <a:lnSpc>
                <a:spcPct val="95000"/>
              </a:lnSpc>
            </a:pPr>
            <a:r>
              <a:rPr sz="21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α</a:t>
            </a:r>
            <a:endParaRPr sz="2100" dirty="0">
              <a:latin typeface="微软雅黑" panose="020B0503020204020204" charset="-122"/>
              <a:ea typeface="微软雅黑" panose="020B0503020204020204" charset="-122"/>
              <a:cs typeface="微软雅黑" panose="020B0503020204020204" charset="-122"/>
            </a:endParaRPr>
          </a:p>
        </p:txBody>
      </p:sp>
      <p:pic>
        <p:nvPicPr>
          <p:cNvPr id="1034" name="picture 1034"/>
          <p:cNvPicPr>
            <a:picLocks noChangeAspect="1"/>
          </p:cNvPicPr>
          <p:nvPr/>
        </p:nvPicPr>
        <p:blipFill>
          <a:blip r:embed="rId1"/>
          <a:stretch>
            <a:fillRect/>
          </a:stretch>
        </p:blipFill>
        <p:spPr>
          <a:xfrm rot="21600000">
            <a:off x="3172747" y="3190484"/>
            <a:ext cx="2667170" cy="8434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8" name="table 1038"/>
          <p:cNvGraphicFramePr>
            <a:graphicFrameLocks noGrp="1"/>
          </p:cNvGraphicFramePr>
          <p:nvPr/>
        </p:nvGraphicFramePr>
        <p:xfrm>
          <a:off x="60832" y="66928"/>
          <a:ext cx="9019539" cy="6699248"/>
        </p:xfrm>
        <a:graphic>
          <a:graphicData uri="http://schemas.openxmlformats.org/drawingml/2006/table">
            <a:tbl>
              <a:tblPr/>
              <a:tblGrid>
                <a:gridCol w="4286250"/>
                <a:gridCol w="4733289"/>
              </a:tblGrid>
              <a:tr h="1174114">
                <a:tc gridSpan="2">
                  <a:txBody>
                    <a:bodyPr/>
                    <a:lstStyle/>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marL="3827145" algn="l" rtl="0" eaLnBrk="0">
                        <a:lnSpc>
                          <a:spcPct val="84000"/>
                        </a:lnSpc>
                        <a:spcBef>
                          <a:spcPts val="0"/>
                        </a:spcBef>
                      </a:pPr>
                      <a:r>
                        <a:rPr sz="2400" b="1" kern="0" spc="-40" dirty="0">
                          <a:solidFill>
                            <a:srgbClr val="000000">
                              <a:alpha val="100000"/>
                            </a:srgbClr>
                          </a:solidFill>
                          <a:latin typeface="楷体" panose="02010609060101010101" charset="-122"/>
                          <a:ea typeface="楷体" panose="02010609060101010101" charset="-122"/>
                          <a:cs typeface="楷体" panose="02010609060101010101" charset="-122"/>
                        </a:rPr>
                        <a:t>估计结果</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48069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c rowSpan="2">
                  <a:txBody>
                    <a:bodyPr/>
                    <a:lstStyle/>
                    <a:p>
                      <a:pPr algn="l" rtl="0" eaLnBrk="0">
                        <a:lnSpc>
                          <a:spcPct val="190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05410" indent="1270" algn="l" rtl="0" eaLnBrk="0">
                        <a:lnSpc>
                          <a:spcPct val="91000"/>
                        </a:lnSpc>
                      </a:pP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基于</a:t>
                      </a:r>
                      <a:r>
                        <a:rPr sz="1900" kern="0" spc="100" dirty="0">
                          <a:solidFill>
                            <a:srgbClr val="000000">
                              <a:alpha val="100000"/>
                            </a:srgbClr>
                          </a:solidFill>
                          <a:latin typeface="Times New Roman" panose="02020603050405020304"/>
                          <a:ea typeface="Times New Roman" panose="02020603050405020304"/>
                          <a:cs typeface="Times New Roman" panose="02020603050405020304"/>
                        </a:rPr>
                        <a:t>2005</a:t>
                      </a: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年在</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Baton</a:t>
                      </a:r>
                      <a:r>
                        <a:rPr sz="19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Rouge</a:t>
                      </a: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地区</a:t>
                      </a:r>
                      <a:r>
                        <a:rPr sz="1900" kern="0" spc="100" dirty="0">
                          <a:solidFill>
                            <a:srgbClr val="000000">
                              <a:alpha val="100000"/>
                            </a:srgbClr>
                          </a:solidFill>
                          <a:latin typeface="Times New Roman" panose="02020603050405020304"/>
                          <a:ea typeface="Times New Roman" panose="02020603050405020304"/>
                          <a:cs typeface="Times New Roman" panose="02020603050405020304"/>
                        </a:rPr>
                        <a:t>10</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80</a:t>
                      </a:r>
                      <a:r>
                        <a:rPr sz="1900" kern="0" spc="90" dirty="0">
                          <a:solidFill>
                            <a:srgbClr val="000000">
                              <a:alpha val="100000"/>
                            </a:srgbClr>
                          </a:solidFill>
                          <a:latin typeface="楷体" panose="02010609060101010101" charset="-122"/>
                          <a:ea typeface="楷体" panose="02010609060101010101" charset="-122"/>
                          <a:cs typeface="楷体" panose="02010609060101010101" charset="-122"/>
                        </a:rPr>
                        <a:t>套</a:t>
                      </a:r>
                      <a:r>
                        <a:rPr sz="19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900" kern="0" spc="20" dirty="0">
                          <a:solidFill>
                            <a:srgbClr val="000000">
                              <a:alpha val="100000"/>
                            </a:srgbClr>
                          </a:solidFill>
                          <a:latin typeface="楷体" panose="02010609060101010101" charset="-122"/>
                          <a:ea typeface="楷体" panose="02010609060101010101" charset="-122"/>
                          <a:cs typeface="楷体" panose="02010609060101010101" charset="-122"/>
                        </a:rPr>
                        <a:t>房屋的销售数据，估计</a:t>
                      </a:r>
                      <a:r>
                        <a:rPr sz="1900" kern="0" spc="10" dirty="0">
                          <a:solidFill>
                            <a:srgbClr val="000000">
                              <a:alpha val="100000"/>
                            </a:srgbClr>
                          </a:solidFill>
                          <a:latin typeface="楷体" panose="02010609060101010101" charset="-122"/>
                          <a:ea typeface="楷体" panose="02010609060101010101" charset="-122"/>
                          <a:cs typeface="楷体" panose="02010609060101010101" charset="-122"/>
                        </a:rPr>
                        <a:t>的二次方程为：</a:t>
                      </a:r>
                      <a:endParaRPr sz="1900" dirty="0">
                        <a:latin typeface="楷体" panose="02010609060101010101" charset="-122"/>
                        <a:ea typeface="楷体" panose="02010609060101010101" charset="-122"/>
                        <a:cs typeface="楷体" panose="02010609060101010101" charset="-122"/>
                      </a:endParaRPr>
                    </a:p>
                    <a:p>
                      <a:pPr marL="895985" algn="l" rtl="0" eaLnBrk="0">
                        <a:lnSpc>
                          <a:spcPts val="595"/>
                        </a:lnSpc>
                        <a:spcBef>
                          <a:spcPts val="1320"/>
                        </a:spcBef>
                      </a:pPr>
                      <a:r>
                        <a:rPr sz="1000" kern="0" spc="-2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596265" algn="l" rtl="0" eaLnBrk="0">
                        <a:lnSpc>
                          <a:spcPct val="90000"/>
                        </a:lnSpc>
                        <a:spcBef>
                          <a:spcPts val="20"/>
                        </a:spcBef>
                      </a:pP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18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40" dirty="0">
                          <a:solidFill>
                            <a:srgbClr val="000000">
                              <a:alpha val="100000"/>
                            </a:srgbClr>
                          </a:solidFill>
                          <a:latin typeface="Arial" panose="020B0604020202020204"/>
                          <a:ea typeface="Arial" panose="020B0604020202020204"/>
                          <a:cs typeface="Arial" panose="020B0604020202020204"/>
                        </a:rPr>
                        <a:t>= </a:t>
                      </a:r>
                      <a:r>
                        <a:rPr sz="1800" kern="0" spc="40" dirty="0">
                          <a:solidFill>
                            <a:srgbClr val="000000">
                              <a:alpha val="100000"/>
                            </a:srgbClr>
                          </a:solidFill>
                          <a:latin typeface="Times New Roman" panose="02020603050405020304"/>
                          <a:ea typeface="Times New Roman" panose="02020603050405020304"/>
                          <a:cs typeface="Times New Roman" panose="02020603050405020304"/>
                        </a:rPr>
                        <a:t>55776</a:t>
                      </a:r>
                      <a:r>
                        <a:rPr sz="1800" i="1" kern="0" spc="40" dirty="0">
                          <a:solidFill>
                            <a:srgbClr val="000000">
                              <a:alpha val="100000"/>
                            </a:srgbClr>
                          </a:solidFill>
                          <a:latin typeface="Times New Roman" panose="02020603050405020304"/>
                          <a:ea typeface="Times New Roman" panose="02020603050405020304"/>
                          <a:cs typeface="Times New Roman" panose="02020603050405020304"/>
                        </a:rPr>
                        <a:t>.</a:t>
                      </a:r>
                      <a:r>
                        <a:rPr sz="1800" kern="0" spc="40" dirty="0">
                          <a:solidFill>
                            <a:srgbClr val="000000">
                              <a:alpha val="100000"/>
                            </a:srgbClr>
                          </a:solidFill>
                          <a:latin typeface="Times New Roman" panose="02020603050405020304"/>
                          <a:ea typeface="Times New Roman" panose="02020603050405020304"/>
                          <a:cs typeface="Times New Roman" panose="02020603050405020304"/>
                        </a:rPr>
                        <a:t>5</a:t>
                      </a:r>
                      <a:r>
                        <a:rPr sz="1800" kern="0" spc="30" dirty="0">
                          <a:solidFill>
                            <a:srgbClr val="000000">
                              <a:alpha val="100000"/>
                            </a:srgbClr>
                          </a:solidFill>
                          <a:latin typeface="Times New Roman" panose="02020603050405020304"/>
                          <a:ea typeface="Times New Roman" panose="02020603050405020304"/>
                          <a:cs typeface="Times New Roman" panose="02020603050405020304"/>
                        </a:rPr>
                        <a:t>6</a:t>
                      </a:r>
                      <a:r>
                        <a:rPr sz="18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30" dirty="0">
                          <a:solidFill>
                            <a:srgbClr val="000000">
                              <a:alpha val="100000"/>
                            </a:srgbClr>
                          </a:solidFill>
                          <a:latin typeface="Arial" panose="020B0604020202020204"/>
                          <a:ea typeface="Arial" panose="020B0604020202020204"/>
                          <a:cs typeface="Arial" panose="020B0604020202020204"/>
                        </a:rPr>
                        <a:t>+</a:t>
                      </a:r>
                      <a:r>
                        <a:rPr sz="1800" kern="0" spc="-14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Times New Roman" panose="02020603050405020304"/>
                          <a:ea typeface="Times New Roman" panose="02020603050405020304"/>
                          <a:cs typeface="Times New Roman" panose="02020603050405020304"/>
                        </a:rPr>
                        <a:t>0</a:t>
                      </a:r>
                      <a:r>
                        <a:rPr sz="1800" i="1" kern="0" spc="30" dirty="0">
                          <a:solidFill>
                            <a:srgbClr val="000000">
                              <a:alpha val="100000"/>
                            </a:srgbClr>
                          </a:solidFill>
                          <a:latin typeface="Times New Roman" panose="02020603050405020304"/>
                          <a:ea typeface="Times New Roman" panose="02020603050405020304"/>
                          <a:cs typeface="Times New Roman" panose="02020603050405020304"/>
                        </a:rPr>
                        <a:t>.</a:t>
                      </a:r>
                      <a:r>
                        <a:rPr sz="1800" kern="0" spc="30" dirty="0">
                          <a:solidFill>
                            <a:srgbClr val="000000">
                              <a:alpha val="100000"/>
                            </a:srgbClr>
                          </a:solidFill>
                          <a:latin typeface="Times New Roman" panose="02020603050405020304"/>
                          <a:ea typeface="Times New Roman" panose="02020603050405020304"/>
                          <a:cs typeface="Times New Roman" panose="02020603050405020304"/>
                        </a:rPr>
                        <a:t>0154</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SQFT</a:t>
                      </a:r>
                      <a:r>
                        <a:rPr sz="1600" kern="0" spc="30" baseline="52000" dirty="0">
                          <a:solidFill>
                            <a:srgbClr val="000000">
                              <a:alpha val="100000"/>
                            </a:srgbClr>
                          </a:solidFill>
                          <a:latin typeface="Times New Roman" panose="02020603050405020304"/>
                          <a:ea typeface="Times New Roman" panose="02020603050405020304"/>
                          <a:cs typeface="Times New Roman" panose="02020603050405020304"/>
                        </a:rPr>
                        <a:t>2</a:t>
                      </a:r>
                      <a:endParaRPr sz="1600" baseline="52000" dirty="0">
                        <a:latin typeface="Times New Roman" panose="02020603050405020304"/>
                        <a:ea typeface="Times New Roman" panose="02020603050405020304"/>
                        <a:cs typeface="Times New Roman" panose="02020603050405020304"/>
                      </a:endParaRPr>
                    </a:p>
                    <a:p>
                      <a:pPr marL="114300" algn="l" rtl="0" eaLnBrk="0">
                        <a:lnSpc>
                          <a:spcPts val="4265"/>
                        </a:lnSpc>
                      </a:pPr>
                      <a:r>
                        <a:rPr sz="1900" kern="0" spc="90" dirty="0">
                          <a:solidFill>
                            <a:srgbClr val="000000">
                              <a:alpha val="100000"/>
                            </a:srgbClr>
                          </a:solidFill>
                          <a:latin typeface="楷体" panose="02010609060101010101" charset="-122"/>
                          <a:ea typeface="楷体" panose="02010609060101010101" charset="-122"/>
                          <a:cs typeface="楷体" panose="02010609060101010101" charset="-122"/>
                        </a:rPr>
                        <a:t>估计斜率为</a:t>
                      </a:r>
                      <a:r>
                        <a:rPr sz="1900" kern="0" spc="90" dirty="0">
                          <a:solidFill>
                            <a:srgbClr val="000000">
                              <a:alpha val="100000"/>
                            </a:srgbClr>
                          </a:solidFill>
                          <a:latin typeface="Perpetua" panose="02020502060401020303"/>
                          <a:ea typeface="Perpetua" panose="02020502060401020303"/>
                          <a:cs typeface="Perpetua" panose="02020502060401020303"/>
                        </a:rPr>
                        <a:t>:</a:t>
                      </a:r>
                      <a:endParaRPr sz="1900" dirty="0">
                        <a:latin typeface="Perpetua" panose="02020502060401020303"/>
                        <a:ea typeface="Perpetua" panose="02020502060401020303"/>
                        <a:cs typeface="Perpetua" panose="02020502060401020303"/>
                      </a:endParaRPr>
                    </a:p>
                    <a:p>
                      <a:pPr marL="1365885" algn="l" rtl="0" eaLnBrk="0">
                        <a:lnSpc>
                          <a:spcPts val="605"/>
                        </a:lnSpc>
                        <a:spcBef>
                          <a:spcPts val="1140"/>
                        </a:spcBef>
                      </a:pPr>
                      <a:r>
                        <a:rPr sz="1000" kern="0" spc="-2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1155065" algn="l" rtl="0" eaLnBrk="0">
                        <a:lnSpc>
                          <a:spcPct val="78000"/>
                        </a:lnSpc>
                        <a:spcBef>
                          <a:spcPts val="30"/>
                        </a:spcBef>
                      </a:pP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slope</a:t>
                      </a:r>
                      <a:r>
                        <a:rPr sz="18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50" dirty="0">
                          <a:solidFill>
                            <a:srgbClr val="000000">
                              <a:alpha val="100000"/>
                            </a:srgbClr>
                          </a:solidFill>
                          <a:latin typeface="Arial" panose="020B0604020202020204"/>
                          <a:ea typeface="Arial" panose="020B0604020202020204"/>
                          <a:cs typeface="Arial" panose="020B0604020202020204"/>
                        </a:rPr>
                        <a:t>= </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2</a:t>
                      </a:r>
                      <a:r>
                        <a:rPr sz="18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50" dirty="0">
                          <a:solidFill>
                            <a:srgbClr val="000000">
                              <a:alpha val="100000"/>
                            </a:srgbClr>
                          </a:solidFill>
                          <a:latin typeface="Arial" panose="020B0604020202020204"/>
                          <a:ea typeface="Arial" panose="020B0604020202020204"/>
                          <a:cs typeface="Arial" panose="020B0604020202020204"/>
                        </a:rPr>
                        <a:t>(</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0</a:t>
                      </a:r>
                      <a:r>
                        <a:rPr sz="1800" i="1" kern="0" spc="50" dirty="0">
                          <a:solidFill>
                            <a:srgbClr val="000000">
                              <a:alpha val="100000"/>
                            </a:srgbClr>
                          </a:solidFill>
                          <a:latin typeface="Times New Roman" panose="02020603050405020304"/>
                          <a:ea typeface="Times New Roman" panose="02020603050405020304"/>
                          <a:cs typeface="Times New Roman" panose="02020603050405020304"/>
                        </a:rPr>
                        <a:t>.</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0154</a:t>
                      </a:r>
                      <a:r>
                        <a:rPr sz="2400" kern="0" spc="50" dirty="0">
                          <a:solidFill>
                            <a:srgbClr val="000000">
                              <a:alpha val="100000"/>
                            </a:srgbClr>
                          </a:solidFill>
                          <a:latin typeface="Arial" panose="020B0604020202020204"/>
                          <a:ea typeface="Arial" panose="020B0604020202020204"/>
                          <a:cs typeface="Arial" panose="020B0604020202020204"/>
                        </a:rPr>
                        <a:t>)</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SQFT</a:t>
                      </a:r>
                      <a:endParaRPr sz="1800" dirty="0">
                        <a:latin typeface="Times New Roman" panose="02020603050405020304"/>
                        <a:ea typeface="Times New Roman" panose="02020603050405020304"/>
                        <a:cs typeface="Times New Roman" panose="02020603050405020304"/>
                      </a:endParaRPr>
                    </a:p>
                    <a:p>
                      <a:pPr marL="180340" algn="l" rtl="0" eaLnBrk="0">
                        <a:lnSpc>
                          <a:spcPts val="3905"/>
                        </a:lnSpc>
                      </a:pPr>
                      <a:r>
                        <a:rPr sz="1900" kern="0" spc="70" dirty="0">
                          <a:solidFill>
                            <a:srgbClr val="000000">
                              <a:alpha val="100000"/>
                            </a:srgbClr>
                          </a:solidFill>
                          <a:latin typeface="楷体" panose="02010609060101010101" charset="-122"/>
                          <a:ea typeface="楷体" panose="02010609060101010101" charset="-122"/>
                          <a:cs typeface="楷体" panose="02010609060101010101" charset="-122"/>
                        </a:rPr>
                        <a:t>弹性为</a:t>
                      </a:r>
                      <a:r>
                        <a:rPr sz="1900" kern="0" spc="70" dirty="0">
                          <a:solidFill>
                            <a:srgbClr val="000000">
                              <a:alpha val="100000"/>
                            </a:srgbClr>
                          </a:solidFill>
                          <a:latin typeface="Perpetua" panose="02020502060401020303"/>
                          <a:ea typeface="Perpetua" panose="02020502060401020303"/>
                          <a:cs typeface="Perpetua" panose="02020502060401020303"/>
                        </a:rPr>
                        <a:t>:</a:t>
                      </a:r>
                      <a:endParaRPr sz="1900" dirty="0">
                        <a:latin typeface="Perpetua" panose="02020502060401020303"/>
                        <a:ea typeface="Perpetua" panose="02020502060401020303"/>
                        <a:cs typeface="Perpetua" panose="02020502060401020303"/>
                      </a:endParaRPr>
                    </a:p>
                    <a:p>
                      <a:pPr marL="1156970" algn="l" rtl="0" eaLnBrk="0">
                        <a:lnSpc>
                          <a:spcPts val="4205"/>
                        </a:lnSpc>
                        <a:spcBef>
                          <a:spcPts val="1325"/>
                        </a:spcBef>
                        <a:tabLst>
                          <a:tab pos="285940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351915" algn="l" rtl="0" eaLnBrk="0">
                        <a:lnSpc>
                          <a:spcPts val="4205"/>
                        </a:lnSpc>
                        <a:spcBef>
                          <a:spcPts val="675"/>
                        </a:spcBef>
                        <a:tabLst>
                          <a:tab pos="347916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23190" algn="l" rtl="0" eaLnBrk="0">
                        <a:lnSpc>
                          <a:spcPct val="93000"/>
                        </a:lnSpc>
                        <a:spcBef>
                          <a:spcPts val="460"/>
                        </a:spcBef>
                      </a:pPr>
                      <a:r>
                        <a:rPr sz="1800" kern="0" spc="-130" dirty="0">
                          <a:solidFill>
                            <a:srgbClr val="000000">
                              <a:alpha val="100000"/>
                            </a:srgbClr>
                          </a:solidFill>
                          <a:latin typeface="楷体" panose="02010609060101010101" charset="-122"/>
                          <a:ea typeface="楷体" panose="02010609060101010101" charset="-122"/>
                          <a:cs typeface="楷体" panose="02010609060101010101" charset="-122"/>
                        </a:rPr>
                        <a:t>注意：</a:t>
                      </a:r>
                      <a:endParaRPr sz="1800" dirty="0">
                        <a:latin typeface="楷体" panose="02010609060101010101" charset="-122"/>
                        <a:ea typeface="楷体" panose="02010609060101010101" charset="-122"/>
                        <a:cs typeface="楷体" panose="02010609060101010101" charset="-122"/>
                      </a:endParaRPr>
                    </a:p>
                    <a:p>
                      <a:pPr algn="l" rtl="0" eaLnBrk="0">
                        <a:lnSpc>
                          <a:spcPct val="108000"/>
                        </a:lnSpc>
                      </a:pPr>
                      <a:endParaRPr sz="500" dirty="0">
                        <a:latin typeface="Arial" panose="020B0604020202020204"/>
                        <a:ea typeface="Arial" panose="020B0604020202020204"/>
                        <a:cs typeface="Arial" panose="020B0604020202020204"/>
                      </a:endParaRPr>
                    </a:p>
                    <a:p>
                      <a:pPr marL="112395" indent="564515" algn="l" rtl="0" eaLnBrk="0">
                        <a:lnSpc>
                          <a:spcPct val="91000"/>
                        </a:lnSpc>
                        <a:spcBef>
                          <a:spcPts val="5"/>
                        </a:spcBef>
                      </a:pP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在计算弹性时，应选</a:t>
                      </a:r>
                      <a:r>
                        <a:rPr sz="1900" kern="0" spc="90" dirty="0">
                          <a:solidFill>
                            <a:srgbClr val="000000">
                              <a:alpha val="100000"/>
                            </a:srgbClr>
                          </a:solidFill>
                          <a:latin typeface="楷体" panose="02010609060101010101" charset="-122"/>
                          <a:ea typeface="楷体" panose="02010609060101010101" charset="-122"/>
                          <a:cs typeface="楷体" panose="02010609060101010101" charset="-122"/>
                        </a:rPr>
                        <a:t>择拟合曲线</a:t>
                      </a:r>
                      <a:r>
                        <a:rPr sz="19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1900" kern="0" spc="80" dirty="0">
                          <a:solidFill>
                            <a:srgbClr val="000000">
                              <a:alpha val="100000"/>
                            </a:srgbClr>
                          </a:solidFill>
                          <a:latin typeface="楷体" panose="02010609060101010101" charset="-122"/>
                          <a:ea typeface="楷体" panose="02010609060101010101" charset="-122"/>
                          <a:cs typeface="楷体" panose="02010609060101010101" charset="-122"/>
                        </a:rPr>
                        <a:t>上的点为</a:t>
                      </a:r>
                      <a:r>
                        <a:rPr sz="1900" kern="0" spc="0" dirty="0">
                          <a:solidFill>
                            <a:srgbClr val="000000">
                              <a:alpha val="100000"/>
                            </a:srgbClr>
                          </a:solidFill>
                          <a:latin typeface="Perpetua" panose="02020502060401020303"/>
                          <a:ea typeface="Perpetua" panose="02020502060401020303"/>
                          <a:cs typeface="Perpetua" panose="02020502060401020303"/>
                        </a:rPr>
                        <a:t>PRICE</a:t>
                      </a:r>
                      <a:r>
                        <a:rPr sz="1900" kern="0" spc="80" dirty="0">
                          <a:solidFill>
                            <a:srgbClr val="000000">
                              <a:alpha val="100000"/>
                            </a:srgbClr>
                          </a:solidFill>
                          <a:latin typeface="楷体" panose="02010609060101010101" charset="-122"/>
                          <a:ea typeface="楷体" panose="02010609060101010101" charset="-122"/>
                          <a:cs typeface="楷体" panose="02010609060101010101" charset="-122"/>
                        </a:rPr>
                        <a:t>赋值。</a:t>
                      </a:r>
                      <a:endParaRPr sz="19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r h="718184">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5265" algn="l" rtl="0" eaLnBrk="0">
                        <a:lnSpc>
                          <a:spcPct val="80000"/>
                        </a:lnSpc>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83</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v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1040" name="picture 1040"/>
          <p:cNvPicPr>
            <a:picLocks noChangeAspect="1"/>
          </p:cNvPicPr>
          <p:nvPr/>
        </p:nvPicPr>
        <p:blipFill>
          <a:blip r:embed="rId1"/>
          <a:stretch>
            <a:fillRect/>
          </a:stretch>
        </p:blipFill>
        <p:spPr>
          <a:xfrm rot="21600000">
            <a:off x="5699309" y="4887397"/>
            <a:ext cx="2127086" cy="534396"/>
          </a:xfrm>
          <a:prstGeom prst="rect">
            <a:avLst/>
          </a:prstGeom>
        </p:spPr>
      </p:pic>
      <p:pic>
        <p:nvPicPr>
          <p:cNvPr id="1042" name="picture 1042"/>
          <p:cNvPicPr>
            <a:picLocks noChangeAspect="1"/>
          </p:cNvPicPr>
          <p:nvPr/>
        </p:nvPicPr>
        <p:blipFill>
          <a:blip r:embed="rId2"/>
          <a:stretch>
            <a:fillRect/>
          </a:stretch>
        </p:blipFill>
        <p:spPr>
          <a:xfrm rot="21600000">
            <a:off x="5504288" y="4267523"/>
            <a:ext cx="1703255" cy="534384"/>
          </a:xfrm>
          <a:prstGeom prst="rect">
            <a:avLst/>
          </a:prstGeom>
        </p:spPr>
      </p:pic>
      <p:graphicFrame>
        <p:nvGraphicFramePr>
          <p:cNvPr id="1044" name="table 1044"/>
          <p:cNvGraphicFramePr>
            <a:graphicFrameLocks noGrp="1"/>
          </p:cNvGraphicFramePr>
          <p:nvPr/>
        </p:nvGraphicFramePr>
        <p:xfrm>
          <a:off x="241934" y="1763648"/>
          <a:ext cx="4000500" cy="4113529"/>
        </p:xfrm>
        <a:graphic>
          <a:graphicData uri="http://schemas.openxmlformats.org/drawingml/2006/table">
            <a:tbl>
              <a:tblPr/>
              <a:tblGrid>
                <a:gridCol w="4000500"/>
              </a:tblGrid>
              <a:tr h="4113529">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C00000"/>
                      </a:solidFill>
                      <a:prstDash val="solid"/>
                      <a:round/>
                      <a:headEnd type="none" w="med" len="med"/>
                      <a:tailEnd type="none" w="med" len="med"/>
                    </a:lnL>
                    <a:lnR w="9525" cap="flat" cmpd="sng" algn="ctr">
                      <a:solidFill>
                        <a:srgbClr val="C00000"/>
                      </a:solidFill>
                      <a:prstDash val="solid"/>
                      <a:round/>
                      <a:headEnd type="none" w="med" len="med"/>
                      <a:tailEnd type="none" w="med" len="med"/>
                    </a:lnR>
                    <a:lnT w="9525" cap="flat" cmpd="sng" algn="ctr">
                      <a:solidFill>
                        <a:srgbClr val="C00000"/>
                      </a:solidFill>
                      <a:prstDash val="solid"/>
                      <a:round/>
                      <a:headEnd type="none" w="med" len="med"/>
                      <a:tailEnd type="none" w="med" len="med"/>
                    </a:lnT>
                    <a:lnB w="9525" cap="flat" cmpd="sng" algn="ctr">
                      <a:solidFill>
                        <a:srgbClr val="C00000"/>
                      </a:solidFill>
                      <a:prstDash val="solid"/>
                      <a:round/>
                      <a:headEnd type="none" w="med" len="med"/>
                      <a:tailEnd type="none" w="med" len="med"/>
                    </a:lnB>
                  </a:tcPr>
                </a:tc>
              </a:tr>
            </a:tbl>
          </a:graphicData>
        </a:graphic>
      </p:graphicFrame>
      <p:pic>
        <p:nvPicPr>
          <p:cNvPr id="1046" name="picture 1046"/>
          <p:cNvPicPr>
            <a:picLocks noChangeAspect="1"/>
          </p:cNvPicPr>
          <p:nvPr/>
        </p:nvPicPr>
        <p:blipFill>
          <a:blip r:embed="rId3"/>
          <a:stretch>
            <a:fillRect/>
          </a:stretch>
        </p:blipFill>
        <p:spPr>
          <a:xfrm rot="21600000">
            <a:off x="251459" y="1773173"/>
            <a:ext cx="3981450" cy="410413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0" name="table 1050"/>
          <p:cNvGraphicFramePr>
            <a:graphicFrameLocks noGrp="1"/>
          </p:cNvGraphicFramePr>
          <p:nvPr/>
        </p:nvGraphicFramePr>
        <p:xfrm>
          <a:off x="60832" y="66928"/>
          <a:ext cx="9019540" cy="6699250"/>
        </p:xfrm>
        <a:graphic>
          <a:graphicData uri="http://schemas.openxmlformats.org/drawingml/2006/table">
            <a:tbl>
              <a:tblPr/>
              <a:tblGrid>
                <a:gridCol w="854075"/>
                <a:gridCol w="8165465"/>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4630" algn="l" rtl="0" eaLnBrk="0">
                        <a:lnSpc>
                          <a:spcPct val="80000"/>
                        </a:lnSpc>
                      </a:pPr>
                      <a:r>
                        <a:rPr sz="1300" b="1" kern="0" spc="20" dirty="0">
                          <a:solidFill>
                            <a:srgbClr val="FFFFFF">
                              <a:alpha val="100000"/>
                            </a:srgbClr>
                          </a:solidFill>
                          <a:latin typeface="Franklin Gothic Book" panose="020B0503020102020204"/>
                          <a:ea typeface="Franklin Gothic Book" panose="020B0503020102020204"/>
                          <a:cs typeface="Franklin Gothic Book" panose="020B0503020102020204"/>
                        </a:rPr>
                        <a:t>84</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624455" algn="l" rtl="0" eaLnBrk="0">
                        <a:lnSpc>
                          <a:spcPct val="85000"/>
                        </a:lnSpc>
                      </a:pPr>
                      <a:r>
                        <a:rPr sz="2400" b="1" kern="0" spc="-30" dirty="0">
                          <a:solidFill>
                            <a:srgbClr val="000000">
                              <a:alpha val="100000"/>
                            </a:srgbClr>
                          </a:solidFill>
                          <a:latin typeface="楷体" panose="02010609060101010101" charset="-122"/>
                          <a:ea typeface="楷体" panose="02010609060101010101" charset="-122"/>
                          <a:cs typeface="楷体" panose="02010609060101010101" charset="-122"/>
                        </a:rPr>
                        <a:t>估计结果的解读</a:t>
                      </a:r>
                      <a:endParaRPr sz="2400" dirty="0">
                        <a:latin typeface="楷体" panose="02010609060101010101" charset="-122"/>
                        <a:ea typeface="楷体" panose="02010609060101010101" charset="-122"/>
                        <a:cs typeface="楷体" panose="02010609060101010101" charset="-122"/>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311785" indent="495935" algn="l" rtl="0" eaLnBrk="0">
                        <a:lnSpc>
                          <a:spcPct val="107000"/>
                        </a:lnSpc>
                        <a:spcBef>
                          <a:spcPts val="575"/>
                        </a:spcBef>
                      </a:pPr>
                      <a:r>
                        <a:rPr sz="1900" kern="0" spc="60" dirty="0">
                          <a:solidFill>
                            <a:srgbClr val="000000">
                              <a:alpha val="100000"/>
                            </a:srgbClr>
                          </a:solidFill>
                          <a:latin typeface="楷体" panose="02010609060101010101" charset="-122"/>
                          <a:ea typeface="楷体" panose="02010609060101010101" charset="-122"/>
                          <a:cs typeface="楷体" panose="02010609060101010101" charset="-122"/>
                        </a:rPr>
                        <a:t>对</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2000</a:t>
                      </a:r>
                      <a:r>
                        <a:rPr sz="19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4000</a:t>
                      </a:r>
                      <a:r>
                        <a:rPr sz="19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6000</a:t>
                      </a:r>
                      <a:r>
                        <a:rPr sz="1900" kern="0" spc="60" dirty="0">
                          <a:solidFill>
                            <a:srgbClr val="000000">
                              <a:alpha val="100000"/>
                            </a:srgbClr>
                          </a:solidFill>
                          <a:latin typeface="楷体" panose="02010609060101010101" charset="-122"/>
                          <a:ea typeface="楷体" panose="02010609060101010101" charset="-122"/>
                          <a:cs typeface="楷体" panose="02010609060101010101" charset="-122"/>
                        </a:rPr>
                        <a:t>平方英尺的房屋，估计的弹性分别</a:t>
                      </a:r>
                      <a:r>
                        <a:rPr sz="19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为：</a:t>
                      </a:r>
                      <a:endParaRPr sz="1900" dirty="0">
                        <a:latin typeface="楷体" panose="02010609060101010101" charset="-122"/>
                        <a:ea typeface="楷体" panose="02010609060101010101" charset="-122"/>
                        <a:cs typeface="楷体" panose="0201060906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808355" algn="l" rtl="0" eaLnBrk="0">
                        <a:lnSpc>
                          <a:spcPct val="94000"/>
                        </a:lnSpc>
                        <a:spcBef>
                          <a:spcPts val="575"/>
                        </a:spcBef>
                      </a:pPr>
                      <a:r>
                        <a:rPr sz="1900" kern="0" spc="90" dirty="0">
                          <a:solidFill>
                            <a:srgbClr val="000000">
                              <a:alpha val="100000"/>
                            </a:srgbClr>
                          </a:solidFill>
                          <a:latin typeface="楷体" panose="02010609060101010101" charset="-122"/>
                          <a:ea typeface="楷体" panose="02010609060101010101" charset="-122"/>
                          <a:cs typeface="楷体" panose="02010609060101010101" charset="-122"/>
                        </a:rPr>
                        <a:t>对于一个</a:t>
                      </a:r>
                      <a:r>
                        <a:rPr sz="1900" kern="0" spc="90" dirty="0">
                          <a:solidFill>
                            <a:srgbClr val="000000">
                              <a:alpha val="100000"/>
                            </a:srgbClr>
                          </a:solidFill>
                          <a:latin typeface="Times New Roman" panose="02020603050405020304"/>
                          <a:ea typeface="Times New Roman" panose="02020603050405020304"/>
                          <a:cs typeface="Times New Roman" panose="02020603050405020304"/>
                        </a:rPr>
                        <a:t>2000</a:t>
                      </a:r>
                      <a:r>
                        <a:rPr sz="1900" kern="0" spc="90" dirty="0">
                          <a:solidFill>
                            <a:srgbClr val="000000">
                              <a:alpha val="100000"/>
                            </a:srgbClr>
                          </a:solidFill>
                          <a:latin typeface="楷体" panose="02010609060101010101" charset="-122"/>
                          <a:ea typeface="楷体" panose="02010609060101010101" charset="-122"/>
                          <a:cs typeface="楷体" panose="02010609060101010101" charset="-122"/>
                        </a:rPr>
                        <a:t>平方英尺的房屋，我们估计房屋面积每</a:t>
                      </a:r>
                      <a:r>
                        <a:rPr sz="1900" kern="0" spc="80" dirty="0">
                          <a:solidFill>
                            <a:srgbClr val="000000">
                              <a:alpha val="100000"/>
                            </a:srgbClr>
                          </a:solidFill>
                          <a:latin typeface="楷体" panose="02010609060101010101" charset="-122"/>
                          <a:ea typeface="楷体" panose="02010609060101010101" charset="-122"/>
                          <a:cs typeface="楷体" panose="02010609060101010101" charset="-122"/>
                        </a:rPr>
                        <a:t>增</a:t>
                      </a:r>
                      <a:endParaRPr sz="1900" dirty="0">
                        <a:latin typeface="楷体" panose="02010609060101010101" charset="-122"/>
                        <a:ea typeface="楷体" panose="02010609060101010101" charset="-122"/>
                        <a:cs typeface="楷体" panose="02010609060101010101" charset="-122"/>
                      </a:endParaRPr>
                    </a:p>
                    <a:p>
                      <a:pPr marL="311785" algn="l" rtl="0" eaLnBrk="0">
                        <a:lnSpc>
                          <a:spcPts val="3600"/>
                        </a:lnSpc>
                      </a:pPr>
                      <a:r>
                        <a:rPr sz="1900" kern="0" spc="70" dirty="0">
                          <a:solidFill>
                            <a:srgbClr val="000000">
                              <a:alpha val="100000"/>
                            </a:srgbClr>
                          </a:solidFill>
                          <a:latin typeface="楷体" panose="02010609060101010101" charset="-122"/>
                          <a:ea typeface="楷体" panose="02010609060101010101" charset="-122"/>
                          <a:cs typeface="楷体" panose="02010609060101010101" charset="-122"/>
                        </a:rPr>
                        <a:t>长</a:t>
                      </a:r>
                      <a:r>
                        <a:rPr sz="19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1900" kern="0" spc="70" dirty="0">
                          <a:solidFill>
                            <a:srgbClr val="000000">
                              <a:alpha val="100000"/>
                            </a:srgbClr>
                          </a:solidFill>
                          <a:latin typeface="楷体" panose="02010609060101010101" charset="-122"/>
                          <a:ea typeface="楷体" panose="02010609060101010101" charset="-122"/>
                          <a:cs typeface="楷体" panose="02010609060101010101" charset="-122"/>
                        </a:rPr>
                        <a:t>将会导致房价增</a:t>
                      </a:r>
                      <a:r>
                        <a:rPr sz="1900" kern="0" spc="60" dirty="0">
                          <a:solidFill>
                            <a:srgbClr val="000000">
                              <a:alpha val="100000"/>
                            </a:srgbClr>
                          </a:solidFill>
                          <a:latin typeface="楷体" panose="02010609060101010101" charset="-122"/>
                          <a:ea typeface="楷体" panose="02010609060101010101" charset="-122"/>
                          <a:cs typeface="楷体" panose="02010609060101010101" charset="-122"/>
                        </a:rPr>
                        <a:t>加</a:t>
                      </a:r>
                      <a:r>
                        <a:rPr sz="1900" kern="0" spc="60" dirty="0">
                          <a:solidFill>
                            <a:srgbClr val="000000">
                              <a:alpha val="100000"/>
                            </a:srgbClr>
                          </a:solidFill>
                          <a:latin typeface="Times New Roman" panose="02020603050405020304"/>
                          <a:ea typeface="Times New Roman" panose="02020603050405020304"/>
                          <a:cs typeface="Times New Roman" panose="02020603050405020304"/>
                        </a:rPr>
                        <a:t>1.05%</a:t>
                      </a:r>
                      <a:r>
                        <a:rPr sz="1900" kern="0" spc="60" dirty="0">
                          <a:solidFill>
                            <a:srgbClr val="000000">
                              <a:alpha val="100000"/>
                            </a:srgbClr>
                          </a:solidFill>
                          <a:latin typeface="楷体" panose="02010609060101010101" charset="-122"/>
                          <a:ea typeface="楷体" panose="02010609060101010101" charset="-122"/>
                          <a:cs typeface="楷体" panose="02010609060101010101" charset="-122"/>
                        </a:rPr>
                        <a:t>。</a:t>
                      </a:r>
                      <a:endParaRPr sz="19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052" name="table 1052"/>
          <p:cNvGraphicFramePr>
            <a:graphicFrameLocks noGrp="1"/>
          </p:cNvGraphicFramePr>
          <p:nvPr/>
        </p:nvGraphicFramePr>
        <p:xfrm>
          <a:off x="2007742" y="1341501"/>
          <a:ext cx="5196840" cy="1740534"/>
        </p:xfrm>
        <a:graphic>
          <a:graphicData uri="http://schemas.openxmlformats.org/drawingml/2006/table">
            <a:tbl>
              <a:tblPr/>
              <a:tblGrid>
                <a:gridCol w="1302385"/>
                <a:gridCol w="1296035"/>
                <a:gridCol w="1296035"/>
                <a:gridCol w="1302385"/>
              </a:tblGrid>
              <a:tr h="438784">
                <a:tc>
                  <a:txBody>
                    <a:bodyPr/>
                    <a:lstStyle/>
                    <a:p>
                      <a:pPr algn="l" rtl="0" eaLnBrk="0">
                        <a:lnSpc>
                          <a:spcPct val="105000"/>
                        </a:lnSpc>
                      </a:pPr>
                      <a:endParaRPr sz="900" dirty="0">
                        <a:latin typeface="Arial" panose="020B0604020202020204"/>
                        <a:ea typeface="Arial" panose="020B0604020202020204"/>
                        <a:cs typeface="Arial" panose="020B0604020202020204"/>
                      </a:endParaRPr>
                    </a:p>
                    <a:p>
                      <a:pPr marL="389255" algn="l" rtl="0" eaLnBrk="0">
                        <a:lnSpc>
                          <a:spcPct val="77000"/>
                        </a:lnSpc>
                        <a:spcBef>
                          <a:spcPts val="5"/>
                        </a:spcBef>
                      </a:pPr>
                      <a:r>
                        <a:rPr sz="1800" kern="0" spc="-30" dirty="0">
                          <a:solidFill>
                            <a:srgbClr val="000000">
                              <a:alpha val="100000"/>
                            </a:srgbClr>
                          </a:solidFill>
                          <a:latin typeface="Times New Roman" panose="02020603050405020304"/>
                          <a:ea typeface="Times New Roman" panose="02020603050405020304"/>
                          <a:cs typeface="Times New Roman" panose="02020603050405020304"/>
                        </a:rPr>
                        <a:t>SQFT</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94640" algn="l" rtl="0" eaLnBrk="0">
                        <a:lnSpc>
                          <a:spcPct val="81000"/>
                        </a:lnSpc>
                      </a:pPr>
                      <a:r>
                        <a:rPr sz="18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PRICE</a:t>
                      </a:r>
                      <a:endParaRPr sz="1800" dirty="0">
                        <a:latin typeface="微软雅黑" panose="020B0503020204020204" charset="-122"/>
                        <a:ea typeface="微软雅黑" panose="020B0503020204020204" charset="-122"/>
                        <a:cs typeface="微软雅黑" panose="020B0503020204020204" charset="-122"/>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07000"/>
                        </a:lnSpc>
                      </a:pPr>
                      <a:endParaRPr sz="800" dirty="0">
                        <a:latin typeface="Arial" panose="020B0604020202020204"/>
                        <a:ea typeface="Arial" panose="020B0604020202020204"/>
                        <a:cs typeface="Arial" panose="020B0604020202020204"/>
                      </a:endParaRPr>
                    </a:p>
                    <a:p>
                      <a:pPr marL="574040" algn="l" rtl="0" eaLnBrk="0">
                        <a:lnSpc>
                          <a:spcPct val="100000"/>
                        </a:lnSpc>
                        <a:spcBef>
                          <a:spcPts val="5"/>
                        </a:spcBef>
                        <a:tabLst>
                          <a:tab pos="673100" algn="l"/>
                        </a:tabLst>
                      </a:pPr>
                      <a:r>
                        <a:rPr sz="18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sz="1800" dirty="0">
                        <a:latin typeface="微软雅黑" panose="020B0503020204020204" charset="-122"/>
                        <a:ea typeface="微软雅黑" panose="020B0503020204020204" charset="-122"/>
                        <a:cs typeface="微软雅黑" panose="020B0503020204020204" charset="-122"/>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r>
              <a:tr h="431800">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marL="430530" algn="l" rtl="0" eaLnBrk="0">
                        <a:lnSpc>
                          <a:spcPct val="76000"/>
                        </a:lnSpc>
                        <a:spcBef>
                          <a:spcPts val="5"/>
                        </a:spcBef>
                      </a:pPr>
                      <a:r>
                        <a:rPr sz="1800" kern="0" spc="-10" dirty="0">
                          <a:solidFill>
                            <a:srgbClr val="000000">
                              <a:alpha val="100000"/>
                            </a:srgbClr>
                          </a:solidFill>
                          <a:latin typeface="Times New Roman" panose="02020603050405020304"/>
                          <a:ea typeface="Times New Roman" panose="02020603050405020304"/>
                          <a:cs typeface="Times New Roman" panose="02020603050405020304"/>
                        </a:rPr>
                        <a:t>2000</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marL="250825" algn="l" rtl="0" eaLnBrk="0">
                        <a:lnSpc>
                          <a:spcPct val="76000"/>
                        </a:lnSpc>
                        <a:spcBef>
                          <a:spcPts val="5"/>
                        </a:spcBef>
                      </a:pPr>
                      <a:r>
                        <a:rPr sz="1800" kern="0" spc="-40" dirty="0">
                          <a:solidFill>
                            <a:srgbClr val="000000">
                              <a:alpha val="100000"/>
                            </a:srgbClr>
                          </a:solidFill>
                          <a:latin typeface="Times New Roman" panose="02020603050405020304"/>
                          <a:ea typeface="Times New Roman" panose="02020603050405020304"/>
                          <a:cs typeface="Times New Roman" panose="02020603050405020304"/>
                        </a:rPr>
                        <a:t>117461.8</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marL="457835" algn="l" rtl="0" eaLnBrk="0">
                        <a:lnSpc>
                          <a:spcPct val="76000"/>
                        </a:lnSpc>
                        <a:spcBef>
                          <a:spcPts val="5"/>
                        </a:spcBef>
                      </a:pPr>
                      <a:r>
                        <a:rPr sz="1800" kern="0" spc="-20" dirty="0">
                          <a:solidFill>
                            <a:srgbClr val="000000">
                              <a:alpha val="100000"/>
                            </a:srgbClr>
                          </a:solidFill>
                          <a:latin typeface="Times New Roman" panose="02020603050405020304"/>
                          <a:ea typeface="Times New Roman" panose="02020603050405020304"/>
                          <a:cs typeface="Times New Roman" panose="02020603050405020304"/>
                        </a:rPr>
                        <a:t>61.6</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marL="246380" algn="l" rtl="0" eaLnBrk="0">
                        <a:lnSpc>
                          <a:spcPct val="76000"/>
                        </a:lnSpc>
                        <a:spcBef>
                          <a:spcPts val="5"/>
                        </a:spcBef>
                      </a:pPr>
                      <a:r>
                        <a:rPr sz="1800" kern="0" spc="-30" dirty="0">
                          <a:solidFill>
                            <a:srgbClr val="000000">
                              <a:alpha val="100000"/>
                            </a:srgbClr>
                          </a:solidFill>
                          <a:latin typeface="Times New Roman" panose="02020603050405020304"/>
                          <a:ea typeface="Times New Roman" panose="02020603050405020304"/>
                          <a:cs typeface="Times New Roman" panose="02020603050405020304"/>
                        </a:rPr>
                        <a:t>1.048852</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r>
              <a:tr h="431800">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29260" algn="l" rtl="0" eaLnBrk="0">
                        <a:lnSpc>
                          <a:spcPct val="76000"/>
                        </a:lnSpc>
                      </a:pPr>
                      <a:r>
                        <a:rPr sz="1800" kern="0" spc="-10" dirty="0">
                          <a:solidFill>
                            <a:srgbClr val="000000">
                              <a:alpha val="100000"/>
                            </a:srgbClr>
                          </a:solidFill>
                          <a:latin typeface="Times New Roman" panose="02020603050405020304"/>
                          <a:ea typeface="Times New Roman" panose="02020603050405020304"/>
                          <a:cs typeface="Times New Roman" panose="02020603050405020304"/>
                        </a:rPr>
                        <a:t>4000</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28600" algn="l" rtl="0" eaLnBrk="0">
                        <a:lnSpc>
                          <a:spcPct val="76000"/>
                        </a:lnSpc>
                      </a:pPr>
                      <a:r>
                        <a:rPr sz="1800" kern="0" spc="-10" dirty="0">
                          <a:solidFill>
                            <a:srgbClr val="000000">
                              <a:alpha val="100000"/>
                            </a:srgbClr>
                          </a:solidFill>
                          <a:latin typeface="Times New Roman" panose="02020603050405020304"/>
                          <a:ea typeface="Times New Roman" panose="02020603050405020304"/>
                          <a:cs typeface="Times New Roman" panose="02020603050405020304"/>
                        </a:rPr>
                        <a:t>302517.4</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417830" algn="l" rtl="0" eaLnBrk="0">
                        <a:lnSpc>
                          <a:spcPct val="76000"/>
                        </a:lnSpc>
                      </a:pPr>
                      <a:r>
                        <a:rPr sz="1800" kern="0" spc="-40" dirty="0">
                          <a:solidFill>
                            <a:srgbClr val="000000">
                              <a:alpha val="100000"/>
                            </a:srgbClr>
                          </a:solidFill>
                          <a:latin typeface="Times New Roman" panose="02020603050405020304"/>
                          <a:ea typeface="Times New Roman" panose="02020603050405020304"/>
                          <a:cs typeface="Times New Roman" panose="02020603050405020304"/>
                        </a:rPr>
                        <a:t>123.2</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1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46380" algn="l" rtl="0" eaLnBrk="0">
                        <a:lnSpc>
                          <a:spcPct val="76000"/>
                        </a:lnSpc>
                      </a:pPr>
                      <a:r>
                        <a:rPr sz="1800" kern="0" spc="-30" dirty="0">
                          <a:solidFill>
                            <a:srgbClr val="000000">
                              <a:alpha val="100000"/>
                            </a:srgbClr>
                          </a:solidFill>
                          <a:latin typeface="Times New Roman" panose="02020603050405020304"/>
                          <a:ea typeface="Times New Roman" panose="02020603050405020304"/>
                          <a:cs typeface="Times New Roman" panose="02020603050405020304"/>
                        </a:rPr>
                        <a:t>1.628997</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r>
              <a:tr h="438150">
                <a:tc>
                  <a:txBody>
                    <a:bodyPr/>
                    <a:lstStyle/>
                    <a:p>
                      <a:pPr algn="l" rtl="0" eaLnBrk="0">
                        <a:lnSpc>
                          <a:spcPct val="112000"/>
                        </a:lnSpc>
                      </a:pPr>
                      <a:endParaRPr sz="800" dirty="0">
                        <a:latin typeface="Arial" panose="020B0604020202020204"/>
                        <a:ea typeface="Arial" panose="020B0604020202020204"/>
                        <a:cs typeface="Arial" panose="020B0604020202020204"/>
                      </a:endParaRPr>
                    </a:p>
                    <a:p>
                      <a:pPr marL="435610" algn="l" rtl="0" eaLnBrk="0">
                        <a:lnSpc>
                          <a:spcPct val="76000"/>
                        </a:lnSpc>
                        <a:spcBef>
                          <a:spcPts val="0"/>
                        </a:spcBef>
                      </a:pPr>
                      <a:r>
                        <a:rPr sz="1800" kern="0" spc="-20" dirty="0">
                          <a:solidFill>
                            <a:srgbClr val="000000">
                              <a:alpha val="100000"/>
                            </a:srgbClr>
                          </a:solidFill>
                          <a:latin typeface="Times New Roman" panose="02020603050405020304"/>
                          <a:ea typeface="Times New Roman" panose="02020603050405020304"/>
                          <a:cs typeface="Times New Roman" panose="02020603050405020304"/>
                        </a:rPr>
                        <a:t>6000</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2000"/>
                        </a:lnSpc>
                      </a:pPr>
                      <a:endParaRPr sz="800" dirty="0">
                        <a:latin typeface="Arial" panose="020B0604020202020204"/>
                        <a:ea typeface="Arial" panose="020B0604020202020204"/>
                        <a:cs typeface="Arial" panose="020B0604020202020204"/>
                      </a:endParaRPr>
                    </a:p>
                    <a:p>
                      <a:pPr marL="229235" algn="l" rtl="0" eaLnBrk="0">
                        <a:lnSpc>
                          <a:spcPct val="76000"/>
                        </a:lnSpc>
                        <a:spcBef>
                          <a:spcPts val="0"/>
                        </a:spcBef>
                      </a:pPr>
                      <a:r>
                        <a:rPr sz="1800" kern="0" spc="-10" dirty="0">
                          <a:solidFill>
                            <a:srgbClr val="000000">
                              <a:alpha val="100000"/>
                            </a:srgbClr>
                          </a:solidFill>
                          <a:latin typeface="Times New Roman" panose="02020603050405020304"/>
                          <a:ea typeface="Times New Roman" panose="02020603050405020304"/>
                          <a:cs typeface="Times New Roman" panose="02020603050405020304"/>
                        </a:rPr>
                        <a:t>610943.4</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2000"/>
                        </a:lnSpc>
                      </a:pPr>
                      <a:endParaRPr sz="800" dirty="0">
                        <a:latin typeface="Arial" panose="020B0604020202020204"/>
                        <a:ea typeface="Arial" panose="020B0604020202020204"/>
                        <a:cs typeface="Arial" panose="020B0604020202020204"/>
                      </a:endParaRPr>
                    </a:p>
                    <a:p>
                      <a:pPr marL="417830" algn="l" rtl="0" eaLnBrk="0">
                        <a:lnSpc>
                          <a:spcPct val="76000"/>
                        </a:lnSpc>
                        <a:spcBef>
                          <a:spcPts val="0"/>
                        </a:spcBef>
                      </a:pPr>
                      <a:r>
                        <a:rPr sz="1800" kern="0" spc="-40" dirty="0">
                          <a:solidFill>
                            <a:srgbClr val="000000">
                              <a:alpha val="100000"/>
                            </a:srgbClr>
                          </a:solidFill>
                          <a:latin typeface="Times New Roman" panose="02020603050405020304"/>
                          <a:ea typeface="Times New Roman" panose="02020603050405020304"/>
                          <a:cs typeface="Times New Roman" panose="02020603050405020304"/>
                        </a:rPr>
                        <a:t>184.8</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c>
                  <a:txBody>
                    <a:bodyPr/>
                    <a:lstStyle/>
                    <a:p>
                      <a:pPr algn="l" rtl="0" eaLnBrk="0">
                        <a:lnSpc>
                          <a:spcPct val="112000"/>
                        </a:lnSpc>
                      </a:pPr>
                      <a:endParaRPr sz="800" dirty="0">
                        <a:latin typeface="Arial" panose="020B0604020202020204"/>
                        <a:ea typeface="Arial" panose="020B0604020202020204"/>
                        <a:cs typeface="Arial" panose="020B0604020202020204"/>
                      </a:endParaRPr>
                    </a:p>
                    <a:p>
                      <a:pPr marL="246380" algn="l" rtl="0" eaLnBrk="0">
                        <a:lnSpc>
                          <a:spcPct val="76000"/>
                        </a:lnSpc>
                        <a:spcBef>
                          <a:spcPts val="0"/>
                        </a:spcBef>
                      </a:pPr>
                      <a:r>
                        <a:rPr sz="1800" kern="0" spc="-30" dirty="0">
                          <a:solidFill>
                            <a:srgbClr val="000000">
                              <a:alpha val="100000"/>
                            </a:srgbClr>
                          </a:solidFill>
                          <a:latin typeface="Times New Roman" panose="02020603050405020304"/>
                          <a:ea typeface="Times New Roman" panose="02020603050405020304"/>
                          <a:cs typeface="Times New Roman" panose="02020603050405020304"/>
                        </a:rPr>
                        <a:t>1.814898</a:t>
                      </a:r>
                      <a:endParaRPr sz="1800" dirty="0">
                        <a:latin typeface="Times New Roman" panose="02020603050405020304"/>
                        <a:ea typeface="Times New Roman" panose="02020603050405020304"/>
                        <a:cs typeface="Times New Roman" panose="02020603050405020304"/>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7E9E7"/>
                    </a:solidFill>
                  </a:tcPr>
                </a:tc>
              </a:tr>
            </a:tbl>
          </a:graphicData>
        </a:graphic>
      </p:graphicFrame>
      <p:sp>
        <p:nvSpPr>
          <p:cNvPr id="1054" name="textbox 1054"/>
          <p:cNvSpPr/>
          <p:nvPr/>
        </p:nvSpPr>
        <p:spPr>
          <a:xfrm>
            <a:off x="6499580" y="1458925"/>
            <a:ext cx="89535" cy="2540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800"/>
              </a:lnSpc>
            </a:pPr>
            <a:r>
              <a:rPr sz="700" kern="0" spc="-4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700" dirty="0">
              <a:latin typeface="微软雅黑" panose="020B0503020204020204" charset="-122"/>
              <a:ea typeface="微软雅黑" panose="020B0503020204020204" charset="-122"/>
              <a:cs typeface="微软雅黑" panose="020B0503020204020204" charset="-122"/>
            </a:endParaRPr>
          </a:p>
        </p:txBody>
      </p:sp>
      <p:sp>
        <p:nvSpPr>
          <p:cNvPr id="1056" name="textbox 1056"/>
          <p:cNvSpPr/>
          <p:nvPr/>
        </p:nvSpPr>
        <p:spPr>
          <a:xfrm>
            <a:off x="6463690" y="1458925"/>
            <a:ext cx="119379" cy="25400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algn="r" rtl="0" eaLnBrk="0">
              <a:lnSpc>
                <a:spcPct val="88000"/>
              </a:lnSpc>
            </a:pPr>
            <a:r>
              <a:rPr sz="17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ε</a:t>
            </a:r>
            <a:endParaRPr sz="1700" dirty="0">
              <a:latin typeface="微软雅黑" panose="020B0503020204020204" charset="-122"/>
              <a:ea typeface="微软雅黑" panose="020B0503020204020204" charset="-122"/>
              <a:cs typeface="微软雅黑" panose="020B0503020204020204" charset="-122"/>
            </a:endParaRPr>
          </a:p>
        </p:txBody>
      </p:sp>
      <p:pic>
        <p:nvPicPr>
          <p:cNvPr id="1058" name="picture 1058"/>
          <p:cNvPicPr>
            <a:picLocks noChangeAspect="1"/>
          </p:cNvPicPr>
          <p:nvPr/>
        </p:nvPicPr>
        <p:blipFill>
          <a:blip r:embed="rId1"/>
          <a:stretch>
            <a:fillRect/>
          </a:stretch>
        </p:blipFill>
        <p:spPr>
          <a:xfrm rot="21600000">
            <a:off x="3321471" y="4346094"/>
            <a:ext cx="3110288" cy="927786"/>
          </a:xfrm>
          <a:prstGeom prst="rect">
            <a:avLst/>
          </a:prstGeom>
        </p:spPr>
      </p:pic>
      <p:pic>
        <p:nvPicPr>
          <p:cNvPr id="1062" name="picture 1062"/>
          <p:cNvPicPr>
            <a:picLocks noChangeAspect="1"/>
          </p:cNvPicPr>
          <p:nvPr/>
        </p:nvPicPr>
        <p:blipFill>
          <a:blip r:embed="rId2"/>
          <a:stretch>
            <a:fillRect/>
          </a:stretch>
        </p:blipFill>
        <p:spPr>
          <a:xfrm rot="21600000">
            <a:off x="5018532" y="1453743"/>
            <a:ext cx="412165" cy="37033"/>
          </a:xfrm>
          <a:prstGeom prst="rect">
            <a:avLst/>
          </a:prstGeom>
        </p:spPr>
      </p:pic>
      <p:sp>
        <p:nvSpPr>
          <p:cNvPr id="1064" name="textbox 1064"/>
          <p:cNvSpPr/>
          <p:nvPr/>
        </p:nvSpPr>
        <p:spPr>
          <a:xfrm>
            <a:off x="4946548" y="1469847"/>
            <a:ext cx="560705" cy="300990"/>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algn="r" rtl="0" eaLnBrk="0">
              <a:lnSpc>
                <a:spcPct val="100000"/>
              </a:lnSpc>
            </a:pPr>
            <a:r>
              <a:rPr sz="18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slope</a:t>
            </a:r>
            <a:endParaRPr sz="1800" dirty="0">
              <a:latin typeface="微软雅黑" panose="020B0503020204020204" charset="-122"/>
              <a:ea typeface="微软雅黑" panose="020B0503020204020204" charset="-122"/>
              <a:cs typeface="微软雅黑" panose="020B0503020204020204" charset="-122"/>
            </a:endParaRPr>
          </a:p>
        </p:txBody>
      </p:sp>
      <p:pic>
        <p:nvPicPr>
          <p:cNvPr id="1066" name="picture 1066"/>
          <p:cNvPicPr>
            <a:picLocks noChangeAspect="1"/>
          </p:cNvPicPr>
          <p:nvPr/>
        </p:nvPicPr>
        <p:blipFill>
          <a:blip r:embed="rId3"/>
          <a:stretch>
            <a:fillRect/>
          </a:stretch>
        </p:blipFill>
        <p:spPr>
          <a:xfrm rot="21600000">
            <a:off x="3719067" y="1455775"/>
            <a:ext cx="412165" cy="3703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8" name="table 1068"/>
          <p:cNvGraphicFramePr>
            <a:graphicFrameLocks noGrp="1"/>
          </p:cNvGraphicFramePr>
          <p:nvPr/>
        </p:nvGraphicFramePr>
        <p:xfrm>
          <a:off x="60832" y="66928"/>
          <a:ext cx="9019540" cy="6699249"/>
        </p:xfrm>
        <a:graphic>
          <a:graphicData uri="http://schemas.openxmlformats.org/drawingml/2006/table">
            <a:tbl>
              <a:tblPr/>
              <a:tblGrid>
                <a:gridCol w="9019540"/>
              </a:tblGrid>
              <a:tr h="5950584">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966470" algn="l" rtl="0" eaLnBrk="0">
                        <a:lnSpc>
                          <a:spcPct val="97000"/>
                        </a:lnSpc>
                      </a:pPr>
                      <a:r>
                        <a:rPr sz="20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30" dirty="0">
                          <a:solidFill>
                            <a:srgbClr val="000000">
                              <a:alpha val="100000"/>
                            </a:srgbClr>
                          </a:solidFill>
                          <a:latin typeface="Perpetua" panose="02020502060401020303"/>
                          <a:ea typeface="Perpetua" panose="02020502060401020303"/>
                          <a:cs typeface="Perpetua" panose="02020502060401020303"/>
                        </a:rPr>
                        <a:t>2.</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构建对数线性函数的</a:t>
                      </a:r>
                      <a:r>
                        <a:rPr sz="2400" b="1" kern="0" spc="-30" dirty="0">
                          <a:solidFill>
                            <a:srgbClr val="000000">
                              <a:alpha val="100000"/>
                            </a:srgbClr>
                          </a:solidFill>
                          <a:latin typeface="楷体" panose="02010609060101010101" charset="-122"/>
                          <a:ea typeface="楷体" panose="02010609060101010101" charset="-122"/>
                          <a:cs typeface="楷体" panose="02010609060101010101" charset="-122"/>
                        </a:rPr>
                        <a:t>房价模型</a:t>
                      </a:r>
                      <a:r>
                        <a:rPr sz="2400" kern="0" spc="-30" dirty="0">
                          <a:solidFill>
                            <a:srgbClr val="000000">
                              <a:alpha val="100000"/>
                            </a:srgbClr>
                          </a:solidFill>
                          <a:latin typeface="Perpetua" panose="02020502060401020303"/>
                          <a:ea typeface="Perpetua" panose="02020502060401020303"/>
                          <a:cs typeface="Perpetua" panose="02020502060401020303"/>
                        </a:rPr>
                        <a:t>:</a:t>
                      </a:r>
                      <a:endParaRPr sz="2400" dirty="0">
                        <a:latin typeface="Perpetua" panose="02020502060401020303"/>
                        <a:ea typeface="Perpetua" panose="02020502060401020303"/>
                        <a:cs typeface="Perpetua" panose="02020502060401020303"/>
                      </a:endParaRPr>
                    </a:p>
                    <a:p>
                      <a:pPr algn="l" rtl="0" eaLnBrk="0">
                        <a:lnSpc>
                          <a:spcPct val="126000"/>
                        </a:lnSpc>
                      </a:pPr>
                      <a:endParaRPr sz="1000" dirty="0">
                        <a:latin typeface="Arial" panose="020B0604020202020204"/>
                        <a:ea typeface="Arial" panose="020B0604020202020204"/>
                        <a:cs typeface="Arial" panose="020B0604020202020204"/>
                      </a:endParaRPr>
                    </a:p>
                    <a:p>
                      <a:pPr marL="2754630" algn="l" rtl="0" eaLnBrk="0">
                        <a:lnSpc>
                          <a:spcPct val="94000"/>
                        </a:lnSpc>
                        <a:spcBef>
                          <a:spcPts val="815"/>
                        </a:spcBef>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0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0" dirty="0">
                          <a:solidFill>
                            <a:srgbClr val="000000">
                              <a:alpha val="100000"/>
                            </a:srgbClr>
                          </a:solidFill>
                          <a:latin typeface="Arial" panose="020B0604020202020204"/>
                          <a:ea typeface="Arial" panose="020B0604020202020204"/>
                          <a:cs typeface="Arial" panose="020B0604020202020204"/>
                        </a:rPr>
                        <a:t>(</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000" i="1"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0" dirty="0">
                          <a:solidFill>
                            <a:srgbClr val="000000">
                              <a:alpha val="100000"/>
                            </a:srgbClr>
                          </a:solidFill>
                          <a:latin typeface="Arial" panose="020B0604020202020204"/>
                          <a:ea typeface="Arial" panose="020B0604020202020204"/>
                          <a:cs typeface="Arial" panose="020B0604020202020204"/>
                        </a:rPr>
                        <a:t>)</a:t>
                      </a:r>
                      <a:r>
                        <a:rPr sz="2700" kern="0" spc="-27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γ</a:t>
                      </a:r>
                      <a:r>
                        <a:rPr sz="2000" kern="0" spc="-3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Arial" panose="020B0604020202020204"/>
                          <a:ea typeface="Arial" panose="020B0604020202020204"/>
                          <a:cs typeface="Arial" panose="020B0604020202020204"/>
                        </a:rPr>
                        <a:t>+</a:t>
                      </a:r>
                      <a:r>
                        <a:rPr sz="2000" kern="0" spc="-15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γ</a:t>
                      </a:r>
                      <a:r>
                        <a:rPr sz="1800" kern="0" spc="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SQFT </a:t>
                      </a:r>
                      <a:r>
                        <a:rPr sz="2000" kern="0" spc="-10" dirty="0">
                          <a:solidFill>
                            <a:srgbClr val="000000">
                              <a:alpha val="100000"/>
                            </a:srgbClr>
                          </a:solidFill>
                          <a:latin typeface="Arial" panose="020B0604020202020204"/>
                          <a:ea typeface="Arial" panose="020B0604020202020204"/>
                          <a:cs typeface="Arial" panose="020B0604020202020204"/>
                        </a:rPr>
                        <a:t>+</a:t>
                      </a:r>
                      <a:r>
                        <a:rPr sz="2000" kern="0" spc="-140" dirty="0">
                          <a:solidFill>
                            <a:srgbClr val="000000">
                              <a:alpha val="100000"/>
                            </a:srgbClr>
                          </a:solidFill>
                          <a:latin typeface="Arial" panose="020B0604020202020204"/>
                          <a:ea typeface="Arial" panose="020B0604020202020204"/>
                          <a:cs typeface="Arial" panose="020B0604020202020204"/>
                        </a:rPr>
                        <a:t> </a:t>
                      </a:r>
                      <a:r>
                        <a:rPr sz="2000" i="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sz="2000" dirty="0">
                        <a:latin typeface="Times New Roman" panose="02020603050405020304"/>
                        <a:ea typeface="Times New Roman" panose="02020603050405020304"/>
                        <a:cs typeface="Times New Roman" panose="02020603050405020304"/>
                      </a:endParaRPr>
                    </a:p>
                    <a:p>
                      <a:pPr algn="l" rtl="0" eaLnBrk="0">
                        <a:lnSpc>
                          <a:spcPct val="171000"/>
                        </a:lnSpc>
                      </a:pPr>
                      <a:endParaRPr sz="1000" dirty="0">
                        <a:latin typeface="Arial" panose="020B0604020202020204"/>
                        <a:ea typeface="Arial" panose="020B0604020202020204"/>
                        <a:cs typeface="Arial" panose="020B0604020202020204"/>
                      </a:endParaRPr>
                    </a:p>
                    <a:p>
                      <a:pPr algn="l" rtl="0" eaLnBrk="0">
                        <a:lnSpc>
                          <a:spcPct val="120000"/>
                        </a:lnSpc>
                      </a:pPr>
                      <a:endParaRPr sz="400" dirty="0">
                        <a:latin typeface="Arial" panose="020B0604020202020204"/>
                        <a:ea typeface="Arial" panose="020B0604020202020204"/>
                        <a:cs typeface="Arial" panose="020B0604020202020204"/>
                      </a:endParaRPr>
                    </a:p>
                    <a:p>
                      <a:pPr marL="1040130" algn="l" rtl="0" eaLnBrk="0">
                        <a:lnSpc>
                          <a:spcPct val="88000"/>
                        </a:lnSpc>
                        <a:spcBef>
                          <a:spcPts val="5"/>
                        </a:spcBef>
                      </a:pP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对数变换可以调整向</a:t>
                      </a:r>
                      <a:r>
                        <a:rPr sz="1900" kern="0" spc="90" dirty="0">
                          <a:solidFill>
                            <a:srgbClr val="000000">
                              <a:alpha val="100000"/>
                            </a:srgbClr>
                          </a:solidFill>
                          <a:latin typeface="楷体" panose="02010609060101010101" charset="-122"/>
                          <a:ea typeface="楷体" panose="02010609060101010101" charset="-122"/>
                          <a:cs typeface="楷体" panose="02010609060101010101" charset="-122"/>
                        </a:rPr>
                        <a:t>右尾倾斜的数据结构，使之更接近正态分布</a:t>
                      </a:r>
                      <a:r>
                        <a:rPr sz="1800" kern="0" spc="90" dirty="0">
                          <a:solidFill>
                            <a:srgbClr val="000000">
                              <a:alpha val="100000"/>
                            </a:srgbClr>
                          </a:solidFill>
                          <a:latin typeface="楷体" panose="02010609060101010101" charset="-122"/>
                          <a:ea typeface="楷体" panose="02010609060101010101" charset="-122"/>
                          <a:cs typeface="楷体" panose="02010609060101010101" charset="-122"/>
                        </a:rPr>
                        <a:t>：</a:t>
                      </a:r>
                      <a:endParaRPr sz="18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48665">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215265" algn="l" rtl="0" eaLnBrk="0">
                        <a:lnSpc>
                          <a:spcPct val="80000"/>
                        </a:lnSpc>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85</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1070" name="table 1070"/>
          <p:cNvGraphicFramePr>
            <a:graphicFrameLocks noGrp="1"/>
          </p:cNvGraphicFramePr>
          <p:nvPr/>
        </p:nvGraphicFramePr>
        <p:xfrm>
          <a:off x="1045082" y="2843403"/>
          <a:ext cx="7510780" cy="2971800"/>
        </p:xfrm>
        <a:graphic>
          <a:graphicData uri="http://schemas.openxmlformats.org/drawingml/2006/table">
            <a:tbl>
              <a:tblPr/>
              <a:tblGrid>
                <a:gridCol w="7510780"/>
              </a:tblGrid>
              <a:tr h="297180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D34817"/>
                      </a:solidFill>
                      <a:prstDash val="solid"/>
                      <a:round/>
                      <a:headEnd type="none" w="med" len="med"/>
                      <a:tailEnd type="none" w="med" len="med"/>
                    </a:lnL>
                    <a:lnR w="9525" cap="flat" cmpd="sng" algn="ctr">
                      <a:solidFill>
                        <a:srgbClr val="D34817"/>
                      </a:solidFill>
                      <a:prstDash val="solid"/>
                      <a:round/>
                      <a:headEnd type="none" w="med" len="med"/>
                      <a:tailEnd type="none" w="med" len="med"/>
                    </a:lnR>
                    <a:lnT w="9525" cap="flat" cmpd="sng" algn="ctr">
                      <a:solidFill>
                        <a:srgbClr val="D34817"/>
                      </a:solidFill>
                      <a:prstDash val="solid"/>
                      <a:round/>
                      <a:headEnd type="none" w="med" len="med"/>
                      <a:tailEnd type="none" w="med" len="med"/>
                    </a:lnT>
                    <a:lnB w="9525" cap="flat" cmpd="sng" algn="ctr">
                      <a:solidFill>
                        <a:srgbClr val="D34817"/>
                      </a:solidFill>
                      <a:prstDash val="solid"/>
                      <a:round/>
                      <a:headEnd type="none" w="med" len="med"/>
                      <a:tailEnd type="none" w="med" len="med"/>
                    </a:lnB>
                  </a:tcPr>
                </a:tc>
              </a:tr>
            </a:tbl>
          </a:graphicData>
        </a:graphic>
      </p:graphicFrame>
      <p:pic>
        <p:nvPicPr>
          <p:cNvPr id="1072" name="picture 1072"/>
          <p:cNvPicPr>
            <a:picLocks noChangeAspect="1"/>
          </p:cNvPicPr>
          <p:nvPr/>
        </p:nvPicPr>
        <p:blipFill>
          <a:blip r:embed="rId1"/>
          <a:stretch>
            <a:fillRect/>
          </a:stretch>
        </p:blipFill>
        <p:spPr>
          <a:xfrm rot="21600000">
            <a:off x="1054608" y="2852928"/>
            <a:ext cx="7491984" cy="296265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0" name="table 1100"/>
          <p:cNvGraphicFramePr>
            <a:graphicFrameLocks noGrp="1"/>
          </p:cNvGraphicFramePr>
          <p:nvPr/>
        </p:nvGraphicFramePr>
        <p:xfrm>
          <a:off x="60832" y="66928"/>
          <a:ext cx="9019540" cy="6699250"/>
        </p:xfrm>
        <a:graphic>
          <a:graphicData uri="http://schemas.openxmlformats.org/drawingml/2006/table">
            <a:tbl>
              <a:tblPr/>
              <a:tblGrid>
                <a:gridCol w="9019540"/>
              </a:tblGrid>
              <a:tr h="5784215">
                <a:tc>
                  <a:txBody>
                    <a:bodyPr/>
                    <a:lstStyle/>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966470" algn="l" rtl="0" eaLnBrk="0">
                        <a:lnSpc>
                          <a:spcPct val="97000"/>
                        </a:lnSpc>
                      </a:pPr>
                      <a:r>
                        <a:rPr sz="20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40" dirty="0">
                          <a:solidFill>
                            <a:srgbClr val="000000">
                              <a:alpha val="100000"/>
                            </a:srgbClr>
                          </a:solidFill>
                          <a:latin typeface="Perpetua" panose="02020502060401020303"/>
                          <a:ea typeface="Perpetua" panose="02020502060401020303"/>
                          <a:cs typeface="Perpetua" panose="02020502060401020303"/>
                        </a:rPr>
                        <a:t>3.</a:t>
                      </a:r>
                      <a:r>
                        <a:rPr sz="2400" kern="0" spc="-40" dirty="0">
                          <a:solidFill>
                            <a:srgbClr val="000000">
                              <a:alpha val="100000"/>
                            </a:srgbClr>
                          </a:solidFill>
                          <a:latin typeface="楷体" panose="02010609060101010101" charset="-122"/>
                          <a:ea typeface="楷体" panose="02010609060101010101" charset="-122"/>
                          <a:cs typeface="楷体" panose="02010609060101010101" charset="-122"/>
                        </a:rPr>
                        <a:t>如何选择函数形式</a:t>
                      </a:r>
                      <a:endParaRPr sz="2400" dirty="0">
                        <a:latin typeface="楷体" panose="02010609060101010101" charset="-122"/>
                        <a:ea typeface="楷体" panose="02010609060101010101" charset="-122"/>
                        <a:cs typeface="楷体" panose="02010609060101010101" charset="-122"/>
                      </a:endParaRPr>
                    </a:p>
                    <a:p>
                      <a:pPr marL="1235710" indent="-269240" algn="l" rtl="0" eaLnBrk="0">
                        <a:lnSpc>
                          <a:spcPct val="131000"/>
                        </a:lnSpc>
                        <a:spcBef>
                          <a:spcPts val="1785"/>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我们无法真正得知正确的函数关系，无论我们研究</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计量经济学多少年；参数的真实值一直存在，但我们</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永远无法得知；</a:t>
                      </a:r>
                      <a:endParaRPr sz="2400" dirty="0">
                        <a:latin typeface="楷体" panose="02010609060101010101" charset="-122"/>
                        <a:ea typeface="楷体" panose="02010609060101010101" charset="-122"/>
                        <a:cs typeface="楷体" panose="02010609060101010101" charset="-122"/>
                      </a:endParaRPr>
                    </a:p>
                    <a:p>
                      <a:pPr algn="l" rtl="0" eaLnBrk="0">
                        <a:lnSpc>
                          <a:spcPct val="124000"/>
                        </a:lnSpc>
                      </a:pPr>
                      <a:endParaRPr sz="1000" dirty="0">
                        <a:latin typeface="Arial" panose="020B0604020202020204"/>
                        <a:ea typeface="Arial" panose="020B0604020202020204"/>
                        <a:cs typeface="Arial" panose="020B0604020202020204"/>
                      </a:endParaRPr>
                    </a:p>
                    <a:p>
                      <a:pPr marL="1224915" indent="-258445" algn="l" rtl="0" eaLnBrk="0">
                        <a:lnSpc>
                          <a:spcPct val="121000"/>
                        </a:lnSpc>
                        <a:spcBef>
                          <a:spcPts val="725"/>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在运用计量经济学时，我们只能竭尽所能地选用一</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60" dirty="0">
                          <a:solidFill>
                            <a:srgbClr val="000000">
                              <a:alpha val="100000"/>
                            </a:srgbClr>
                          </a:solidFill>
                          <a:latin typeface="楷体" panose="02010609060101010101" charset="-122"/>
                          <a:ea typeface="楷体" panose="02010609060101010101" charset="-122"/>
                          <a:cs typeface="楷体" panose="02010609060101010101" charset="-122"/>
                        </a:rPr>
                        <a:t>个令人满意的函数形式，</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使之尽可能地满足以下条件：</a:t>
                      </a:r>
                      <a:endParaRPr sz="24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marL="966470" algn="l" rtl="0" eaLnBrk="0">
                        <a:lnSpc>
                          <a:spcPct val="84000"/>
                        </a:lnSpc>
                        <a:spcBef>
                          <a:spcPts val="725"/>
                        </a:spcBef>
                      </a:pPr>
                      <a:r>
                        <a:rPr sz="20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Perpetua" panose="02020502060401020303"/>
                          <a:ea typeface="Perpetua" panose="02020502060401020303"/>
                          <a:cs typeface="Perpetua" panose="02020502060401020303"/>
                        </a:rPr>
                        <a:t>——</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与经济理论一致</a:t>
                      </a:r>
                      <a:endParaRPr sz="2400" dirty="0">
                        <a:latin typeface="楷体" panose="02010609060101010101" charset="-122"/>
                        <a:ea typeface="楷体" panose="02010609060101010101" charset="-122"/>
                        <a:cs typeface="楷体" panose="02010609060101010101" charset="-122"/>
                      </a:endParaRPr>
                    </a:p>
                    <a:p>
                      <a:pPr algn="l" rtl="0" eaLnBrk="0">
                        <a:lnSpc>
                          <a:spcPct val="150000"/>
                        </a:lnSpc>
                      </a:pPr>
                      <a:endParaRPr sz="1000" dirty="0">
                        <a:latin typeface="Arial" panose="020B0604020202020204"/>
                        <a:ea typeface="Arial" panose="020B0604020202020204"/>
                        <a:cs typeface="Arial" panose="020B0604020202020204"/>
                      </a:endParaRPr>
                    </a:p>
                    <a:p>
                      <a:pPr marL="966470" algn="l" rtl="0" eaLnBrk="0">
                        <a:lnSpc>
                          <a:spcPct val="83000"/>
                        </a:lnSpc>
                        <a:spcBef>
                          <a:spcPts val="720"/>
                        </a:spcBef>
                      </a:pPr>
                      <a:r>
                        <a:rPr sz="20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20" dirty="0">
                          <a:solidFill>
                            <a:srgbClr val="000000">
                              <a:alpha val="100000"/>
                            </a:srgbClr>
                          </a:solidFill>
                          <a:latin typeface="Perpetua" panose="02020502060401020303"/>
                          <a:ea typeface="Perpetua" panose="02020502060401020303"/>
                          <a:cs typeface="Perpetua" panose="02020502060401020303"/>
                        </a:rPr>
                        <a:t>——</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很好地拟合数据</a:t>
                      </a:r>
                      <a:endParaRPr sz="2400" dirty="0">
                        <a:latin typeface="楷体" panose="02010609060101010101" charset="-122"/>
                        <a:ea typeface="楷体" panose="02010609060101010101" charset="-122"/>
                        <a:cs typeface="楷体" panose="02010609060101010101" charset="-122"/>
                      </a:endParaRPr>
                    </a:p>
                    <a:p>
                      <a:pPr algn="l" rtl="0" eaLnBrk="0">
                        <a:lnSpc>
                          <a:spcPct val="150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966470" algn="l" rtl="0" eaLnBrk="0">
                        <a:lnSpc>
                          <a:spcPct val="84000"/>
                        </a:lnSpc>
                        <a:spcBef>
                          <a:spcPts val="0"/>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Perpetua" panose="02020502060401020303"/>
                          <a:ea typeface="Perpetua" panose="02020502060401020303"/>
                          <a:cs typeface="Perpetua" panose="02020502060401020303"/>
                        </a:rPr>
                        <a:t>——</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使得回归</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模型的假设满足</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15035">
                <a:tc>
                  <a:txBody>
                    <a:bodyPr/>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219075" algn="l" rtl="0" eaLnBrk="0">
                        <a:lnSpc>
                          <a:spcPct val="80000"/>
                        </a:lnSpc>
                        <a:spcBef>
                          <a:spcPts val="0"/>
                        </a:spcBef>
                      </a:pPr>
                      <a:r>
                        <a:rPr sz="1300" b="1" kern="0" spc="-10" dirty="0">
                          <a:solidFill>
                            <a:srgbClr val="FFFFFF">
                              <a:alpha val="100000"/>
                            </a:srgbClr>
                          </a:solidFill>
                          <a:latin typeface="Franklin Gothic Book" panose="020B0503020102020204"/>
                          <a:ea typeface="Franklin Gothic Book" panose="020B0503020102020204"/>
                          <a:cs typeface="Franklin Gothic Book" panose="020B0503020102020204"/>
                        </a:rPr>
                        <a:t>87</a:t>
                      </a:r>
                      <a:endParaRPr sz="13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004" y="2564904"/>
            <a:ext cx="9001000" cy="1143000"/>
          </a:xfrm>
        </p:spPr>
        <p:txBody>
          <a:bodyPr/>
          <a:lstStyle/>
          <a:p>
            <a:pPr algn="ctr"/>
            <a:r>
              <a:rPr lang="zh-CN" altLang="en-US" b="1" dirty="0">
                <a:solidFill>
                  <a:schemeClr val="tx1"/>
                </a:solidFill>
              </a:rPr>
              <a:t>第二章  区间估计与假设检验</a:t>
            </a:r>
            <a:endParaRPr lang="zh-CN" altLang="en-US" b="1" dirty="0">
              <a:solidFill>
                <a:schemeClr val="tx1"/>
              </a:solidFill>
            </a:endParaRPr>
          </a:p>
        </p:txBody>
      </p:sp>
      <p:sp>
        <p:nvSpPr>
          <p:cNvPr id="5" name="灯片编号占位符 4"/>
          <p:cNvSpPr>
            <a:spLocks noGrp="1"/>
          </p:cNvSpPr>
          <p:nvPr>
            <p:ph type="sldNum" sz="quarter" idx="4294967295"/>
          </p:nvPr>
        </p:nvSpPr>
        <p:spPr>
          <a:xfrm>
            <a:off x="146304" y="6210300"/>
            <a:ext cx="457200" cy="457200"/>
          </a:xfrm>
          <a:prstGeom prst="ellipse">
            <a:avLst/>
          </a:prstGeom>
        </p:spPr>
        <p:txBody>
          <a:bodyPr/>
          <a:lstStyle/>
          <a:p>
            <a:r>
              <a:rPr lang="en-US" altLang="zh-CN" dirty="0"/>
              <a:t>1</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3504" y="274638"/>
            <a:ext cx="8083296" cy="850106"/>
          </a:xfrm>
        </p:spPr>
        <p:txBody>
          <a:bodyPr>
            <a:normAutofit/>
          </a:bodyPr>
          <a:lstStyle/>
          <a:p>
            <a:pPr algn="ctr"/>
            <a:r>
              <a:rPr lang="zh-CN" altLang="en-US" sz="3600" b="1" dirty="0">
                <a:solidFill>
                  <a:schemeClr val="tx1"/>
                </a:solidFill>
                <a:latin typeface="黑体" panose="02010609060101010101" charset="-122"/>
                <a:ea typeface="黑体" panose="02010609060101010101" charset="-122"/>
              </a:rPr>
              <a:t>一、区间估计</a:t>
            </a:r>
            <a:endParaRPr lang="zh-CN" altLang="en-US" sz="3600" b="1" dirty="0">
              <a:solidFill>
                <a:schemeClr val="tx1"/>
              </a:solidFill>
              <a:latin typeface="黑体" panose="02010609060101010101" charset="-122"/>
              <a:ea typeface="黑体" panose="02010609060101010101" charset="-122"/>
            </a:endParaRPr>
          </a:p>
        </p:txBody>
      </p:sp>
      <p:sp>
        <p:nvSpPr>
          <p:cNvPr id="4" name="内容占位符 3"/>
          <p:cNvSpPr>
            <a:spLocks noGrp="1"/>
          </p:cNvSpPr>
          <p:nvPr>
            <p:ph sz="quarter" idx="1"/>
          </p:nvPr>
        </p:nvSpPr>
        <p:spPr>
          <a:xfrm>
            <a:off x="251520" y="1236752"/>
            <a:ext cx="8674168" cy="4896544"/>
          </a:xfrm>
        </p:spPr>
        <p:txBody>
          <a:bodyPr>
            <a:noAutofit/>
          </a:bodyPr>
          <a:lstStyle/>
          <a:p>
            <a:pPr>
              <a:lnSpc>
                <a:spcPct val="150000"/>
              </a:lnSpc>
            </a:pPr>
            <a:r>
              <a:rPr lang="zh-CN" altLang="en-US" sz="2100" dirty="0">
                <a:latin typeface="楷体" panose="02010609060101010101" charset="-122"/>
                <a:ea typeface="楷体" panose="02010609060101010101" charset="-122"/>
              </a:rPr>
              <a:t>存在两种类型的估计：</a:t>
            </a:r>
            <a:endParaRPr lang="zh-CN" altLang="en-US" sz="2100" dirty="0">
              <a:latin typeface="楷体" panose="02010609060101010101" charset="-122"/>
              <a:ea typeface="楷体" panose="02010609060101010101" charset="-122"/>
            </a:endParaRPr>
          </a:p>
          <a:p>
            <a:pPr>
              <a:lnSpc>
                <a:spcPct val="150000"/>
              </a:lnSpc>
            </a:pPr>
            <a:r>
              <a:rPr lang="zh-CN" altLang="en-US" sz="2100" b="1" dirty="0">
                <a:latin typeface="楷体" panose="02010609060101010101" charset="-122"/>
                <a:ea typeface="楷体" panose="02010609060101010101" charset="-122"/>
              </a:rPr>
              <a:t>  （</a:t>
            </a:r>
            <a:r>
              <a:rPr lang="en-US" altLang="zh-CN" sz="2100" b="1" dirty="0">
                <a:latin typeface="楷体" panose="02010609060101010101" charset="-122"/>
                <a:ea typeface="楷体" panose="02010609060101010101" charset="-122"/>
              </a:rPr>
              <a:t>1</a:t>
            </a:r>
            <a:r>
              <a:rPr lang="zh-CN" altLang="en-US" sz="2100" b="1" dirty="0">
                <a:latin typeface="楷体" panose="02010609060101010101" charset="-122"/>
                <a:ea typeface="楷体" panose="02010609060101010101" charset="-122"/>
              </a:rPr>
              <a:t>）点估计</a:t>
            </a:r>
            <a:endParaRPr lang="zh-CN" altLang="en-US" sz="2100" b="1" dirty="0">
              <a:latin typeface="楷体" panose="02010609060101010101" charset="-122"/>
              <a:ea typeface="楷体" panose="02010609060101010101" charset="-122"/>
            </a:endParaRPr>
          </a:p>
          <a:p>
            <a:pPr>
              <a:lnSpc>
                <a:spcPct val="150000"/>
              </a:lnSpc>
            </a:pPr>
            <a:r>
              <a:rPr lang="en-US" altLang="zh-CN" sz="2100" dirty="0">
                <a:latin typeface="楷体" panose="02010609060101010101" charset="-122"/>
                <a:ea typeface="楷体" panose="02010609060101010101" charset="-122"/>
              </a:rPr>
              <a:t>     b</a:t>
            </a:r>
            <a:r>
              <a:rPr lang="en-US" altLang="zh-CN" sz="1400" dirty="0">
                <a:latin typeface="楷体" panose="02010609060101010101" charset="-122"/>
                <a:ea typeface="楷体" panose="02010609060101010101" charset="-122"/>
              </a:rPr>
              <a:t>2</a:t>
            </a:r>
            <a:r>
              <a:rPr lang="zh-CN" altLang="en-US" sz="2100" dirty="0">
                <a:latin typeface="楷体" panose="02010609060101010101" charset="-122"/>
                <a:ea typeface="楷体" panose="02010609060101010101" charset="-122"/>
              </a:rPr>
              <a:t>的估计值是回归模型中总体参数的点估计值。</a:t>
            </a:r>
            <a:r>
              <a:rPr lang="zh-CN" altLang="en-US" sz="2000" dirty="0">
                <a:latin typeface="楷体" panose="02010609060101010101" charset="-122"/>
                <a:ea typeface="楷体" panose="02010609060101010101" charset="-122"/>
              </a:rPr>
              <a:t>比如</a:t>
            </a:r>
            <a:r>
              <a:rPr lang="en-US" altLang="zh-CN" sz="2000" i="1" dirty="0">
                <a:latin typeface="Times New Roman" panose="02020603050405020304" pitchFamily="18" charset="0"/>
                <a:ea typeface="楷体" panose="02010609060101010101" charset="-122"/>
                <a:cs typeface="Times New Roman" panose="02020603050405020304" pitchFamily="18" charset="0"/>
              </a:rPr>
              <a:t>b</a:t>
            </a:r>
            <a:r>
              <a:rPr lang="en-US" altLang="zh-CN" sz="20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000" dirty="0">
                <a:latin typeface="Times New Roman" panose="02020603050405020304" pitchFamily="18" charset="0"/>
                <a:ea typeface="楷体" panose="02010609060101010101" charset="-122"/>
                <a:cs typeface="Times New Roman" panose="02020603050405020304" pitchFamily="18" charset="0"/>
              </a:rPr>
              <a:t>= 10.21</a:t>
            </a:r>
            <a:endParaRPr lang="en-US" altLang="zh-CN" sz="2000" dirty="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000" dirty="0">
                <a:latin typeface="楷体" panose="02010609060101010101" charset="-122"/>
                <a:ea typeface="楷体" panose="02010609060101010101" charset="-122"/>
              </a:rPr>
              <a:t>     点估计值本身无法给出估计结果是否可靠的信息；</a:t>
            </a:r>
            <a:endParaRPr lang="zh-CN" altLang="en-US" sz="2100" dirty="0">
              <a:latin typeface="楷体" panose="02010609060101010101" charset="-122"/>
              <a:ea typeface="楷体" panose="02010609060101010101" charset="-122"/>
            </a:endParaRPr>
          </a:p>
          <a:p>
            <a:pPr>
              <a:lnSpc>
                <a:spcPct val="150000"/>
              </a:lnSpc>
            </a:pPr>
            <a:r>
              <a:rPr lang="zh-CN" altLang="en-US" sz="2100" b="1" dirty="0">
                <a:latin typeface="楷体" panose="02010609060101010101" charset="-122"/>
                <a:ea typeface="楷体" panose="02010609060101010101" charset="-122"/>
              </a:rPr>
              <a:t>  （</a:t>
            </a:r>
            <a:r>
              <a:rPr lang="en-US" altLang="zh-CN" sz="2100" b="1" dirty="0">
                <a:latin typeface="楷体" panose="02010609060101010101" charset="-122"/>
                <a:ea typeface="楷体" panose="02010609060101010101" charset="-122"/>
              </a:rPr>
              <a:t>2</a:t>
            </a:r>
            <a:r>
              <a:rPr lang="zh-CN" altLang="en-US" sz="2100" b="1" dirty="0">
                <a:latin typeface="楷体" panose="02010609060101010101" charset="-122"/>
                <a:ea typeface="楷体" panose="02010609060101010101" charset="-122"/>
              </a:rPr>
              <a:t>）区间估计</a:t>
            </a:r>
            <a:endParaRPr lang="zh-CN" altLang="en-US" sz="2100" b="1" dirty="0">
              <a:latin typeface="楷体" panose="02010609060101010101" charset="-122"/>
              <a:ea typeface="楷体" panose="02010609060101010101" charset="-122"/>
            </a:endParaRPr>
          </a:p>
          <a:p>
            <a:pPr>
              <a:lnSpc>
                <a:spcPct val="150000"/>
              </a:lnSpc>
            </a:pPr>
            <a:r>
              <a:rPr lang="zh-CN" altLang="en-US" sz="2100" dirty="0">
                <a:latin typeface="楷体" panose="02010609060101010101" charset="-122"/>
                <a:ea typeface="楷体" panose="02010609060101010101" charset="-122"/>
              </a:rPr>
              <a:t>     区间估计提供了一个取值范围，真实参数有可能落在这一区间。</a:t>
            </a:r>
            <a:endParaRPr lang="zh-CN" altLang="en-US" sz="2100" dirty="0">
              <a:latin typeface="楷体" panose="02010609060101010101" charset="-122"/>
              <a:ea typeface="楷体" panose="02010609060101010101" charset="-122"/>
            </a:endParaRPr>
          </a:p>
          <a:p>
            <a:pPr>
              <a:lnSpc>
                <a:spcPct val="150000"/>
              </a:lnSpc>
            </a:pPr>
            <a:r>
              <a:rPr lang="zh-CN" altLang="en-US" sz="2100" dirty="0">
                <a:latin typeface="楷体" panose="02010609060101010101" charset="-122"/>
                <a:ea typeface="楷体" panose="02010609060101010101" charset="-122"/>
              </a:rPr>
              <a:t>     根据区间的位置和大小，明确参数的可能取值以及估计的精确度。</a:t>
            </a:r>
            <a:endParaRPr lang="zh-CN" altLang="en-US" sz="2100" dirty="0">
              <a:latin typeface="楷体" panose="02010609060101010101" charset="-122"/>
              <a:ea typeface="楷体" panose="02010609060101010101" charset="-122"/>
            </a:endParaRPr>
          </a:p>
          <a:p>
            <a:pPr>
              <a:lnSpc>
                <a:spcPct val="150000"/>
              </a:lnSpc>
            </a:pPr>
            <a:r>
              <a:rPr lang="zh-CN" altLang="en-US" sz="2100" dirty="0">
                <a:latin typeface="楷体" panose="02010609060101010101" charset="-122"/>
                <a:ea typeface="楷体" panose="02010609060101010101" charset="-122"/>
              </a:rPr>
              <a:t>     这一区间称之为置信区间。之所以称为区间估计，是因为“置信”一词被广泛误解和误用。</a:t>
            </a:r>
            <a:endParaRPr lang="zh-CN" altLang="en-US" sz="2100" dirty="0">
              <a:latin typeface="楷体" panose="02010609060101010101" charset="-122"/>
              <a:ea typeface="楷体" panose="0201060906010101010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
          </p:nvPr>
        </p:nvSpPr>
        <p:spPr>
          <a:xfrm>
            <a:off x="395536" y="692696"/>
            <a:ext cx="8291264" cy="5327104"/>
          </a:xfrm>
        </p:spPr>
        <p:txBody>
          <a:bodyPr/>
          <a:lstStyle/>
          <a:p>
            <a:pPr>
              <a:lnSpc>
                <a:spcPct val="200000"/>
              </a:lnSpc>
            </a:pPr>
            <a:r>
              <a:rPr lang="zh-CN" altLang="en-US" sz="2400" b="1" dirty="0">
                <a:latin typeface="黑体" panose="02010609060101010101" charset="-122"/>
                <a:ea typeface="黑体" panose="02010609060101010101" charset="-122"/>
              </a:rPr>
              <a:t>（一）</a:t>
            </a:r>
            <a:r>
              <a:rPr lang="en-US" altLang="zh-CN" sz="2400" b="1" dirty="0">
                <a:latin typeface="Times New Roman" panose="02020603050405020304" pitchFamily="18" charset="0"/>
                <a:ea typeface="黑体" panose="02010609060101010101" charset="-122"/>
                <a:cs typeface="Times New Roman" panose="02020603050405020304" pitchFamily="18" charset="0"/>
              </a:rPr>
              <a:t>T</a:t>
            </a:r>
            <a:r>
              <a:rPr lang="zh-CN" altLang="en-US" sz="2400" b="1" dirty="0">
                <a:latin typeface="黑体" panose="02010609060101010101" charset="-122"/>
                <a:ea typeface="黑体" panose="02010609060101010101" charset="-122"/>
              </a:rPr>
              <a:t>分布</a:t>
            </a:r>
            <a:endParaRPr lang="en-US" altLang="zh-CN" sz="2400" b="1" dirty="0">
              <a:latin typeface="黑体" panose="02010609060101010101" charset="-122"/>
              <a:ea typeface="黑体" panose="02010609060101010101" charset="-122"/>
            </a:endParaRPr>
          </a:p>
          <a:p>
            <a:pPr>
              <a:lnSpc>
                <a:spcPct val="150000"/>
              </a:lnSpc>
            </a:pPr>
            <a:r>
              <a:rPr lang="en-US" altLang="zh-CN" sz="2400" dirty="0">
                <a:ea typeface="楷体" panose="02010609060101010101" charset="-122"/>
              </a:rPr>
              <a:t>    </a:t>
            </a:r>
            <a:r>
              <a:rPr lang="el-GR" altLang="zh-CN" sz="2400" dirty="0">
                <a:ea typeface="楷体" panose="02010609060101010101" charset="-122"/>
              </a:rPr>
              <a:t>β</a:t>
            </a:r>
            <a:r>
              <a:rPr lang="en-US" altLang="zh-CN" sz="2400" baseline="-25000" dirty="0">
                <a:ea typeface="楷体" panose="02010609060101010101" charset="-122"/>
              </a:rPr>
              <a:t>2 </a:t>
            </a:r>
            <a:r>
              <a:rPr lang="zh-CN" altLang="en-US" sz="2400" dirty="0">
                <a:ea typeface="楷体" panose="02010609060101010101" charset="-122"/>
              </a:rPr>
              <a:t>的最小二乘估计量</a:t>
            </a:r>
            <a:r>
              <a:rPr lang="en-US" altLang="zh-CN" sz="2400" dirty="0">
                <a:ea typeface="楷体" panose="02010609060101010101" charset="-122"/>
              </a:rPr>
              <a:t>b</a:t>
            </a:r>
            <a:r>
              <a:rPr lang="en-US" altLang="zh-CN" sz="2400" baseline="-25000" dirty="0">
                <a:ea typeface="楷体" panose="02010609060101010101" charset="-122"/>
              </a:rPr>
              <a:t>2 </a:t>
            </a:r>
            <a:r>
              <a:rPr lang="zh-CN" altLang="en-US" sz="2400" dirty="0">
                <a:ea typeface="楷体" panose="02010609060101010101" charset="-122"/>
              </a:rPr>
              <a:t>服从正态分布：</a:t>
            </a:r>
            <a:endParaRPr lang="en-US" altLang="zh-CN" sz="2400" dirty="0">
              <a:ea typeface="楷体" panose="02010609060101010101" charset="-122"/>
            </a:endParaRPr>
          </a:p>
          <a:p>
            <a:endParaRPr lang="en-US" altLang="zh-CN" dirty="0">
              <a:ea typeface="楷体" panose="02010609060101010101" charset="-122"/>
            </a:endParaRPr>
          </a:p>
          <a:p>
            <a:endParaRPr lang="en-US" altLang="zh-CN" dirty="0">
              <a:ea typeface="楷体" panose="02010609060101010101" charset="-122"/>
            </a:endParaRPr>
          </a:p>
          <a:p>
            <a:endParaRPr lang="en-US" altLang="zh-CN" dirty="0">
              <a:ea typeface="楷体" panose="02010609060101010101" charset="-122"/>
            </a:endParaRPr>
          </a:p>
          <a:p>
            <a:pPr>
              <a:lnSpc>
                <a:spcPct val="150000"/>
              </a:lnSpc>
            </a:pPr>
            <a:r>
              <a:rPr lang="zh-CN" altLang="en-US" sz="2400" dirty="0">
                <a:latin typeface="华文楷体" panose="02010600040101010101" charset="-122"/>
                <a:ea typeface="华文楷体" panose="02010600040101010101" charset="-122"/>
              </a:rPr>
              <a:t>    将</a:t>
            </a:r>
            <a:r>
              <a:rPr lang="en-US" altLang="zh-CN" sz="2400" dirty="0">
                <a:latin typeface="华文楷体" panose="02010600040101010101" charset="-122"/>
                <a:ea typeface="华文楷体" panose="02010600040101010101" charset="-122"/>
              </a:rPr>
              <a:t>b</a:t>
            </a:r>
            <a:r>
              <a:rPr lang="en-US" altLang="zh-CN" sz="2400" baseline="-25000" dirty="0">
                <a:latin typeface="华文楷体" panose="02010600040101010101" charset="-122"/>
                <a:ea typeface="华文楷体" panose="02010600040101010101" charset="-122"/>
              </a:rPr>
              <a:t>2</a:t>
            </a:r>
            <a:r>
              <a:rPr lang="en-US" altLang="zh-CN" sz="2400" dirty="0">
                <a:latin typeface="华文楷体" panose="02010600040101010101" charset="-122"/>
                <a:ea typeface="华文楷体" panose="02010600040101010101" charset="-122"/>
              </a:rPr>
              <a:t> </a:t>
            </a:r>
            <a:r>
              <a:rPr lang="zh-CN" altLang="en-US" sz="2400" dirty="0">
                <a:latin typeface="华文楷体" panose="02010600040101010101" charset="-122"/>
                <a:ea typeface="华文楷体" panose="02010600040101010101" charset="-122"/>
              </a:rPr>
              <a:t>减去其均值并除以其标准误，可以得到服从标准正态分布的</a:t>
            </a:r>
            <a:r>
              <a:rPr lang="en-US" altLang="zh-CN" sz="2400" dirty="0">
                <a:latin typeface="华文楷体" panose="02010600040101010101" charset="-122"/>
                <a:ea typeface="华文楷体" panose="02010600040101010101" charset="-122"/>
              </a:rPr>
              <a:t>Z</a:t>
            </a:r>
            <a:r>
              <a:rPr lang="zh-CN" altLang="en-US" sz="2400" dirty="0">
                <a:latin typeface="华文楷体" panose="02010600040101010101" charset="-122"/>
                <a:ea typeface="华文楷体" panose="02010600040101010101" charset="-122"/>
              </a:rPr>
              <a:t>：</a:t>
            </a:r>
            <a:endParaRPr lang="en-US" altLang="zh-CN" sz="2400" dirty="0">
              <a:latin typeface="华文楷体" panose="02010600040101010101" charset="-122"/>
              <a:ea typeface="华文楷体" panose="02010600040101010101" charset="-122"/>
            </a:endParaRPr>
          </a:p>
          <a:p>
            <a:endParaRPr lang="en-US" altLang="zh-CN" dirty="0">
              <a:ea typeface="楷体" panose="02010609060101010101" charset="-122"/>
            </a:endParaRPr>
          </a:p>
          <a:p>
            <a:endParaRPr lang="zh-CN" altLang="en-US" dirty="0"/>
          </a:p>
        </p:txBody>
      </p:sp>
      <p:pic>
        <p:nvPicPr>
          <p:cNvPr id="5" name="图片 4"/>
          <p:cNvPicPr>
            <a:picLocks noChangeAspect="1"/>
          </p:cNvPicPr>
          <p:nvPr/>
        </p:nvPicPr>
        <p:blipFill>
          <a:blip r:embed="rId1"/>
          <a:stretch>
            <a:fillRect/>
          </a:stretch>
        </p:blipFill>
        <p:spPr>
          <a:xfrm>
            <a:off x="3219982" y="2348880"/>
            <a:ext cx="2642372" cy="934380"/>
          </a:xfrm>
          <a:prstGeom prst="rect">
            <a:avLst/>
          </a:prstGeom>
        </p:spPr>
      </p:pic>
      <p:graphicFrame>
        <p:nvGraphicFramePr>
          <p:cNvPr id="6" name="Object 5"/>
          <p:cNvGraphicFramePr>
            <a:graphicFrameLocks noChangeAspect="1"/>
          </p:cNvGraphicFramePr>
          <p:nvPr/>
        </p:nvGraphicFramePr>
        <p:xfrm>
          <a:off x="3219982" y="4940560"/>
          <a:ext cx="3239492" cy="892205"/>
        </p:xfrm>
        <a:graphic>
          <a:graphicData uri="http://schemas.openxmlformats.org/presentationml/2006/ole">
            <mc:AlternateContent xmlns:mc="http://schemas.openxmlformats.org/markup-compatibility/2006">
              <mc:Choice xmlns:v="urn:schemas-microsoft-com:vml" Requires="v">
                <p:oleObj spid="_x0000_s2" name="Equation" r:id="rId2" imgW="1892300" imgH="520700" progId="Equation.DSMT4">
                  <p:embed/>
                </p:oleObj>
              </mc:Choice>
              <mc:Fallback>
                <p:oleObj name="Equation" r:id="rId2" imgW="1892300" imgH="5207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9982" y="4940560"/>
                        <a:ext cx="3239492" cy="892205"/>
                      </a:xfrm>
                      <a:prstGeom prst="rect">
                        <a:avLst/>
                      </a:prstGeom>
                      <a:noFill/>
                      <a:ln>
                        <a:noFill/>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
          </p:nvPr>
        </p:nvSpPr>
        <p:spPr>
          <a:xfrm>
            <a:off x="914400" y="764704"/>
            <a:ext cx="7772400" cy="5255096"/>
          </a:xfrm>
        </p:spPr>
        <p:txBody>
          <a:bodyPr/>
          <a:lstStyle/>
          <a:p>
            <a:r>
              <a:rPr lang="zh-CN" altLang="en-US" sz="2200" dirty="0">
                <a:latin typeface="楷体" panose="02010609060101010101" charset="-122"/>
                <a:ea typeface="楷体" panose="02010609060101010101" charset="-122"/>
              </a:rPr>
              <a:t>根据标准正态分布的特征。有</a:t>
            </a:r>
            <a:r>
              <a:rPr lang="en-US" altLang="zh-CN" sz="2200" dirty="0">
                <a:latin typeface="楷体" panose="02010609060101010101" charset="-122"/>
                <a:ea typeface="楷体" panose="02010609060101010101" charset="-122"/>
              </a:rPr>
              <a:t>:</a:t>
            </a:r>
            <a:endParaRPr lang="en-US" altLang="zh-CN" sz="2200"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r>
              <a:rPr lang="zh-CN" altLang="en-US" sz="2200" dirty="0">
                <a:latin typeface="楷体" panose="02010609060101010101" charset="-122"/>
                <a:ea typeface="楷体" panose="02010609060101010101" charset="-122"/>
              </a:rPr>
              <a:t>代入</a:t>
            </a:r>
            <a:r>
              <a:rPr lang="en-US" altLang="zh-CN" sz="2200" dirty="0">
                <a:latin typeface="楷体" panose="02010609060101010101" charset="-122"/>
                <a:ea typeface="楷体" panose="02010609060101010101" charset="-122"/>
              </a:rPr>
              <a:t>:</a:t>
            </a:r>
            <a:endParaRPr lang="en-US" altLang="zh-CN" sz="2200"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r>
              <a:rPr lang="zh-CN" altLang="en-US" sz="2200" dirty="0">
                <a:latin typeface="楷体" panose="02010609060101010101" charset="-122"/>
                <a:ea typeface="楷体" panose="02010609060101010101" charset="-122"/>
              </a:rPr>
              <a:t>移项</a:t>
            </a:r>
            <a:r>
              <a:rPr lang="en-US" altLang="zh-CN" sz="2200" dirty="0">
                <a:latin typeface="楷体" panose="02010609060101010101" charset="-122"/>
                <a:ea typeface="楷体" panose="02010609060101010101" charset="-122"/>
              </a:rPr>
              <a:t>:</a:t>
            </a:r>
            <a:endParaRPr lang="en-US" altLang="zh-CN" sz="2200"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endParaRPr lang="en-US" altLang="zh-CN" dirty="0">
              <a:latin typeface="楷体" panose="02010609060101010101" charset="-122"/>
              <a:ea typeface="楷体" panose="02010609060101010101" charset="-122"/>
            </a:endParaRPr>
          </a:p>
          <a:p>
            <a:endParaRPr lang="zh-CN" altLang="en-US" dirty="0"/>
          </a:p>
        </p:txBody>
      </p:sp>
      <p:graphicFrame>
        <p:nvGraphicFramePr>
          <p:cNvPr id="5" name="Object 4"/>
          <p:cNvGraphicFramePr>
            <a:graphicFrameLocks noChangeAspect="1"/>
          </p:cNvGraphicFramePr>
          <p:nvPr/>
        </p:nvGraphicFramePr>
        <p:xfrm>
          <a:off x="3252428" y="1564096"/>
          <a:ext cx="3096344" cy="398814"/>
        </p:xfrm>
        <a:graphic>
          <a:graphicData uri="http://schemas.openxmlformats.org/presentationml/2006/ole">
            <mc:AlternateContent xmlns:mc="http://schemas.openxmlformats.org/markup-compatibility/2006">
              <mc:Choice xmlns:v="urn:schemas-microsoft-com:vml" Requires="v">
                <p:oleObj spid="_x0000_s2" name="Equation" r:id="rId1" imgW="1675765" imgH="215900" progId="Equation.3">
                  <p:embed/>
                </p:oleObj>
              </mc:Choice>
              <mc:Fallback>
                <p:oleObj name="Equation" r:id="rId1" imgW="1675765"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2428" y="1564096"/>
                        <a:ext cx="3096344" cy="398814"/>
                      </a:xfrm>
                      <a:prstGeom prst="rect">
                        <a:avLst/>
                      </a:prstGeom>
                      <a:noFill/>
                      <a:ln>
                        <a:noFill/>
                      </a:ln>
                    </p:spPr>
                  </p:pic>
                </p:oleObj>
              </mc:Fallback>
            </mc:AlternateContent>
          </a:graphicData>
        </a:graphic>
      </p:graphicFrame>
      <p:graphicFrame>
        <p:nvGraphicFramePr>
          <p:cNvPr id="6" name="Object 3"/>
          <p:cNvGraphicFramePr>
            <a:graphicFrameLocks noChangeAspect="1"/>
          </p:cNvGraphicFramePr>
          <p:nvPr/>
        </p:nvGraphicFramePr>
        <p:xfrm>
          <a:off x="2381250" y="2924944"/>
          <a:ext cx="4838700" cy="1198563"/>
        </p:xfrm>
        <a:graphic>
          <a:graphicData uri="http://schemas.openxmlformats.org/presentationml/2006/ole">
            <mc:AlternateContent xmlns:mc="http://schemas.openxmlformats.org/markup-compatibility/2006">
              <mc:Choice xmlns:v="urn:schemas-microsoft-com:vml" Requires="v">
                <p:oleObj spid="_x0000_s3" name="Equation" r:id="rId3" imgW="2667000" imgH="660400" progId="Equation.3">
                  <p:embed/>
                </p:oleObj>
              </mc:Choice>
              <mc:Fallback>
                <p:oleObj name="Equation" r:id="rId3" imgW="2667000" imgH="660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250" y="2924944"/>
                        <a:ext cx="4838700"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nvGraphicFramePr>
        <p:xfrm>
          <a:off x="1104900" y="5463939"/>
          <a:ext cx="7391400" cy="706438"/>
        </p:xfrm>
        <a:graphic>
          <a:graphicData uri="http://schemas.openxmlformats.org/presentationml/2006/ole">
            <mc:AlternateContent xmlns:mc="http://schemas.openxmlformats.org/markup-compatibility/2006">
              <mc:Choice xmlns:v="urn:schemas-microsoft-com:vml" Requires="v">
                <p:oleObj spid="_x0000_s8" name="Equation" r:id="rId5" imgW="4254500" imgH="406400" progId="Equation.3">
                  <p:embed/>
                </p:oleObj>
              </mc:Choice>
              <mc:Fallback>
                <p:oleObj name="Equation" r:id="rId5" imgW="4254500" imgH="406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900" y="5463939"/>
                        <a:ext cx="73914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
          </p:nvPr>
        </p:nvSpPr>
        <p:spPr>
          <a:xfrm>
            <a:off x="539552" y="1447800"/>
            <a:ext cx="8147248" cy="4572000"/>
          </a:xfrm>
        </p:spPr>
        <p:txBody>
          <a:bodyPr/>
          <a:lstStyle/>
          <a:p>
            <a:pPr>
              <a:lnSpc>
                <a:spcPct val="200000"/>
              </a:lnSpc>
            </a:pPr>
            <a:r>
              <a:rPr lang="zh-CN" altLang="en-US" sz="2200" dirty="0">
                <a:latin typeface="楷体" panose="02010609060101010101" charset="-122"/>
                <a:ea typeface="楷体" panose="02010609060101010101" charset="-122"/>
              </a:rPr>
              <a:t>    两个端点                      提供了一个区间估计量。</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    在</a:t>
            </a:r>
            <a:r>
              <a:rPr lang="zh-CN" altLang="en-US" sz="2200" dirty="0">
                <a:latin typeface="Times New Roman" panose="02020603050405020304" pitchFamily="18" charset="0"/>
                <a:ea typeface="楷体" panose="02010609060101010101" charset="-122"/>
                <a:cs typeface="Times New Roman" panose="02020603050405020304" pitchFamily="18" charset="0"/>
              </a:rPr>
              <a:t>重复抽样中，</a:t>
            </a:r>
            <a:r>
              <a:rPr lang="en-US" altLang="zh-CN" sz="2200" dirty="0">
                <a:latin typeface="Times New Roman" panose="02020603050405020304" pitchFamily="18" charset="0"/>
                <a:ea typeface="楷体" panose="02010609060101010101" charset="-122"/>
                <a:cs typeface="Times New Roman" panose="02020603050405020304" pitchFamily="18" charset="0"/>
              </a:rPr>
              <a:t>95%</a:t>
            </a:r>
            <a:r>
              <a:rPr lang="zh-CN" altLang="en-US" sz="2200" dirty="0">
                <a:latin typeface="Times New Roman" panose="02020603050405020304" pitchFamily="18" charset="0"/>
                <a:ea typeface="楷体" panose="02010609060101010101" charset="-122"/>
                <a:cs typeface="Times New Roman" panose="02020603050405020304" pitchFamily="18" charset="0"/>
              </a:rPr>
              <a:t>的这一区间包含了</a:t>
            </a:r>
            <a:r>
              <a:rPr lang="el-GR" altLang="zh-CN" sz="2400" dirty="0">
                <a:latin typeface="Times New Roman" panose="02020603050405020304" pitchFamily="18" charset="0"/>
                <a:ea typeface="楷体" panose="02010609060101010101" charset="-122"/>
                <a:cs typeface="Times New Roman" panose="02020603050405020304" pitchFamily="18" charset="0"/>
              </a:rPr>
              <a:t>β</a:t>
            </a:r>
            <a:r>
              <a:rPr lang="en-US" altLang="zh-CN" sz="2400" baseline="-25000" dirty="0">
                <a:latin typeface="Times New Roman" panose="02020603050405020304" pitchFamily="18" charset="0"/>
                <a:ea typeface="楷体" panose="02010609060101010101" charset="-122"/>
                <a:cs typeface="Times New Roman" panose="02020603050405020304" pitchFamily="18" charset="0"/>
              </a:rPr>
              <a:t>2</a:t>
            </a:r>
            <a:r>
              <a:rPr lang="zh-CN" altLang="en-US" sz="2200" dirty="0">
                <a:latin typeface="Times New Roman" panose="02020603050405020304" pitchFamily="18" charset="0"/>
                <a:ea typeface="楷体" panose="02010609060101010101" charset="-122"/>
                <a:cs typeface="Times New Roman" panose="02020603050405020304" pitchFamily="18" charset="0"/>
              </a:rPr>
              <a:t>的真实值。</a:t>
            </a:r>
            <a:endParaRPr lang="zh-CN" altLang="en-US" sz="2200" dirty="0">
              <a:latin typeface="Times New Roman" panose="02020603050405020304" pitchFamily="18" charset="0"/>
              <a:ea typeface="楷体" panose="02010609060101010101" charset="-122"/>
              <a:cs typeface="Times New Roman" panose="02020603050405020304" pitchFamily="18" charset="0"/>
            </a:endParaRPr>
          </a:p>
          <a:p>
            <a:pPr>
              <a:lnSpc>
                <a:spcPct val="20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    基于假设</a:t>
            </a:r>
            <a:r>
              <a:rPr lang="en-US" altLang="zh-CN" sz="2200" dirty="0">
                <a:latin typeface="Times New Roman" panose="02020603050405020304" pitchFamily="18" charset="0"/>
                <a:ea typeface="楷体" panose="02010609060101010101" charset="-122"/>
                <a:cs typeface="Times New Roman" panose="02020603050405020304" pitchFamily="18" charset="0"/>
              </a:rPr>
              <a:t>SR6</a:t>
            </a:r>
            <a:r>
              <a:rPr lang="zh-CN" altLang="en-US" sz="2200" dirty="0">
                <a:latin typeface="Times New Roman" panose="02020603050405020304" pitchFamily="18" charset="0"/>
                <a:ea typeface="楷体" panose="02010609060101010101" charset="-122"/>
                <a:cs typeface="Times New Roman" panose="02020603050405020304" pitchFamily="18" charset="0"/>
              </a:rPr>
              <a:t>满足和误差项方差</a:t>
            </a:r>
            <a:r>
              <a:rPr lang="el-GR" altLang="zh-CN" sz="2200" dirty="0">
                <a:latin typeface="Times New Roman" panose="02020603050405020304" pitchFamily="18" charset="0"/>
                <a:ea typeface="楷体" panose="02010609060101010101" charset="-122"/>
                <a:cs typeface="Times New Roman" panose="02020603050405020304" pitchFamily="18" charset="0"/>
              </a:rPr>
              <a:t>σ</a:t>
            </a:r>
            <a:r>
              <a:rPr lang="en-US" altLang="zh-CN" sz="2200" baseline="30000" dirty="0">
                <a:latin typeface="Times New Roman" panose="02020603050405020304" pitchFamily="18" charset="0"/>
                <a:ea typeface="楷体" panose="02010609060101010101" charset="-122"/>
                <a:cs typeface="Times New Roman" panose="02020603050405020304" pitchFamily="18" charset="0"/>
              </a:rPr>
              <a:t>2</a:t>
            </a:r>
            <a:r>
              <a:rPr lang="zh-CN" altLang="en-US" sz="2200" dirty="0">
                <a:latin typeface="楷体" panose="02010609060101010101" charset="-122"/>
                <a:ea typeface="楷体" panose="02010609060101010101" charset="-122"/>
              </a:rPr>
              <a:t>已知的条件，易于推导出区间估计量。</a:t>
            </a:r>
            <a:endParaRPr lang="zh-CN" altLang="en-US" sz="2200" dirty="0">
              <a:latin typeface="楷体" panose="02010609060101010101" charset="-122"/>
              <a:ea typeface="楷体" panose="02010609060101010101" charset="-122"/>
            </a:endParaRPr>
          </a:p>
          <a:p>
            <a:endParaRPr lang="zh-CN" altLang="en-US" dirty="0"/>
          </a:p>
        </p:txBody>
      </p:sp>
      <p:graphicFrame>
        <p:nvGraphicFramePr>
          <p:cNvPr id="5" name="Object 5"/>
          <p:cNvGraphicFramePr>
            <a:graphicFrameLocks noChangeAspect="1"/>
          </p:cNvGraphicFramePr>
          <p:nvPr/>
        </p:nvGraphicFramePr>
        <p:xfrm>
          <a:off x="2699792" y="1628800"/>
          <a:ext cx="2808312" cy="557375"/>
        </p:xfrm>
        <a:graphic>
          <a:graphicData uri="http://schemas.openxmlformats.org/presentationml/2006/ole">
            <mc:AlternateContent xmlns:mc="http://schemas.openxmlformats.org/markup-compatibility/2006">
              <mc:Choice xmlns:v="urn:schemas-microsoft-com:vml" Requires="v">
                <p:oleObj spid="_x0000_s2" name="Equation" r:id="rId1" imgW="1600200" imgH="317500" progId="Equation.3">
                  <p:embed/>
                </p:oleObj>
              </mc:Choice>
              <mc:Fallback>
                <p:oleObj name="Equation" r:id="rId1" imgW="1600200" imgH="3175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1628800"/>
                        <a:ext cx="2808312" cy="557375"/>
                      </a:xfrm>
                      <a:prstGeom prst="rect">
                        <a:avLst/>
                      </a:prstGeom>
                      <a:noFill/>
                      <a:ln>
                        <a:noFill/>
                      </a:ln>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
          </p:nvPr>
        </p:nvSpPr>
        <p:spPr>
          <a:xfrm>
            <a:off x="914400" y="620688"/>
            <a:ext cx="7772400" cy="5399112"/>
          </a:xfrm>
        </p:spPr>
        <p:txBody>
          <a:bodyPr/>
          <a:lstStyle/>
          <a:p>
            <a:r>
              <a:rPr lang="zh-CN" altLang="en-US" sz="2200" dirty="0">
                <a:ea typeface="楷体" panose="02010609060101010101" charset="-122"/>
              </a:rPr>
              <a:t>用       替换</a:t>
            </a:r>
            <a:r>
              <a:rPr lang="el-GR" altLang="zh-CN" sz="2200" dirty="0">
                <a:ea typeface="楷体" panose="02010609060101010101" charset="-122"/>
              </a:rPr>
              <a:t>σ</a:t>
            </a:r>
            <a:r>
              <a:rPr lang="en-US" altLang="zh-CN" sz="2200" baseline="30000" dirty="0">
                <a:ea typeface="楷体" panose="02010609060101010101" charset="-122"/>
              </a:rPr>
              <a:t>2</a:t>
            </a:r>
            <a:r>
              <a:rPr lang="zh-CN" altLang="en-US" sz="2200" dirty="0">
                <a:ea typeface="楷体" panose="02010609060101010101" charset="-122"/>
              </a:rPr>
              <a:t>创建了一个随机变量</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ea typeface="楷体" panose="02010609060101010101" charset="-122"/>
              </a:rPr>
              <a:t>：</a:t>
            </a:r>
            <a:endParaRPr lang="en-US" altLang="zh-CN" sz="2200" dirty="0">
              <a:ea typeface="楷体" panose="02010609060101010101" charset="-122"/>
            </a:endParaRPr>
          </a:p>
          <a:p>
            <a:endParaRPr lang="en-US" altLang="zh-CN" sz="2200" dirty="0">
              <a:ea typeface="楷体" panose="02010609060101010101" charset="-122"/>
            </a:endParaRPr>
          </a:p>
          <a:p>
            <a:endParaRPr lang="en-US" altLang="zh-CN" sz="2200" dirty="0">
              <a:ea typeface="楷体" panose="02010609060101010101" charset="-122"/>
            </a:endParaRPr>
          </a:p>
          <a:p>
            <a:endParaRPr lang="en-US" altLang="zh-CN" sz="2200" dirty="0">
              <a:ea typeface="楷体" panose="02010609060101010101" charset="-122"/>
            </a:endParaRPr>
          </a:p>
          <a:p>
            <a:pPr marL="0" indent="0">
              <a:buNone/>
            </a:pPr>
            <a:endParaRPr lang="en-US" altLang="zh-CN" sz="2400" dirty="0">
              <a:ea typeface="楷体" panose="02010609060101010101" charset="-122"/>
            </a:endParaRPr>
          </a:p>
          <a:p>
            <a:pPr marL="0" indent="0">
              <a:lnSpc>
                <a:spcPct val="150000"/>
              </a:lnSpc>
              <a:buNone/>
            </a:pPr>
            <a:r>
              <a:rPr lang="zh-CN" altLang="en-US" sz="2400" dirty="0">
                <a:ea typeface="楷体" panose="02010609060101010101" charset="-122"/>
              </a:rPr>
              <a:t>    </a:t>
            </a:r>
            <a:r>
              <a:rPr lang="zh-CN" altLang="en-US" sz="2200" dirty="0">
                <a:ea typeface="楷体" panose="02010609060101010101" charset="-122"/>
              </a:rPr>
              <a:t>比值              </a:t>
            </a:r>
            <a:r>
              <a:rPr lang="en-US" altLang="zh-CN" sz="2200" dirty="0">
                <a:ea typeface="楷体" panose="02010609060101010101" charset="-122"/>
              </a:rPr>
              <a:t>                        </a:t>
            </a:r>
            <a:r>
              <a:rPr lang="zh-CN" altLang="en-US" sz="2200" dirty="0">
                <a:ea typeface="楷体" panose="02010609060101010101" charset="-122"/>
              </a:rPr>
              <a:t>服从自由度为</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en-US" altLang="zh-CN" sz="2200" i="1" dirty="0">
                <a:latin typeface="Times New Roman" panose="02020603050405020304" pitchFamily="18" charset="0"/>
                <a:ea typeface="楷体" panose="02010609060101010101" charset="-122"/>
                <a:cs typeface="Times New Roman" panose="02020603050405020304" pitchFamily="18" charset="0"/>
              </a:rPr>
              <a:t>N – </a:t>
            </a:r>
            <a:r>
              <a:rPr lang="en-US" altLang="zh-CN" sz="2200" dirty="0">
                <a:latin typeface="Times New Roman" panose="02020603050405020304" pitchFamily="18" charset="0"/>
                <a:ea typeface="楷体" panose="02010609060101010101" charset="-122"/>
                <a:cs typeface="Times New Roman" panose="02020603050405020304" pitchFamily="18" charset="0"/>
              </a:rPr>
              <a:t>2) </a:t>
            </a:r>
            <a:r>
              <a:rPr lang="zh-CN" altLang="en-US" sz="2200" dirty="0">
                <a:ea typeface="楷体" panose="02010609060101010101" charset="-122"/>
              </a:rPr>
              <a:t>的</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ea typeface="楷体" panose="02010609060101010101" charset="-122"/>
              </a:rPr>
              <a:t>分布，定义为：</a:t>
            </a:r>
            <a:endParaRPr lang="en-US" altLang="zh-CN" sz="2200" dirty="0">
              <a:ea typeface="楷体" panose="02010609060101010101" charset="-122"/>
            </a:endParaRPr>
          </a:p>
          <a:p>
            <a:pPr marL="0" indent="0">
              <a:lnSpc>
                <a:spcPct val="150000"/>
              </a:lnSpc>
              <a:buNone/>
            </a:pPr>
            <a:r>
              <a:rPr lang="zh-CN" altLang="en-US" sz="2200" dirty="0">
                <a:ea typeface="楷体" panose="02010609060101010101" charset="-122"/>
              </a:rPr>
              <a:t>    </a:t>
            </a:r>
            <a:r>
              <a:rPr lang="zh-CN" altLang="en-US" sz="2200" dirty="0">
                <a:solidFill>
                  <a:srgbClr val="FF0000"/>
                </a:solidFill>
                <a:ea typeface="楷体" panose="02010609060101010101" charset="-122"/>
              </a:rPr>
              <a:t>总结：如果在简单线性回归模型中假设</a:t>
            </a:r>
            <a:r>
              <a:rPr lang="en-US" altLang="zh-CN" sz="2200" dirty="0">
                <a:solidFill>
                  <a:srgbClr val="FF0000"/>
                </a:solidFill>
                <a:latin typeface="Times New Roman" panose="02020603050405020304" pitchFamily="18" charset="0"/>
                <a:ea typeface="楷体" panose="02010609060101010101" charset="-122"/>
                <a:cs typeface="Times New Roman" panose="02020603050405020304" pitchFamily="18" charset="0"/>
              </a:rPr>
              <a:t>SR1-SR6</a:t>
            </a:r>
            <a:r>
              <a:rPr lang="zh-CN" altLang="en-US" sz="2200" dirty="0">
                <a:solidFill>
                  <a:srgbClr val="FF0000"/>
                </a:solidFill>
                <a:ea typeface="楷体" panose="02010609060101010101" charset="-122"/>
              </a:rPr>
              <a:t>成立，则可以定义：</a:t>
            </a:r>
            <a:endParaRPr lang="zh-CN" altLang="en-US" sz="2200" dirty="0">
              <a:solidFill>
                <a:srgbClr val="FF0000"/>
              </a:solidFill>
              <a:ea typeface="楷体" panose="02010609060101010101" charset="-122"/>
            </a:endParaRPr>
          </a:p>
          <a:p>
            <a:pPr marL="0" indent="0">
              <a:lnSpc>
                <a:spcPct val="150000"/>
              </a:lnSpc>
              <a:buNone/>
            </a:pPr>
            <a:endParaRPr lang="en-US" altLang="zh-CN" sz="2200" dirty="0">
              <a:ea typeface="楷体" panose="02010609060101010101" charset="-122"/>
            </a:endParaRPr>
          </a:p>
          <a:p>
            <a:pPr marL="0" indent="0">
              <a:buNone/>
            </a:pPr>
            <a:endParaRPr lang="en-US" altLang="zh-CN" sz="2200" dirty="0">
              <a:ea typeface="楷体" panose="02010609060101010101" charset="-122"/>
            </a:endParaRPr>
          </a:p>
          <a:p>
            <a:endParaRPr lang="zh-CN" altLang="en-US" dirty="0"/>
          </a:p>
        </p:txBody>
      </p:sp>
      <p:graphicFrame>
        <p:nvGraphicFramePr>
          <p:cNvPr id="5" name="Object 3"/>
          <p:cNvGraphicFramePr>
            <a:graphicFrameLocks noChangeAspect="1"/>
          </p:cNvGraphicFramePr>
          <p:nvPr/>
        </p:nvGraphicFramePr>
        <p:xfrm>
          <a:off x="1619672" y="620688"/>
          <a:ext cx="360040" cy="360040"/>
        </p:xfrm>
        <a:graphic>
          <a:graphicData uri="http://schemas.openxmlformats.org/presentationml/2006/ole">
            <mc:AlternateContent xmlns:mc="http://schemas.openxmlformats.org/markup-compatibility/2006">
              <mc:Choice xmlns:v="urn:schemas-microsoft-com:vml" Requires="v">
                <p:oleObj spid="_x0000_s2" name="Equation" r:id="rId1" imgW="203200" imgH="203200" progId="Equation.3">
                  <p:embed/>
                </p:oleObj>
              </mc:Choice>
              <mc:Fallback>
                <p:oleObj name="Equation" r:id="rId1" imgW="203200" imgH="203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620688"/>
                        <a:ext cx="360040" cy="360040"/>
                      </a:xfrm>
                      <a:prstGeom prst="rect">
                        <a:avLst/>
                      </a:prstGeom>
                      <a:noFill/>
                      <a:ln>
                        <a:noFill/>
                      </a:ln>
                    </p:spPr>
                  </p:pic>
                </p:oleObj>
              </mc:Fallback>
            </mc:AlternateContent>
          </a:graphicData>
        </a:graphic>
      </p:graphicFrame>
      <p:graphicFrame>
        <p:nvGraphicFramePr>
          <p:cNvPr id="6" name="Object 4"/>
          <p:cNvGraphicFramePr>
            <a:graphicFrameLocks noChangeAspect="1"/>
          </p:cNvGraphicFramePr>
          <p:nvPr/>
        </p:nvGraphicFramePr>
        <p:xfrm>
          <a:off x="1619672" y="1340768"/>
          <a:ext cx="6153621" cy="936451"/>
        </p:xfrm>
        <a:graphic>
          <a:graphicData uri="http://schemas.openxmlformats.org/presentationml/2006/ole">
            <mc:AlternateContent xmlns:mc="http://schemas.openxmlformats.org/markup-compatibility/2006">
              <mc:Choice xmlns:v="urn:schemas-microsoft-com:vml" Requires="v">
                <p:oleObj spid="_x0000_s3" name="Equation" r:id="rId3" imgW="77114400" imgH="12801600" progId="Equation.DSMT4">
                  <p:embed/>
                </p:oleObj>
              </mc:Choice>
              <mc:Fallback>
                <p:oleObj name="Equation" r:id="rId3" imgW="77114400" imgH="12801600" progId="Equation.DSMT4">
                  <p:embed/>
                  <p:pic>
                    <p:nvPicPr>
                      <p:cNvPr id="0" name="Object 4"/>
                      <p:cNvPicPr>
                        <a:picLocks noChangeAspect="1" noChangeArrowheads="1"/>
                      </p:cNvPicPr>
                      <p:nvPr/>
                    </p:nvPicPr>
                    <p:blipFill>
                      <a:blip r:embed="rId4"/>
                      <a:srcRect/>
                      <a:stretch>
                        <a:fillRect/>
                      </a:stretch>
                    </p:blipFill>
                    <p:spPr bwMode="auto">
                      <a:xfrm>
                        <a:off x="1619672" y="1340768"/>
                        <a:ext cx="6153621" cy="936451"/>
                      </a:xfrm>
                      <a:prstGeom prst="rect">
                        <a:avLst/>
                      </a:prstGeom>
                      <a:noFill/>
                      <a:ln>
                        <a:noFill/>
                      </a:ln>
                    </p:spPr>
                  </p:pic>
                </p:oleObj>
              </mc:Fallback>
            </mc:AlternateContent>
          </a:graphicData>
        </a:graphic>
      </p:graphicFrame>
      <p:graphicFrame>
        <p:nvGraphicFramePr>
          <p:cNvPr id="7" name="Object 6"/>
          <p:cNvGraphicFramePr>
            <a:graphicFrameLocks noChangeAspect="1"/>
          </p:cNvGraphicFramePr>
          <p:nvPr/>
        </p:nvGraphicFramePr>
        <p:xfrm>
          <a:off x="1979712" y="2852936"/>
          <a:ext cx="2160240" cy="439498"/>
        </p:xfrm>
        <a:graphic>
          <a:graphicData uri="http://schemas.openxmlformats.org/presentationml/2006/ole">
            <mc:AlternateContent xmlns:mc="http://schemas.openxmlformats.org/markup-compatibility/2006">
              <mc:Choice xmlns:v="urn:schemas-microsoft-com:vml" Requires="v">
                <p:oleObj spid="_x0000_s8" name="Equation" r:id="rId5" imgW="1244600" imgH="254000" progId="Equation.DSMT4">
                  <p:embed/>
                </p:oleObj>
              </mc:Choice>
              <mc:Fallback>
                <p:oleObj name="Equation" r:id="rId5" imgW="1244600" imgH="2540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2852936"/>
                        <a:ext cx="2160240" cy="439498"/>
                      </a:xfrm>
                      <a:prstGeom prst="rect">
                        <a:avLst/>
                      </a:prstGeom>
                      <a:noFill/>
                      <a:ln>
                        <a:noFill/>
                      </a:ln>
                    </p:spPr>
                  </p:pic>
                </p:oleObj>
              </mc:Fallback>
            </mc:AlternateContent>
          </a:graphicData>
        </a:graphic>
      </p:graphicFrame>
      <p:graphicFrame>
        <p:nvGraphicFramePr>
          <p:cNvPr id="9" name="Object 7"/>
          <p:cNvGraphicFramePr>
            <a:graphicFrameLocks noChangeAspect="1"/>
          </p:cNvGraphicFramePr>
          <p:nvPr/>
        </p:nvGraphicFramePr>
        <p:xfrm>
          <a:off x="1498650" y="3345818"/>
          <a:ext cx="1080120" cy="488256"/>
        </p:xfrm>
        <a:graphic>
          <a:graphicData uri="http://schemas.openxmlformats.org/presentationml/2006/ole">
            <mc:AlternateContent xmlns:mc="http://schemas.openxmlformats.org/markup-compatibility/2006">
              <mc:Choice xmlns:v="urn:schemas-microsoft-com:vml" Requires="v">
                <p:oleObj spid="_x0000_s10" name="Equation" r:id="rId7" imgW="533400" imgH="241300" progId="Equation.DSMT4">
                  <p:embed/>
                </p:oleObj>
              </mc:Choice>
              <mc:Fallback>
                <p:oleObj name="Equation" r:id="rId7" imgW="533400" imgH="2413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8650" y="3345818"/>
                        <a:ext cx="1080120" cy="488256"/>
                      </a:xfrm>
                      <a:prstGeom prst="rect">
                        <a:avLst/>
                      </a:prstGeom>
                      <a:noFill/>
                      <a:ln>
                        <a:noFill/>
                      </a:ln>
                    </p:spPr>
                  </p:pic>
                </p:oleObj>
              </mc:Fallback>
            </mc:AlternateContent>
          </a:graphicData>
        </a:graphic>
      </p:graphicFrame>
      <p:graphicFrame>
        <p:nvGraphicFramePr>
          <p:cNvPr id="11" name="Object 4"/>
          <p:cNvGraphicFramePr>
            <a:graphicFrameLocks noChangeAspect="1"/>
          </p:cNvGraphicFramePr>
          <p:nvPr/>
        </p:nvGraphicFramePr>
        <p:xfrm>
          <a:off x="3016907" y="4653136"/>
          <a:ext cx="3359150" cy="798513"/>
        </p:xfrm>
        <a:graphic>
          <a:graphicData uri="http://schemas.openxmlformats.org/presentationml/2006/ole">
            <mc:AlternateContent xmlns:mc="http://schemas.openxmlformats.org/markup-compatibility/2006">
              <mc:Choice xmlns:v="urn:schemas-microsoft-com:vml" Requires="v">
                <p:oleObj spid="_x0000_s12" name="Equation" r:id="rId9" imgW="1816100" imgH="431800" progId="Equation.3">
                  <p:embed/>
                </p:oleObj>
              </mc:Choice>
              <mc:Fallback>
                <p:oleObj name="Equation" r:id="rId9" imgW="1816100" imgH="4318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6907" y="4653136"/>
                        <a:ext cx="335915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404664"/>
            <a:ext cx="7772400" cy="5615136"/>
          </a:xfrm>
        </p:spPr>
        <p:txBody>
          <a:bodyPr/>
          <a:lstStyle/>
          <a:p>
            <a:pPr>
              <a:lnSpc>
                <a:spcPct val="150000"/>
              </a:lnSpc>
            </a:pPr>
            <a:r>
              <a:rPr lang="zh-CN" altLang="en-US" sz="2200" dirty="0">
                <a:latin typeface="楷体" panose="02010609060101010101" charset="-122"/>
                <a:ea typeface="楷体" panose="02010609060101010101" charset="-122"/>
              </a:rPr>
              <a:t>从</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latin typeface="Times New Roman" panose="02020603050405020304" pitchFamily="18" charset="0"/>
                <a:ea typeface="楷体" panose="02010609060101010101" charset="-122"/>
                <a:cs typeface="Times New Roman" panose="02020603050405020304" pitchFamily="18" charset="0"/>
              </a:rPr>
              <a:t>分布中</a:t>
            </a:r>
            <a:r>
              <a:rPr lang="zh-CN" altLang="en-US" sz="2200" dirty="0">
                <a:latin typeface="楷体" panose="02010609060101010101" charset="-122"/>
                <a:ea typeface="楷体" panose="02010609060101010101" charset="-122"/>
              </a:rPr>
              <a:t>我们可以找到一个“临界值”，</a:t>
            </a:r>
            <a:endParaRPr lang="zh-CN" altLang="en-US" sz="2200" dirty="0">
              <a:latin typeface="楷体" panose="02010609060101010101" charset="-122"/>
              <a:ea typeface="楷体" panose="02010609060101010101" charset="-122"/>
            </a:endParaRPr>
          </a:p>
          <a:p>
            <a:pPr>
              <a:lnSpc>
                <a:spcPct val="150000"/>
              </a:lnSpc>
            </a:pPr>
            <a:r>
              <a:rPr lang="zh-CN" altLang="en-US" sz="2200" dirty="0">
                <a:latin typeface="楷体" panose="02010609060101010101" charset="-122"/>
                <a:ea typeface="楷体" panose="02010609060101010101" charset="-122"/>
              </a:rPr>
              <a:t>使得：</a:t>
            </a:r>
            <a:endParaRPr lang="en-US" altLang="zh-CN" sz="2200" dirty="0">
              <a:latin typeface="楷体" panose="02010609060101010101" charset="-122"/>
              <a:ea typeface="楷体" panose="02010609060101010101" charset="-122"/>
            </a:endParaRPr>
          </a:p>
          <a:p>
            <a:pPr>
              <a:lnSpc>
                <a:spcPct val="150000"/>
              </a:lnSpc>
            </a:pPr>
            <a:endParaRPr lang="en-US" altLang="zh-CN" sz="2200" dirty="0">
              <a:latin typeface="楷体" panose="02010609060101010101" charset="-122"/>
              <a:ea typeface="楷体" panose="02010609060101010101" charset="-122"/>
            </a:endParaRPr>
          </a:p>
          <a:p>
            <a:pPr marL="0" indent="0">
              <a:buSzTx/>
              <a:buNone/>
              <a:defRPr/>
            </a:pPr>
            <a:r>
              <a:rPr lang="zh-CN" altLang="en-US" sz="2200" dirty="0">
                <a:latin typeface="楷体" panose="02010609060101010101" charset="-122"/>
                <a:ea typeface="楷体" panose="02010609060101010101" charset="-122"/>
              </a:rPr>
              <a:t>  其中：</a:t>
            </a:r>
            <a:endParaRPr lang="en-US" altLang="zh-CN" sz="2200" dirty="0">
              <a:latin typeface="楷体" panose="02010609060101010101" charset="-122"/>
              <a:ea typeface="楷体" panose="02010609060101010101" charset="-122"/>
            </a:endParaRPr>
          </a:p>
          <a:p>
            <a:pPr marL="0" indent="0">
              <a:lnSpc>
                <a:spcPct val="150000"/>
              </a:lnSpc>
              <a:buSzTx/>
              <a:buNone/>
              <a:defRPr/>
            </a:pP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为概率，通常取值为</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 0.01</a:t>
            </a:r>
            <a:r>
              <a:rPr lang="zh-CN" altLang="en-US" sz="2200" dirty="0">
                <a:latin typeface="Times New Roman" panose="02020603050405020304" pitchFamily="18" charset="0"/>
                <a:ea typeface="楷体" panose="02010609060101010101" charset="-122"/>
                <a:cs typeface="Times New Roman" panose="02020603050405020304" pitchFamily="18" charset="0"/>
              </a:rPr>
              <a:t>或</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=0.05</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SzTx/>
              <a:buNone/>
              <a:defRPr/>
            </a:pPr>
            <a:r>
              <a:rPr lang="zh-CN" altLang="en-US" sz="2200" dirty="0">
                <a:latin typeface="Times New Roman" panose="02020603050405020304" pitchFamily="18" charset="0"/>
                <a:ea typeface="楷体" panose="02010609060101010101" charset="-122"/>
                <a:cs typeface="Times New Roman" panose="02020603050405020304" pitchFamily="18" charset="0"/>
              </a:rPr>
              <a:t>              对自由度为</a:t>
            </a:r>
            <a:r>
              <a:rPr lang="en-US" altLang="zh-CN" sz="2200" dirty="0">
                <a:latin typeface="Times New Roman" panose="02020603050405020304" pitchFamily="18" charset="0"/>
                <a:ea typeface="楷体" panose="02010609060101010101" charset="-122"/>
                <a:cs typeface="Times New Roman" panose="02020603050405020304" pitchFamily="18" charset="0"/>
              </a:rPr>
              <a:t>m</a:t>
            </a:r>
            <a:r>
              <a:rPr lang="zh-CN" altLang="en-US" sz="2200" dirty="0">
                <a:latin typeface="Times New Roman" panose="02020603050405020304" pitchFamily="18" charset="0"/>
                <a:ea typeface="楷体" panose="02010609060101010101" charset="-122"/>
                <a:cs typeface="Times New Roman" panose="02020603050405020304" pitchFamily="18" charset="0"/>
              </a:rPr>
              <a:t>的</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latin typeface="Times New Roman" panose="02020603050405020304" pitchFamily="18" charset="0"/>
                <a:ea typeface="楷体" panose="02010609060101010101" charset="-122"/>
                <a:cs typeface="Times New Roman" panose="02020603050405020304" pitchFamily="18" charset="0"/>
              </a:rPr>
              <a:t>分布，临界值 </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t</a:t>
            </a:r>
            <a:r>
              <a:rPr lang="en-US" altLang="zh-CN" sz="2200" i="1" baseline="-25000" dirty="0" err="1">
                <a:latin typeface="Times New Roman" panose="02020603050405020304" pitchFamily="18" charset="0"/>
                <a:ea typeface="楷体" panose="02010609060101010101" charset="-122"/>
                <a:cs typeface="Times New Roman" panose="02020603050405020304" pitchFamily="18" charset="0"/>
              </a:rPr>
              <a:t>c</a:t>
            </a:r>
            <a:r>
              <a:rPr lang="en-US" altLang="zh-CN" sz="2200" i="1" baseline="-250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就是百分位值</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(1-</a:t>
            </a:r>
            <a:r>
              <a:rPr lang="el-GR" altLang="zh-CN" sz="2200" baseline="-25000" dirty="0">
                <a:latin typeface="Times New Roman" panose="02020603050405020304" pitchFamily="18" charset="0"/>
                <a:ea typeface="楷体" panose="02010609060101010101" charset="-122"/>
                <a:cs typeface="Times New Roman" panose="02020603050405020304" pitchFamily="18" charset="0"/>
              </a:rPr>
              <a:t>α</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 m)</a:t>
            </a:r>
            <a:r>
              <a:rPr lang="zh-CN" altLang="en-US" sz="2200" baseline="-25000" dirty="0">
                <a:latin typeface="Times New Roman" panose="02020603050405020304" pitchFamily="18" charset="0"/>
                <a:ea typeface="楷体" panose="02010609060101010101" charset="-122"/>
                <a:cs typeface="Times New Roman" panose="02020603050405020304" pitchFamily="18" charset="0"/>
              </a:rPr>
              <a:t>。</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a:lnSpc>
                <a:spcPct val="150000"/>
              </a:lnSpc>
            </a:pPr>
            <a:endParaRPr lang="zh-CN" altLang="en-US" sz="2200" dirty="0">
              <a:latin typeface="楷体" panose="02010609060101010101" charset="-122"/>
              <a:ea typeface="楷体" panose="02010609060101010101" charset="-122"/>
            </a:endParaRPr>
          </a:p>
          <a:p>
            <a:endParaRPr lang="zh-CN" altLang="en-US" dirty="0"/>
          </a:p>
        </p:txBody>
      </p:sp>
      <p:graphicFrame>
        <p:nvGraphicFramePr>
          <p:cNvPr id="5" name="Object 4"/>
          <p:cNvGraphicFramePr>
            <a:graphicFrameLocks noChangeAspect="1"/>
          </p:cNvGraphicFramePr>
          <p:nvPr/>
        </p:nvGraphicFramePr>
        <p:xfrm>
          <a:off x="2483768" y="1628800"/>
          <a:ext cx="3312369" cy="402836"/>
        </p:xfrm>
        <a:graphic>
          <a:graphicData uri="http://schemas.openxmlformats.org/presentationml/2006/ole">
            <mc:AlternateContent xmlns:mc="http://schemas.openxmlformats.org/markup-compatibility/2006">
              <mc:Choice xmlns:v="urn:schemas-microsoft-com:vml" Requires="v">
                <p:oleObj spid="_x0000_s2" name="Equation" r:id="rId1" imgW="1663700" imgH="228600" progId="Equation.3">
                  <p:embed/>
                </p:oleObj>
              </mc:Choice>
              <mc:Fallback>
                <p:oleObj name="Equation" r:id="rId1" imgW="1663700" imgH="22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1628800"/>
                        <a:ext cx="3312369" cy="402836"/>
                      </a:xfrm>
                      <a:prstGeom prst="rect">
                        <a:avLst/>
                      </a:prstGeom>
                      <a:noFill/>
                      <a:ln>
                        <a:noFill/>
                      </a:ln>
                    </p:spPr>
                  </p:pic>
                </p:oleObj>
              </mc:Fallback>
            </mc:AlternateContent>
          </a:graphicData>
        </a:graphic>
      </p:graphicFrame>
      <p:pic>
        <p:nvPicPr>
          <p:cNvPr id="6" name="图片 5"/>
          <p:cNvPicPr>
            <a:picLocks noChangeAspect="1"/>
          </p:cNvPicPr>
          <p:nvPr/>
        </p:nvPicPr>
        <p:blipFill>
          <a:blip r:embed="rId3"/>
          <a:stretch>
            <a:fillRect/>
          </a:stretch>
        </p:blipFill>
        <p:spPr>
          <a:xfrm>
            <a:off x="1331640" y="3860860"/>
            <a:ext cx="4391909" cy="2791757"/>
          </a:xfrm>
          <a:prstGeom prst="rect">
            <a:avLst/>
          </a:prstGeom>
          <a:ln w="6350">
            <a:solidFill>
              <a:schemeClr val="accent1">
                <a:shade val="50000"/>
              </a:schemeClr>
            </a:solidFill>
          </a:ln>
        </p:spPr>
      </p:pic>
      <p:sp>
        <p:nvSpPr>
          <p:cNvPr id="7" name="文本框 6"/>
          <p:cNvSpPr txBox="1"/>
          <p:nvPr/>
        </p:nvSpPr>
        <p:spPr>
          <a:xfrm>
            <a:off x="6155335" y="4656573"/>
            <a:ext cx="2099679" cy="1200329"/>
          </a:xfrm>
          <a:prstGeom prst="rect">
            <a:avLst/>
          </a:prstGeom>
          <a:noFill/>
        </p:spPr>
        <p:txBody>
          <a:bodyPr wrap="square" rtlCol="0">
            <a:spAutoFit/>
          </a:bodyPr>
          <a:lstStyle/>
          <a:p>
            <a:r>
              <a:rPr lang="zh-CN" altLang="en-US" dirty="0">
                <a:ea typeface="楷体" panose="02010609060101010101" charset="-122"/>
              </a:rPr>
              <a:t>每个尾部阴影部分包含</a:t>
            </a:r>
            <a:r>
              <a:rPr lang="el-GR" altLang="zh-CN" dirty="0">
                <a:ea typeface="楷体" panose="02010609060101010101" charset="-122"/>
              </a:rPr>
              <a:t>α</a:t>
            </a:r>
            <a:r>
              <a:rPr lang="en-US" altLang="zh-CN" dirty="0">
                <a:ea typeface="楷体" panose="02010609060101010101" charset="-122"/>
              </a:rPr>
              <a:t>/2 </a:t>
            </a:r>
            <a:r>
              <a:rPr lang="zh-CN" altLang="en-US" dirty="0">
                <a:ea typeface="楷体" panose="02010609060101010101" charset="-122"/>
              </a:rPr>
              <a:t>的概率，因此中间部分包含了</a:t>
            </a:r>
            <a:r>
              <a:rPr lang="en-US" altLang="zh-CN" dirty="0">
                <a:ea typeface="楷体" panose="02010609060101010101" charset="-122"/>
              </a:rPr>
              <a:t>1-</a:t>
            </a:r>
            <a:r>
              <a:rPr lang="el-GR" altLang="zh-CN" dirty="0">
                <a:ea typeface="楷体" panose="02010609060101010101" charset="-122"/>
              </a:rPr>
              <a:t>α</a:t>
            </a:r>
            <a:r>
              <a:rPr lang="en-US" altLang="zh-CN" dirty="0">
                <a:ea typeface="楷体" panose="02010609060101010101" charset="-122"/>
              </a:rPr>
              <a:t> </a:t>
            </a:r>
            <a:r>
              <a:rPr lang="zh-CN" altLang="en-US" dirty="0">
                <a:ea typeface="楷体" panose="02010609060101010101" charset="-122"/>
              </a:rPr>
              <a:t>的概率；</a:t>
            </a:r>
            <a:endParaRPr lang="en-US" altLang="zh-CN" dirty="0">
              <a:ea typeface="楷体" panose="02010609060101010101"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620688"/>
            <a:ext cx="7772400" cy="5399112"/>
          </a:xfrm>
        </p:spPr>
        <p:txBody>
          <a:bodyPr/>
          <a:lstStyle/>
          <a:p>
            <a:pPr marL="274320" lvl="1" indent="-274320">
              <a:lnSpc>
                <a:spcPct val="150000"/>
              </a:lnSpc>
              <a:spcBef>
                <a:spcPts val="580"/>
              </a:spcBef>
              <a:buClr>
                <a:schemeClr val="accent1"/>
              </a:buClr>
            </a:pPr>
            <a:r>
              <a:rPr lang="zh-CN" altLang="en-US" sz="2200" b="1" dirty="0">
                <a:latin typeface="黑体" panose="02010609060101010101" charset="-122"/>
                <a:ea typeface="黑体" panose="02010609060101010101" charset="-122"/>
              </a:rPr>
              <a:t>（二）区间估计表达式</a:t>
            </a:r>
            <a:endParaRPr lang="en-US" altLang="zh-CN" sz="2200" b="1" dirty="0">
              <a:latin typeface="黑体" panose="02010609060101010101" charset="-122"/>
              <a:ea typeface="黑体" panose="02010609060101010101" charset="-122"/>
            </a:endParaRPr>
          </a:p>
          <a:p>
            <a:pPr marL="274320" lvl="1" indent="-274320">
              <a:lnSpc>
                <a:spcPct val="150000"/>
              </a:lnSpc>
              <a:spcBef>
                <a:spcPts val="580"/>
              </a:spcBef>
              <a:buClr>
                <a:schemeClr val="accent1"/>
              </a:buClr>
            </a:pPr>
            <a:r>
              <a:rPr lang="zh-CN" altLang="en-US" sz="2200" dirty="0">
                <a:ea typeface="楷体" panose="02010609060101010101" charset="-122"/>
              </a:rPr>
              <a:t>   可以 将概率表述为：</a:t>
            </a:r>
            <a:endParaRPr lang="en-US" altLang="zh-CN" sz="2200" dirty="0">
              <a:ea typeface="楷体" panose="02010609060101010101" charset="-122"/>
            </a:endParaRPr>
          </a:p>
          <a:p>
            <a:endParaRPr lang="zh-CN" altLang="en-US" dirty="0"/>
          </a:p>
        </p:txBody>
      </p:sp>
      <p:graphicFrame>
        <p:nvGraphicFramePr>
          <p:cNvPr id="5" name="Object 3"/>
          <p:cNvGraphicFramePr>
            <a:graphicFrameLocks noChangeAspect="1"/>
          </p:cNvGraphicFramePr>
          <p:nvPr/>
        </p:nvGraphicFramePr>
        <p:xfrm>
          <a:off x="3256480" y="1934642"/>
          <a:ext cx="2664296" cy="456736"/>
        </p:xfrm>
        <a:graphic>
          <a:graphicData uri="http://schemas.openxmlformats.org/presentationml/2006/ole">
            <mc:AlternateContent xmlns:mc="http://schemas.openxmlformats.org/markup-compatibility/2006">
              <mc:Choice xmlns:v="urn:schemas-microsoft-com:vml" Requires="v">
                <p:oleObj spid="_x0000_s2" name="Equation" r:id="rId1" imgW="1333500" imgH="228600" progId="Equation.3">
                  <p:embed/>
                </p:oleObj>
              </mc:Choice>
              <mc:Fallback>
                <p:oleObj name="Equation" r:id="rId1" imgW="1333500" imgH="2286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6480" y="1934642"/>
                        <a:ext cx="2664296" cy="456736"/>
                      </a:xfrm>
                      <a:prstGeom prst="rect">
                        <a:avLst/>
                      </a:prstGeom>
                      <a:noFill/>
                      <a:ln>
                        <a:noFill/>
                      </a:ln>
                    </p:spPr>
                  </p:pic>
                </p:oleObj>
              </mc:Fallback>
            </mc:AlternateContent>
          </a:graphicData>
        </a:graphic>
      </p:graphicFrame>
      <p:graphicFrame>
        <p:nvGraphicFramePr>
          <p:cNvPr id="6" name="Object 5"/>
          <p:cNvGraphicFramePr>
            <a:graphicFrameLocks noChangeAspect="1"/>
          </p:cNvGraphicFramePr>
          <p:nvPr/>
        </p:nvGraphicFramePr>
        <p:xfrm>
          <a:off x="2837864" y="2673111"/>
          <a:ext cx="3501529" cy="943674"/>
        </p:xfrm>
        <a:graphic>
          <a:graphicData uri="http://schemas.openxmlformats.org/presentationml/2006/ole">
            <mc:AlternateContent xmlns:mc="http://schemas.openxmlformats.org/markup-compatibility/2006">
              <mc:Choice xmlns:v="urn:schemas-microsoft-com:vml" Requires="v">
                <p:oleObj spid="_x0000_s7" name="Equation" r:id="rId3" imgW="1790700" imgH="482600" progId="Equation.3">
                  <p:embed/>
                </p:oleObj>
              </mc:Choice>
              <mc:Fallback>
                <p:oleObj name="Equation" r:id="rId3" imgW="1790700" imgH="482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7864" y="2673111"/>
                        <a:ext cx="3501529" cy="943674"/>
                      </a:xfrm>
                      <a:prstGeom prst="rect">
                        <a:avLst/>
                      </a:prstGeom>
                      <a:noFill/>
                      <a:ln>
                        <a:noFill/>
                      </a:ln>
                    </p:spPr>
                  </p:pic>
                </p:oleObj>
              </mc:Fallback>
            </mc:AlternateContent>
          </a:graphicData>
        </a:graphic>
      </p:graphicFrame>
      <p:graphicFrame>
        <p:nvGraphicFramePr>
          <p:cNvPr id="8" name="Object 4"/>
          <p:cNvGraphicFramePr>
            <a:graphicFrameLocks noChangeAspect="1"/>
          </p:cNvGraphicFramePr>
          <p:nvPr/>
        </p:nvGraphicFramePr>
        <p:xfrm>
          <a:off x="1975332" y="3751792"/>
          <a:ext cx="5226595" cy="578590"/>
        </p:xfrm>
        <a:graphic>
          <a:graphicData uri="http://schemas.openxmlformats.org/presentationml/2006/ole">
            <mc:AlternateContent xmlns:mc="http://schemas.openxmlformats.org/markup-compatibility/2006">
              <mc:Choice xmlns:v="urn:schemas-microsoft-com:vml" Requires="v">
                <p:oleObj spid="_x0000_s9" name="Equation" r:id="rId5" imgW="67970400" imgH="7315200" progId="Equation.DSMT4">
                  <p:embed/>
                </p:oleObj>
              </mc:Choice>
              <mc:Fallback>
                <p:oleObj name="Equation" r:id="rId5" imgW="67970400" imgH="7315200" progId="Equation.DSMT4">
                  <p:embed/>
                  <p:pic>
                    <p:nvPicPr>
                      <p:cNvPr id="0" name="Object 4"/>
                      <p:cNvPicPr>
                        <a:picLocks noChangeAspect="1" noChangeArrowheads="1"/>
                      </p:cNvPicPr>
                      <p:nvPr/>
                    </p:nvPicPr>
                    <p:blipFill>
                      <a:blip r:embed="rId6"/>
                      <a:srcRect/>
                      <a:stretch>
                        <a:fillRect/>
                      </a:stretch>
                    </p:blipFill>
                    <p:spPr bwMode="auto">
                      <a:xfrm>
                        <a:off x="1975332" y="3751792"/>
                        <a:ext cx="5226595" cy="578590"/>
                      </a:xfrm>
                      <a:prstGeom prst="rect">
                        <a:avLst/>
                      </a:prstGeom>
                      <a:noFill/>
                      <a:ln>
                        <a:noFill/>
                      </a:ln>
                    </p:spPr>
                  </p:pic>
                </p:oleObj>
              </mc:Fallback>
            </mc:AlternateContent>
          </a:graphicData>
        </a:graphic>
      </p:graphicFrame>
      <p:sp>
        <p:nvSpPr>
          <p:cNvPr id="10" name="文本框 9"/>
          <p:cNvSpPr txBox="1"/>
          <p:nvPr/>
        </p:nvSpPr>
        <p:spPr>
          <a:xfrm>
            <a:off x="515318" y="4437112"/>
            <a:ext cx="8196336" cy="2123658"/>
          </a:xfrm>
          <a:prstGeom prst="rect">
            <a:avLst/>
          </a:prstGeom>
          <a:noFill/>
        </p:spPr>
        <p:txBody>
          <a:bodyPr wrap="square" rtlCol="0">
            <a:spAutoFit/>
          </a:bodyPr>
          <a:lstStyle/>
          <a:p>
            <a:pPr>
              <a:lnSpc>
                <a:spcPct val="15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      当</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err="1">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和 </a:t>
            </a:r>
            <a:r>
              <a:rPr lang="en-US" altLang="zh-CN" sz="2200" dirty="0">
                <a:latin typeface="Times New Roman" panose="02020603050405020304" pitchFamily="18" charset="0"/>
                <a:ea typeface="楷体" panose="02010609060101010101" charset="-122"/>
                <a:cs typeface="Times New Roman" panose="02020603050405020304" pitchFamily="18" charset="0"/>
              </a:rPr>
              <a:t>se(</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err="1">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是基于给定样本得到的估计值时，称</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err="1">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 </a:t>
            </a:r>
            <a:r>
              <a:rPr lang="en-US" altLang="zh-CN" sz="2200" dirty="0" err="1">
                <a:latin typeface="Times New Roman" panose="02020603050405020304" pitchFamily="18" charset="0"/>
                <a:ea typeface="楷体" panose="02010609060101010101" charset="-122"/>
                <a:cs typeface="Times New Roman" panose="02020603050405020304" pitchFamily="18" charset="0"/>
              </a:rPr>
              <a:t>t</a:t>
            </a:r>
            <a:r>
              <a:rPr lang="en-US" altLang="zh-CN" sz="2200" baseline="-25000" dirty="0" err="1">
                <a:latin typeface="Times New Roman" panose="02020603050405020304" pitchFamily="18" charset="0"/>
                <a:ea typeface="楷体" panose="02010609060101010101" charset="-122"/>
                <a:cs typeface="Times New Roman" panose="02020603050405020304" pitchFamily="18" charset="0"/>
              </a:rPr>
              <a:t>c</a:t>
            </a:r>
            <a:r>
              <a:rPr lang="en-US" altLang="zh-CN" sz="2200" dirty="0" err="1">
                <a:latin typeface="Times New Roman" panose="02020603050405020304" pitchFamily="18" charset="0"/>
                <a:ea typeface="楷体" panose="02010609060101010101" charset="-122"/>
                <a:cs typeface="Times New Roman" panose="02020603050405020304" pitchFamily="18" charset="0"/>
              </a:rPr>
              <a:t>se</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err="1">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为</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err="1">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的</a:t>
            </a:r>
            <a:r>
              <a:rPr lang="en-US" altLang="zh-CN" sz="2200" dirty="0">
                <a:latin typeface="Times New Roman" panose="02020603050405020304" pitchFamily="18" charset="0"/>
                <a:ea typeface="楷体" panose="02010609060101010101" charset="-122"/>
                <a:cs typeface="Times New Roman" panose="02020603050405020304" pitchFamily="18" charset="0"/>
              </a:rPr>
              <a:t>100(</a:t>
            </a:r>
            <a:r>
              <a:rPr lang="zh-CN" altLang="zh-CN" sz="2200" dirty="0">
                <a:latin typeface="Times New Roman" panose="02020603050405020304" pitchFamily="18" charset="0"/>
                <a:ea typeface="楷体" panose="02010609060101010101" charset="-122"/>
                <a:cs typeface="Times New Roman" panose="02020603050405020304" pitchFamily="18" charset="0"/>
              </a:rPr>
              <a:t>1</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区间估计值。这一估计也可称为</a:t>
            </a:r>
            <a:r>
              <a:rPr lang="en-US" altLang="zh-CN" sz="2200" dirty="0">
                <a:latin typeface="Times New Roman" panose="02020603050405020304" pitchFamily="18" charset="0"/>
                <a:ea typeface="楷体" panose="02010609060101010101" charset="-122"/>
                <a:cs typeface="Times New Roman" panose="02020603050405020304" pitchFamily="18" charset="0"/>
              </a:rPr>
              <a:t>100(1-</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的置信区间；通常选 </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 0.01 </a:t>
            </a:r>
            <a:r>
              <a:rPr lang="zh-CN" altLang="en-US" sz="2200" dirty="0">
                <a:latin typeface="Times New Roman" panose="02020603050405020304" pitchFamily="18" charset="0"/>
                <a:ea typeface="楷体" panose="02010609060101010101" charset="-122"/>
                <a:cs typeface="Times New Roman" panose="02020603050405020304" pitchFamily="18" charset="0"/>
              </a:rPr>
              <a:t>或 </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 0.05, </a:t>
            </a:r>
            <a:r>
              <a:rPr lang="zh-CN" altLang="en-US" sz="2200" dirty="0">
                <a:latin typeface="Times New Roman" panose="02020603050405020304" pitchFamily="18" charset="0"/>
                <a:ea typeface="楷体" panose="02010609060101010101" charset="-122"/>
                <a:cs typeface="Times New Roman" panose="02020603050405020304" pitchFamily="18" charset="0"/>
              </a:rPr>
              <a:t>因此我们一般获得</a:t>
            </a:r>
            <a:r>
              <a:rPr lang="en-US" altLang="zh-CN" sz="2200" dirty="0">
                <a:latin typeface="Times New Roman" panose="02020603050405020304" pitchFamily="18" charset="0"/>
                <a:ea typeface="楷体" panose="02010609060101010101" charset="-122"/>
                <a:cs typeface="Times New Roman" panose="02020603050405020304" pitchFamily="18" charset="0"/>
              </a:rPr>
              <a:t>99%</a:t>
            </a:r>
            <a:r>
              <a:rPr lang="zh-CN" altLang="en-US" sz="2200" dirty="0">
                <a:latin typeface="Times New Roman" panose="02020603050405020304" pitchFamily="18" charset="0"/>
                <a:ea typeface="楷体" panose="02010609060101010101" charset="-122"/>
                <a:cs typeface="Times New Roman" panose="02020603050405020304" pitchFamily="18" charset="0"/>
              </a:rPr>
              <a:t>的置信区间或</a:t>
            </a:r>
            <a:r>
              <a:rPr lang="en-US" altLang="zh-CN" sz="2200" dirty="0">
                <a:latin typeface="Times New Roman" panose="02020603050405020304" pitchFamily="18" charset="0"/>
                <a:ea typeface="楷体" panose="02010609060101010101" charset="-122"/>
                <a:cs typeface="Times New Roman" panose="02020603050405020304" pitchFamily="18" charset="0"/>
              </a:rPr>
              <a:t>95%</a:t>
            </a:r>
            <a:r>
              <a:rPr lang="zh-CN" altLang="en-US" sz="2200" dirty="0">
                <a:latin typeface="Times New Roman" panose="02020603050405020304" pitchFamily="18" charset="0"/>
                <a:ea typeface="楷体" panose="02010609060101010101" charset="-122"/>
                <a:cs typeface="Times New Roman" panose="02020603050405020304" pitchFamily="18" charset="0"/>
              </a:rPr>
              <a:t>的置信区间。</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692696"/>
            <a:ext cx="7772400" cy="5327104"/>
          </a:xfrm>
        </p:spPr>
        <p:txBody>
          <a:bodyPr/>
          <a:lstStyle/>
          <a:p>
            <a:r>
              <a:rPr lang="zh-CN" altLang="en-US" sz="2400" b="1" dirty="0">
                <a:latin typeface="黑体" panose="02010609060101010101" charset="-122"/>
                <a:ea typeface="黑体" panose="02010609060101010101" charset="-122"/>
              </a:rPr>
              <a:t>（三）区间估计的例子</a:t>
            </a:r>
            <a:endParaRPr lang="en-US" altLang="zh-CN" sz="2400" b="1" dirty="0">
              <a:latin typeface="黑体" panose="02010609060101010101" charset="-122"/>
              <a:ea typeface="黑体" panose="02010609060101010101" charset="-122"/>
            </a:endParaRPr>
          </a:p>
          <a:p>
            <a:pPr marL="0" indent="0">
              <a:buNone/>
            </a:pPr>
            <a:endParaRPr lang="en-US" altLang="zh-CN" sz="2400" b="1" dirty="0">
              <a:latin typeface="黑体" panose="02010609060101010101" charset="-122"/>
              <a:ea typeface="黑体" panose="02010609060101010101" charset="-122"/>
            </a:endParaRPr>
          </a:p>
          <a:p>
            <a:r>
              <a:rPr lang="zh-CN" altLang="en-US" sz="2200" dirty="0">
                <a:latin typeface="楷体" panose="02010609060101010101" charset="-122"/>
                <a:ea typeface="楷体" panose="02010609060101010101" charset="-122"/>
              </a:rPr>
              <a:t>基于食品支出数据：</a:t>
            </a:r>
            <a:endParaRPr lang="en-US" altLang="zh-CN" sz="2200" dirty="0">
              <a:latin typeface="楷体" panose="02010609060101010101" charset="-122"/>
              <a:ea typeface="楷体" panose="02010609060101010101" charset="-122"/>
            </a:endParaRPr>
          </a:p>
          <a:p>
            <a:endParaRPr lang="en-US" altLang="zh-CN" sz="2200" dirty="0">
              <a:latin typeface="楷体" panose="02010609060101010101" charset="-122"/>
              <a:ea typeface="楷体" panose="02010609060101010101" charset="-122"/>
            </a:endParaRPr>
          </a:p>
          <a:p>
            <a:endParaRPr lang="en-US" altLang="zh-CN" sz="2200" dirty="0">
              <a:latin typeface="楷体" panose="02010609060101010101" charset="-122"/>
              <a:ea typeface="楷体" panose="02010609060101010101" charset="-122"/>
            </a:endParaRPr>
          </a:p>
          <a:p>
            <a:endParaRPr lang="en-US" altLang="zh-CN" sz="2200" dirty="0">
              <a:latin typeface="楷体" panose="02010609060101010101" charset="-122"/>
              <a:ea typeface="楷体" panose="02010609060101010101" charset="-122"/>
            </a:endParaRPr>
          </a:p>
          <a:p>
            <a:pPr lvl="1">
              <a:lnSpc>
                <a:spcPct val="15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临界值</a:t>
            </a:r>
            <a:r>
              <a:rPr lang="en-US" altLang="zh-CN" sz="2200" i="1" dirty="0" err="1">
                <a:latin typeface="Times New Roman" panose="02020603050405020304" pitchFamily="18" charset="0"/>
                <a:ea typeface="楷体" panose="02010609060101010101" charset="-122"/>
                <a:cs typeface="Times New Roman" panose="02020603050405020304" pitchFamily="18" charset="0"/>
              </a:rPr>
              <a:t>t</a:t>
            </a:r>
            <a:r>
              <a:rPr lang="en-US" altLang="zh-CN" sz="2200" i="1" baseline="-25000" dirty="0" err="1">
                <a:latin typeface="Times New Roman" panose="02020603050405020304" pitchFamily="18" charset="0"/>
                <a:ea typeface="楷体" panose="02010609060101010101" charset="-122"/>
                <a:cs typeface="Times New Roman" panose="02020603050405020304" pitchFamily="18" charset="0"/>
              </a:rPr>
              <a:t>c</a:t>
            </a:r>
            <a:r>
              <a:rPr lang="en-US" altLang="zh-CN" sz="2200" dirty="0">
                <a:latin typeface="Times New Roman" panose="02020603050405020304" pitchFamily="18" charset="0"/>
                <a:ea typeface="楷体" panose="02010609060101010101" charset="-122"/>
                <a:cs typeface="Times New Roman" panose="02020603050405020304" pitchFamily="18" charset="0"/>
              </a:rPr>
              <a:t> = 2.024, </a:t>
            </a:r>
            <a:r>
              <a:rPr lang="zh-CN" altLang="en-US" sz="2200" dirty="0">
                <a:latin typeface="Times New Roman" panose="02020603050405020304" pitchFamily="18" charset="0"/>
                <a:ea typeface="楷体" panose="02010609060101010101" charset="-122"/>
                <a:cs typeface="Times New Roman" panose="02020603050405020304" pitchFamily="18" charset="0"/>
              </a:rPr>
              <a:t>是与</a:t>
            </a:r>
            <a:r>
              <a:rPr lang="en-US" altLang="zh-CN" sz="2200" dirty="0">
                <a:latin typeface="Times New Roman" panose="02020603050405020304" pitchFamily="18" charset="0"/>
                <a:ea typeface="楷体" panose="02010609060101010101" charset="-122"/>
                <a:cs typeface="Times New Roman" panose="02020603050405020304" pitchFamily="18" charset="0"/>
                <a:sym typeface="Symbol" panose="05050102010706020507" pitchFamily="18" charset="2"/>
              </a:rPr>
              <a:t></a:t>
            </a:r>
            <a:r>
              <a:rPr lang="en-US" altLang="zh-CN" sz="2200" dirty="0">
                <a:latin typeface="Times New Roman" panose="02020603050405020304" pitchFamily="18" charset="0"/>
                <a:ea typeface="楷体" panose="02010609060101010101" charset="-122"/>
                <a:cs typeface="Times New Roman" panose="02020603050405020304" pitchFamily="18" charset="0"/>
              </a:rPr>
              <a:t> =0.05 </a:t>
            </a:r>
            <a:r>
              <a:rPr lang="zh-CN" altLang="en-US" sz="2200" dirty="0">
                <a:latin typeface="Times New Roman" panose="02020603050405020304" pitchFamily="18" charset="0"/>
                <a:ea typeface="楷体" panose="02010609060101010101" charset="-122"/>
                <a:cs typeface="Times New Roman" panose="02020603050405020304" pitchFamily="18" charset="0"/>
              </a:rPr>
              <a:t>和自由度</a:t>
            </a:r>
            <a:r>
              <a:rPr lang="en-US" altLang="zh-CN" sz="2200" dirty="0">
                <a:latin typeface="Times New Roman" panose="02020603050405020304" pitchFamily="18" charset="0"/>
                <a:ea typeface="楷体" panose="02010609060101010101" charset="-122"/>
                <a:cs typeface="Times New Roman" panose="02020603050405020304" pitchFamily="18" charset="0"/>
              </a:rPr>
              <a:t>=38 </a:t>
            </a:r>
            <a:r>
              <a:rPr lang="zh-CN" altLang="en-US" sz="2200" dirty="0">
                <a:latin typeface="Times New Roman" panose="02020603050405020304" pitchFamily="18" charset="0"/>
                <a:ea typeface="楷体" panose="02010609060101010101" charset="-122"/>
                <a:cs typeface="Times New Roman" panose="02020603050405020304" pitchFamily="18" charset="0"/>
              </a:rPr>
              <a:t>对应的</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latin typeface="Times New Roman" panose="02020603050405020304" pitchFamily="18" charset="0"/>
                <a:ea typeface="楷体" panose="02010609060101010101" charset="-122"/>
                <a:cs typeface="Times New Roman" panose="02020603050405020304" pitchFamily="18" charset="0"/>
              </a:rPr>
              <a:t>分布的</a:t>
            </a:r>
            <a:r>
              <a:rPr lang="en-US" altLang="zh-CN" sz="2200" dirty="0">
                <a:latin typeface="Times New Roman" panose="02020603050405020304" pitchFamily="18" charset="0"/>
                <a:ea typeface="楷体" panose="02010609060101010101" charset="-122"/>
                <a:cs typeface="Times New Roman" panose="02020603050405020304" pitchFamily="18" charset="0"/>
              </a:rPr>
              <a:t>97.5</a:t>
            </a:r>
            <a:r>
              <a:rPr lang="zh-CN" altLang="en-US" sz="2200" dirty="0">
                <a:latin typeface="Times New Roman" panose="02020603050405020304" pitchFamily="18" charset="0"/>
                <a:ea typeface="楷体" panose="02010609060101010101" charset="-122"/>
                <a:cs typeface="Times New Roman" panose="02020603050405020304" pitchFamily="18" charset="0"/>
              </a:rPr>
              <a:t>百分位值；</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lvl="1">
              <a:lnSpc>
                <a:spcPct val="15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为计算</a:t>
            </a:r>
            <a:r>
              <a:rPr lang="en-US" altLang="zh-CN" sz="2200" dirty="0">
                <a:latin typeface="Times New Roman" panose="02020603050405020304" pitchFamily="18" charset="0"/>
                <a:ea typeface="楷体" panose="02010609060101010101" charset="-122"/>
                <a:cs typeface="Times New Roman" panose="02020603050405020304" pitchFamily="18" charset="0"/>
                <a:sym typeface="Symbol" panose="05050102010706020507" pitchFamily="18" charset="2"/>
              </a:rPr>
              <a:t></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zh-CN" altLang="en-US" sz="2200" dirty="0">
                <a:latin typeface="Times New Roman" panose="02020603050405020304" pitchFamily="18" charset="0"/>
                <a:ea typeface="楷体" panose="02010609060101010101" charset="-122"/>
                <a:cs typeface="Times New Roman" panose="02020603050405020304" pitchFamily="18" charset="0"/>
              </a:rPr>
              <a:t>的区间估计值，需要运用最小二乘估计值</a:t>
            </a:r>
            <a:r>
              <a:rPr lang="en-US" altLang="zh-CN" sz="2200" i="1" dirty="0">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dirty="0">
                <a:latin typeface="Times New Roman" panose="02020603050405020304" pitchFamily="18" charset="0"/>
                <a:ea typeface="楷体" panose="02010609060101010101" charset="-122"/>
                <a:cs typeface="Times New Roman" panose="02020603050405020304" pitchFamily="18" charset="0"/>
              </a:rPr>
              <a:t> = 10.21</a:t>
            </a:r>
            <a:r>
              <a:rPr lang="zh-CN" altLang="en-US" sz="2200" dirty="0">
                <a:latin typeface="Times New Roman" panose="02020603050405020304" pitchFamily="18" charset="0"/>
                <a:ea typeface="楷体" panose="02010609060101010101" charset="-122"/>
                <a:cs typeface="Times New Roman" panose="02020603050405020304" pitchFamily="18" charset="0"/>
              </a:rPr>
              <a:t>及其标准误：</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endParaRPr lang="en-US" altLang="zh-CN" dirty="0"/>
          </a:p>
          <a:p>
            <a:endParaRPr lang="zh-CN" altLang="en-US" dirty="0"/>
          </a:p>
        </p:txBody>
      </p:sp>
      <p:graphicFrame>
        <p:nvGraphicFramePr>
          <p:cNvPr id="5" name="Object 3"/>
          <p:cNvGraphicFramePr>
            <a:graphicFrameLocks noChangeAspect="1"/>
          </p:cNvGraphicFramePr>
          <p:nvPr/>
        </p:nvGraphicFramePr>
        <p:xfrm>
          <a:off x="1691680" y="2348880"/>
          <a:ext cx="6157242" cy="441647"/>
        </p:xfrm>
        <a:graphic>
          <a:graphicData uri="http://schemas.openxmlformats.org/presentationml/2006/ole">
            <mc:AlternateContent xmlns:mc="http://schemas.openxmlformats.org/markup-compatibility/2006">
              <mc:Choice xmlns:v="urn:schemas-microsoft-com:vml" Requires="v">
                <p:oleObj spid="_x0000_s2" name="Equation" r:id="rId1" imgW="3009900" imgH="215900" progId="Equation.3">
                  <p:embed/>
                </p:oleObj>
              </mc:Choice>
              <mc:Fallback>
                <p:oleObj name="Equation" r:id="rId1" imgW="30099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348880"/>
                        <a:ext cx="6157242" cy="441647"/>
                      </a:xfrm>
                      <a:prstGeom prst="rect">
                        <a:avLst/>
                      </a:prstGeom>
                      <a:noFill/>
                      <a:ln>
                        <a:noFill/>
                      </a:ln>
                    </p:spPr>
                  </p:pic>
                </p:oleObj>
              </mc:Fallback>
            </mc:AlternateContent>
          </a:graphicData>
        </a:graphic>
      </p:graphicFrame>
      <p:graphicFrame>
        <p:nvGraphicFramePr>
          <p:cNvPr id="6" name="Object 4"/>
          <p:cNvGraphicFramePr>
            <a:graphicFrameLocks noChangeAspect="1"/>
          </p:cNvGraphicFramePr>
          <p:nvPr/>
        </p:nvGraphicFramePr>
        <p:xfrm>
          <a:off x="2856384" y="5535432"/>
          <a:ext cx="3888432" cy="486054"/>
        </p:xfrm>
        <a:graphic>
          <a:graphicData uri="http://schemas.openxmlformats.org/presentationml/2006/ole">
            <mc:AlternateContent xmlns:mc="http://schemas.openxmlformats.org/markup-compatibility/2006">
              <mc:Choice xmlns:v="urn:schemas-microsoft-com:vml" Requires="v">
                <p:oleObj spid="_x0000_s7" name="Equation" r:id="rId3" imgW="2032000" imgH="254000" progId="Equation.3">
                  <p:embed/>
                </p:oleObj>
              </mc:Choice>
              <mc:Fallback>
                <p:oleObj name="Equation" r:id="rId3" imgW="2032000" imgH="254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6384" y="5535432"/>
                        <a:ext cx="3888432" cy="486054"/>
                      </a:xfrm>
                      <a:prstGeom prst="rect">
                        <a:avLst/>
                      </a:prstGeom>
                      <a:noFill/>
                      <a:ln>
                        <a:noFill/>
                      </a:ln>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476672"/>
            <a:ext cx="7772400" cy="6190828"/>
          </a:xfrm>
        </p:spPr>
        <p:txBody>
          <a:bodyPr>
            <a:normAutofit lnSpcReduction="10000"/>
          </a:bodyPr>
          <a:lstStyle/>
          <a:p>
            <a:pPr>
              <a:lnSpc>
                <a:spcPct val="150000"/>
              </a:lnSpc>
            </a:pPr>
            <a:r>
              <a:rPr lang="en-US" altLang="zh-CN" sz="2200" dirty="0">
                <a:latin typeface="Times New Roman" panose="02020603050405020304" pitchFamily="18" charset="0"/>
                <a:ea typeface="楷体" panose="02010609060101010101" charset="-122"/>
                <a:cs typeface="Times New Roman" panose="02020603050405020304" pitchFamily="18" charset="0"/>
                <a:sym typeface="Symbol" panose="05050102010706020507" pitchFamily="18" charset="2"/>
              </a:rPr>
              <a:t></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zh-CN" altLang="en-US" sz="2200" dirty="0">
                <a:latin typeface="Times New Roman" panose="02020603050405020304" pitchFamily="18" charset="0"/>
                <a:ea typeface="楷体" panose="02010609060101010101" charset="-122"/>
                <a:cs typeface="Times New Roman" panose="02020603050405020304" pitchFamily="18" charset="0"/>
              </a:rPr>
              <a:t>的</a:t>
            </a:r>
            <a:r>
              <a:rPr lang="en-US" altLang="zh-CN" sz="2200" dirty="0">
                <a:latin typeface="楷体" panose="02010609060101010101" charset="-122"/>
                <a:ea typeface="楷体" panose="02010609060101010101" charset="-122"/>
              </a:rPr>
              <a:t>“</a:t>
            </a:r>
            <a:r>
              <a:rPr lang="en-US" altLang="zh-CN" sz="2200" dirty="0">
                <a:latin typeface="Times New Roman" panose="02020603050405020304" pitchFamily="18" charset="0"/>
                <a:ea typeface="楷体" panose="02010609060101010101" charset="-122"/>
                <a:cs typeface="Times New Roman" panose="02020603050405020304" pitchFamily="18" charset="0"/>
              </a:rPr>
              <a:t>95%</a:t>
            </a:r>
            <a:r>
              <a:rPr lang="zh-CN" altLang="en-US" sz="2200" dirty="0">
                <a:latin typeface="楷体" panose="02010609060101010101" charset="-122"/>
                <a:ea typeface="楷体" panose="02010609060101010101" charset="-122"/>
              </a:rPr>
              <a:t>置信区间估计</a:t>
            </a:r>
            <a:r>
              <a:rPr lang="en-US" altLang="zh-CN" sz="2200" dirty="0">
                <a:latin typeface="楷体" panose="02010609060101010101" charset="-122"/>
                <a:ea typeface="楷体" panose="02010609060101010101" charset="-122"/>
              </a:rPr>
              <a:t>”</a:t>
            </a:r>
            <a:r>
              <a:rPr lang="zh-CN" altLang="en-US" sz="2200" dirty="0">
                <a:latin typeface="楷体" panose="02010609060101010101" charset="-122"/>
                <a:ea typeface="楷体" panose="02010609060101010101" charset="-122"/>
              </a:rPr>
              <a:t>为</a:t>
            </a:r>
            <a:r>
              <a:rPr lang="en-US" altLang="zh-CN" sz="2200" dirty="0">
                <a:latin typeface="楷体" panose="02010609060101010101" charset="-122"/>
                <a:ea typeface="楷体" panose="02010609060101010101" charset="-122"/>
              </a:rPr>
              <a:t>:</a:t>
            </a:r>
            <a:endParaRPr lang="en-US" altLang="zh-CN" sz="2200" dirty="0">
              <a:latin typeface="楷体" panose="02010609060101010101" charset="-122"/>
              <a:ea typeface="楷体" panose="02010609060101010101" charset="-122"/>
            </a:endParaRPr>
          </a:p>
          <a:p>
            <a:pPr>
              <a:lnSpc>
                <a:spcPct val="150000"/>
              </a:lnSpc>
            </a:pPr>
            <a:endParaRPr lang="en-US" altLang="zh-CN" sz="2200" dirty="0">
              <a:latin typeface="楷体" panose="02010609060101010101" charset="-122"/>
              <a:ea typeface="楷体" panose="02010609060101010101" charset="-122"/>
            </a:endParaRPr>
          </a:p>
          <a:p>
            <a:pPr marL="0" indent="0">
              <a:lnSpc>
                <a:spcPct val="150000"/>
              </a:lnSpc>
              <a:buNone/>
            </a:pPr>
            <a:endParaRPr lang="en-US" altLang="zh-CN" sz="2200" dirty="0">
              <a:latin typeface="楷体" panose="02010609060101010101" charset="-122"/>
              <a:ea typeface="楷体" panose="02010609060101010101" charset="-122"/>
            </a:endParaRPr>
          </a:p>
          <a:p>
            <a:pPr>
              <a:lnSpc>
                <a:spcPct val="150000"/>
              </a:lnSpc>
              <a:defRPr/>
            </a:pP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ea typeface="楷体" panose="02010609060101010101" charset="-122"/>
              </a:rPr>
              <a:t>是否确实位于</a:t>
            </a:r>
            <a:r>
              <a:rPr lang="zh-CN" altLang="en-US" sz="2200" dirty="0">
                <a:latin typeface="Times New Roman" panose="02020603050405020304" pitchFamily="18" charset="0"/>
                <a:ea typeface="楷体" panose="02010609060101010101" charset="-122"/>
                <a:cs typeface="Times New Roman" panose="02020603050405020304" pitchFamily="18" charset="0"/>
              </a:rPr>
              <a:t>区间</a:t>
            </a:r>
            <a:r>
              <a:rPr lang="en-US" altLang="zh-CN" sz="2200" dirty="0">
                <a:latin typeface="Times New Roman" panose="02020603050405020304" pitchFamily="18" charset="0"/>
                <a:ea typeface="楷体" panose="02010609060101010101" charset="-122"/>
                <a:cs typeface="Times New Roman" panose="02020603050405020304" pitchFamily="18" charset="0"/>
              </a:rPr>
              <a:t> [5.97, 14.45]</a:t>
            </a:r>
            <a:r>
              <a:rPr lang="zh-CN" altLang="en-US" sz="2200" dirty="0">
                <a:ea typeface="楷体" panose="02010609060101010101" charset="-122"/>
              </a:rPr>
              <a:t>内</a:t>
            </a:r>
            <a:r>
              <a:rPr lang="en-US" altLang="zh-CN" sz="2200" dirty="0">
                <a:ea typeface="楷体" panose="02010609060101010101" charset="-122"/>
              </a:rPr>
              <a:t>? </a:t>
            </a:r>
            <a:endParaRPr lang="en-US" altLang="zh-CN" sz="2200" dirty="0">
              <a:ea typeface="楷体" panose="02010609060101010101" charset="-122"/>
            </a:endParaRPr>
          </a:p>
          <a:p>
            <a:pPr lvl="1">
              <a:lnSpc>
                <a:spcPct val="150000"/>
              </a:lnSpc>
              <a:defRPr/>
            </a:pPr>
            <a:r>
              <a:rPr lang="zh-CN" altLang="en-US" sz="2200" dirty="0">
                <a:ea typeface="楷体" panose="02010609060101010101" charset="-122"/>
              </a:rPr>
              <a:t>我们不知道，我们永远也不可能知道。</a:t>
            </a:r>
            <a:endParaRPr lang="en-US" altLang="zh-CN" sz="2200" dirty="0">
              <a:ea typeface="楷体" panose="02010609060101010101" charset="-122"/>
            </a:endParaRPr>
          </a:p>
          <a:p>
            <a:pPr lvl="1">
              <a:lnSpc>
                <a:spcPct val="150000"/>
              </a:lnSpc>
              <a:defRPr/>
            </a:pPr>
            <a:r>
              <a:rPr lang="zh-CN" altLang="en-US" sz="2200" dirty="0">
                <a:latin typeface="楷体" panose="02010609060101010101" charset="-122"/>
                <a:ea typeface="楷体" panose="02010609060101010101" charset="-122"/>
              </a:rPr>
              <a:t>当我们将这一程序运用于许多来自于同一总体的随机样本数据，则基于这一程序构建</a:t>
            </a:r>
            <a:r>
              <a:rPr lang="zh-CN" altLang="en-US" sz="2200" dirty="0">
                <a:latin typeface="Times New Roman" panose="02020603050405020304" pitchFamily="18" charset="0"/>
                <a:ea typeface="楷体" panose="02010609060101010101" charset="-122"/>
                <a:cs typeface="Times New Roman" panose="02020603050405020304" pitchFamily="18" charset="0"/>
              </a:rPr>
              <a:t>的</a:t>
            </a:r>
            <a:r>
              <a:rPr lang="en-US" altLang="zh-CN" sz="2200" dirty="0">
                <a:latin typeface="Times New Roman" panose="02020603050405020304" pitchFamily="18" charset="0"/>
                <a:ea typeface="楷体" panose="02010609060101010101" charset="-122"/>
                <a:cs typeface="Times New Roman" panose="02020603050405020304" pitchFamily="18" charset="0"/>
              </a:rPr>
              <a:t>95%</a:t>
            </a:r>
            <a:r>
              <a:rPr lang="zh-CN" altLang="en-US" sz="2200" dirty="0">
                <a:latin typeface="楷体" panose="02010609060101010101" charset="-122"/>
                <a:ea typeface="楷体" panose="02010609060101010101" charset="-122"/>
              </a:rPr>
              <a:t>的区间估计将包含真实参数。</a:t>
            </a:r>
            <a:endParaRPr lang="en-US" altLang="zh-CN" sz="2200" dirty="0">
              <a:ea typeface="楷体" panose="02010609060101010101" charset="-122"/>
            </a:endParaRPr>
          </a:p>
          <a:p>
            <a:pPr lvl="1">
              <a:lnSpc>
                <a:spcPct val="150000"/>
              </a:lnSpc>
              <a:defRPr/>
            </a:pPr>
            <a:r>
              <a:rPr lang="zh-CN" altLang="en-US" sz="2200" dirty="0">
                <a:ea typeface="楷体" panose="02010609060101010101" charset="-122"/>
              </a:rPr>
              <a:t>区间估计</a:t>
            </a:r>
            <a:r>
              <a:rPr lang="zh-CN" altLang="en-US" sz="2200" dirty="0">
                <a:latin typeface="Times New Roman" panose="02020603050405020304" pitchFamily="18" charset="0"/>
                <a:ea typeface="楷体" panose="02010609060101010101" charset="-122"/>
                <a:cs typeface="Times New Roman" panose="02020603050405020304" pitchFamily="18" charset="0"/>
              </a:rPr>
              <a:t>程序</a:t>
            </a:r>
            <a:r>
              <a:rPr lang="en-US" altLang="zh-CN" sz="2200" dirty="0">
                <a:latin typeface="Times New Roman" panose="02020603050405020304" pitchFamily="18" charset="0"/>
                <a:ea typeface="楷体" panose="02010609060101010101" charset="-122"/>
                <a:cs typeface="Times New Roman" panose="02020603050405020304" pitchFamily="18" charset="0"/>
              </a:rPr>
              <a:t>95%</a:t>
            </a:r>
            <a:r>
              <a:rPr lang="zh-CN" altLang="en-US" sz="2200" dirty="0">
                <a:latin typeface="Times New Roman" panose="02020603050405020304" pitchFamily="18" charset="0"/>
                <a:ea typeface="楷体" panose="02010609060101010101" charset="-122"/>
                <a:cs typeface="Times New Roman" panose="02020603050405020304" pitchFamily="18" charset="0"/>
              </a:rPr>
              <a:t>的时候都是</a:t>
            </a:r>
            <a:r>
              <a:rPr lang="zh-CN" altLang="en-US" sz="2200" dirty="0">
                <a:ea typeface="楷体" panose="02010609060101010101" charset="-122"/>
              </a:rPr>
              <a:t>有效的：对于基于某一个特定样本得到的区间估计值，我们可以断言的是，给定估计程序是可靠的，如果真实</a:t>
            </a:r>
            <a:r>
              <a:rPr lang="zh-CN" altLang="en-US" sz="2200" dirty="0">
                <a:latin typeface="Times New Roman" panose="02020603050405020304" pitchFamily="18" charset="0"/>
                <a:ea typeface="楷体" panose="02010609060101010101" charset="-122"/>
                <a:cs typeface="Times New Roman" panose="02020603050405020304" pitchFamily="18" charset="0"/>
              </a:rPr>
              <a:t>参数</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zh-CN" altLang="en-US" sz="2200" dirty="0">
                <a:latin typeface="Times New Roman" panose="02020603050405020304" pitchFamily="18" charset="0"/>
                <a:ea typeface="楷体" panose="02010609060101010101" charset="-122"/>
                <a:cs typeface="Times New Roman" panose="02020603050405020304" pitchFamily="18" charset="0"/>
              </a:rPr>
              <a:t>落在区间</a:t>
            </a:r>
            <a:r>
              <a:rPr lang="en-US" altLang="zh-CN" sz="2200" dirty="0">
                <a:latin typeface="Times New Roman" panose="02020603050405020304" pitchFamily="18" charset="0"/>
                <a:ea typeface="楷体" panose="02010609060101010101" charset="-122"/>
                <a:cs typeface="Times New Roman" panose="02020603050405020304" pitchFamily="18" charset="0"/>
              </a:rPr>
              <a:t>[5.97, 14.45]</a:t>
            </a:r>
            <a:r>
              <a:rPr lang="zh-CN" altLang="en-US" sz="2200" dirty="0">
                <a:ea typeface="楷体" panose="02010609060101010101" charset="-122"/>
              </a:rPr>
              <a:t>以外，我们应该感到很“奇怪”。</a:t>
            </a:r>
            <a:endParaRPr lang="en-US" altLang="zh-CN" sz="2200" dirty="0">
              <a:ea typeface="楷体" panose="02010609060101010101" charset="-122"/>
            </a:endParaRPr>
          </a:p>
        </p:txBody>
      </p:sp>
      <p:graphicFrame>
        <p:nvGraphicFramePr>
          <p:cNvPr id="5" name="Object 4"/>
          <p:cNvGraphicFramePr>
            <a:graphicFrameLocks noChangeAspect="1"/>
          </p:cNvGraphicFramePr>
          <p:nvPr/>
        </p:nvGraphicFramePr>
        <p:xfrm>
          <a:off x="1992288" y="1412776"/>
          <a:ext cx="5616624" cy="441518"/>
        </p:xfrm>
        <a:graphic>
          <a:graphicData uri="http://schemas.openxmlformats.org/presentationml/2006/ole">
            <mc:AlternateContent xmlns:mc="http://schemas.openxmlformats.org/markup-compatibility/2006">
              <mc:Choice xmlns:v="urn:schemas-microsoft-com:vml" Requires="v">
                <p:oleObj spid="_x0000_s2" name="Equation" r:id="rId1" imgW="2908300" imgH="228600" progId="Equation.DSMT4">
                  <p:embed/>
                </p:oleObj>
              </mc:Choice>
              <mc:Fallback>
                <p:oleObj name="Equation" r:id="rId1" imgW="2908300" imgH="2286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288" y="1412776"/>
                        <a:ext cx="5616624" cy="441518"/>
                      </a:xfrm>
                      <a:prstGeom prst="rect">
                        <a:avLst/>
                      </a:prstGeom>
                      <a:noFill/>
                      <a:ln>
                        <a:noFill/>
                      </a:ln>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Rectangle 5"/>
          <p:cNvSpPr>
            <a:spLocks noChangeArrowheads="1"/>
          </p:cNvSpPr>
          <p:nvPr/>
        </p:nvSpPr>
        <p:spPr bwMode="auto">
          <a:xfrm>
            <a:off x="1663985" y="476672"/>
            <a:ext cx="5888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zh-CN" sz="2400" b="1" dirty="0">
                <a:latin typeface="楷体" panose="02010609060101010101" charset="-122"/>
                <a:ea typeface="楷体" panose="02010609060101010101" charset="-122"/>
              </a:rPr>
              <a:t> </a:t>
            </a:r>
            <a:r>
              <a:rPr lang="en-US" altLang="zh-CN" sz="2400" b="1" dirty="0">
                <a:ea typeface="楷体" panose="02010609060101010101" charset="-122"/>
                <a:cs typeface="Times New Roman" panose="02020603050405020304" pitchFamily="18" charset="0"/>
              </a:rPr>
              <a:t>10</a:t>
            </a:r>
            <a:r>
              <a:rPr lang="zh-CN" altLang="en-US" sz="2400" b="1" dirty="0">
                <a:latin typeface="楷体" panose="02010609060101010101" charset="-122"/>
                <a:ea typeface="楷体" panose="02010609060101010101" charset="-122"/>
              </a:rPr>
              <a:t>个随机样本的最小二乘估计</a:t>
            </a:r>
            <a:r>
              <a:rPr lang="zh-CN" altLang="en-US" sz="2400" b="1" dirty="0">
                <a:solidFill>
                  <a:schemeClr val="bg1"/>
                </a:solidFill>
                <a:latin typeface="楷体" panose="02010609060101010101" charset="-122"/>
                <a:ea typeface="楷体" panose="02010609060101010101" charset="-122"/>
              </a:rPr>
              <a:t>值</a:t>
            </a:r>
            <a:endParaRPr lang="en-US" altLang="zh-CN" sz="2400" b="1" dirty="0">
              <a:solidFill>
                <a:schemeClr val="bg1"/>
              </a:solidFill>
              <a:latin typeface="楷体" panose="02010609060101010101" charset="-122"/>
              <a:ea typeface="楷体" panose="02010609060101010101" charset="-122"/>
            </a:endParaRPr>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647" y="1268760"/>
            <a:ext cx="6408712" cy="2528994"/>
          </a:xfrm>
          <a:prstGeom prst="rect">
            <a:avLst/>
          </a:prstGeom>
          <a:noFill/>
          <a:ln w="6350">
            <a:solidFill>
              <a:srgbClr val="C00000"/>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7" y="3822335"/>
            <a:ext cx="6408712" cy="2528994"/>
          </a:xfrm>
          <a:prstGeom prst="rect">
            <a:avLst/>
          </a:prstGeom>
          <a:noFill/>
          <a:ln w="63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603504" y="1700808"/>
            <a:ext cx="8083296" cy="4318992"/>
          </a:xfrm>
        </p:spPr>
        <p:txBody>
          <a:bodyPr>
            <a:normAutofit/>
          </a:bodyPr>
          <a:lstStyle/>
          <a:p>
            <a:pPr>
              <a:lnSpc>
                <a:spcPct val="200000"/>
              </a:lnSpc>
            </a:pPr>
            <a:r>
              <a:rPr lang="zh-CN" altLang="en-US" sz="2200" dirty="0">
                <a:latin typeface="楷体" panose="02010609060101010101" charset="-122"/>
                <a:ea typeface="楷体" panose="02010609060101010101" charset="-122"/>
              </a:rPr>
              <a:t>    假设检验程序将对总体的推测和样本数据包含的信息进行比较；</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    给定一个经济和统计模型，假设的形成与经济行为相关；</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    这些假设表示为对模型参数的陈述；</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    假设检验运用包含在样本数据中的参数及其最小二乘点估计值和标准误的信息，得出关于假设的结论。</a:t>
            </a:r>
            <a:endParaRPr lang="zh-CN" altLang="en-US" sz="2200" dirty="0">
              <a:latin typeface="楷体" panose="02010609060101010101" charset="-122"/>
              <a:ea typeface="楷体" panose="02010609060101010101" charset="-122"/>
            </a:endParaRPr>
          </a:p>
        </p:txBody>
      </p:sp>
      <p:sp>
        <p:nvSpPr>
          <p:cNvPr id="5" name="标题 1"/>
          <p:cNvSpPr>
            <a:spLocks noGrp="1"/>
          </p:cNvSpPr>
          <p:nvPr>
            <p:ph type="title"/>
          </p:nvPr>
        </p:nvSpPr>
        <p:spPr>
          <a:xfrm>
            <a:off x="603504" y="274638"/>
            <a:ext cx="8083296" cy="850106"/>
          </a:xfrm>
        </p:spPr>
        <p:txBody>
          <a:bodyPr>
            <a:normAutofit/>
          </a:bodyPr>
          <a:lstStyle/>
          <a:p>
            <a:pPr algn="ctr"/>
            <a:r>
              <a:rPr lang="zh-CN" altLang="en-US" sz="3600" b="1" dirty="0">
                <a:solidFill>
                  <a:schemeClr val="tx1"/>
                </a:solidFill>
                <a:latin typeface="黑体" panose="02010609060101010101" charset="-122"/>
                <a:ea typeface="黑体" panose="02010609060101010101" charset="-122"/>
              </a:rPr>
              <a:t>二、假设检验</a:t>
            </a:r>
            <a:endParaRPr lang="zh-CN" altLang="en-US" sz="3600" b="1" dirty="0">
              <a:solidFill>
                <a:schemeClr val="tx1"/>
              </a:solidFill>
              <a:latin typeface="黑体" panose="02010609060101010101" charset="-122"/>
              <a:ea typeface="黑体" panose="02010609060101010101"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620688"/>
            <a:ext cx="7772400" cy="5904656"/>
          </a:xfrm>
        </p:spPr>
        <p:txBody>
          <a:bodyPr>
            <a:normAutofit/>
          </a:bodyPr>
          <a:lstStyle/>
          <a:p>
            <a:r>
              <a:rPr lang="zh-CN" altLang="en-US" sz="2400" b="1" dirty="0">
                <a:latin typeface="黑体" panose="02010609060101010101" charset="-122"/>
                <a:ea typeface="黑体" panose="02010609060101010101" charset="-122"/>
              </a:rPr>
              <a:t>（一）原假设</a:t>
            </a:r>
            <a:endParaRPr lang="en-US" altLang="zh-CN" sz="2400" b="1" dirty="0">
              <a:latin typeface="黑体" panose="02010609060101010101" charset="-122"/>
              <a:ea typeface="黑体" panose="02010609060101010101" charset="-122"/>
            </a:endParaRPr>
          </a:p>
          <a:p>
            <a:endParaRPr lang="en-US" altLang="zh-CN" sz="2400" b="1" dirty="0">
              <a:latin typeface="黑体" panose="02010609060101010101" charset="-122"/>
              <a:ea typeface="黑体" panose="02010609060101010101" charset="-122"/>
            </a:endParaRPr>
          </a:p>
          <a:p>
            <a:pPr>
              <a:lnSpc>
                <a:spcPct val="20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原假设是我们一直秉持的信念，除非基于样本证据，我们确信它不为真，此时我们就拒绝原假设。</a:t>
            </a:r>
            <a:endParaRPr lang="zh-CN" altLang="en-US" sz="2200" dirty="0">
              <a:latin typeface="Times New Roman" panose="02020603050405020304" pitchFamily="18" charset="0"/>
              <a:ea typeface="楷体" panose="02010609060101010101" charset="-122"/>
              <a:cs typeface="Times New Roman" panose="02020603050405020304" pitchFamily="18" charset="0"/>
            </a:endParaRPr>
          </a:p>
          <a:p>
            <a:pPr>
              <a:lnSpc>
                <a:spcPct val="20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原假设陈述为：</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algn="ctr">
              <a:lnSpc>
                <a:spcPct val="200000"/>
              </a:lnSpc>
            </a:pPr>
            <a:r>
              <a:rPr lang="pt-BR" altLang="zh-CN" sz="2200" dirty="0">
                <a:latin typeface="Times New Roman" panose="02020603050405020304" pitchFamily="18" charset="0"/>
                <a:ea typeface="楷体" panose="02010609060101010101" charset="-122"/>
                <a:cs typeface="Times New Roman" panose="02020603050405020304" pitchFamily="18" charset="0"/>
              </a:rPr>
              <a:t> H</a:t>
            </a:r>
            <a:r>
              <a:rPr lang="pt-BR" altLang="zh-CN" sz="2200" baseline="-25000" dirty="0">
                <a:latin typeface="Times New Roman" panose="02020603050405020304" pitchFamily="18" charset="0"/>
                <a:ea typeface="楷体" panose="02010609060101010101" charset="-122"/>
                <a:cs typeface="Times New Roman" panose="02020603050405020304" pitchFamily="18" charset="0"/>
              </a:rPr>
              <a:t>0</a:t>
            </a:r>
            <a:r>
              <a:rPr lang="pt-BR" altLang="zh-CN" sz="2200" dirty="0">
                <a:latin typeface="Times New Roman" panose="02020603050405020304" pitchFamily="18" charset="0"/>
                <a:ea typeface="楷体" panose="02010609060101010101" charset="-122"/>
                <a:cs typeface="Times New Roman" panose="02020603050405020304" pitchFamily="18" charset="0"/>
              </a:rPr>
              <a:t> : </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k </a:t>
            </a:r>
            <a:r>
              <a:rPr lang="en-US" altLang="zh-CN" sz="2200" dirty="0">
                <a:latin typeface="Times New Roman" panose="02020603050405020304" pitchFamily="18" charset="0"/>
                <a:ea typeface="楷体" panose="02010609060101010101" charset="-122"/>
                <a:cs typeface="Times New Roman" panose="02020603050405020304" pitchFamily="18" charset="0"/>
              </a:rPr>
              <a:t>= c  </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a:lnSpc>
                <a:spcPct val="20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其中，</a:t>
            </a:r>
            <a:r>
              <a:rPr lang="en-US" altLang="zh-CN" sz="2200" dirty="0">
                <a:latin typeface="Times New Roman" panose="02020603050405020304" pitchFamily="18" charset="0"/>
                <a:ea typeface="楷体" panose="02010609060101010101" charset="-122"/>
                <a:cs typeface="Times New Roman" panose="02020603050405020304" pitchFamily="18" charset="0"/>
              </a:rPr>
              <a:t>c </a:t>
            </a:r>
            <a:r>
              <a:rPr lang="zh-CN" altLang="en-US" sz="2200" dirty="0">
                <a:latin typeface="Times New Roman" panose="02020603050405020304" pitchFamily="18" charset="0"/>
                <a:ea typeface="楷体" panose="02010609060101010101" charset="-122"/>
                <a:cs typeface="Times New Roman" panose="02020603050405020304" pitchFamily="18" charset="0"/>
              </a:rPr>
              <a:t>是一个常数，在特定的回归模型的背景下，它是一个重要的数值。通常 </a:t>
            </a:r>
            <a:r>
              <a:rPr lang="en-US" altLang="zh-CN" sz="2200" dirty="0">
                <a:latin typeface="Times New Roman" panose="02020603050405020304" pitchFamily="18" charset="0"/>
                <a:ea typeface="楷体" panose="02010609060101010101" charset="-122"/>
                <a:cs typeface="Times New Roman" panose="02020603050405020304" pitchFamily="18" charset="0"/>
              </a:rPr>
              <a:t>c </a:t>
            </a:r>
            <a:r>
              <a:rPr lang="zh-CN" altLang="en-US" sz="2200" dirty="0">
                <a:latin typeface="Times New Roman" panose="02020603050405020304" pitchFamily="18" charset="0"/>
                <a:ea typeface="楷体" panose="02010609060101010101" charset="-122"/>
                <a:cs typeface="Times New Roman" panose="02020603050405020304" pitchFamily="18" charset="0"/>
              </a:rPr>
              <a:t>的取值为</a:t>
            </a:r>
            <a:r>
              <a:rPr lang="en-US" altLang="zh-CN" sz="2200" dirty="0">
                <a:latin typeface="Times New Roman" panose="02020603050405020304" pitchFamily="18" charset="0"/>
                <a:ea typeface="楷体" panose="02010609060101010101" charset="-122"/>
                <a:cs typeface="Times New Roman" panose="02020603050405020304" pitchFamily="18" charset="0"/>
              </a:rPr>
              <a:t>0</a:t>
            </a:r>
            <a:r>
              <a:rPr lang="zh-CN" altLang="en-US" sz="2200" dirty="0">
                <a:latin typeface="Times New Roman" panose="02020603050405020304" pitchFamily="18" charset="0"/>
                <a:ea typeface="楷体" panose="02010609060101010101" charset="-122"/>
                <a:cs typeface="Times New Roman" panose="02020603050405020304" pitchFamily="18" charset="0"/>
              </a:rPr>
              <a:t>。</a:t>
            </a:r>
            <a:endParaRPr lang="zh-CN" altLang="en-US" sz="2200" dirty="0">
              <a:latin typeface="Times New Roman" panose="02020603050405020304" pitchFamily="18" charset="0"/>
              <a:ea typeface="楷体" panose="02010609060101010101" charset="-122"/>
              <a:cs typeface="Times New Roman" panose="02020603050405020304" pitchFamily="18" charset="0"/>
            </a:endParaRPr>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内容占位符 3"/>
          <p:cNvSpPr>
            <a:spLocks noGrp="1"/>
          </p:cNvSpPr>
          <p:nvPr>
            <p:ph sz="quarter" idx="1"/>
          </p:nvPr>
        </p:nvSpPr>
        <p:spPr>
          <a:xfrm>
            <a:off x="914400" y="620688"/>
            <a:ext cx="7772400" cy="5904656"/>
          </a:xfrm>
        </p:spPr>
        <p:txBody>
          <a:bodyPr>
            <a:normAutofit/>
          </a:bodyPr>
          <a:lstStyle/>
          <a:p>
            <a:r>
              <a:rPr lang="zh-CN" altLang="en-US" sz="2400" b="1" dirty="0">
                <a:latin typeface="黑体" panose="02010609060101010101" charset="-122"/>
                <a:ea typeface="黑体" panose="02010609060101010101" charset="-122"/>
              </a:rPr>
              <a:t>（二）备择假设</a:t>
            </a:r>
            <a:endParaRPr lang="en-US" altLang="zh-CN" sz="2400" b="1" dirty="0">
              <a:latin typeface="黑体" panose="02010609060101010101" charset="-122"/>
              <a:ea typeface="黑体" panose="02010609060101010101" charset="-122"/>
            </a:endParaRPr>
          </a:p>
          <a:p>
            <a:endParaRPr lang="en-US" altLang="zh-CN" sz="2400" b="1" dirty="0">
              <a:latin typeface="黑体" panose="02010609060101010101" charset="-122"/>
              <a:ea typeface="黑体" panose="02010609060101010101" charset="-122"/>
            </a:endParaRPr>
          </a:p>
          <a:p>
            <a:pPr>
              <a:lnSpc>
                <a:spcPct val="200000"/>
              </a:lnSpc>
            </a:pPr>
            <a:r>
              <a:rPr lang="zh-CN" altLang="en-US" sz="2200" dirty="0">
                <a:latin typeface="楷体" panose="02010609060101010101" charset="-122"/>
                <a:ea typeface="楷体" panose="02010609060101010101" charset="-122"/>
              </a:rPr>
              <a:t>与每一个原假设成对的是逻辑上的备择假设</a:t>
            </a:r>
            <a:r>
              <a:rPr lang="en-US" altLang="zh-CN" sz="2200" dirty="0">
                <a:latin typeface="楷体" panose="02010609060101010101" charset="-122"/>
                <a:ea typeface="楷体" panose="02010609060101010101" charset="-122"/>
              </a:rPr>
              <a:t>H</a:t>
            </a:r>
            <a:r>
              <a:rPr lang="en-US" altLang="zh-CN" sz="1400" dirty="0">
                <a:latin typeface="楷体" panose="02010609060101010101" charset="-122"/>
                <a:ea typeface="楷体" panose="02010609060101010101" charset="-122"/>
              </a:rPr>
              <a:t>1</a:t>
            </a:r>
            <a:r>
              <a:rPr lang="en-US" altLang="zh-CN" sz="2200" dirty="0">
                <a:latin typeface="楷体" panose="02010609060101010101" charset="-122"/>
                <a:ea typeface="楷体" panose="02010609060101010101" charset="-122"/>
              </a:rPr>
              <a:t> </a:t>
            </a:r>
            <a:r>
              <a:rPr lang="zh-CN" altLang="en-US" sz="2200" dirty="0">
                <a:latin typeface="楷体" panose="02010609060101010101" charset="-122"/>
                <a:ea typeface="楷体" panose="02010609060101010101" charset="-122"/>
              </a:rPr>
              <a:t>，如果原假设被拒绝我们就接受备择假设。</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备择假设是弹性的，在某种程度上取决于经济理论。</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可能的备择假设有</a:t>
            </a:r>
            <a:r>
              <a:rPr lang="en-US" altLang="zh-CN" sz="2200" dirty="0">
                <a:latin typeface="楷体" panose="02010609060101010101" charset="-122"/>
                <a:ea typeface="楷体" panose="02010609060101010101" charset="-122"/>
              </a:rPr>
              <a:t>:</a:t>
            </a:r>
            <a:endParaRPr lang="en-US" altLang="zh-CN" sz="2200" dirty="0">
              <a:latin typeface="楷体" panose="02010609060101010101" charset="-122"/>
              <a:ea typeface="楷体" panose="02010609060101010101" charset="-122"/>
            </a:endParaRPr>
          </a:p>
          <a:p>
            <a:pPr algn="ctr">
              <a:lnSpc>
                <a:spcPct val="150000"/>
              </a:lnSpc>
              <a:buSzTx/>
              <a:buNone/>
            </a:pPr>
            <a:r>
              <a:rPr lang="pt-BR" altLang="zh-CN" sz="2400" i="1" dirty="0">
                <a:latin typeface="Times New Roman" panose="02020603050405020304" pitchFamily="18" charset="0"/>
                <a:cs typeface="Times New Roman" panose="02020603050405020304" pitchFamily="18" charset="0"/>
              </a:rPr>
              <a:t>H</a:t>
            </a:r>
            <a:r>
              <a:rPr lang="pt-BR" altLang="zh-CN" sz="2400" baseline="-25000" dirty="0">
                <a:latin typeface="Times New Roman" panose="02020603050405020304" pitchFamily="18" charset="0"/>
                <a:cs typeface="Times New Roman" panose="02020603050405020304" pitchFamily="18" charset="0"/>
              </a:rPr>
              <a:t>1</a:t>
            </a:r>
            <a:r>
              <a:rPr lang="pt-BR" altLang="zh-CN" sz="700" dirty="0">
                <a:latin typeface="Times New Roman" panose="02020603050405020304" pitchFamily="18" charset="0"/>
                <a:cs typeface="Times New Roman" panose="02020603050405020304" pitchFamily="18" charset="0"/>
              </a:rPr>
              <a:t> </a:t>
            </a:r>
            <a:r>
              <a:rPr lang="pt-BR" altLang="zh-CN" sz="2400" dirty="0">
                <a:latin typeface="Times New Roman" panose="02020603050405020304" pitchFamily="18" charset="0"/>
                <a:cs typeface="Times New Roman" panose="02020603050405020304" pitchFamily="18" charset="0"/>
              </a:rPr>
              <a:t>: </a:t>
            </a:r>
            <a:r>
              <a:rPr lang="el-GR" altLang="zh-CN" sz="2400" dirty="0">
                <a:latin typeface="Times New Roman" panose="02020603050405020304" pitchFamily="18" charset="0"/>
                <a:cs typeface="Times New Roman" panose="02020603050405020304" pitchFamily="18" charset="0"/>
              </a:rPr>
              <a:t>β</a:t>
            </a:r>
            <a:r>
              <a:rPr lang="en-US" altLang="zh-CN" sz="2400" baseline="-25000" dirty="0">
                <a:latin typeface="Times New Roman" panose="02020603050405020304" pitchFamily="18" charset="0"/>
                <a:cs typeface="Times New Roman" panose="02020603050405020304" pitchFamily="18" charset="0"/>
              </a:rPr>
              <a:t>k </a:t>
            </a:r>
            <a:r>
              <a:rPr lang="en-US" altLang="zh-CN" sz="2400" dirty="0">
                <a:latin typeface="Times New Roman" panose="02020603050405020304" pitchFamily="18" charset="0"/>
                <a:cs typeface="Times New Roman" panose="02020603050405020304" pitchFamily="18" charset="0"/>
              </a:rPr>
              <a:t>&gt; </a:t>
            </a:r>
            <a:r>
              <a:rPr lang="en-US" altLang="zh-CN" sz="2400" i="1" dirty="0">
                <a:latin typeface="Times New Roman" panose="02020603050405020304" pitchFamily="18" charset="0"/>
                <a:cs typeface="Times New Roman" panose="02020603050405020304" pitchFamily="18" charset="0"/>
              </a:rPr>
              <a:t>c</a:t>
            </a:r>
            <a:endParaRPr lang="en-US" altLang="zh-CN" sz="2400" i="1" dirty="0">
              <a:latin typeface="Times New Roman" panose="02020603050405020304" pitchFamily="18" charset="0"/>
              <a:cs typeface="Times New Roman" panose="02020603050405020304" pitchFamily="18" charset="0"/>
            </a:endParaRPr>
          </a:p>
          <a:p>
            <a:pPr algn="ctr">
              <a:lnSpc>
                <a:spcPct val="150000"/>
              </a:lnSpc>
              <a:buSzTx/>
              <a:buNone/>
            </a:pPr>
            <a:r>
              <a:rPr lang="pt-BR" altLang="zh-CN" sz="2400" i="1" dirty="0">
                <a:latin typeface="Times New Roman" panose="02020603050405020304" pitchFamily="18" charset="0"/>
                <a:cs typeface="Times New Roman" panose="02020603050405020304" pitchFamily="18" charset="0"/>
              </a:rPr>
              <a:t>H</a:t>
            </a:r>
            <a:r>
              <a:rPr lang="pt-BR" altLang="zh-CN" sz="2400" baseline="-25000" dirty="0">
                <a:latin typeface="Times New Roman" panose="02020603050405020304" pitchFamily="18" charset="0"/>
                <a:cs typeface="Times New Roman" panose="02020603050405020304" pitchFamily="18" charset="0"/>
              </a:rPr>
              <a:t>1</a:t>
            </a:r>
            <a:r>
              <a:rPr lang="pt-BR" altLang="zh-CN" sz="700" dirty="0">
                <a:latin typeface="Times New Roman" panose="02020603050405020304" pitchFamily="18" charset="0"/>
                <a:cs typeface="Times New Roman" panose="02020603050405020304" pitchFamily="18" charset="0"/>
              </a:rPr>
              <a:t> </a:t>
            </a:r>
            <a:r>
              <a:rPr lang="pt-BR" altLang="zh-CN" sz="2400" dirty="0">
                <a:latin typeface="Times New Roman" panose="02020603050405020304" pitchFamily="18" charset="0"/>
                <a:cs typeface="Times New Roman" panose="02020603050405020304" pitchFamily="18" charset="0"/>
              </a:rPr>
              <a:t>: </a:t>
            </a:r>
            <a:r>
              <a:rPr lang="el-GR" altLang="zh-CN" sz="2400" dirty="0">
                <a:latin typeface="Times New Roman" panose="02020603050405020304" pitchFamily="18" charset="0"/>
                <a:cs typeface="Times New Roman" panose="02020603050405020304" pitchFamily="18" charset="0"/>
              </a:rPr>
              <a:t>β</a:t>
            </a:r>
            <a:r>
              <a:rPr lang="en-US" altLang="zh-CN" sz="2400" baseline="-25000" dirty="0">
                <a:latin typeface="Times New Roman" panose="02020603050405020304" pitchFamily="18" charset="0"/>
                <a:cs typeface="Times New Roman" panose="02020603050405020304" pitchFamily="18" charset="0"/>
              </a:rPr>
              <a:t>k </a:t>
            </a:r>
            <a:r>
              <a:rPr lang="en-US" altLang="zh-CN" sz="2400" dirty="0">
                <a:latin typeface="Times New Roman" panose="02020603050405020304" pitchFamily="18" charset="0"/>
                <a:cs typeface="Times New Roman" panose="02020603050405020304" pitchFamily="18" charset="0"/>
              </a:rPr>
              <a:t>&lt; </a:t>
            </a:r>
            <a:r>
              <a:rPr lang="en-US" altLang="zh-CN" sz="2400" i="1" dirty="0">
                <a:latin typeface="Times New Roman" panose="02020603050405020304" pitchFamily="18" charset="0"/>
                <a:cs typeface="Times New Roman" panose="02020603050405020304" pitchFamily="18" charset="0"/>
              </a:rPr>
              <a:t>c</a:t>
            </a:r>
            <a:endParaRPr lang="en-US" altLang="zh-CN" sz="2400" i="1" dirty="0">
              <a:latin typeface="Times New Roman" panose="02020603050405020304" pitchFamily="18" charset="0"/>
              <a:cs typeface="Times New Roman" panose="02020603050405020304" pitchFamily="18" charset="0"/>
            </a:endParaRPr>
          </a:p>
          <a:p>
            <a:pPr algn="ctr">
              <a:lnSpc>
                <a:spcPct val="150000"/>
              </a:lnSpc>
              <a:buSzTx/>
              <a:buNone/>
            </a:pPr>
            <a:r>
              <a:rPr lang="pt-BR" altLang="zh-CN" sz="2400" i="1" dirty="0">
                <a:latin typeface="Times New Roman" panose="02020603050405020304" pitchFamily="18" charset="0"/>
                <a:cs typeface="Times New Roman" panose="02020603050405020304" pitchFamily="18" charset="0"/>
              </a:rPr>
              <a:t>H</a:t>
            </a:r>
            <a:r>
              <a:rPr lang="pt-BR" altLang="zh-CN" sz="2400" baseline="-25000" dirty="0">
                <a:latin typeface="Times New Roman" panose="02020603050405020304" pitchFamily="18" charset="0"/>
                <a:cs typeface="Times New Roman" panose="02020603050405020304" pitchFamily="18" charset="0"/>
              </a:rPr>
              <a:t>1</a:t>
            </a:r>
            <a:r>
              <a:rPr lang="pt-BR" altLang="zh-CN" sz="700" dirty="0">
                <a:latin typeface="Times New Roman" panose="02020603050405020304" pitchFamily="18" charset="0"/>
                <a:cs typeface="Times New Roman" panose="02020603050405020304" pitchFamily="18" charset="0"/>
              </a:rPr>
              <a:t> </a:t>
            </a:r>
            <a:r>
              <a:rPr lang="pt-BR" altLang="zh-CN" sz="2400" dirty="0">
                <a:latin typeface="Times New Roman" panose="02020603050405020304" pitchFamily="18" charset="0"/>
                <a:cs typeface="Times New Roman" panose="02020603050405020304" pitchFamily="18" charset="0"/>
              </a:rPr>
              <a:t>: </a:t>
            </a:r>
            <a:r>
              <a:rPr lang="el-GR" altLang="zh-CN" sz="2400" dirty="0">
                <a:latin typeface="Times New Roman" panose="02020603050405020304" pitchFamily="18" charset="0"/>
                <a:cs typeface="Times New Roman" panose="02020603050405020304" pitchFamily="18" charset="0"/>
              </a:rPr>
              <a:t>β</a:t>
            </a:r>
            <a:r>
              <a:rPr lang="en-US" altLang="zh-CN" sz="2400" baseline="-25000" dirty="0">
                <a:latin typeface="Times New Roman" panose="02020603050405020304" pitchFamily="18" charset="0"/>
                <a:cs typeface="Times New Roman" panose="02020603050405020304" pitchFamily="18" charset="0"/>
              </a:rPr>
              <a:t>k </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c</a:t>
            </a:r>
            <a:endParaRPr lang="en-US" altLang="zh-CN" sz="2400" i="1" dirty="0">
              <a:latin typeface="Times New Roman" panose="02020603050405020304" pitchFamily="18" charset="0"/>
              <a:cs typeface="Times New Roman" panose="02020603050405020304" pitchFamily="18" charset="0"/>
            </a:endParaRPr>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内容占位符 3"/>
          <p:cNvSpPr>
            <a:spLocks noGrp="1"/>
          </p:cNvSpPr>
          <p:nvPr>
            <p:ph sz="quarter" idx="1"/>
          </p:nvPr>
        </p:nvSpPr>
        <p:spPr>
          <a:xfrm>
            <a:off x="914400" y="620688"/>
            <a:ext cx="7772400" cy="5904656"/>
          </a:xfrm>
        </p:spPr>
        <p:txBody>
          <a:bodyPr>
            <a:normAutofit/>
          </a:bodyPr>
          <a:lstStyle/>
          <a:p>
            <a:r>
              <a:rPr lang="zh-CN" altLang="en-US" sz="2400" b="1" dirty="0">
                <a:latin typeface="黑体" panose="02010609060101010101" charset="-122"/>
                <a:ea typeface="黑体" panose="02010609060101010101" charset="-122"/>
              </a:rPr>
              <a:t>（三）检验统计量</a:t>
            </a:r>
            <a:endParaRPr lang="en-US" altLang="zh-CN" sz="2400" b="1" dirty="0">
              <a:latin typeface="黑体" panose="02010609060101010101" charset="-122"/>
              <a:ea typeface="黑体" panose="02010609060101010101" charset="-122"/>
            </a:endParaRPr>
          </a:p>
          <a:p>
            <a:endParaRPr lang="en-US" altLang="zh-CN" sz="2400" b="1" dirty="0">
              <a:latin typeface="黑体" panose="02010609060101010101" charset="-122"/>
              <a:ea typeface="黑体" panose="02010609060101010101" charset="-122"/>
            </a:endParaRPr>
          </a:p>
          <a:p>
            <a:pPr>
              <a:lnSpc>
                <a:spcPct val="200000"/>
              </a:lnSpc>
            </a:pPr>
            <a:r>
              <a:rPr lang="zh-CN" altLang="en-US" sz="2200" dirty="0">
                <a:latin typeface="楷体" panose="02010609060101010101" charset="-122"/>
                <a:ea typeface="楷体" panose="02010609060101010101" charset="-122"/>
              </a:rPr>
              <a:t>检验统计量具有特别的特征：如果原假设为真的话，检验统计量的概率分布是完全已知的；如果原假设不为真，则检验统计量服从其他的分布。</a:t>
            </a:r>
            <a:endParaRPr lang="zh-CN" altLang="en-US" sz="2200" dirty="0">
              <a:latin typeface="楷体" panose="02010609060101010101" charset="-122"/>
              <a:ea typeface="楷体" panose="02010609060101010101" charset="-122"/>
            </a:endParaRPr>
          </a:p>
          <a:p>
            <a:pPr>
              <a:lnSpc>
                <a:spcPct val="200000"/>
              </a:lnSpc>
            </a:pPr>
            <a:r>
              <a:rPr lang="zh-CN" altLang="en-US" sz="2200" dirty="0">
                <a:latin typeface="楷体" panose="02010609060101010101" charset="-122"/>
                <a:ea typeface="楷体" panose="02010609060101010101" charset="-122"/>
              </a:rPr>
              <a:t>基于检验统计量的值，我们决定要么拒绝原假设，要么不拒绝原假设。</a:t>
            </a:r>
            <a:endParaRPr lang="zh-CN" altLang="en-US" sz="2200" dirty="0">
              <a:latin typeface="楷体" panose="02010609060101010101" charset="-122"/>
              <a:ea typeface="楷体" panose="02010609060101010101" charset="-122"/>
            </a:endParaRPr>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836712"/>
            <a:ext cx="7772400" cy="5688632"/>
          </a:xfrm>
        </p:spPr>
        <p:txBody>
          <a:bodyPr>
            <a:normAutofit/>
          </a:bodyPr>
          <a:lstStyle/>
          <a:p>
            <a:r>
              <a:rPr lang="zh-CN" altLang="en-US" sz="2200" dirty="0">
                <a:ea typeface="楷体" panose="02010609060101010101" charset="-122"/>
              </a:rPr>
              <a:t>基本的检验统计量为</a:t>
            </a:r>
            <a:r>
              <a:rPr lang="en-US" altLang="zh-CN" sz="2200" dirty="0">
                <a:ea typeface="楷体" panose="02010609060101010101" charset="-122"/>
              </a:rPr>
              <a:t>:</a:t>
            </a:r>
            <a:endParaRPr lang="en-US" altLang="zh-CN" sz="2200" dirty="0">
              <a:ea typeface="楷体" panose="02010609060101010101" charset="-122"/>
            </a:endParaRPr>
          </a:p>
          <a:p>
            <a:endParaRPr lang="en-US" altLang="zh-CN" dirty="0">
              <a:ea typeface="楷体" panose="02010609060101010101" charset="-122"/>
            </a:endParaRPr>
          </a:p>
          <a:p>
            <a:endParaRPr lang="en-US" altLang="zh-CN" dirty="0">
              <a:ea typeface="楷体" panose="02010609060101010101" charset="-122"/>
            </a:endParaRPr>
          </a:p>
          <a:p>
            <a:endParaRPr lang="en-US" altLang="zh-CN" dirty="0">
              <a:ea typeface="楷体" panose="02010609060101010101" charset="-122"/>
            </a:endParaRPr>
          </a:p>
          <a:p>
            <a:pPr marL="274320" lvl="1" indent="-274320">
              <a:spcBef>
                <a:spcPts val="580"/>
              </a:spcBef>
              <a:buClr>
                <a:schemeClr val="accent1"/>
              </a:buClr>
            </a:pPr>
            <a:r>
              <a:rPr lang="zh-CN" altLang="en-US" sz="2200" dirty="0">
                <a:latin typeface="Times New Roman" panose="02020603050405020304" pitchFamily="18" charset="0"/>
                <a:ea typeface="楷体" panose="02010609060101010101" charset="-122"/>
                <a:cs typeface="Times New Roman" panose="02020603050405020304" pitchFamily="18" charset="0"/>
              </a:rPr>
              <a:t>如果原假设</a:t>
            </a:r>
            <a:r>
              <a:rPr lang="en-US" altLang="zh-CN" sz="2200" i="1" dirty="0">
                <a:latin typeface="Times New Roman" panose="02020603050405020304" pitchFamily="18" charset="0"/>
                <a:ea typeface="楷体" panose="02010609060101010101" charset="-122"/>
                <a:cs typeface="Times New Roman" panose="02020603050405020304" pitchFamily="18" charset="0"/>
              </a:rPr>
              <a:t>H</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0</a:t>
            </a:r>
            <a:r>
              <a:rPr lang="en-US" altLang="zh-CN" sz="2200" dirty="0">
                <a:latin typeface="Times New Roman" panose="02020603050405020304" pitchFamily="18" charset="0"/>
                <a:ea typeface="楷体" panose="02010609060101010101" charset="-122"/>
                <a:cs typeface="Times New Roman" panose="02020603050405020304" pitchFamily="18" charset="0"/>
              </a:rPr>
              <a:t> : </a:t>
            </a:r>
            <a:r>
              <a:rPr lang="el-GR" altLang="zh-CN" sz="2200" i="1"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 c</a:t>
            </a:r>
            <a:r>
              <a:rPr lang="zh-CN" altLang="en-US" sz="2200" dirty="0">
                <a:latin typeface="Times New Roman" panose="02020603050405020304" pitchFamily="18" charset="0"/>
                <a:ea typeface="楷体" panose="02010609060101010101" charset="-122"/>
                <a:cs typeface="Times New Roman" panose="02020603050405020304" pitchFamily="18" charset="0"/>
              </a:rPr>
              <a:t>为真，我们用</a:t>
            </a:r>
            <a:r>
              <a:rPr lang="en-US" altLang="zh-CN" sz="2200" dirty="0">
                <a:latin typeface="Times New Roman" panose="02020603050405020304" pitchFamily="18" charset="0"/>
                <a:ea typeface="楷体" panose="02010609060101010101" charset="-122"/>
                <a:cs typeface="Times New Roman" panose="02020603050405020304" pitchFamily="18" charset="0"/>
              </a:rPr>
              <a:t>c</a:t>
            </a:r>
            <a:r>
              <a:rPr lang="zh-CN" altLang="en-US" sz="2200" dirty="0">
                <a:latin typeface="Times New Roman" panose="02020603050405020304" pitchFamily="18" charset="0"/>
                <a:ea typeface="楷体" panose="02010609060101010101" charset="-122"/>
                <a:cs typeface="Times New Roman" panose="02020603050405020304" pitchFamily="18" charset="0"/>
              </a:rPr>
              <a:t>替换</a:t>
            </a:r>
            <a:r>
              <a:rPr lang="el-GR" altLang="zh-CN" sz="2200" i="1"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k</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得到：</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274320" lvl="1" indent="-274320">
              <a:spcBef>
                <a:spcPts val="580"/>
              </a:spcBef>
              <a:buClr>
                <a:schemeClr val="accent1"/>
              </a:buClr>
            </a:pPr>
            <a:endParaRPr lang="en-US" altLang="zh-CN" dirty="0">
              <a:ea typeface="楷体" panose="02010609060101010101" charset="-122"/>
            </a:endParaRPr>
          </a:p>
          <a:p>
            <a:pPr marL="274320" lvl="1" indent="-274320">
              <a:spcBef>
                <a:spcPts val="580"/>
              </a:spcBef>
              <a:buClr>
                <a:schemeClr val="accent1"/>
              </a:buClr>
            </a:pPr>
            <a:endParaRPr lang="en-US" altLang="zh-CN" dirty="0">
              <a:ea typeface="楷体" panose="02010609060101010101" charset="-122"/>
            </a:endParaRPr>
          </a:p>
          <a:p>
            <a:pPr marL="274320" lvl="1" indent="-274320">
              <a:spcBef>
                <a:spcPts val="580"/>
              </a:spcBef>
              <a:buClr>
                <a:schemeClr val="accent1"/>
              </a:buClr>
            </a:pPr>
            <a:endParaRPr lang="en-US" altLang="zh-CN" dirty="0">
              <a:ea typeface="楷体" panose="02010609060101010101" charset="-122"/>
            </a:endParaRPr>
          </a:p>
          <a:p>
            <a:pPr marL="274320" lvl="1" indent="-274320">
              <a:spcBef>
                <a:spcPts val="580"/>
              </a:spcBef>
              <a:buClr>
                <a:schemeClr val="accent1"/>
              </a:buClr>
            </a:pPr>
            <a:endParaRPr lang="en-US" altLang="zh-CN" dirty="0">
              <a:ea typeface="楷体" panose="02010609060101010101" charset="-122"/>
            </a:endParaRPr>
          </a:p>
          <a:p>
            <a:pPr marL="274320" lvl="1" indent="-274320">
              <a:lnSpc>
                <a:spcPct val="150000"/>
              </a:lnSpc>
              <a:spcBef>
                <a:spcPts val="580"/>
              </a:spcBef>
              <a:buClr>
                <a:schemeClr val="accent1"/>
              </a:buClr>
            </a:pPr>
            <a:r>
              <a:rPr lang="zh-CN" altLang="en-US" sz="2200" dirty="0">
                <a:latin typeface="Times New Roman" panose="02020603050405020304" pitchFamily="18" charset="0"/>
                <a:ea typeface="楷体" panose="02010609060101010101" charset="-122"/>
                <a:cs typeface="Times New Roman" panose="02020603050405020304" pitchFamily="18" charset="0"/>
              </a:rPr>
              <a:t>如果原假设不为真</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zh-CN" altLang="en-US" sz="2200" dirty="0">
                <a:latin typeface="Times New Roman" panose="02020603050405020304" pitchFamily="18" charset="0"/>
                <a:ea typeface="楷体" panose="02010609060101010101" charset="-122"/>
                <a:cs typeface="Times New Roman" panose="02020603050405020304" pitchFamily="18" charset="0"/>
              </a:rPr>
              <a:t>则方程中的</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latin typeface="Times New Roman" panose="02020603050405020304" pitchFamily="18" charset="0"/>
                <a:ea typeface="楷体" panose="02010609060101010101" charset="-122"/>
                <a:cs typeface="Times New Roman" panose="02020603050405020304" pitchFamily="18" charset="0"/>
              </a:rPr>
              <a:t>统计量不再服从自由度为</a:t>
            </a:r>
            <a:r>
              <a:rPr lang="en-US" altLang="zh-CN" sz="2200" dirty="0">
                <a:latin typeface="Times New Roman" panose="02020603050405020304" pitchFamily="18" charset="0"/>
                <a:ea typeface="楷体" panose="02010609060101010101" charset="-122"/>
                <a:cs typeface="Times New Roman" panose="02020603050405020304" pitchFamily="18" charset="0"/>
              </a:rPr>
              <a:t>N-2</a:t>
            </a:r>
            <a:r>
              <a:rPr lang="zh-CN" altLang="en-US" sz="2200" dirty="0">
                <a:latin typeface="Times New Roman" panose="02020603050405020304" pitchFamily="18" charset="0"/>
                <a:ea typeface="楷体" panose="02010609060101010101" charset="-122"/>
                <a:cs typeface="Times New Roman" panose="02020603050405020304" pitchFamily="18" charset="0"/>
              </a:rPr>
              <a:t>的</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latin typeface="Times New Roman" panose="02020603050405020304" pitchFamily="18" charset="0"/>
                <a:ea typeface="楷体" panose="02010609060101010101" charset="-122"/>
                <a:cs typeface="Times New Roman" panose="02020603050405020304" pitchFamily="18" charset="0"/>
              </a:rPr>
              <a:t>分布。</a:t>
            </a:r>
            <a:endParaRPr lang="en-US" altLang="zh-CN" dirty="0">
              <a:ea typeface="楷体" panose="02010609060101010101" charset="-122"/>
            </a:endParaRPr>
          </a:p>
          <a:p>
            <a:endParaRPr lang="en-US" altLang="zh-CN" dirty="0">
              <a:ea typeface="楷体" panose="02010609060101010101" charset="-122"/>
            </a:endParaRPr>
          </a:p>
          <a:p>
            <a:endParaRPr lang="zh-CN" altLang="en-US" dirty="0"/>
          </a:p>
        </p:txBody>
      </p:sp>
      <p:graphicFrame>
        <p:nvGraphicFramePr>
          <p:cNvPr id="5" name="Object 4"/>
          <p:cNvGraphicFramePr>
            <a:graphicFrameLocks noChangeAspect="1"/>
          </p:cNvGraphicFramePr>
          <p:nvPr/>
        </p:nvGraphicFramePr>
        <p:xfrm>
          <a:off x="3758034" y="1628800"/>
          <a:ext cx="1246187" cy="822325"/>
        </p:xfrm>
        <a:graphic>
          <a:graphicData uri="http://schemas.openxmlformats.org/presentationml/2006/ole">
            <mc:AlternateContent xmlns:mc="http://schemas.openxmlformats.org/markup-compatibility/2006">
              <mc:Choice xmlns:v="urn:schemas-microsoft-com:vml" Requires="v">
                <p:oleObj spid="_x0000_s2" name="Equation" r:id="rId1" imgW="673100" imgH="444500" progId="Equation.DSMT4">
                  <p:embed/>
                </p:oleObj>
              </mc:Choice>
              <mc:Fallback>
                <p:oleObj name="Equation" r:id="rId1" imgW="673100" imgH="4445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8034" y="1628800"/>
                        <a:ext cx="12461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3758034" y="3681028"/>
          <a:ext cx="2160587" cy="822325"/>
        </p:xfrm>
        <a:graphic>
          <a:graphicData uri="http://schemas.openxmlformats.org/presentationml/2006/ole">
            <mc:AlternateContent xmlns:mc="http://schemas.openxmlformats.org/markup-compatibility/2006">
              <mc:Choice xmlns:v="urn:schemas-microsoft-com:vml" Requires="v">
                <p:oleObj spid="_x0000_s7" name="Equation" r:id="rId3" imgW="1167765" imgH="444500" progId="Equation.DSMT4">
                  <p:embed/>
                </p:oleObj>
              </mc:Choice>
              <mc:Fallback>
                <p:oleObj name="Equation" r:id="rId3" imgW="1167765" imgH="4445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8034" y="3681028"/>
                        <a:ext cx="21605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内容占位符 3"/>
          <p:cNvSpPr>
            <a:spLocks noGrp="1"/>
          </p:cNvSpPr>
          <p:nvPr>
            <p:ph sz="quarter" idx="1"/>
          </p:nvPr>
        </p:nvSpPr>
        <p:spPr>
          <a:xfrm>
            <a:off x="914400" y="620688"/>
            <a:ext cx="7772400" cy="5904656"/>
          </a:xfrm>
        </p:spPr>
        <p:txBody>
          <a:bodyPr>
            <a:normAutofit lnSpcReduction="10000"/>
          </a:bodyPr>
          <a:lstStyle/>
          <a:p>
            <a:r>
              <a:rPr lang="zh-CN" altLang="en-US" sz="2400" b="1" dirty="0">
                <a:latin typeface="黑体" panose="02010609060101010101" charset="-122"/>
                <a:ea typeface="黑体" panose="02010609060101010101" charset="-122"/>
              </a:rPr>
              <a:t>（四）拒绝域</a:t>
            </a:r>
            <a:endParaRPr lang="en-US" altLang="zh-CN" sz="2400" b="1" dirty="0">
              <a:latin typeface="黑体" panose="02010609060101010101" charset="-122"/>
              <a:ea typeface="黑体" panose="02010609060101010101" charset="-122"/>
            </a:endParaRPr>
          </a:p>
          <a:p>
            <a:endParaRPr lang="en-US" altLang="zh-CN" sz="2400" b="1" dirty="0">
              <a:latin typeface="黑体" panose="02010609060101010101" charset="-122"/>
              <a:ea typeface="黑体" panose="02010609060101010101" charset="-122"/>
            </a:endParaRPr>
          </a:p>
          <a:p>
            <a:pPr>
              <a:lnSpc>
                <a:spcPct val="200000"/>
              </a:lnSpc>
            </a:pPr>
            <a:r>
              <a:rPr lang="zh-CN" altLang="en-US" sz="2200" dirty="0">
                <a:latin typeface="楷体" panose="02010609060101010101" charset="-122"/>
                <a:ea typeface="楷体" panose="02010609060101010101" charset="-122"/>
              </a:rPr>
              <a:t>拒绝域由当原假设为真时不可能出现或出现概率很低的数值组成。拒绝域取决于备择假设的形式。</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a:t>
            </a:r>
            <a:r>
              <a:rPr lang="zh-CN" altLang="en-US" sz="2200" dirty="0">
                <a:latin typeface="楷体" panose="02010609060101010101" charset="-122"/>
                <a:ea typeface="楷体" panose="02010609060101010101" charset="-122"/>
              </a:rPr>
              <a:t>检验统计量的取值范围导致拒绝原假设的拒绝域；</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a:t>
            </a:r>
            <a:r>
              <a:rPr lang="zh-CN" altLang="en-US" sz="2200" dirty="0">
                <a:latin typeface="楷体" panose="02010609060101010101" charset="-122"/>
                <a:ea typeface="楷体" panose="02010609060101010101" charset="-122"/>
              </a:rPr>
              <a:t>只有当满足如下条件时，才能够构建一个拒绝域：</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a:t>
            </a:r>
            <a:r>
              <a:rPr lang="zh-CN" altLang="en-US" sz="2200" dirty="0">
                <a:latin typeface="楷体" panose="02010609060101010101" charset="-122"/>
                <a:ea typeface="楷体" panose="02010609060101010101" charset="-122"/>
              </a:rPr>
              <a:t>当原假设为真时，存在一个分布已知的检验统计量；</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a:t>
            </a:r>
            <a:r>
              <a:rPr lang="zh-CN" altLang="en-US" sz="2200" dirty="0">
                <a:latin typeface="楷体" panose="02010609060101010101" charset="-122"/>
                <a:ea typeface="楷体" panose="02010609060101010101" charset="-122"/>
              </a:rPr>
              <a:t>存在备择假设</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a:t>
            </a:r>
            <a:r>
              <a:rPr lang="zh-CN" altLang="en-US" sz="2200" dirty="0">
                <a:latin typeface="楷体" panose="02010609060101010101" charset="-122"/>
                <a:ea typeface="楷体" panose="02010609060101010101" charset="-122"/>
              </a:rPr>
              <a:t>存在显著性水平</a:t>
            </a:r>
            <a:endParaRPr lang="zh-CN" altLang="en-US" sz="2200" dirty="0">
              <a:latin typeface="楷体" panose="02010609060101010101" charset="-122"/>
              <a:ea typeface="楷体" panose="02010609060101010101" charset="-122"/>
            </a:endParaRPr>
          </a:p>
          <a:p>
            <a:endParaRPr lang="en-US" altLang="zh-CN" dirty="0"/>
          </a:p>
          <a:p>
            <a:endParaRPr lang="en-US" altLang="zh-CN" dirty="0"/>
          </a:p>
          <a:p>
            <a:endParaRPr lang="en-US" altLang="zh-CN" dirty="0"/>
          </a:p>
          <a:p>
            <a:endParaRPr lang="en-US" altLang="zh-CN" dirty="0"/>
          </a:p>
          <a:p>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620688"/>
            <a:ext cx="7772400" cy="6120680"/>
          </a:xfrm>
        </p:spPr>
        <p:txBody>
          <a:bodyPr>
            <a:normAutofit/>
          </a:bodyPr>
          <a:lstStyle/>
          <a:p>
            <a:pPr>
              <a:lnSpc>
                <a:spcPct val="150000"/>
              </a:lnSpc>
            </a:pPr>
            <a:r>
              <a:rPr lang="zh-CN" altLang="en-US" sz="2200" b="1" dirty="0">
                <a:latin typeface="楷体" panose="02010609060101010101" charset="-122"/>
                <a:ea typeface="楷体" panose="02010609060101010101" charset="-122"/>
              </a:rPr>
              <a:t>运用拒绝域的内在逻辑链条是： </a:t>
            </a:r>
            <a:endParaRPr lang="en-US" altLang="zh-CN" sz="2200" b="1" dirty="0">
              <a:latin typeface="楷体" panose="02010609060101010101" charset="-122"/>
              <a:ea typeface="楷体" panose="02010609060101010101" charset="-122"/>
            </a:endParaRPr>
          </a:p>
          <a:p>
            <a:pPr>
              <a:lnSpc>
                <a:spcPct val="150000"/>
              </a:lnSpc>
            </a:pPr>
            <a:endParaRPr lang="zh-CN" altLang="en-US" sz="2200" b="1" dirty="0">
              <a:latin typeface="楷体" panose="02010609060101010101" charset="-122"/>
              <a:ea typeface="楷体" panose="02010609060101010101" charset="-122"/>
            </a:endParaRPr>
          </a:p>
          <a:p>
            <a:pPr>
              <a:lnSpc>
                <a:spcPct val="150000"/>
              </a:lnSpc>
            </a:pPr>
            <a:r>
              <a:rPr lang="zh-CN" altLang="en-US" sz="2200" dirty="0">
                <a:latin typeface="楷体" panose="02010609060101010101" charset="-122"/>
                <a:ea typeface="楷体" panose="02010609060101010101" charset="-122"/>
              </a:rPr>
              <a:t>    “如果检验统计量的一个值是在低概率的区域获得的，那么检验统计量就不可能拥有假定的分布，因此原假设不可能为真。”</a:t>
            </a:r>
            <a:endParaRPr lang="en-US" altLang="zh-CN" sz="2200" dirty="0">
              <a:latin typeface="楷体" panose="02010609060101010101" charset="-122"/>
              <a:ea typeface="楷体" panose="02010609060101010101" charset="-122"/>
            </a:endParaRPr>
          </a:p>
          <a:p>
            <a:pPr>
              <a:lnSpc>
                <a:spcPct val="150000"/>
              </a:lnSpc>
            </a:pPr>
            <a:r>
              <a:rPr lang="zh-CN" altLang="en-US" sz="2200" dirty="0">
                <a:latin typeface="楷体" panose="02010609060101010101" charset="-122"/>
                <a:ea typeface="楷体" panose="02010609060101010101" charset="-122"/>
              </a:rPr>
              <a:t>    如果备择假设为真，则检验统计量的取值倾向于不寻常地“大”或不寻常地“小”。</a:t>
            </a:r>
            <a:endParaRPr lang="zh-CN" altLang="en-US" sz="2200" dirty="0">
              <a:latin typeface="楷体" panose="02010609060101010101" charset="-122"/>
              <a:ea typeface="楷体" panose="02010609060101010101" charset="-122"/>
            </a:endParaRPr>
          </a:p>
          <a:p>
            <a:pPr>
              <a:lnSpc>
                <a:spcPct val="150000"/>
              </a:lnSpc>
            </a:pPr>
            <a:r>
              <a:rPr lang="zh-CN" altLang="en-US" sz="2200" dirty="0">
                <a:latin typeface="楷体" panose="02010609060101010101" charset="-122"/>
                <a:ea typeface="楷体" panose="02010609060101010101" charset="-122"/>
              </a:rPr>
              <a:t>    “大”和“小”的界定通过选择</a:t>
            </a:r>
            <a:r>
              <a:rPr lang="zh-CN" altLang="en-US" sz="2200" dirty="0">
                <a:latin typeface="Times New Roman" panose="02020603050405020304" pitchFamily="18" charset="0"/>
                <a:ea typeface="楷体" panose="02010609060101010101" charset="-122"/>
                <a:cs typeface="Times New Roman" panose="02020603050405020304" pitchFamily="18" charset="0"/>
              </a:rPr>
              <a:t>概率</a:t>
            </a:r>
            <a:r>
              <a:rPr lang="en-US" altLang="zh-CN" sz="2200" dirty="0">
                <a:latin typeface="Times New Roman" panose="02020603050405020304" pitchFamily="18" charset="0"/>
                <a:ea typeface="楷体" panose="02010609060101010101" charset="-122"/>
                <a:cs typeface="Times New Roman" panose="02020603050405020304" pitchFamily="18" charset="0"/>
              </a:rPr>
              <a:t>α</a:t>
            </a:r>
            <a:r>
              <a:rPr lang="zh-CN" altLang="en-US" sz="2200" dirty="0">
                <a:latin typeface="Times New Roman" panose="02020603050405020304" pitchFamily="18" charset="0"/>
                <a:ea typeface="楷体" panose="02010609060101010101" charset="-122"/>
                <a:cs typeface="Times New Roman" panose="02020603050405020304" pitchFamily="18" charset="0"/>
              </a:rPr>
              <a:t>来实现，称</a:t>
            </a:r>
            <a:r>
              <a:rPr lang="en-US" altLang="zh-CN" sz="2200" dirty="0">
                <a:latin typeface="Times New Roman" panose="02020603050405020304" pitchFamily="18" charset="0"/>
                <a:ea typeface="楷体" panose="02010609060101010101" charset="-122"/>
                <a:cs typeface="Times New Roman" panose="02020603050405020304" pitchFamily="18" charset="0"/>
              </a:rPr>
              <a:t>α</a:t>
            </a:r>
            <a:r>
              <a:rPr lang="zh-CN" altLang="en-US" sz="2200" dirty="0">
                <a:latin typeface="Times New Roman" panose="02020603050405020304" pitchFamily="18" charset="0"/>
                <a:ea typeface="楷体" panose="02010609060101010101" charset="-122"/>
                <a:cs typeface="Times New Roman" panose="02020603050405020304" pitchFamily="18" charset="0"/>
              </a:rPr>
              <a:t>为</a:t>
            </a:r>
            <a:r>
              <a:rPr lang="zh-CN" altLang="en-US" sz="2200" dirty="0">
                <a:latin typeface="楷体" panose="02010609060101010101" charset="-122"/>
                <a:ea typeface="楷体" panose="02010609060101010101" charset="-122"/>
              </a:rPr>
              <a:t>检验的显著性水平，它提供了“不可能事件”</a:t>
            </a:r>
            <a:r>
              <a:rPr lang="zh-CN" altLang="en-US" sz="2200" dirty="0">
                <a:latin typeface="Times New Roman" panose="02020603050405020304" pitchFamily="18" charset="0"/>
                <a:ea typeface="楷体" panose="02010609060101010101" charset="-122"/>
                <a:cs typeface="Times New Roman" panose="02020603050405020304" pitchFamily="18" charset="0"/>
              </a:rPr>
              <a:t>的含义。检验的显著性水平</a:t>
            </a:r>
            <a:r>
              <a:rPr lang="en-US" altLang="zh-CN" sz="2200" dirty="0">
                <a:latin typeface="Times New Roman" panose="02020603050405020304" pitchFamily="18" charset="0"/>
                <a:ea typeface="楷体" panose="02010609060101010101" charset="-122"/>
                <a:cs typeface="Times New Roman" panose="02020603050405020304" pitchFamily="18" charset="0"/>
              </a:rPr>
              <a:t>α</a:t>
            </a:r>
            <a:r>
              <a:rPr lang="zh-CN" altLang="en-US" sz="2200" dirty="0">
                <a:latin typeface="Times New Roman" panose="02020603050405020304" pitchFamily="18" charset="0"/>
                <a:ea typeface="楷体" panose="02010609060101010101" charset="-122"/>
                <a:cs typeface="Times New Roman" panose="02020603050405020304" pitchFamily="18" charset="0"/>
              </a:rPr>
              <a:t>通常选择为</a:t>
            </a:r>
            <a:r>
              <a:rPr lang="en-US" altLang="zh-CN" sz="2200" dirty="0">
                <a:latin typeface="Times New Roman" panose="02020603050405020304" pitchFamily="18" charset="0"/>
                <a:ea typeface="楷体" panose="02010609060101010101" charset="-122"/>
                <a:cs typeface="Times New Roman" panose="02020603050405020304" pitchFamily="18" charset="0"/>
              </a:rPr>
              <a:t>0.01, 0.05 </a:t>
            </a:r>
            <a:r>
              <a:rPr lang="zh-CN" altLang="en-US" sz="2200" dirty="0">
                <a:latin typeface="Times New Roman" panose="02020603050405020304" pitchFamily="18" charset="0"/>
                <a:ea typeface="楷体" panose="02010609060101010101" charset="-122"/>
                <a:cs typeface="Times New Roman" panose="02020603050405020304" pitchFamily="18" charset="0"/>
              </a:rPr>
              <a:t>或</a:t>
            </a:r>
            <a:r>
              <a:rPr lang="en-US" altLang="zh-CN" sz="2200" dirty="0">
                <a:latin typeface="Times New Roman" panose="02020603050405020304" pitchFamily="18" charset="0"/>
                <a:ea typeface="楷体" panose="02010609060101010101" charset="-122"/>
                <a:cs typeface="Times New Roman" panose="02020603050405020304" pitchFamily="18" charset="0"/>
              </a:rPr>
              <a:t> 0.10</a:t>
            </a:r>
            <a:r>
              <a:rPr lang="zh-CN" altLang="en-US"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endParaRPr lang="zh-CN" altLang="en-US" dirty="0"/>
          </a:p>
          <a:p>
            <a:endParaRPr lang="zh-CN" altLang="en-US" dirty="0"/>
          </a:p>
          <a:p>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683568" y="1447800"/>
            <a:ext cx="8003232" cy="4933528"/>
          </a:xfrm>
        </p:spPr>
        <p:txBody>
          <a:bodyPr>
            <a:normAutofit/>
          </a:bodyPr>
          <a:lstStyle/>
          <a:p>
            <a:pPr>
              <a:lnSpc>
                <a:spcPct val="200000"/>
              </a:lnSpc>
            </a:pPr>
            <a:r>
              <a:rPr lang="zh-CN" altLang="en-US" sz="2200" dirty="0">
                <a:latin typeface="楷体" panose="02010609060101010101" charset="-122"/>
                <a:ea typeface="楷体" panose="02010609060101010101" charset="-122"/>
              </a:rPr>
              <a:t>检验步骤：</a:t>
            </a:r>
            <a:endParaRPr lang="en-US" altLang="zh-CN"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1.</a:t>
            </a:r>
            <a:r>
              <a:rPr lang="zh-CN" altLang="en-US" sz="2200" dirty="0">
                <a:latin typeface="楷体" panose="02010609060101010101" charset="-122"/>
                <a:ea typeface="楷体" panose="02010609060101010101" charset="-122"/>
              </a:rPr>
              <a:t>确定原假设和备择假设；</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2.</a:t>
            </a:r>
            <a:r>
              <a:rPr lang="zh-CN" altLang="en-US" sz="2200" dirty="0">
                <a:latin typeface="楷体" panose="02010609060101010101" charset="-122"/>
                <a:ea typeface="楷体" panose="02010609060101010101" charset="-122"/>
              </a:rPr>
              <a:t>设定检验统计量以及当原假设为真时检验统计量的分布；</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3.</a:t>
            </a:r>
            <a:r>
              <a:rPr lang="zh-CN" altLang="en-US" sz="2200" dirty="0">
                <a:latin typeface="楷体" panose="02010609060101010101" charset="-122"/>
                <a:ea typeface="楷体" panose="02010609060101010101" charset="-122"/>
              </a:rPr>
              <a:t>选择</a:t>
            </a:r>
            <a:r>
              <a:rPr lang="en-US" altLang="zh-CN" sz="2200" dirty="0">
                <a:latin typeface="Times New Roman" panose="02020603050405020304" pitchFamily="18" charset="0"/>
                <a:ea typeface="楷体" panose="02010609060101010101" charset="-122"/>
                <a:cs typeface="Times New Roman" panose="02020603050405020304" pitchFamily="18" charset="0"/>
              </a:rPr>
              <a:t>α</a:t>
            </a:r>
            <a:r>
              <a:rPr lang="zh-CN" altLang="en-US" sz="2200" dirty="0">
                <a:latin typeface="楷体" panose="02010609060101010101" charset="-122"/>
                <a:ea typeface="楷体" panose="02010609060101010101" charset="-122"/>
              </a:rPr>
              <a:t>并确定拒绝域；</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4.</a:t>
            </a:r>
            <a:r>
              <a:rPr lang="zh-CN" altLang="en-US" sz="2200" dirty="0">
                <a:latin typeface="楷体" panose="02010609060101010101" charset="-122"/>
                <a:ea typeface="楷体" panose="02010609060101010101" charset="-122"/>
              </a:rPr>
              <a:t>计算检验统计量的样本值；</a:t>
            </a:r>
            <a:endParaRPr lang="zh-CN" altLang="en-US" sz="2200" dirty="0">
              <a:latin typeface="楷体" panose="02010609060101010101" charset="-122"/>
              <a:ea typeface="楷体" panose="02010609060101010101" charset="-122"/>
            </a:endParaRPr>
          </a:p>
          <a:p>
            <a:pPr>
              <a:lnSpc>
                <a:spcPct val="200000"/>
              </a:lnSpc>
            </a:pPr>
            <a:r>
              <a:rPr lang="en-US" altLang="zh-CN" sz="2200" dirty="0">
                <a:latin typeface="楷体" panose="02010609060101010101" charset="-122"/>
                <a:ea typeface="楷体" panose="02010609060101010101" charset="-122"/>
              </a:rPr>
              <a:t>    5.</a:t>
            </a:r>
            <a:r>
              <a:rPr lang="zh-CN" altLang="en-US" sz="2200" dirty="0">
                <a:latin typeface="楷体" panose="02010609060101010101" charset="-122"/>
                <a:ea typeface="楷体" panose="02010609060101010101" charset="-122"/>
              </a:rPr>
              <a:t>陈述结论。</a:t>
            </a:r>
            <a:endParaRPr lang="zh-CN" altLang="en-US" sz="2200" dirty="0">
              <a:latin typeface="楷体" panose="02010609060101010101" charset="-122"/>
              <a:ea typeface="楷体" panose="02010609060101010101" charset="-122"/>
            </a:endParaRPr>
          </a:p>
          <a:p>
            <a:endParaRPr lang="zh-CN" altLang="en-US" dirty="0"/>
          </a:p>
        </p:txBody>
      </p:sp>
      <p:sp>
        <p:nvSpPr>
          <p:cNvPr id="5" name="标题 1"/>
          <p:cNvSpPr>
            <a:spLocks noGrp="1"/>
          </p:cNvSpPr>
          <p:nvPr>
            <p:ph type="title"/>
          </p:nvPr>
        </p:nvSpPr>
        <p:spPr>
          <a:xfrm>
            <a:off x="603504" y="274638"/>
            <a:ext cx="8083296" cy="850106"/>
          </a:xfrm>
        </p:spPr>
        <p:txBody>
          <a:bodyPr>
            <a:normAutofit/>
          </a:bodyPr>
          <a:lstStyle/>
          <a:p>
            <a:pPr algn="ctr"/>
            <a:r>
              <a:rPr lang="zh-CN" altLang="en-US" sz="3600" b="1" dirty="0">
                <a:solidFill>
                  <a:schemeClr val="tx1"/>
                </a:solidFill>
                <a:latin typeface="黑体" panose="02010609060101010101" charset="-122"/>
                <a:ea typeface="黑体" panose="02010609060101010101" charset="-122"/>
              </a:rPr>
              <a:t>三、假设检验的例子</a:t>
            </a:r>
            <a:endParaRPr lang="zh-CN" altLang="en-US" sz="3600" b="1" dirty="0">
              <a:solidFill>
                <a:schemeClr val="tx1"/>
              </a:solidFill>
              <a:latin typeface="黑体" panose="02010609060101010101" charset="-122"/>
              <a:ea typeface="黑体" panose="02010609060101010101"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标题 1"/>
          <p:cNvSpPr>
            <a:spLocks noGrp="1"/>
          </p:cNvSpPr>
          <p:nvPr>
            <p:ph type="title"/>
          </p:nvPr>
        </p:nvSpPr>
        <p:spPr>
          <a:xfrm>
            <a:off x="914400" y="274638"/>
            <a:ext cx="7772400" cy="706090"/>
          </a:xfrm>
        </p:spPr>
        <p:txBody>
          <a:bodyPr>
            <a:normAutofit/>
          </a:bodyPr>
          <a:lstStyle/>
          <a:p>
            <a:r>
              <a:rPr lang="zh-CN" altLang="en-US" sz="2400" b="1" dirty="0">
                <a:solidFill>
                  <a:schemeClr val="tx1"/>
                </a:solidFill>
                <a:latin typeface="黑体" panose="02010609060101010101" charset="-122"/>
                <a:ea typeface="黑体" panose="02010609060101010101" charset="-122"/>
              </a:rPr>
              <a:t>双尾检验的情形</a:t>
            </a:r>
            <a:endParaRPr lang="zh-CN" altLang="en-US" sz="2400" b="1" dirty="0">
              <a:solidFill>
                <a:schemeClr val="tx1"/>
              </a:solidFill>
              <a:latin typeface="黑体" panose="02010609060101010101" charset="-122"/>
              <a:ea typeface="黑体" panose="02010609060101010101" charset="-122"/>
            </a:endParaRPr>
          </a:p>
        </p:txBody>
      </p:sp>
      <p:sp>
        <p:nvSpPr>
          <p:cNvPr id="6" name="内容占位符 3"/>
          <p:cNvSpPr>
            <a:spLocks noGrp="1"/>
          </p:cNvSpPr>
          <p:nvPr>
            <p:ph sz="quarter" idx="1"/>
          </p:nvPr>
        </p:nvSpPr>
        <p:spPr>
          <a:xfrm>
            <a:off x="914400" y="1340768"/>
            <a:ext cx="7772400" cy="4320480"/>
          </a:xfrm>
        </p:spPr>
        <p:txBody>
          <a:bodyPr>
            <a:normAutofit/>
          </a:bodyPr>
          <a:lstStyle/>
          <a:p>
            <a:pPr>
              <a:lnSpc>
                <a:spcPct val="150000"/>
              </a:lnSpc>
            </a:pPr>
            <a:r>
              <a:rPr lang="en-US" altLang="zh-CN" sz="2200" dirty="0">
                <a:latin typeface="Times New Roman" panose="02020603050405020304" pitchFamily="18" charset="0"/>
                <a:ea typeface="楷体" panose="02010609060101010101" charset="-122"/>
                <a:cs typeface="Times New Roman" panose="02020603050405020304" pitchFamily="18" charset="0"/>
              </a:rPr>
              <a:t>1.</a:t>
            </a:r>
            <a:r>
              <a:rPr lang="zh-CN" altLang="en-US" sz="2200" dirty="0">
                <a:latin typeface="Times New Roman" panose="02020603050405020304" pitchFamily="18" charset="0"/>
                <a:ea typeface="楷体" panose="02010609060101010101" charset="-122"/>
                <a:cs typeface="Times New Roman" panose="02020603050405020304" pitchFamily="18" charset="0"/>
              </a:rPr>
              <a:t>原假设为 </a:t>
            </a:r>
            <a:r>
              <a:rPr lang="en-US" altLang="zh-CN" sz="2200" i="1" dirty="0">
                <a:latin typeface="Times New Roman" panose="02020603050405020304" pitchFamily="18" charset="0"/>
                <a:ea typeface="楷体" panose="02010609060101010101" charset="-122"/>
                <a:cs typeface="Times New Roman" panose="02020603050405020304" pitchFamily="18" charset="0"/>
              </a:rPr>
              <a:t>H</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0</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200" dirty="0">
                <a:latin typeface="Times New Roman" panose="02020603050405020304" pitchFamily="18" charset="0"/>
                <a:ea typeface="楷体" panose="02010609060101010101" charset="-122"/>
                <a:cs typeface="Times New Roman" panose="02020603050405020304" pitchFamily="18" charset="0"/>
              </a:rPr>
              <a:t>= 0 </a:t>
            </a:r>
            <a:r>
              <a:rPr lang="zh-CN" altLang="en-US" sz="2200" dirty="0">
                <a:latin typeface="Times New Roman" panose="02020603050405020304" pitchFamily="18" charset="0"/>
                <a:ea typeface="楷体" panose="02010609060101010101" charset="-122"/>
                <a:cs typeface="Times New Roman" panose="02020603050405020304" pitchFamily="18" charset="0"/>
              </a:rPr>
              <a:t>，备择假设</a:t>
            </a:r>
            <a:r>
              <a:rPr lang="en-US" altLang="zh-CN" sz="2200" i="1" dirty="0">
                <a:latin typeface="Times New Roman" panose="02020603050405020304" pitchFamily="18" charset="0"/>
                <a:ea typeface="楷体" panose="02010609060101010101" charset="-122"/>
                <a:cs typeface="Times New Roman" panose="02020603050405020304" pitchFamily="18" charset="0"/>
              </a:rPr>
              <a:t>H</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1</a:t>
            </a:r>
            <a:r>
              <a:rPr lang="en-US" altLang="zh-CN" sz="2200" dirty="0">
                <a:latin typeface="Times New Roman" panose="02020603050405020304" pitchFamily="18" charset="0"/>
                <a:ea typeface="楷体" panose="02010609060101010101" charset="-122"/>
                <a:cs typeface="Times New Roman" panose="02020603050405020304" pitchFamily="18" charset="0"/>
              </a:rPr>
              <a:t>:</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200" dirty="0">
                <a:latin typeface="Times New Roman" panose="02020603050405020304" pitchFamily="18" charset="0"/>
                <a:ea typeface="楷体" panose="02010609060101010101" charset="-122"/>
                <a:cs typeface="Times New Roman" panose="02020603050405020304" pitchFamily="18" charset="0"/>
              </a:rPr>
              <a:t>≠ 0</a:t>
            </a:r>
            <a:r>
              <a:rPr lang="zh-CN" altLang="en-US" sz="2200" dirty="0">
                <a:latin typeface="Times New Roman" panose="02020603050405020304" pitchFamily="18" charset="0"/>
                <a:ea typeface="楷体" panose="02010609060101010101" charset="-122"/>
                <a:cs typeface="Times New Roman" panose="02020603050405020304" pitchFamily="18" charset="0"/>
              </a:rPr>
              <a:t>；</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en-US" altLang="zh-CN" sz="2200" dirty="0">
                <a:latin typeface="Times New Roman" panose="02020603050405020304" pitchFamily="18" charset="0"/>
                <a:ea typeface="楷体" panose="02010609060101010101" charset="-122"/>
                <a:cs typeface="Times New Roman" panose="02020603050405020304" pitchFamily="18" charset="0"/>
              </a:rPr>
              <a:t>2.</a:t>
            </a:r>
            <a:r>
              <a:rPr lang="zh-CN" altLang="en-US" sz="2200" dirty="0">
                <a:latin typeface="Times New Roman" panose="02020603050405020304" pitchFamily="18" charset="0"/>
                <a:ea typeface="楷体" panose="02010609060101010101" charset="-122"/>
                <a:cs typeface="Times New Roman" panose="02020603050405020304" pitchFamily="18" charset="0"/>
              </a:rPr>
              <a:t>在</a:t>
            </a:r>
            <a:r>
              <a:rPr lang="en-US" altLang="zh-CN" sz="2200" i="1" dirty="0">
                <a:latin typeface="Times New Roman" panose="02020603050405020304" pitchFamily="18" charset="0"/>
                <a:ea typeface="楷体" panose="02010609060101010101" charset="-122"/>
                <a:cs typeface="Times New Roman" panose="02020603050405020304" pitchFamily="18" charset="0"/>
              </a:rPr>
              <a:t>c</a:t>
            </a:r>
            <a:r>
              <a:rPr lang="en-US" altLang="zh-CN" sz="2200" dirty="0">
                <a:latin typeface="Times New Roman" panose="02020603050405020304" pitchFamily="18" charset="0"/>
                <a:ea typeface="楷体" panose="02010609060101010101" charset="-122"/>
                <a:cs typeface="Times New Roman" panose="02020603050405020304" pitchFamily="18" charset="0"/>
              </a:rPr>
              <a:t> = 0</a:t>
            </a:r>
            <a:r>
              <a:rPr lang="zh-CN" altLang="en-US" sz="2200" dirty="0">
                <a:latin typeface="Times New Roman" panose="02020603050405020304" pitchFamily="18" charset="0"/>
                <a:ea typeface="楷体" panose="02010609060101010101" charset="-122"/>
                <a:cs typeface="Times New Roman" panose="02020603050405020304" pitchFamily="18" charset="0"/>
              </a:rPr>
              <a:t>的情况下</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如果原假设为真，则检验统计量为：</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None/>
            </a:pPr>
            <a:r>
              <a:rPr lang="en-US" altLang="zh-CN" sz="2200" i="1" dirty="0">
                <a:latin typeface="Times New Roman" panose="02020603050405020304" pitchFamily="18" charset="0"/>
                <a:ea typeface="楷体" panose="02010609060101010101" charset="-122"/>
                <a:cs typeface="Times New Roman" panose="02020603050405020304" pitchFamily="18" charset="0"/>
              </a:rPr>
              <a:t>    t</a:t>
            </a:r>
            <a:r>
              <a:rPr lang="en-US" altLang="zh-CN" sz="2200" dirty="0">
                <a:latin typeface="Times New Roman" panose="02020603050405020304" pitchFamily="18" charset="0"/>
                <a:ea typeface="楷体" panose="02010609060101010101" charset="-122"/>
                <a:cs typeface="Times New Roman" panose="02020603050405020304" pitchFamily="18" charset="0"/>
              </a:rPr>
              <a:t> = </a:t>
            </a:r>
            <a:r>
              <a:rPr lang="en-US" altLang="zh-CN" sz="2200" i="1" dirty="0">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dirty="0">
                <a:latin typeface="Times New Roman" panose="02020603050405020304" pitchFamily="18" charset="0"/>
                <a:ea typeface="楷体" panose="02010609060101010101" charset="-122"/>
                <a:cs typeface="Times New Roman" panose="02020603050405020304" pitchFamily="18" charset="0"/>
              </a:rPr>
              <a:t>/ se(</a:t>
            </a:r>
            <a:r>
              <a:rPr lang="en-US" altLang="zh-CN" sz="2200" i="1" dirty="0">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dirty="0">
                <a:latin typeface="Times New Roman" panose="02020603050405020304" pitchFamily="18" charset="0"/>
                <a:ea typeface="楷体" panose="02010609060101010101" charset="-122"/>
                <a:cs typeface="Times New Roman" panose="02020603050405020304" pitchFamily="18" charset="0"/>
              </a:rPr>
              <a:t>) ~ </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a:t>
            </a:r>
            <a:r>
              <a:rPr lang="en-US" altLang="zh-CN" sz="2200" i="1" baseline="-25000" dirty="0">
                <a:latin typeface="Times New Roman" panose="02020603050405020304" pitchFamily="18" charset="0"/>
                <a:ea typeface="楷体" panose="02010609060101010101" charset="-122"/>
                <a:cs typeface="Times New Roman" panose="02020603050405020304" pitchFamily="18" charset="0"/>
              </a:rPr>
              <a:t>N</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 – 2)</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en-US" altLang="zh-CN" sz="2200" dirty="0">
                <a:latin typeface="Times New Roman" panose="02020603050405020304" pitchFamily="18" charset="0"/>
                <a:ea typeface="楷体" panose="02010609060101010101" charset="-122"/>
                <a:cs typeface="Times New Roman" panose="02020603050405020304" pitchFamily="18" charset="0"/>
              </a:rPr>
              <a:t>3.</a:t>
            </a:r>
            <a:r>
              <a:rPr lang="zh-CN" altLang="en-US" sz="2200" dirty="0">
                <a:latin typeface="Times New Roman" panose="02020603050405020304" pitchFamily="18" charset="0"/>
                <a:ea typeface="楷体" panose="02010609060101010101" charset="-122"/>
                <a:cs typeface="Times New Roman" panose="02020603050405020304" pitchFamily="18" charset="0"/>
              </a:rPr>
              <a:t>选择</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en-US" altLang="zh-CN" sz="2200" dirty="0">
                <a:latin typeface="Times New Roman" panose="02020603050405020304" pitchFamily="18" charset="0"/>
                <a:ea typeface="楷体" panose="02010609060101010101" charset="-122"/>
                <a:cs typeface="Times New Roman" panose="02020603050405020304" pitchFamily="18" charset="0"/>
              </a:rPr>
              <a:t> = 0.05</a:t>
            </a:r>
            <a:r>
              <a:rPr lang="zh-CN" altLang="en-US" sz="2200" dirty="0">
                <a:latin typeface="Times New Roman" panose="02020603050405020304" pitchFamily="18" charset="0"/>
                <a:ea typeface="楷体" panose="02010609060101010101" charset="-122"/>
                <a:cs typeface="Times New Roman" panose="02020603050405020304" pitchFamily="18" charset="0"/>
              </a:rPr>
              <a:t>；</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None/>
            </a:pP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双尾拒绝域的临界值为自由度为</a:t>
            </a:r>
            <a:r>
              <a:rPr lang="en-US" altLang="zh-CN" sz="2200" dirty="0">
                <a:latin typeface="Times New Roman" panose="02020603050405020304" pitchFamily="18" charset="0"/>
                <a:ea typeface="楷体" panose="02010609060101010101" charset="-122"/>
                <a:cs typeface="Times New Roman" panose="02020603050405020304" pitchFamily="18" charset="0"/>
              </a:rPr>
              <a:t>N-2</a:t>
            </a:r>
            <a:r>
              <a:rPr lang="zh-CN" altLang="en-US" sz="2200" dirty="0">
                <a:latin typeface="Times New Roman" panose="02020603050405020304" pitchFamily="18" charset="0"/>
                <a:ea typeface="楷体" panose="02010609060101010101" charset="-122"/>
                <a:cs typeface="Times New Roman" panose="02020603050405020304" pitchFamily="18" charset="0"/>
              </a:rPr>
              <a:t>的</a:t>
            </a:r>
            <a:r>
              <a:rPr lang="en-US" altLang="zh-CN" sz="2200" dirty="0">
                <a:latin typeface="Times New Roman" panose="02020603050405020304" pitchFamily="18" charset="0"/>
                <a:ea typeface="楷体" panose="02010609060101010101" charset="-122"/>
                <a:cs typeface="Times New Roman" panose="02020603050405020304" pitchFamily="18" charset="0"/>
              </a:rPr>
              <a:t>t</a:t>
            </a:r>
            <a:r>
              <a:rPr lang="zh-CN" altLang="en-US" sz="2200" dirty="0">
                <a:latin typeface="Times New Roman" panose="02020603050405020304" pitchFamily="18" charset="0"/>
                <a:ea typeface="楷体" panose="02010609060101010101" charset="-122"/>
                <a:cs typeface="Times New Roman" panose="02020603050405020304" pitchFamily="18" charset="0"/>
              </a:rPr>
              <a:t>分布的第</a:t>
            </a:r>
            <a:r>
              <a:rPr lang="en-US" altLang="zh-CN" sz="2200" dirty="0">
                <a:latin typeface="Times New Roman" panose="02020603050405020304" pitchFamily="18" charset="0"/>
                <a:ea typeface="楷体" panose="02010609060101010101" charset="-122"/>
                <a:cs typeface="Times New Roman" panose="02020603050405020304" pitchFamily="18" charset="0"/>
              </a:rPr>
              <a:t>2.5</a:t>
            </a:r>
            <a:r>
              <a:rPr lang="zh-CN" altLang="en-US" sz="2200" dirty="0">
                <a:latin typeface="Times New Roman" panose="02020603050405020304" pitchFamily="18" charset="0"/>
                <a:ea typeface="楷体" panose="02010609060101010101" charset="-122"/>
                <a:cs typeface="Times New Roman" panose="02020603050405020304" pitchFamily="18" charset="0"/>
              </a:rPr>
              <a:t>百分位数值 </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(0.025,38)</a:t>
            </a:r>
            <a:r>
              <a:rPr lang="en-US" altLang="zh-CN" sz="2200" dirty="0">
                <a:latin typeface="Times New Roman" panose="02020603050405020304" pitchFamily="18" charset="0"/>
                <a:ea typeface="楷体" panose="02010609060101010101" charset="-122"/>
                <a:cs typeface="Times New Roman" panose="02020603050405020304" pitchFamily="18" charset="0"/>
              </a:rPr>
              <a:t> =  -2.024 </a:t>
            </a:r>
            <a:r>
              <a:rPr lang="zh-CN" altLang="en-US" sz="2200" dirty="0">
                <a:latin typeface="Times New Roman" panose="02020603050405020304" pitchFamily="18" charset="0"/>
                <a:ea typeface="楷体" panose="02010609060101010101" charset="-122"/>
                <a:cs typeface="Times New Roman" panose="02020603050405020304" pitchFamily="18" charset="0"/>
              </a:rPr>
              <a:t>和第</a:t>
            </a:r>
            <a:r>
              <a:rPr lang="en-US" altLang="zh-CN" sz="2200" dirty="0">
                <a:latin typeface="Times New Roman" panose="02020603050405020304" pitchFamily="18" charset="0"/>
                <a:ea typeface="楷体" panose="02010609060101010101" charset="-122"/>
                <a:cs typeface="Times New Roman" panose="02020603050405020304" pitchFamily="18" charset="0"/>
              </a:rPr>
              <a:t>97.5</a:t>
            </a:r>
            <a:r>
              <a:rPr lang="zh-CN" altLang="en-US" sz="2200" dirty="0">
                <a:latin typeface="Times New Roman" panose="02020603050405020304" pitchFamily="18" charset="0"/>
                <a:ea typeface="楷体" panose="02010609060101010101" charset="-122"/>
                <a:cs typeface="Times New Roman" panose="02020603050405020304" pitchFamily="18" charset="0"/>
              </a:rPr>
              <a:t>百分位数值 </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(0.975,38)</a:t>
            </a:r>
            <a:r>
              <a:rPr lang="en-US" altLang="zh-CN" sz="2200" dirty="0">
                <a:latin typeface="Times New Roman" panose="02020603050405020304" pitchFamily="18" charset="0"/>
                <a:ea typeface="楷体" panose="02010609060101010101" charset="-122"/>
                <a:cs typeface="Times New Roman" panose="02020603050405020304" pitchFamily="18" charset="0"/>
              </a:rPr>
              <a:t> =  2.024</a:t>
            </a:r>
            <a:r>
              <a:rPr lang="zh-CN" altLang="en-US" sz="2200" dirty="0">
                <a:latin typeface="Times New Roman" panose="02020603050405020304" pitchFamily="18" charset="0"/>
                <a:ea typeface="楷体" panose="02010609060101010101" charset="-122"/>
                <a:cs typeface="Times New Roman" panose="02020603050405020304" pitchFamily="18" charset="0"/>
              </a:rPr>
              <a:t>。</a:t>
            </a:r>
            <a:endParaRPr lang="zh-CN" altLang="en-US"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None/>
            </a:pP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zh-CN" altLang="en-US" sz="2200" dirty="0">
                <a:latin typeface="Times New Roman" panose="02020603050405020304" pitchFamily="18" charset="0"/>
                <a:ea typeface="楷体" panose="02010609060101010101" charset="-122"/>
                <a:cs typeface="Times New Roman" panose="02020603050405020304" pitchFamily="18" charset="0"/>
              </a:rPr>
              <a:t>如果计算得到</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en-US" altLang="zh-CN" sz="2200" dirty="0">
                <a:latin typeface="Times New Roman" panose="02020603050405020304" pitchFamily="18" charset="0"/>
                <a:ea typeface="楷体" panose="02010609060101010101" charset="-122"/>
                <a:cs typeface="Times New Roman" panose="02020603050405020304" pitchFamily="18" charset="0"/>
              </a:rPr>
              <a:t> ≥ 2.024 </a:t>
            </a:r>
            <a:r>
              <a:rPr lang="zh-CN" altLang="en-US" sz="2200" dirty="0">
                <a:latin typeface="Times New Roman" panose="02020603050405020304" pitchFamily="18" charset="0"/>
                <a:ea typeface="楷体" panose="02010609060101010101" charset="-122"/>
                <a:cs typeface="Times New Roman" panose="02020603050405020304" pitchFamily="18" charset="0"/>
              </a:rPr>
              <a:t>或 </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n-US" altLang="zh-CN" sz="2200" i="1" dirty="0">
                <a:latin typeface="Times New Roman" panose="02020603050405020304" pitchFamily="18" charset="0"/>
                <a:ea typeface="楷体" panose="02010609060101010101" charset="-122"/>
                <a:cs typeface="Times New Roman" panose="02020603050405020304" pitchFamily="18" charset="0"/>
              </a:rPr>
              <a:t>t</a:t>
            </a:r>
            <a:r>
              <a:rPr lang="en-US" altLang="zh-CN" sz="2200" dirty="0">
                <a:latin typeface="Times New Roman" panose="02020603050405020304" pitchFamily="18" charset="0"/>
                <a:ea typeface="楷体" panose="02010609060101010101" charset="-122"/>
                <a:cs typeface="Times New Roman" panose="02020603050405020304" pitchFamily="18" charset="0"/>
              </a:rPr>
              <a:t> ≤ -2.024</a:t>
            </a:r>
            <a:r>
              <a:rPr lang="zh-CN" altLang="en-US" sz="2200" dirty="0">
                <a:latin typeface="Times New Roman" panose="02020603050405020304" pitchFamily="18" charset="0"/>
                <a:ea typeface="楷体" panose="02010609060101010101" charset="-122"/>
                <a:cs typeface="Times New Roman" panose="02020603050405020304" pitchFamily="18" charset="0"/>
              </a:rPr>
              <a:t>， 则拒绝原假设。</a:t>
            </a:r>
            <a:endParaRPr lang="zh-CN" altLang="en-US" sz="2200" dirty="0">
              <a:latin typeface="Times New Roman" panose="02020603050405020304" pitchFamily="18" charset="0"/>
              <a:ea typeface="楷体" panose="02010609060101010101" charset="-122"/>
              <a:cs typeface="Times New Roman" panose="02020603050405020304" pitchFamily="18" charset="0"/>
            </a:endParaRPr>
          </a:p>
          <a:p>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endParaRPr lang="en-US" altLang="zh-CN" dirty="0">
              <a:latin typeface="+mn-lt"/>
              <a:ea typeface="楷体" panose="02010609060101010101" charset="-122"/>
            </a:endParaRPr>
          </a:p>
          <a:p>
            <a:endParaRPr lang="en-US" altLang="zh-CN" dirty="0">
              <a:latin typeface="+mn-lt"/>
              <a:ea typeface="楷体" panose="02010609060101010101" charset="-122"/>
            </a:endParaRPr>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内容占位符 3"/>
          <p:cNvSpPr>
            <a:spLocks noGrp="1"/>
          </p:cNvSpPr>
          <p:nvPr>
            <p:ph sz="quarter" idx="1"/>
          </p:nvPr>
        </p:nvSpPr>
        <p:spPr>
          <a:xfrm>
            <a:off x="603504" y="692696"/>
            <a:ext cx="8083296" cy="5974804"/>
          </a:xfrm>
        </p:spPr>
        <p:txBody>
          <a:bodyPr>
            <a:normAutofit/>
          </a:bodyPr>
          <a:lstStyle/>
          <a:p>
            <a:pPr>
              <a:lnSpc>
                <a:spcPct val="150000"/>
              </a:lnSpc>
            </a:pPr>
            <a:r>
              <a:rPr lang="en-US" altLang="zh-CN" sz="2200" dirty="0">
                <a:latin typeface="Times New Roman" panose="02020603050405020304" pitchFamily="18" charset="0"/>
                <a:ea typeface="楷体" panose="02010609060101010101" charset="-122"/>
                <a:cs typeface="Times New Roman" panose="02020603050405020304" pitchFamily="18" charset="0"/>
              </a:rPr>
              <a:t>4.</a:t>
            </a:r>
            <a:r>
              <a:rPr lang="zh-CN" altLang="en-US" sz="2200" dirty="0">
                <a:latin typeface="Times New Roman" panose="02020603050405020304" pitchFamily="18" charset="0"/>
                <a:ea typeface="楷体" panose="02010609060101010101" charset="-122"/>
                <a:cs typeface="Times New Roman" panose="02020603050405020304" pitchFamily="18" charset="0"/>
              </a:rPr>
              <a:t>计算检验统计量的样本值</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lnSpc>
                <a:spcPct val="150000"/>
              </a:lnSpc>
              <a:buSzTx/>
              <a:buNone/>
            </a:pPr>
            <a:r>
              <a:rPr lang="zh-CN" altLang="en-US" sz="2200" dirty="0">
                <a:latin typeface="Times New Roman" panose="02020603050405020304" pitchFamily="18" charset="0"/>
                <a:ea typeface="楷体" panose="02010609060101010101" charset="-122"/>
                <a:cs typeface="Times New Roman" panose="02020603050405020304" pitchFamily="18" charset="0"/>
              </a:rPr>
              <a:t>      利用食品支出的数据，我们估计得到</a:t>
            </a:r>
            <a:r>
              <a:rPr lang="en-US" altLang="zh-CN" sz="2200" i="1" dirty="0">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dirty="0">
                <a:latin typeface="Times New Roman" panose="02020603050405020304" pitchFamily="18" charset="0"/>
                <a:ea typeface="楷体" panose="02010609060101010101" charset="-122"/>
                <a:cs typeface="Times New Roman" panose="02020603050405020304" pitchFamily="18" charset="0"/>
              </a:rPr>
              <a:t>=10.21</a:t>
            </a:r>
            <a:r>
              <a:rPr lang="zh-CN" altLang="en-US" sz="2200" dirty="0">
                <a:latin typeface="Times New Roman" panose="02020603050405020304" pitchFamily="18" charset="0"/>
                <a:ea typeface="楷体" panose="02010609060101010101" charset="-122"/>
                <a:cs typeface="Times New Roman" panose="02020603050405020304" pitchFamily="18" charset="0"/>
              </a:rPr>
              <a:t>，其标准误为：</a:t>
            </a:r>
            <a:r>
              <a:rPr lang="en-US" altLang="zh-CN" sz="2200" dirty="0">
                <a:latin typeface="Times New Roman" panose="02020603050405020304" pitchFamily="18" charset="0"/>
                <a:ea typeface="楷体" panose="02010609060101010101" charset="-122"/>
                <a:cs typeface="Times New Roman" panose="02020603050405020304" pitchFamily="18" charset="0"/>
              </a:rPr>
              <a:t>se(</a:t>
            </a:r>
            <a:r>
              <a:rPr lang="en-US" altLang="zh-CN" sz="2200" i="1" dirty="0">
                <a:latin typeface="Times New Roman" panose="02020603050405020304" pitchFamily="18" charset="0"/>
                <a:ea typeface="楷体" panose="02010609060101010101" charset="-122"/>
                <a:cs typeface="Times New Roman" panose="02020603050405020304" pitchFamily="18" charset="0"/>
              </a:rPr>
              <a:t>b</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dirty="0">
                <a:latin typeface="Times New Roman" panose="02020603050405020304" pitchFamily="18" charset="0"/>
                <a:ea typeface="楷体" panose="02010609060101010101" charset="-122"/>
                <a:cs typeface="Times New Roman" panose="02020603050405020304" pitchFamily="18" charset="0"/>
              </a:rPr>
              <a:t>)=2.09</a:t>
            </a:r>
            <a:r>
              <a:rPr lang="zh-CN" altLang="en-US" sz="2200" dirty="0">
                <a:latin typeface="Times New Roman" panose="02020603050405020304" pitchFamily="18" charset="0"/>
                <a:ea typeface="楷体" panose="02010609060101010101" charset="-122"/>
                <a:cs typeface="Times New Roman" panose="02020603050405020304" pitchFamily="18" charset="0"/>
              </a:rPr>
              <a:t>，检验统计量的值为：</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lnSpc>
                <a:spcPct val="150000"/>
              </a:lnSpc>
              <a:buSzTx/>
              <a:buNone/>
            </a:pP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lnSpc>
                <a:spcPct val="150000"/>
              </a:lnSpc>
              <a:buSzTx/>
              <a:buNone/>
            </a:pP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lnSpc>
                <a:spcPct val="150000"/>
              </a:lnSpc>
              <a:buSzTx/>
              <a:buNone/>
            </a:pPr>
            <a:r>
              <a:rPr lang="zh-CN" altLang="en-US" sz="2200" dirty="0">
                <a:latin typeface="Times New Roman" panose="02020603050405020304" pitchFamily="18" charset="0"/>
                <a:ea typeface="楷体" panose="02010609060101010101" charset="-122"/>
                <a:cs typeface="Times New Roman" panose="02020603050405020304" pitchFamily="18" charset="0"/>
              </a:rPr>
              <a:t>      既然</a:t>
            </a:r>
            <a:r>
              <a:rPr lang="en-US" altLang="zh-CN" sz="2200" dirty="0">
                <a:latin typeface="Times New Roman" panose="02020603050405020304" pitchFamily="18" charset="0"/>
                <a:ea typeface="楷体" panose="02010609060101010101" charset="-122"/>
                <a:cs typeface="Times New Roman" panose="02020603050405020304" pitchFamily="18" charset="0"/>
              </a:rPr>
              <a:t>t = 4.88&gt; 2.024</a:t>
            </a:r>
            <a:r>
              <a:rPr lang="zh-CN" altLang="en-US" sz="2200" dirty="0">
                <a:latin typeface="Times New Roman" panose="02020603050405020304" pitchFamily="18" charset="0"/>
                <a:ea typeface="楷体" panose="02010609060101010101" charset="-122"/>
                <a:cs typeface="Times New Roman" panose="02020603050405020304" pitchFamily="18" charset="0"/>
              </a:rPr>
              <a:t>，我们拒绝</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a:t>
            </a:r>
            <a:r>
              <a:rPr lang="en-US" altLang="zh-CN" sz="2200" i="1" dirty="0">
                <a:latin typeface="Times New Roman" panose="02020603050405020304" pitchFamily="18" charset="0"/>
                <a:ea typeface="楷体" panose="02010609060101010101" charset="-122"/>
                <a:cs typeface="Times New Roman" panose="02020603050405020304" pitchFamily="18" charset="0"/>
              </a:rPr>
              <a:t> </a:t>
            </a:r>
            <a:r>
              <a:rPr lang="en-US" altLang="zh-CN" sz="2200" dirty="0">
                <a:latin typeface="Times New Roman" panose="02020603050405020304" pitchFamily="18" charset="0"/>
                <a:ea typeface="楷体" panose="02010609060101010101" charset="-122"/>
                <a:cs typeface="Times New Roman" panose="02020603050405020304" pitchFamily="18" charset="0"/>
              </a:rPr>
              <a:t>= 0 </a:t>
            </a:r>
            <a:r>
              <a:rPr lang="zh-CN" altLang="en-US" sz="2200" dirty="0">
                <a:latin typeface="Times New Roman" panose="02020603050405020304" pitchFamily="18" charset="0"/>
                <a:ea typeface="楷体" panose="02010609060101010101" charset="-122"/>
                <a:cs typeface="Times New Roman" panose="02020603050405020304" pitchFamily="18" charset="0"/>
              </a:rPr>
              <a:t>的原假设。</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SzTx/>
              <a:buNone/>
            </a:pPr>
            <a:r>
              <a:rPr lang="en-US" altLang="zh-CN" sz="2200" dirty="0">
                <a:latin typeface="Times New Roman" panose="02020603050405020304" pitchFamily="18" charset="0"/>
                <a:ea typeface="楷体" panose="02010609060101010101" charset="-122"/>
                <a:cs typeface="Times New Roman" panose="02020603050405020304" pitchFamily="18" charset="0"/>
              </a:rPr>
              <a:t>    5.</a:t>
            </a:r>
            <a:r>
              <a:rPr lang="zh-CN" altLang="en-US" sz="2200" dirty="0">
                <a:latin typeface="Times New Roman" panose="02020603050405020304" pitchFamily="18" charset="0"/>
                <a:ea typeface="楷体" panose="02010609060101010101" charset="-122"/>
                <a:cs typeface="Times New Roman" panose="02020603050405020304" pitchFamily="18" charset="0"/>
              </a:rPr>
              <a:t>结论</a:t>
            </a:r>
            <a:endParaRPr lang="zh-CN" altLang="en-US"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SzTx/>
              <a:buNone/>
            </a:pPr>
            <a:r>
              <a:rPr lang="zh-CN" altLang="en-US" sz="2200" dirty="0">
                <a:latin typeface="Times New Roman" panose="02020603050405020304" pitchFamily="18" charset="0"/>
                <a:ea typeface="楷体" panose="02010609060101010101" charset="-122"/>
                <a:cs typeface="Times New Roman" panose="02020603050405020304" pitchFamily="18" charset="0"/>
              </a:rPr>
              <a:t>      根据检验结果，我们得到结论：在收入和食品支出之间存在统计显著的关系。</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a:lnSpc>
                <a:spcPct val="150000"/>
              </a:lnSpc>
              <a:buSzTx/>
              <a:buNone/>
            </a:pP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p:txBody>
      </p:sp>
      <p:graphicFrame>
        <p:nvGraphicFramePr>
          <p:cNvPr id="6" name="Object 3"/>
          <p:cNvGraphicFramePr>
            <a:graphicFrameLocks noChangeAspect="1"/>
          </p:cNvGraphicFramePr>
          <p:nvPr/>
        </p:nvGraphicFramePr>
        <p:xfrm>
          <a:off x="3158133" y="2596169"/>
          <a:ext cx="2827734" cy="806393"/>
        </p:xfrm>
        <a:graphic>
          <a:graphicData uri="http://schemas.openxmlformats.org/presentationml/2006/ole">
            <mc:AlternateContent xmlns:mc="http://schemas.openxmlformats.org/markup-compatibility/2006">
              <mc:Choice xmlns:v="urn:schemas-microsoft-com:vml" Requires="v">
                <p:oleObj spid="_x0000_s2" name="Equation" r:id="rId1" imgW="1562100" imgH="444500" progId="Equation.DSMT4">
                  <p:embed/>
                </p:oleObj>
              </mc:Choice>
              <mc:Fallback>
                <p:oleObj name="Equation" r:id="rId1" imgW="1562100" imgH="4445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133" y="2596169"/>
                        <a:ext cx="2827734" cy="806393"/>
                      </a:xfrm>
                      <a:prstGeom prst="rect">
                        <a:avLst/>
                      </a:prstGeom>
                      <a:noFill/>
                      <a:ln>
                        <a:noFill/>
                      </a:ln>
                    </p:spPr>
                  </p:pic>
                </p:oleObj>
              </mc:Fallback>
            </mc:AlternateContent>
          </a:graphicData>
        </a:graphic>
      </p:graphicFrame>
      <p:sp>
        <p:nvSpPr>
          <p:cNvPr id="7" name="文本框 6"/>
          <p:cNvSpPr txBox="1"/>
          <p:nvPr/>
        </p:nvSpPr>
        <p:spPr>
          <a:xfrm flipH="1">
            <a:off x="2786090" y="6069568"/>
            <a:ext cx="3718123" cy="369332"/>
          </a:xfrm>
          <a:prstGeom prst="rect">
            <a:avLst/>
          </a:prstGeom>
          <a:noFill/>
          <a:ln>
            <a:solidFill>
              <a:srgbClr val="C00000"/>
            </a:solidFill>
          </a:ln>
        </p:spPr>
        <p:txBody>
          <a:bodyPr wrap="square" rtlCol="0">
            <a:spAutoFit/>
          </a:bodyPr>
          <a:lstStyle/>
          <a:p>
            <a:pPr algn="ctr"/>
            <a:r>
              <a:rPr lang="zh-CN" altLang="en-US" b="1" dirty="0">
                <a:solidFill>
                  <a:srgbClr val="C00000"/>
                </a:solidFill>
                <a:ea typeface="楷体" panose="02010609060101010101" charset="-122"/>
              </a:rPr>
              <a:t>统 计 显 著不 等 于 经 济 显 著！</a:t>
            </a:r>
            <a:endParaRPr lang="zh-CN" altLang="en-US" b="1" dirty="0">
              <a:solidFill>
                <a:srgbClr val="C0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pic>
        <p:nvPicPr>
          <p:cNvPr id="5"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844824"/>
            <a:ext cx="7737135" cy="2592288"/>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6" name="矩形: 圆角 5"/>
          <p:cNvSpPr/>
          <p:nvPr/>
        </p:nvSpPr>
        <p:spPr>
          <a:xfrm>
            <a:off x="4644008" y="3861048"/>
            <a:ext cx="792088" cy="5040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1340768"/>
            <a:ext cx="7772400" cy="5242594"/>
          </a:xfrm>
        </p:spPr>
        <p:txBody>
          <a:bodyPr>
            <a:normAutofit/>
          </a:bodyPr>
          <a:lstStyle/>
          <a:p>
            <a:pPr>
              <a:lnSpc>
                <a:spcPct val="150000"/>
              </a:lnSpc>
            </a:pPr>
            <a:r>
              <a:rPr lang="zh-CN" altLang="en-US"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rPr>
              <a:t>什么是</a:t>
            </a:r>
            <a:r>
              <a:rPr lang="en-US" altLang="zh-CN"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rPr>
              <a:t>P</a:t>
            </a:r>
            <a:r>
              <a:rPr lang="zh-CN" altLang="en-US"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rPr>
              <a:t>值</a:t>
            </a:r>
            <a:endParaRPr lang="en-US" altLang="zh-CN"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en-US" altLang="zh-CN" sz="2200" b="0"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rPr>
              <a:t>      P</a:t>
            </a:r>
            <a:r>
              <a:rPr lang="zh-CN" altLang="en-US" sz="2200" b="0" i="0" dirty="0">
                <a:solidFill>
                  <a:srgbClr val="1F1F1F"/>
                </a:solidFill>
                <a:effectLst/>
                <a:latin typeface="楷体" panose="02010609060101010101" charset="-122"/>
                <a:ea typeface="楷体" panose="02010609060101010101" charset="-122"/>
              </a:rPr>
              <a:t>值是在原假设为真的情况下，获得至少与实际观察到的检验统计量值一样极端的检验结果的概率。</a:t>
            </a:r>
            <a:endParaRPr lang="en-US" altLang="zh-CN" sz="2200" dirty="0">
              <a:solidFill>
                <a:srgbClr val="1F1F1F"/>
              </a:solidFill>
              <a:latin typeface="楷体" panose="02010609060101010101" charset="-122"/>
              <a:ea typeface="楷体" panose="02010609060101010101" charset="-122"/>
            </a:endParaRPr>
          </a:p>
          <a:p>
            <a:pPr>
              <a:lnSpc>
                <a:spcPct val="150000"/>
              </a:lnSpc>
            </a:pPr>
            <a:r>
              <a:rPr lang="en-US" altLang="zh-CN"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rPr>
              <a:t>P</a:t>
            </a:r>
            <a:r>
              <a:rPr lang="zh-CN" altLang="en-US"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rPr>
              <a:t>值的作用</a:t>
            </a:r>
            <a:endParaRPr lang="en-US" altLang="zh-CN" sz="2200" b="1" i="0" dirty="0">
              <a:solidFill>
                <a:srgbClr val="1F1F1F"/>
              </a:solidFill>
              <a:effectLst/>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200" dirty="0">
                <a:latin typeface="Times New Roman" panose="02020603050405020304" pitchFamily="18" charset="0"/>
                <a:ea typeface="楷体" panose="02010609060101010101" charset="-122"/>
                <a:cs typeface="Times New Roman" panose="02020603050405020304" pitchFamily="18" charset="0"/>
              </a:rPr>
              <a:t>      当确定了检验的</a:t>
            </a:r>
            <a:r>
              <a:rPr lang="en-US" altLang="zh-CN" sz="2200" dirty="0">
                <a:latin typeface="Times New Roman" panose="02020603050405020304" pitchFamily="18" charset="0"/>
                <a:ea typeface="楷体" panose="02010609060101010101" charset="-122"/>
                <a:cs typeface="Times New Roman" panose="02020603050405020304" pitchFamily="18" charset="0"/>
              </a:rPr>
              <a:t>P</a:t>
            </a:r>
            <a:r>
              <a:rPr lang="zh-CN" altLang="en-US" sz="2200" dirty="0">
                <a:latin typeface="Times New Roman" panose="02020603050405020304" pitchFamily="18" charset="0"/>
                <a:ea typeface="楷体" panose="02010609060101010101" charset="-122"/>
                <a:cs typeface="Times New Roman" panose="02020603050405020304" pitchFamily="18" charset="0"/>
              </a:rPr>
              <a:t>值，则通过比较</a:t>
            </a:r>
            <a:r>
              <a:rPr lang="en-US" altLang="zh-CN" sz="2200" dirty="0">
                <a:latin typeface="Times New Roman" panose="02020603050405020304" pitchFamily="18" charset="0"/>
                <a:ea typeface="楷体" panose="02010609060101010101" charset="-122"/>
                <a:cs typeface="Times New Roman" panose="02020603050405020304" pitchFamily="18" charset="0"/>
              </a:rPr>
              <a:t>P</a:t>
            </a:r>
            <a:r>
              <a:rPr lang="zh-CN" altLang="en-US" sz="2200" dirty="0">
                <a:latin typeface="Times New Roman" panose="02020603050405020304" pitchFamily="18" charset="0"/>
                <a:ea typeface="楷体" panose="02010609060101010101" charset="-122"/>
                <a:cs typeface="Times New Roman" panose="02020603050405020304" pitchFamily="18" charset="0"/>
              </a:rPr>
              <a:t>值和选择的显著性水平</a:t>
            </a:r>
            <a:r>
              <a:rPr lang="el-GR" altLang="zh-CN" sz="2200" dirty="0">
                <a:latin typeface="Times New Roman" panose="02020603050405020304" pitchFamily="18" charset="0"/>
                <a:ea typeface="楷体" panose="02010609060101010101" charset="-122"/>
                <a:cs typeface="Times New Roman" panose="02020603050405020304" pitchFamily="18" charset="0"/>
              </a:rPr>
              <a:t>α</a:t>
            </a:r>
            <a:r>
              <a:rPr lang="zh-CN" altLang="en-US" sz="2200" dirty="0">
                <a:latin typeface="Times New Roman" panose="02020603050405020304" pitchFamily="18" charset="0"/>
                <a:ea typeface="楷体" panose="02010609060101010101" charset="-122"/>
                <a:cs typeface="Times New Roman" panose="02020603050405020304" pitchFamily="18" charset="0"/>
              </a:rPr>
              <a:t>的大小，</a:t>
            </a:r>
            <a:r>
              <a:rPr lang="zh-CN" altLang="en-US" sz="2200" dirty="0">
                <a:latin typeface="楷体" panose="02010609060101010101" charset="-122"/>
                <a:ea typeface="楷体" panose="02010609060101010101" charset="-122"/>
              </a:rPr>
              <a:t>不检查或计算临界值，就可以确定检验的结果。</a:t>
            </a:r>
            <a:endParaRPr lang="en-US" altLang="zh-CN" sz="2200" dirty="0">
              <a:latin typeface="楷体" panose="02010609060101010101" charset="-122"/>
              <a:ea typeface="楷体" panose="02010609060101010101" charset="-122"/>
            </a:endParaRPr>
          </a:p>
          <a:p>
            <a:pPr>
              <a:lnSpc>
                <a:spcPct val="150000"/>
              </a:lnSpc>
            </a:pPr>
            <a:r>
              <a:rPr lang="zh-CN" altLang="en-US" sz="2200" b="1" dirty="0">
                <a:latin typeface="Times New Roman" panose="02020603050405020304" pitchFamily="18" charset="0"/>
                <a:ea typeface="楷体" panose="02010609060101010101" charset="-122"/>
                <a:cs typeface="Times New Roman" panose="02020603050405020304" pitchFamily="18" charset="0"/>
              </a:rPr>
              <a:t>使用</a:t>
            </a:r>
            <a:r>
              <a:rPr lang="en-US" altLang="zh-CN" sz="2200" b="1" dirty="0">
                <a:latin typeface="Times New Roman" panose="02020603050405020304" pitchFamily="18" charset="0"/>
                <a:ea typeface="楷体" panose="02010609060101010101" charset="-122"/>
                <a:cs typeface="Times New Roman" panose="02020603050405020304" pitchFamily="18" charset="0"/>
              </a:rPr>
              <a:t>P</a:t>
            </a:r>
            <a:r>
              <a:rPr lang="zh-CN" altLang="en-US" sz="2200" b="1" dirty="0">
                <a:latin typeface="Times New Roman" panose="02020603050405020304" pitchFamily="18" charset="0"/>
                <a:ea typeface="楷体" panose="02010609060101010101" charset="-122"/>
                <a:cs typeface="Times New Roman" panose="02020603050405020304" pitchFamily="18" charset="0"/>
              </a:rPr>
              <a:t>值</a:t>
            </a:r>
            <a:endParaRPr lang="en-US" altLang="zh-CN" sz="2200" b="1" dirty="0">
              <a:latin typeface="Times New Roman" panose="02020603050405020304" pitchFamily="18" charset="0"/>
              <a:ea typeface="楷体" panose="02010609060101010101" charset="-122"/>
              <a:cs typeface="Times New Roman" panose="02020603050405020304" pitchFamily="18" charset="0"/>
            </a:endParaRPr>
          </a:p>
          <a:p>
            <a:pPr>
              <a:lnSpc>
                <a:spcPct val="150000"/>
              </a:lnSpc>
            </a:pPr>
            <a:r>
              <a:rPr lang="zh-CN" altLang="en-US" sz="2200" dirty="0">
                <a:latin typeface="楷体" panose="02010609060101010101" charset="-122"/>
                <a:ea typeface="楷体" panose="02010609060101010101" charset="-122"/>
              </a:rPr>
              <a:t>   在汇报统计假设检验的结果时，报告检验的</a:t>
            </a:r>
            <a:r>
              <a:rPr lang="en-US" altLang="zh-CN" sz="2200" dirty="0">
                <a:latin typeface="Times New Roman" panose="02020603050405020304" pitchFamily="18" charset="0"/>
                <a:ea typeface="楷体" panose="02010609060101010101" charset="-122"/>
                <a:cs typeface="Times New Roman" panose="02020603050405020304" pitchFamily="18" charset="0"/>
              </a:rPr>
              <a:t>P</a:t>
            </a:r>
            <a:r>
              <a:rPr lang="zh-CN" altLang="en-US" sz="2200" dirty="0">
                <a:latin typeface="楷体" panose="02010609060101010101" charset="-122"/>
                <a:ea typeface="楷体" panose="02010609060101010101" charset="-122"/>
              </a:rPr>
              <a:t>值成为一个标准的做法，这极大简化了统计检验的工作量。</a:t>
            </a:r>
            <a:endParaRPr lang="en-US" altLang="zh-CN" sz="2200" dirty="0">
              <a:latin typeface="楷体" panose="02010609060101010101" charset="-122"/>
              <a:ea typeface="楷体" panose="02010609060101010101" charset="-122"/>
            </a:endParaRPr>
          </a:p>
          <a:p>
            <a:pPr>
              <a:lnSpc>
                <a:spcPct val="150000"/>
              </a:lnSpc>
            </a:pPr>
            <a:endParaRPr lang="zh-CN" altLang="en-US" sz="2200" dirty="0">
              <a:latin typeface="楷体" panose="02010609060101010101" charset="-122"/>
              <a:ea typeface="楷体" panose="02010609060101010101" charset="-122"/>
            </a:endParaRPr>
          </a:p>
        </p:txBody>
      </p:sp>
      <p:sp>
        <p:nvSpPr>
          <p:cNvPr id="5" name="标题 1"/>
          <p:cNvSpPr>
            <a:spLocks noGrp="1"/>
          </p:cNvSpPr>
          <p:nvPr>
            <p:ph type="title"/>
          </p:nvPr>
        </p:nvSpPr>
        <p:spPr>
          <a:xfrm>
            <a:off x="603504" y="274638"/>
            <a:ext cx="8083296" cy="850106"/>
          </a:xfrm>
        </p:spPr>
        <p:txBody>
          <a:bodyPr>
            <a:normAutofit/>
          </a:bodyPr>
          <a:lstStyle/>
          <a:p>
            <a:pPr algn="ctr"/>
            <a:r>
              <a:rPr lang="zh-CN" altLang="en-US" sz="3600" b="1" dirty="0">
                <a:solidFill>
                  <a:schemeClr val="tx1"/>
                </a:solidFill>
                <a:latin typeface="黑体" panose="02010609060101010101" charset="-122"/>
                <a:ea typeface="黑体" panose="02010609060101010101" charset="-122"/>
              </a:rPr>
              <a:t>四、</a:t>
            </a:r>
            <a:r>
              <a:rPr lang="en-US" altLang="zh-CN" sz="3600" b="1" dirty="0">
                <a:solidFill>
                  <a:schemeClr val="tx1"/>
                </a:solidFill>
                <a:latin typeface="Times New Roman" panose="02020603050405020304" pitchFamily="18" charset="0"/>
                <a:ea typeface="黑体" panose="02010609060101010101" charset="-122"/>
                <a:cs typeface="Times New Roman" panose="02020603050405020304" pitchFamily="18" charset="0"/>
              </a:rPr>
              <a:t>P</a:t>
            </a:r>
            <a:r>
              <a:rPr lang="zh-CN" altLang="en-US" sz="3600" b="1" dirty="0">
                <a:solidFill>
                  <a:schemeClr val="tx1"/>
                </a:solidFill>
                <a:latin typeface="黑体" panose="02010609060101010101" charset="-122"/>
                <a:ea typeface="黑体" panose="02010609060101010101" charset="-122"/>
              </a:rPr>
              <a:t>值</a:t>
            </a:r>
            <a:endParaRPr lang="zh-CN" altLang="en-US" sz="3600" b="1" dirty="0">
              <a:solidFill>
                <a:schemeClr val="tx1"/>
              </a:solidFill>
              <a:latin typeface="黑体" panose="02010609060101010101" charset="-122"/>
              <a:ea typeface="黑体" panose="02010609060101010101"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5" name="内容占位符 3"/>
          <p:cNvSpPr>
            <a:spLocks noGrp="1"/>
          </p:cNvSpPr>
          <p:nvPr>
            <p:ph sz="quarter" idx="1"/>
          </p:nvPr>
        </p:nvSpPr>
        <p:spPr>
          <a:xfrm>
            <a:off x="829816" y="541900"/>
            <a:ext cx="7772400" cy="4751040"/>
          </a:xfrm>
        </p:spPr>
        <p:txBody>
          <a:bodyPr/>
          <a:lstStyle/>
          <a:p>
            <a:r>
              <a:rPr lang="zh-CN" altLang="en-US" sz="2400" b="1" dirty="0">
                <a:latin typeface="楷体" panose="02010609060101010101" charset="-122"/>
                <a:ea typeface="楷体" panose="02010609060101010101" charset="-122"/>
              </a:rPr>
              <a:t>双尾检验的</a:t>
            </a:r>
            <a:r>
              <a:rPr lang="en-US" altLang="zh-CN" sz="2400" b="1" dirty="0">
                <a:latin typeface="Times New Roman" panose="02020603050405020304" pitchFamily="18" charset="0"/>
                <a:ea typeface="楷体" panose="02010609060101010101" charset="-122"/>
                <a:cs typeface="Times New Roman" panose="02020603050405020304" pitchFamily="18" charset="0"/>
              </a:rPr>
              <a:t>P</a:t>
            </a:r>
            <a:r>
              <a:rPr lang="zh-CN" altLang="en-US" sz="2400" b="1" dirty="0">
                <a:latin typeface="楷体" panose="02010609060101010101" charset="-122"/>
                <a:ea typeface="楷体" panose="02010609060101010101" charset="-122"/>
              </a:rPr>
              <a:t>值</a:t>
            </a:r>
            <a:endParaRPr lang="en-US" altLang="zh-CN" sz="2400" b="1" dirty="0">
              <a:latin typeface="楷体" panose="02010609060101010101" charset="-122"/>
              <a:ea typeface="楷体" panose="02010609060101010101" charset="-122"/>
            </a:endParaRPr>
          </a:p>
          <a:p>
            <a:pPr marL="0" indent="0" eaLnBrk="1" hangingPunct="1">
              <a:lnSpc>
                <a:spcPct val="150000"/>
              </a:lnSpc>
              <a:buSzTx/>
              <a:buNone/>
            </a:pPr>
            <a:r>
              <a:rPr lang="zh-CN" altLang="en-US" sz="2200" dirty="0">
                <a:ea typeface="楷体" panose="02010609060101010101" charset="-122"/>
              </a:rPr>
              <a:t>      原假设</a:t>
            </a:r>
            <a:r>
              <a:rPr lang="zh-CN" altLang="en-US" sz="2200" dirty="0">
                <a:latin typeface="Times New Roman" panose="02020603050405020304" pitchFamily="18" charset="0"/>
                <a:ea typeface="楷体" panose="02010609060101010101" charset="-122"/>
                <a:cs typeface="Times New Roman" panose="02020603050405020304" pitchFamily="18" charset="0"/>
              </a:rPr>
              <a:t>为</a:t>
            </a:r>
            <a:r>
              <a:rPr lang="en-US" altLang="zh-CN" sz="2200" dirty="0">
                <a:latin typeface="Times New Roman" panose="02020603050405020304" pitchFamily="18" charset="0"/>
                <a:ea typeface="楷体" panose="02010609060101010101" charset="-122"/>
                <a:cs typeface="Times New Roman" panose="02020603050405020304" pitchFamily="18" charset="0"/>
              </a:rPr>
              <a:t> H</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0</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200" dirty="0">
                <a:latin typeface="Times New Roman" panose="02020603050405020304" pitchFamily="18" charset="0"/>
                <a:ea typeface="楷体" panose="02010609060101010101" charset="-122"/>
                <a:cs typeface="Times New Roman" panose="02020603050405020304" pitchFamily="18" charset="0"/>
              </a:rPr>
              <a:t>= 7.5 </a:t>
            </a:r>
            <a:r>
              <a:rPr lang="zh-CN" altLang="en-US" sz="2200" dirty="0">
                <a:latin typeface="Times New Roman" panose="02020603050405020304" pitchFamily="18" charset="0"/>
                <a:ea typeface="楷体" panose="02010609060101010101" charset="-122"/>
                <a:cs typeface="Times New Roman" panose="02020603050405020304" pitchFamily="18" charset="0"/>
              </a:rPr>
              <a:t>；备择假设为 </a:t>
            </a:r>
            <a:r>
              <a:rPr lang="en-US" altLang="zh-CN" sz="2200" dirty="0">
                <a:latin typeface="Times New Roman" panose="02020603050405020304" pitchFamily="18" charset="0"/>
                <a:ea typeface="楷体" panose="02010609060101010101" charset="-122"/>
                <a:cs typeface="Times New Roman" panose="02020603050405020304" pitchFamily="18" charset="0"/>
              </a:rPr>
              <a:t>H</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1</a:t>
            </a:r>
            <a:r>
              <a:rPr lang="en-US" altLang="zh-CN" sz="2200" dirty="0">
                <a:latin typeface="Times New Roman" panose="02020603050405020304" pitchFamily="18" charset="0"/>
                <a:ea typeface="楷体" panose="02010609060101010101" charset="-122"/>
                <a:cs typeface="Times New Roman" panose="02020603050405020304" pitchFamily="18" charset="0"/>
              </a:rPr>
              <a:t>: </a:t>
            </a:r>
            <a:r>
              <a:rPr lang="el-GR" altLang="zh-CN" sz="2200" dirty="0">
                <a:latin typeface="Times New Roman" panose="02020603050405020304" pitchFamily="18" charset="0"/>
                <a:ea typeface="楷体" panose="02010609060101010101" charset="-122"/>
                <a:cs typeface="Times New Roman" panose="02020603050405020304" pitchFamily="18" charset="0"/>
              </a:rPr>
              <a:t>β</a:t>
            </a:r>
            <a:r>
              <a:rPr lang="en-US" altLang="zh-CN" sz="22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200" dirty="0">
                <a:latin typeface="Times New Roman" panose="02020603050405020304" pitchFamily="18" charset="0"/>
                <a:ea typeface="楷体" panose="02010609060101010101" charset="-122"/>
                <a:cs typeface="Times New Roman" panose="02020603050405020304" pitchFamily="18" charset="0"/>
              </a:rPr>
              <a:t>≠ 7.5</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lnSpc>
                <a:spcPct val="150000"/>
              </a:lnSpc>
              <a:buSzTx/>
              <a:buNone/>
            </a:pP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buSzTx/>
              <a:buNone/>
            </a:pPr>
            <a:endParaRPr lang="en-US" altLang="zh-CN" dirty="0">
              <a:ea typeface="楷体" panose="02010609060101010101" charset="-122"/>
            </a:endParaRPr>
          </a:p>
          <a:p>
            <a:pPr marL="0" indent="0">
              <a:buSzTx/>
              <a:buNone/>
            </a:pPr>
            <a:r>
              <a:rPr lang="en-US" altLang="zh-CN" sz="2200" dirty="0">
                <a:latin typeface="Times New Roman" panose="02020603050405020304" pitchFamily="18" charset="0"/>
                <a:ea typeface="楷体" panose="02010609060101010101" charset="-122"/>
                <a:cs typeface="Times New Roman" panose="02020603050405020304" pitchFamily="18" charset="0"/>
              </a:rPr>
              <a:t>      P</a:t>
            </a:r>
            <a:r>
              <a:rPr lang="zh-CN" altLang="en-US" sz="2200" dirty="0">
                <a:latin typeface="Times New Roman" panose="02020603050405020304" pitchFamily="18" charset="0"/>
                <a:ea typeface="楷体" panose="02010609060101010101" charset="-122"/>
                <a:cs typeface="Times New Roman" panose="02020603050405020304" pitchFamily="18" charset="0"/>
              </a:rPr>
              <a:t>值为：</a:t>
            </a:r>
            <a:endParaRPr lang="en-US" altLang="zh-CN" sz="2200" dirty="0">
              <a:latin typeface="Times New Roman" panose="02020603050405020304" pitchFamily="18" charset="0"/>
              <a:ea typeface="楷体" panose="02010609060101010101" charset="-122"/>
              <a:cs typeface="Times New Roman" panose="02020603050405020304" pitchFamily="18" charset="0"/>
            </a:endParaRPr>
          </a:p>
          <a:p>
            <a:pPr marL="0" indent="0" eaLnBrk="1" hangingPunct="1">
              <a:buSzTx/>
              <a:buNone/>
            </a:pPr>
            <a:endParaRPr lang="en-US" altLang="zh-CN" dirty="0">
              <a:ea typeface="楷体" panose="02010609060101010101" charset="-122"/>
            </a:endParaRPr>
          </a:p>
          <a:p>
            <a:endParaRPr lang="zh-CN" altLang="en-US" dirty="0"/>
          </a:p>
        </p:txBody>
      </p:sp>
      <p:graphicFrame>
        <p:nvGraphicFramePr>
          <p:cNvPr id="6" name="Object 3"/>
          <p:cNvGraphicFramePr>
            <a:graphicFrameLocks noChangeAspect="1"/>
          </p:cNvGraphicFramePr>
          <p:nvPr/>
        </p:nvGraphicFramePr>
        <p:xfrm>
          <a:off x="2852076" y="1881675"/>
          <a:ext cx="3439848" cy="792088"/>
        </p:xfrm>
        <a:graphic>
          <a:graphicData uri="http://schemas.openxmlformats.org/presentationml/2006/ole">
            <mc:AlternateContent xmlns:mc="http://schemas.openxmlformats.org/markup-compatibility/2006">
              <mc:Choice xmlns:v="urn:schemas-microsoft-com:vml" Requires="v">
                <p:oleObj spid="_x0000_s2" name="Equation" r:id="rId1" imgW="1930400" imgH="444500" progId="Equation.DSMT4">
                  <p:embed/>
                </p:oleObj>
              </mc:Choice>
              <mc:Fallback>
                <p:oleObj name="Equation" r:id="rId1" imgW="1930400" imgH="4445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076" y="1881675"/>
                        <a:ext cx="3439848" cy="792088"/>
                      </a:xfrm>
                      <a:prstGeom prst="rect">
                        <a:avLst/>
                      </a:prstGeom>
                      <a:noFill/>
                      <a:ln>
                        <a:noFill/>
                      </a:ln>
                    </p:spPr>
                  </p:pic>
                </p:oleObj>
              </mc:Fallback>
            </mc:AlternateContent>
          </a:graphicData>
        </a:graphic>
      </p:graphicFrame>
      <p:graphicFrame>
        <p:nvGraphicFramePr>
          <p:cNvPr id="7" name="Object 4"/>
          <p:cNvGraphicFramePr>
            <a:graphicFrameLocks noChangeAspect="1"/>
          </p:cNvGraphicFramePr>
          <p:nvPr/>
        </p:nvGraphicFramePr>
        <p:xfrm>
          <a:off x="2213738" y="3214670"/>
          <a:ext cx="4716524" cy="428659"/>
        </p:xfrm>
        <a:graphic>
          <a:graphicData uri="http://schemas.openxmlformats.org/presentationml/2006/ole">
            <mc:AlternateContent xmlns:mc="http://schemas.openxmlformats.org/markup-compatibility/2006">
              <mc:Choice xmlns:v="urn:schemas-microsoft-com:vml" Requires="v">
                <p:oleObj spid="_x0000_s4" name="Equation" r:id="rId3" imgW="2654300" imgH="241300" progId="Equation.3">
                  <p:embed/>
                </p:oleObj>
              </mc:Choice>
              <mc:Fallback>
                <p:oleObj name="Equation" r:id="rId3" imgW="26543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3738" y="3214670"/>
                        <a:ext cx="4716524" cy="428659"/>
                      </a:xfrm>
                      <a:prstGeom prst="rect">
                        <a:avLst/>
                      </a:prstGeom>
                      <a:noFill/>
                      <a:ln>
                        <a:noFill/>
                      </a:ln>
                    </p:spPr>
                  </p:pic>
                </p:oleObj>
              </mc:Fallback>
            </mc:AlternateContent>
          </a:graphicData>
        </a:graphic>
      </p:graphicFrame>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3739" y="3933056"/>
            <a:ext cx="4716524" cy="2734444"/>
          </a:xfrm>
          <a:prstGeom prst="rect">
            <a:avLst/>
          </a:prstGeom>
          <a:noFill/>
          <a:ln w="63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146304" y="6210300"/>
            <a:ext cx="457200" cy="457200"/>
          </a:xfrm>
          <a:prstGeom prst="ellipse">
            <a:avLst/>
          </a:prstGeom>
        </p:spPr>
        <p:txBody>
          <a:bodyPr/>
          <a:lstStyle/>
          <a:p>
            <a:fld id="{FC824520-87D1-47D9-BA40-F87CD576C5EB}" type="slidenum">
              <a:rPr lang="zh-CN" altLang="en-US" smtClean="0"/>
            </a:fld>
            <a:endParaRPr lang="zh-CN" altLang="en-US"/>
          </a:p>
        </p:txBody>
      </p:sp>
      <p:sp>
        <p:nvSpPr>
          <p:cNvPr id="4" name="内容占位符 3"/>
          <p:cNvSpPr>
            <a:spLocks noGrp="1"/>
          </p:cNvSpPr>
          <p:nvPr>
            <p:ph sz="quarter" idx="1"/>
          </p:nvPr>
        </p:nvSpPr>
        <p:spPr>
          <a:xfrm>
            <a:off x="914400" y="404664"/>
            <a:ext cx="7772400" cy="5615136"/>
          </a:xfrm>
        </p:spPr>
        <p:txBody>
          <a:bodyPr>
            <a:normAutofit/>
          </a:bodyPr>
          <a:lstStyle/>
          <a:p>
            <a:r>
              <a:rPr lang="zh-CN" altLang="en-US" sz="2400" dirty="0">
                <a:latin typeface="Times New Roman" panose="02020603050405020304" pitchFamily="18" charset="0"/>
                <a:ea typeface="楷体" panose="02010609060101010101" charset="-122"/>
                <a:cs typeface="Times New Roman" panose="02020603050405020304" pitchFamily="18" charset="0"/>
              </a:rPr>
              <a:t>参数显著性检验的</a:t>
            </a:r>
            <a:r>
              <a:rPr lang="en-US" altLang="zh-CN" sz="2400" dirty="0">
                <a:latin typeface="Times New Roman" panose="02020603050405020304" pitchFamily="18" charset="0"/>
                <a:ea typeface="楷体" panose="02010609060101010101" charset="-122"/>
                <a:cs typeface="Times New Roman" panose="02020603050405020304" pitchFamily="18" charset="0"/>
              </a:rPr>
              <a:t>P</a:t>
            </a:r>
            <a:r>
              <a:rPr lang="zh-CN" altLang="en-US" sz="2400" dirty="0">
                <a:latin typeface="Times New Roman" panose="02020603050405020304" pitchFamily="18" charset="0"/>
                <a:ea typeface="楷体" panose="02010609060101010101" charset="-122"/>
                <a:cs typeface="Times New Roman" panose="02020603050405020304" pitchFamily="18" charset="0"/>
              </a:rPr>
              <a:t>值</a:t>
            </a:r>
            <a:endParaRPr lang="en-US" altLang="zh-CN" sz="2400" dirty="0">
              <a:latin typeface="Times New Roman" panose="02020603050405020304" pitchFamily="18" charset="0"/>
              <a:ea typeface="楷体" panose="02010609060101010101" charset="-122"/>
              <a:cs typeface="Times New Roman" panose="02020603050405020304" pitchFamily="18" charset="0"/>
            </a:endParaRPr>
          </a:p>
          <a:p>
            <a:pPr lvl="1" eaLnBrk="1" hangingPunct="1">
              <a:lnSpc>
                <a:spcPct val="150000"/>
              </a:lnSpc>
            </a:pPr>
            <a:r>
              <a:rPr lang="zh-CN" altLang="en-US" sz="2400" dirty="0">
                <a:ea typeface="楷体" panose="02010609060101010101" charset="-122"/>
              </a:rPr>
              <a:t>原假设</a:t>
            </a:r>
            <a:r>
              <a:rPr lang="zh-CN" altLang="en-US" sz="2400" dirty="0">
                <a:latin typeface="Times New Roman" panose="02020603050405020304" pitchFamily="18" charset="0"/>
                <a:ea typeface="楷体" panose="02010609060101010101" charset="-122"/>
                <a:cs typeface="Times New Roman" panose="02020603050405020304" pitchFamily="18" charset="0"/>
              </a:rPr>
              <a:t>为 </a:t>
            </a:r>
            <a:r>
              <a:rPr lang="en-US" altLang="zh-CN" sz="2400" dirty="0">
                <a:latin typeface="Times New Roman" panose="02020603050405020304" pitchFamily="18" charset="0"/>
                <a:ea typeface="楷体" panose="02010609060101010101" charset="-122"/>
                <a:cs typeface="Times New Roman" panose="02020603050405020304" pitchFamily="18" charset="0"/>
              </a:rPr>
              <a:t>H</a:t>
            </a:r>
            <a:r>
              <a:rPr lang="en-US" altLang="zh-CN" sz="2400" baseline="-25000" dirty="0">
                <a:latin typeface="Times New Roman" panose="02020603050405020304" pitchFamily="18" charset="0"/>
                <a:ea typeface="楷体" panose="02010609060101010101" charset="-122"/>
                <a:cs typeface="Times New Roman" panose="02020603050405020304" pitchFamily="18" charset="0"/>
              </a:rPr>
              <a:t>0</a:t>
            </a:r>
            <a:r>
              <a:rPr lang="en-US" altLang="zh-CN" sz="2400" dirty="0">
                <a:latin typeface="Times New Roman" panose="02020603050405020304" pitchFamily="18" charset="0"/>
                <a:ea typeface="楷体" panose="02010609060101010101" charset="-122"/>
                <a:cs typeface="Times New Roman" panose="02020603050405020304" pitchFamily="18" charset="0"/>
              </a:rPr>
              <a:t>: </a:t>
            </a:r>
            <a:r>
              <a:rPr lang="el-GR" altLang="zh-CN" sz="2400" dirty="0">
                <a:latin typeface="Times New Roman" panose="02020603050405020304" pitchFamily="18" charset="0"/>
                <a:ea typeface="楷体" panose="02010609060101010101" charset="-122"/>
                <a:cs typeface="Times New Roman" panose="02020603050405020304" pitchFamily="18" charset="0"/>
              </a:rPr>
              <a:t>β</a:t>
            </a:r>
            <a:r>
              <a:rPr lang="en-US" altLang="zh-CN" sz="24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400" dirty="0">
                <a:latin typeface="Times New Roman" panose="02020603050405020304" pitchFamily="18" charset="0"/>
                <a:ea typeface="楷体" panose="02010609060101010101" charset="-122"/>
                <a:cs typeface="Times New Roman" panose="02020603050405020304" pitchFamily="18" charset="0"/>
              </a:rPr>
              <a:t>= 0</a:t>
            </a:r>
            <a:endParaRPr lang="en-US" altLang="zh-CN" sz="2400" dirty="0">
              <a:latin typeface="Times New Roman" panose="02020603050405020304" pitchFamily="18" charset="0"/>
              <a:ea typeface="楷体" panose="02010609060101010101" charset="-122"/>
              <a:cs typeface="Times New Roman" panose="02020603050405020304" pitchFamily="18" charset="0"/>
            </a:endParaRPr>
          </a:p>
          <a:p>
            <a:pPr lvl="1" eaLnBrk="1" hangingPunct="1">
              <a:lnSpc>
                <a:spcPct val="150000"/>
              </a:lnSpc>
            </a:pPr>
            <a:r>
              <a:rPr lang="zh-CN" altLang="en-US" sz="2400" dirty="0">
                <a:ea typeface="楷体" panose="02010609060101010101" charset="-122"/>
              </a:rPr>
              <a:t>备择假设</a:t>
            </a:r>
            <a:r>
              <a:rPr lang="zh-CN" altLang="en-US" sz="2400" dirty="0">
                <a:latin typeface="Times New Roman" panose="02020603050405020304" pitchFamily="18" charset="0"/>
                <a:ea typeface="楷体" panose="02010609060101010101" charset="-122"/>
                <a:cs typeface="Times New Roman" panose="02020603050405020304" pitchFamily="18" charset="0"/>
              </a:rPr>
              <a:t>为 </a:t>
            </a:r>
            <a:r>
              <a:rPr lang="en-US" altLang="zh-CN" sz="2400" dirty="0">
                <a:latin typeface="Times New Roman" panose="02020603050405020304" pitchFamily="18" charset="0"/>
                <a:ea typeface="楷体" panose="02010609060101010101" charset="-122"/>
                <a:cs typeface="Times New Roman" panose="02020603050405020304" pitchFamily="18" charset="0"/>
              </a:rPr>
              <a:t>H</a:t>
            </a:r>
            <a:r>
              <a:rPr lang="en-US" altLang="zh-CN" sz="2400" baseline="-25000" dirty="0">
                <a:latin typeface="Times New Roman" panose="02020603050405020304" pitchFamily="18" charset="0"/>
                <a:ea typeface="楷体" panose="02010609060101010101" charset="-122"/>
                <a:cs typeface="Times New Roman" panose="02020603050405020304" pitchFamily="18" charset="0"/>
              </a:rPr>
              <a:t>1</a:t>
            </a:r>
            <a:r>
              <a:rPr lang="en-US" altLang="zh-CN" sz="2400" dirty="0">
                <a:latin typeface="Times New Roman" panose="02020603050405020304" pitchFamily="18" charset="0"/>
                <a:ea typeface="楷体" panose="02010609060101010101" charset="-122"/>
                <a:cs typeface="Times New Roman" panose="02020603050405020304" pitchFamily="18" charset="0"/>
              </a:rPr>
              <a:t>: </a:t>
            </a:r>
            <a:r>
              <a:rPr lang="el-GR" altLang="zh-CN" sz="2400" dirty="0">
                <a:latin typeface="Times New Roman" panose="02020603050405020304" pitchFamily="18" charset="0"/>
                <a:ea typeface="楷体" panose="02010609060101010101" charset="-122"/>
                <a:cs typeface="Times New Roman" panose="02020603050405020304" pitchFamily="18" charset="0"/>
              </a:rPr>
              <a:t>β</a:t>
            </a:r>
            <a:r>
              <a:rPr lang="en-US" altLang="zh-CN" sz="2400" baseline="-25000" dirty="0">
                <a:latin typeface="Times New Roman" panose="02020603050405020304" pitchFamily="18" charset="0"/>
                <a:ea typeface="楷体" panose="02010609060101010101" charset="-122"/>
                <a:cs typeface="Times New Roman" panose="02020603050405020304" pitchFamily="18" charset="0"/>
              </a:rPr>
              <a:t>2 </a:t>
            </a:r>
            <a:r>
              <a:rPr lang="en-US" altLang="zh-CN" sz="2400" dirty="0">
                <a:latin typeface="Times New Roman" panose="02020603050405020304" pitchFamily="18" charset="0"/>
                <a:ea typeface="楷体" panose="02010609060101010101" charset="-122"/>
                <a:cs typeface="Times New Roman" panose="02020603050405020304" pitchFamily="18" charset="0"/>
              </a:rPr>
              <a:t>≠ 0</a:t>
            </a:r>
            <a:endParaRPr lang="en-US" altLang="zh-CN" sz="2400" dirty="0">
              <a:latin typeface="Times New Roman" panose="02020603050405020304" pitchFamily="18" charset="0"/>
              <a:ea typeface="楷体" panose="02010609060101010101" charset="-122"/>
              <a:cs typeface="Times New Roman" panose="02020603050405020304" pitchFamily="18" charset="0"/>
            </a:endParaRPr>
          </a:p>
          <a:p>
            <a:pPr marL="320040" lvl="1" indent="0" eaLnBrk="1" hangingPunct="1">
              <a:lnSpc>
                <a:spcPct val="150000"/>
              </a:lnSpc>
              <a:buNone/>
            </a:pPr>
            <a:endParaRPr lang="en-US" altLang="zh-CN" sz="2400" dirty="0">
              <a:ea typeface="楷体" panose="02010609060101010101" charset="-122"/>
            </a:endParaRPr>
          </a:p>
          <a:p>
            <a:pPr lvl="1">
              <a:lnSpc>
                <a:spcPct val="150000"/>
              </a:lnSpc>
            </a:pPr>
            <a:r>
              <a:rPr lang="en-US" altLang="zh-CN" dirty="0">
                <a:ea typeface="楷体" panose="02010609060101010101" charset="-122"/>
              </a:rPr>
              <a:t>P</a:t>
            </a:r>
            <a:r>
              <a:rPr lang="zh-CN" altLang="en-US" dirty="0">
                <a:ea typeface="楷体" panose="02010609060101010101" charset="-122"/>
              </a:rPr>
              <a:t>值为：</a:t>
            </a:r>
            <a:endParaRPr lang="en-US" altLang="zh-CN" dirty="0">
              <a:ea typeface="楷体" panose="02010609060101010101" charset="-122"/>
            </a:endParaRPr>
          </a:p>
          <a:p>
            <a:pPr lvl="1" eaLnBrk="1" hangingPunct="1"/>
            <a:endParaRPr lang="en-US" altLang="zh-CN" sz="2400" dirty="0">
              <a:ea typeface="楷体" panose="02010609060101010101" charset="-122"/>
            </a:endParaRPr>
          </a:p>
          <a:p>
            <a:endParaRPr lang="zh-CN" altLang="en-US" sz="2400" dirty="0">
              <a:latin typeface="Times New Roman" panose="02020603050405020304" pitchFamily="18" charset="0"/>
              <a:ea typeface="楷体" panose="02010609060101010101" charset="-122"/>
              <a:cs typeface="Times New Roman" panose="02020603050405020304" pitchFamily="18" charset="0"/>
            </a:endParaRPr>
          </a:p>
        </p:txBody>
      </p:sp>
      <p:graphicFrame>
        <p:nvGraphicFramePr>
          <p:cNvPr id="5" name="Object 3"/>
          <p:cNvGraphicFramePr>
            <a:graphicFrameLocks noChangeAspect="1"/>
          </p:cNvGraphicFramePr>
          <p:nvPr/>
        </p:nvGraphicFramePr>
        <p:xfrm>
          <a:off x="3301088" y="2211859"/>
          <a:ext cx="2685839" cy="764295"/>
        </p:xfrm>
        <a:graphic>
          <a:graphicData uri="http://schemas.openxmlformats.org/presentationml/2006/ole">
            <mc:AlternateContent xmlns:mc="http://schemas.openxmlformats.org/markup-compatibility/2006">
              <mc:Choice xmlns:v="urn:schemas-microsoft-com:vml" Requires="v">
                <p:oleObj spid="_x0000_s2" name="Equation" r:id="rId1" imgW="1562100" imgH="444500" progId="Equation.DSMT4">
                  <p:embed/>
                </p:oleObj>
              </mc:Choice>
              <mc:Fallback>
                <p:oleObj name="Equation" r:id="rId1" imgW="1562100" imgH="4445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1088" y="2211859"/>
                        <a:ext cx="2685839" cy="764295"/>
                      </a:xfrm>
                      <a:prstGeom prst="rect">
                        <a:avLst/>
                      </a:prstGeom>
                      <a:noFill/>
                      <a:ln>
                        <a:noFill/>
                      </a:ln>
                    </p:spPr>
                  </p:pic>
                </p:oleObj>
              </mc:Fallback>
            </mc:AlternateContent>
          </a:graphicData>
        </a:graphic>
      </p:graphicFrame>
      <p:graphicFrame>
        <p:nvGraphicFramePr>
          <p:cNvPr id="6" name="Object 4"/>
          <p:cNvGraphicFramePr>
            <a:graphicFrameLocks noChangeAspect="1"/>
          </p:cNvGraphicFramePr>
          <p:nvPr/>
        </p:nvGraphicFramePr>
        <p:xfrm>
          <a:off x="2159732" y="3465008"/>
          <a:ext cx="4824536" cy="436469"/>
        </p:xfrm>
        <a:graphic>
          <a:graphicData uri="http://schemas.openxmlformats.org/presentationml/2006/ole">
            <mc:AlternateContent xmlns:mc="http://schemas.openxmlformats.org/markup-compatibility/2006">
              <mc:Choice xmlns:v="urn:schemas-microsoft-com:vml" Requires="v">
                <p:oleObj spid="_x0000_s7" name="Equation" r:id="rId3" imgW="2667000" imgH="241300" progId="Equation.3">
                  <p:embed/>
                </p:oleObj>
              </mc:Choice>
              <mc:Fallback>
                <p:oleObj name="Equation" r:id="rId3" imgW="26670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732" y="3465008"/>
                        <a:ext cx="4824536" cy="436469"/>
                      </a:xfrm>
                      <a:prstGeom prst="rect">
                        <a:avLst/>
                      </a:prstGeom>
                      <a:noFill/>
                      <a:ln>
                        <a:noFill/>
                      </a:ln>
                    </p:spPr>
                  </p:pic>
                </p:oleObj>
              </mc:Fallback>
            </mc:AlternateContent>
          </a:graphicData>
        </a:graphic>
      </p:graphicFrame>
      <p:pic>
        <p:nvPicPr>
          <p:cNvPr id="8"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57503" y="4368884"/>
            <a:ext cx="5373010" cy="180020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9" name="矩形: 圆角 7"/>
          <p:cNvSpPr/>
          <p:nvPr/>
        </p:nvSpPr>
        <p:spPr>
          <a:xfrm>
            <a:off x="5148064" y="5744403"/>
            <a:ext cx="504056" cy="3500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004" y="2564904"/>
            <a:ext cx="9001000" cy="1143000"/>
          </a:xfrm>
        </p:spPr>
        <p:txBody>
          <a:bodyPr/>
          <a:lstStyle/>
          <a:p>
            <a:pPr algn="ctr"/>
            <a:r>
              <a:rPr lang="zh-CN" altLang="en-US" b="1" dirty="0">
                <a:solidFill>
                  <a:schemeClr val="tx1"/>
                </a:solidFill>
              </a:rPr>
              <a:t>第三章  预测、拟合优度与建模问题</a:t>
            </a:r>
            <a:endParaRPr lang="zh-CN" altLang="en-US" b="1" dirty="0">
              <a:solidFill>
                <a:schemeClr val="tx1"/>
              </a:solidFill>
            </a:endParaRPr>
          </a:p>
        </p:txBody>
      </p:sp>
      <p:sp>
        <p:nvSpPr>
          <p:cNvPr id="5" name="灯片编号占位符 4"/>
          <p:cNvSpPr>
            <a:spLocks noGrp="1"/>
          </p:cNvSpPr>
          <p:nvPr>
            <p:ph type="sldNum" sz="quarter" idx="4294967295"/>
          </p:nvPr>
        </p:nvSpPr>
        <p:spPr>
          <a:xfrm>
            <a:off x="146304" y="6210300"/>
            <a:ext cx="457200" cy="457200"/>
          </a:xfrm>
          <a:prstGeom prst="ellipse">
            <a:avLst/>
          </a:prstGeom>
        </p:spPr>
        <p:txBody>
          <a:bodyPr/>
          <a:lstStyle/>
          <a:p>
            <a:r>
              <a:rPr lang="en-US" altLang="zh-CN" dirty="0"/>
              <a:t>1</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p:cNvGraphicFramePr>
            <a:graphicFrameLocks noGrp="1"/>
          </p:cNvGraphicFramePr>
          <p:nvPr/>
        </p:nvGraphicFramePr>
        <p:xfrm>
          <a:off x="60832" y="66928"/>
          <a:ext cx="9018905" cy="6699250"/>
        </p:xfrm>
        <a:graphic>
          <a:graphicData uri="http://schemas.openxmlformats.org/drawingml/2006/table">
            <a:tbl>
              <a:tblPr/>
              <a:tblGrid>
                <a:gridCol w="9018905"/>
              </a:tblGrid>
              <a:tr h="5868670">
                <a:tc>
                  <a:txBody>
                    <a:bodyPr/>
                    <a:lstStyle/>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773680" algn="l" rtl="0" eaLnBrk="0">
                        <a:lnSpc>
                          <a:spcPct val="86000"/>
                        </a:lnSpc>
                      </a:pPr>
                      <a:r>
                        <a:rPr sz="3600" b="1" kern="0" spc="-70" dirty="0">
                          <a:solidFill>
                            <a:srgbClr val="000000">
                              <a:alpha val="100000"/>
                            </a:srgbClr>
                          </a:solidFill>
                          <a:latin typeface="黑体" panose="02010609060101010101" charset="-122"/>
                          <a:ea typeface="黑体" panose="02010609060101010101" charset="-122"/>
                          <a:cs typeface="黑体" panose="02010609060101010101" charset="-122"/>
                        </a:rPr>
                        <a:t>一、最小二乘预测</a:t>
                      </a:r>
                      <a:endParaRPr sz="3600" dirty="0">
                        <a:latin typeface="黑体" panose="02010609060101010101" charset="-122"/>
                        <a:ea typeface="黑体" panose="02010609060101010101" charset="-122"/>
                        <a:cs typeface="黑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1074420" algn="l" rtl="0" eaLnBrk="0">
                        <a:lnSpc>
                          <a:spcPct val="87000"/>
                        </a:lnSpc>
                        <a:spcBef>
                          <a:spcPts val="640"/>
                        </a:spcBef>
                      </a:pPr>
                      <a:r>
                        <a:rPr sz="2100" b="1" kern="0" spc="70" dirty="0">
                          <a:solidFill>
                            <a:srgbClr val="000000">
                              <a:alpha val="100000"/>
                            </a:srgbClr>
                          </a:solidFill>
                          <a:latin typeface="楷体" panose="02010609060101010101" charset="-122"/>
                          <a:ea typeface="楷体" panose="02010609060101010101" charset="-122"/>
                          <a:cs typeface="楷体" panose="02010609060101010101" charset="-122"/>
                        </a:rPr>
                        <a:t>预测具有重要的功能：</a:t>
                      </a:r>
                      <a:endParaRPr sz="2100" dirty="0">
                        <a:latin typeface="楷体" panose="02010609060101010101" charset="-122"/>
                        <a:ea typeface="楷体" panose="02010609060101010101" charset="-122"/>
                        <a:cs typeface="楷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marL="1203325" indent="-229235" algn="l" rtl="0" eaLnBrk="0">
                        <a:lnSpc>
                          <a:spcPct val="128000"/>
                        </a:lnSpc>
                        <a:spcBef>
                          <a:spcPts val="640"/>
                        </a:spcBef>
                      </a:pPr>
                      <a:r>
                        <a:rPr sz="1800" kern="0" spc="8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40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商务经济学家和金融分析师致力于预测特定</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厂商的销售额和</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收入额；</a:t>
                      </a:r>
                      <a:endParaRPr sz="2100" dirty="0">
                        <a:latin typeface="楷体" panose="02010609060101010101" charset="-122"/>
                        <a:ea typeface="楷体" panose="02010609060101010101" charset="-122"/>
                        <a:cs typeface="楷体" panose="02010609060101010101" charset="-122"/>
                      </a:endParaRPr>
                    </a:p>
                    <a:p>
                      <a:pPr marL="1205230" indent="-231140" algn="l" rtl="0" eaLnBrk="0">
                        <a:lnSpc>
                          <a:spcPct val="128000"/>
                        </a:lnSpc>
                        <a:spcBef>
                          <a:spcPts val="1825"/>
                        </a:spcBef>
                      </a:pPr>
                      <a:r>
                        <a:rPr sz="1800" kern="0" spc="9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24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公共决策者致力于预测国</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民收入的增长率、通货膨胀率、投</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资率、储蓄率和社会保障项目</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支出以及税收收入。</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1203325" indent="-229235" algn="l" rtl="0" eaLnBrk="0">
                        <a:lnSpc>
                          <a:spcPct val="127000"/>
                        </a:lnSpc>
                        <a:spcBef>
                          <a:spcPts val="630"/>
                        </a:spcBef>
                      </a:pPr>
                      <a:r>
                        <a:rPr sz="1800" kern="0" spc="8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33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地方企业需要预测辖区人口的增长和收入增长，据此扩展或</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收缩公共服务的供给</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1085215" algn="l" rtl="0" eaLnBrk="0">
                        <a:lnSpc>
                          <a:spcPct val="87000"/>
                        </a:lnSpc>
                        <a:spcBef>
                          <a:spcPts val="5"/>
                        </a:spcBef>
                      </a:pPr>
                      <a:r>
                        <a:rPr sz="2100" b="1" kern="0" spc="80" dirty="0">
                          <a:solidFill>
                            <a:srgbClr val="000000">
                              <a:alpha val="100000"/>
                            </a:srgbClr>
                          </a:solidFill>
                          <a:latin typeface="楷体" panose="02010609060101010101" charset="-122"/>
                          <a:ea typeface="楷体" panose="02010609060101010101" charset="-122"/>
                          <a:cs typeface="楷体" panose="02010609060101010101" charset="-122"/>
                        </a:rPr>
                        <a:t>准确的预测为不同计划框架下更好地决策提供了基础。</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30580">
                <a:tc>
                  <a:txBody>
                    <a:bodyPr/>
                    <a:lstStyle/>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46000"/>
                        </a:lnSpc>
                      </a:pPr>
                      <a:endParaRPr sz="1000" dirty="0">
                        <a:latin typeface="Arial" panose="020B0604020202020204"/>
                        <a:ea typeface="Arial" panose="020B0604020202020204"/>
                        <a:cs typeface="Arial" panose="020B0604020202020204"/>
                      </a:endParaRPr>
                    </a:p>
                    <a:p>
                      <a:pPr marL="27051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4"/>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6606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212725" algn="l" rtl="0" eaLnBrk="0">
                        <a:lnSpc>
                          <a:spcPct val="84000"/>
                        </a:lnSpc>
                        <a:spcBef>
                          <a:spcPts val="0"/>
                        </a:spcBef>
                      </a:pPr>
                      <a:r>
                        <a:rPr sz="20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60" dirty="0">
                          <a:solidFill>
                            <a:srgbClr val="000000">
                              <a:alpha val="100000"/>
                            </a:srgbClr>
                          </a:solidFill>
                          <a:latin typeface="楷体" panose="02010609060101010101" charset="-122"/>
                          <a:ea typeface="楷体" panose="02010609060101010101" charset="-122"/>
                          <a:cs typeface="楷体" panose="02010609060101010101" charset="-122"/>
                        </a:rPr>
                        <a:t>（一）点预测值</a:t>
                      </a:r>
                      <a:endParaRPr sz="2400" dirty="0">
                        <a:latin typeface="楷体" panose="02010609060101010101" charset="-122"/>
                        <a:ea typeface="楷体" panose="02010609060101010101" charset="-122"/>
                        <a:cs typeface="楷体" panose="02010609060101010101" charset="-122"/>
                      </a:endParaRPr>
                    </a:p>
                    <a:p>
                      <a:pPr algn="l" rtl="0" eaLnBrk="0">
                        <a:lnSpc>
                          <a:spcPct val="125000"/>
                        </a:lnSpc>
                      </a:pPr>
                      <a:endParaRPr sz="1000" dirty="0">
                        <a:latin typeface="Arial" panose="020B0604020202020204"/>
                        <a:ea typeface="Arial" panose="020B0604020202020204"/>
                        <a:cs typeface="Arial" panose="020B0604020202020204"/>
                      </a:endParaRPr>
                    </a:p>
                    <a:p>
                      <a:pPr marL="474345" indent="-262890" algn="l" rtl="0" eaLnBrk="0">
                        <a:lnSpc>
                          <a:spcPct val="130000"/>
                        </a:lnSpc>
                        <a:spcBef>
                          <a:spcPts val="64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为运用回归分析作为预测的基础</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，我们必须假定</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7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57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7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通过描述样本数据的同一个回归模型</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而相互关联，特别是，</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对样本观测值而言</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SR</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假设</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满足。</a:t>
                      </a:r>
                      <a:endParaRPr sz="2100" dirty="0">
                        <a:latin typeface="楷体" panose="02010609060101010101" charset="-122"/>
                        <a:ea typeface="楷体" panose="02010609060101010101" charset="-122"/>
                        <a:cs typeface="楷体" panose="02010609060101010101"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765425" algn="l" rtl="0" eaLnBrk="0">
                        <a:lnSpc>
                          <a:spcPct val="92000"/>
                        </a:lnSpc>
                        <a:spcBef>
                          <a:spcPts val="665"/>
                        </a:spcBef>
                      </a:pPr>
                      <a:r>
                        <a:rPr sz="34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20" baseline="3000" dirty="0">
                          <a:solidFill>
                            <a:srgbClr val="000000">
                              <a:alpha val="100000"/>
                            </a:srgbClr>
                          </a:solidFill>
                          <a:latin typeface="Arial" panose="020B0604020202020204"/>
                          <a:ea typeface="Arial" panose="020B0604020202020204"/>
                          <a:cs typeface="Arial" panose="020B0604020202020204"/>
                        </a:rPr>
                        <a:t>=</a:t>
                      </a:r>
                      <a:r>
                        <a:rPr sz="2200" kern="0" spc="-20" dirty="0">
                          <a:solidFill>
                            <a:srgbClr val="000000">
                              <a:alpha val="100000"/>
                            </a:srgbClr>
                          </a:solidFill>
                          <a:latin typeface="Arial" panose="020B0604020202020204"/>
                          <a:ea typeface="Arial" panose="020B0604020202020204"/>
                          <a:cs typeface="Arial" panose="020B0604020202020204"/>
                        </a:rPr>
                        <a:t> </a:t>
                      </a:r>
                      <a:r>
                        <a:rPr sz="3400" kern="0" spc="-2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4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20" baseline="3000" dirty="0">
                          <a:solidFill>
                            <a:srgbClr val="000000">
                              <a:alpha val="100000"/>
                            </a:srgbClr>
                          </a:solidFill>
                          <a:latin typeface="Arial" panose="020B0604020202020204"/>
                          <a:ea typeface="Arial" panose="020B0604020202020204"/>
                          <a:cs typeface="Arial" panose="020B0604020202020204"/>
                        </a:rPr>
                        <a:t>+</a:t>
                      </a:r>
                      <a:r>
                        <a:rPr sz="2200" kern="0" spc="-180" dirty="0">
                          <a:solidFill>
                            <a:srgbClr val="000000">
                              <a:alpha val="100000"/>
                            </a:srgbClr>
                          </a:solidFill>
                          <a:latin typeface="Arial" panose="020B0604020202020204"/>
                          <a:ea typeface="Arial" panose="020B0604020202020204"/>
                          <a:cs typeface="Arial" panose="020B0604020202020204"/>
                        </a:rPr>
                        <a:t> </a:t>
                      </a:r>
                      <a:r>
                        <a:rPr sz="3400" kern="0" spc="-2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400" i="1" kern="0" spc="-3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000" kern="0" spc="-3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30" baseline="3000" dirty="0">
                          <a:solidFill>
                            <a:srgbClr val="000000">
                              <a:alpha val="100000"/>
                            </a:srgbClr>
                          </a:solidFill>
                          <a:latin typeface="Arial" panose="020B0604020202020204"/>
                          <a:ea typeface="Arial" panose="020B0604020202020204"/>
                          <a:cs typeface="Arial" panose="020B0604020202020204"/>
                        </a:rPr>
                        <a:t>+</a:t>
                      </a:r>
                      <a:r>
                        <a:rPr sz="2200" kern="0" spc="-160" dirty="0">
                          <a:solidFill>
                            <a:srgbClr val="000000">
                              <a:alpha val="100000"/>
                            </a:srgbClr>
                          </a:solidFill>
                          <a:latin typeface="Arial" panose="020B0604020202020204"/>
                          <a:ea typeface="Arial" panose="020B0604020202020204"/>
                          <a:cs typeface="Arial" panose="020B0604020202020204"/>
                        </a:rPr>
                        <a:t> </a:t>
                      </a:r>
                      <a:r>
                        <a:rPr sz="3400" i="1" kern="0" spc="-3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2000" kern="0" spc="-30" baseline="-23000" dirty="0">
                          <a:solidFill>
                            <a:srgbClr val="000000">
                              <a:alpha val="100000"/>
                            </a:srgbClr>
                          </a:solidFill>
                          <a:latin typeface="Times New Roman" panose="02020603050405020304"/>
                          <a:ea typeface="Times New Roman" panose="02020603050405020304"/>
                          <a:cs typeface="Times New Roman" panose="02020603050405020304"/>
                        </a:rPr>
                        <a:t>0</a:t>
                      </a:r>
                      <a:endParaRPr sz="2000" baseline="-23000" dirty="0">
                        <a:latin typeface="Times New Roman" panose="02020603050405020304"/>
                        <a:ea typeface="Times New Roman" panose="02020603050405020304"/>
                        <a:cs typeface="Times New Roman" panose="020206030504050203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marL="211455" algn="l" rtl="0" eaLnBrk="0">
                        <a:lnSpc>
                          <a:spcPts val="2740"/>
                        </a:lnSpc>
                        <a:spcBef>
                          <a:spcPts val="63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其中，</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e</a:t>
                      </a:r>
                      <a:r>
                        <a:rPr sz="2200" kern="0" spc="-20" baseline="-1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是随机误差项。</a:t>
                      </a:r>
                      <a:endParaRPr sz="2100" dirty="0">
                        <a:latin typeface="楷体" panose="02010609060101010101" charset="-122"/>
                        <a:ea typeface="楷体" panose="02010609060101010101" charset="-122"/>
                        <a:cs typeface="楷体" panose="02010609060101010101" charset="-122"/>
                      </a:endParaRPr>
                    </a:p>
                    <a:p>
                      <a:pPr marL="1045845" algn="l" rtl="0" eaLnBrk="0">
                        <a:lnSpc>
                          <a:spcPts val="2740"/>
                        </a:lnSpc>
                        <a:spcBef>
                          <a:spcPts val="1555"/>
                        </a:spcBef>
                      </a:pP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预测</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20" baseline="-12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的工作与估计</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10" baseline="-1200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10" baseline="-12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10" baseline="-12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10" baseline="-12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的问题相关。</a:t>
                      </a:r>
                      <a:endParaRPr sz="2100" dirty="0">
                        <a:latin typeface="楷体" panose="02010609060101010101" charset="-122"/>
                        <a:ea typeface="楷体" panose="02010609060101010101" charset="-122"/>
                        <a:cs typeface="楷体" panose="02010609060101010101" charset="-122"/>
                      </a:endParaRPr>
                    </a:p>
                    <a:p>
                      <a:pPr marL="531495" algn="l" rtl="0" eaLnBrk="0">
                        <a:lnSpc>
                          <a:spcPts val="2740"/>
                        </a:lnSpc>
                        <a:spcBef>
                          <a:spcPts val="1350"/>
                        </a:spcBef>
                      </a:pPr>
                      <a:r>
                        <a:rPr sz="1800" kern="0" spc="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虽然</a:t>
                      </a:r>
                      <a:r>
                        <a:rPr sz="2100" kern="0" spc="-55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是非随机的</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但结果</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是随机的。</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100" dirty="0">
                        <a:latin typeface="Arial" panose="020B0604020202020204"/>
                        <a:ea typeface="Arial" panose="020B0604020202020204"/>
                        <a:cs typeface="Arial" panose="020B0604020202020204"/>
                      </a:endParaRPr>
                    </a:p>
                    <a:p>
                      <a:pPr marL="751840" indent="-220345" algn="l" rtl="0" eaLnBrk="0">
                        <a:lnSpc>
                          <a:spcPct val="122000"/>
                        </a:lnSpc>
                        <a:spcBef>
                          <a:spcPts val="0"/>
                        </a:spcBef>
                      </a:pPr>
                      <a:r>
                        <a:rPr sz="1800" kern="0" spc="2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因此，</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β</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的区间估计，与</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的预测区</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间是</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有区别的。</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8"/>
          <p:cNvGraphicFramePr>
            <a:graphicFrameLocks noGrp="1"/>
          </p:cNvGraphicFramePr>
          <p:nvPr/>
        </p:nvGraphicFramePr>
        <p:xfrm>
          <a:off x="60832" y="66928"/>
          <a:ext cx="9018905" cy="6699250"/>
        </p:xfrm>
        <a:graphic>
          <a:graphicData uri="http://schemas.openxmlformats.org/drawingml/2006/table">
            <a:tbl>
              <a:tblPr/>
              <a:tblGrid>
                <a:gridCol w="9018905"/>
              </a:tblGrid>
              <a:tr h="5765165">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965200" algn="l" rtl="0" eaLnBrk="0">
                        <a:lnSpc>
                          <a:spcPts val="2740"/>
                        </a:lnSpc>
                        <a:spcBef>
                          <a:spcPts val="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60" baseline="-1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的最小二</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乘预测值来自于拟合的回归线：</a:t>
                      </a:r>
                      <a:endParaRPr sz="2100" dirty="0">
                        <a:latin typeface="楷体" panose="02010609060101010101" charset="-122"/>
                        <a:ea typeface="楷体" panose="02010609060101010101" charset="-122"/>
                        <a:cs typeface="楷体" panose="020106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10000"/>
                        </a:lnSpc>
                      </a:pPr>
                      <a:endParaRPr sz="500" dirty="0">
                        <a:latin typeface="Arial" panose="020B0604020202020204"/>
                        <a:ea typeface="Arial" panose="020B0604020202020204"/>
                        <a:cs typeface="Arial" panose="020B0604020202020204"/>
                      </a:endParaRPr>
                    </a:p>
                    <a:p>
                      <a:pPr marL="3863975" algn="l" rtl="0" eaLnBrk="0">
                        <a:lnSpc>
                          <a:spcPct val="91000"/>
                        </a:lnSpc>
                        <a:spcBef>
                          <a:spcPts val="0"/>
                        </a:spcBef>
                      </a:pP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6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b</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17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b</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0</a:t>
                      </a:r>
                      <a:endParaRPr sz="2000" baseline="-23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34085">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26670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20" name="textbox 20"/>
          <p:cNvSpPr/>
          <p:nvPr/>
        </p:nvSpPr>
        <p:spPr>
          <a:xfrm>
            <a:off x="3745136" y="2135968"/>
            <a:ext cx="172720" cy="320675"/>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8000"/>
              </a:lnSpc>
            </a:pPr>
            <a:r>
              <a:rPr sz="2200" kern="0" spc="40" dirty="0">
                <a:solidFill>
                  <a:srgbClr val="000000">
                    <a:alpha val="100000"/>
                  </a:srgbClr>
                </a:solidFill>
                <a:latin typeface="Times New Roman" panose="02020603050405020304"/>
                <a:ea typeface="Times New Roman" panose="02020603050405020304"/>
                <a:cs typeface="Times New Roman" panose="02020603050405020304"/>
              </a:rPr>
              <a:t>y</a:t>
            </a:r>
            <a:endParaRPr sz="2200" dirty="0">
              <a:latin typeface="Times New Roman" panose="02020603050405020304"/>
              <a:ea typeface="Times New Roman" panose="02020603050405020304"/>
              <a:cs typeface="Times New Roman" panose="02020603050405020304"/>
            </a:endParaRPr>
          </a:p>
        </p:txBody>
      </p:sp>
      <p:sp>
        <p:nvSpPr>
          <p:cNvPr id="22" name="textbox 22"/>
          <p:cNvSpPr/>
          <p:nvPr/>
        </p:nvSpPr>
        <p:spPr>
          <a:xfrm>
            <a:off x="3771058" y="2122800"/>
            <a:ext cx="116204" cy="2844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40"/>
              </a:lnSpc>
            </a:pPr>
            <a:r>
              <a:rPr sz="16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graphicFrame>
        <p:nvGraphicFramePr>
          <p:cNvPr id="24" name="table 24"/>
          <p:cNvGraphicFramePr>
            <a:graphicFrameLocks noGrp="1"/>
          </p:cNvGraphicFramePr>
          <p:nvPr/>
        </p:nvGraphicFramePr>
        <p:xfrm>
          <a:off x="1732534" y="3422650"/>
          <a:ext cx="5678804" cy="2025650"/>
        </p:xfrm>
        <a:graphic>
          <a:graphicData uri="http://schemas.openxmlformats.org/drawingml/2006/table">
            <a:tbl>
              <a:tblPr/>
              <a:tblGrid>
                <a:gridCol w="5678804"/>
              </a:tblGrid>
              <a:tr h="20256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26" name="picture 26"/>
          <p:cNvPicPr>
            <a:picLocks noChangeAspect="1"/>
          </p:cNvPicPr>
          <p:nvPr/>
        </p:nvPicPr>
        <p:blipFill>
          <a:blip r:embed="rId1"/>
          <a:stretch>
            <a:fillRect/>
          </a:stretch>
        </p:blipFill>
        <p:spPr>
          <a:xfrm rot="21600000">
            <a:off x="1738883" y="3429000"/>
            <a:ext cx="5664200" cy="20193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30"/>
          <p:cNvGraphicFramePr>
            <a:graphicFrameLocks noGrp="1"/>
          </p:cNvGraphicFramePr>
          <p:nvPr/>
        </p:nvGraphicFramePr>
        <p:xfrm>
          <a:off x="60832" y="66928"/>
          <a:ext cx="9018905" cy="6699250"/>
        </p:xfrm>
        <a:graphic>
          <a:graphicData uri="http://schemas.openxmlformats.org/drawingml/2006/table">
            <a:tbl>
              <a:tblPr/>
              <a:tblGrid>
                <a:gridCol w="9018905"/>
              </a:tblGrid>
              <a:tr h="5855970">
                <a:tc>
                  <a:txBody>
                    <a:bodyPr/>
                    <a:lstStyle/>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951865" algn="l" rtl="0" eaLnBrk="0">
                        <a:lnSpc>
                          <a:spcPct val="85000"/>
                        </a:lnSpc>
                        <a:spcBef>
                          <a:spcPts val="5"/>
                        </a:spcBef>
                      </a:pPr>
                      <a:r>
                        <a:rPr sz="20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80" dirty="0">
                          <a:solidFill>
                            <a:srgbClr val="000000">
                              <a:alpha val="100000"/>
                            </a:srgbClr>
                          </a:solidFill>
                          <a:latin typeface="楷体" panose="02010609060101010101" charset="-122"/>
                          <a:ea typeface="楷体" panose="02010609060101010101" charset="-122"/>
                          <a:cs typeface="楷体" panose="02010609060101010101" charset="-122"/>
                        </a:rPr>
                        <a:t>（二）预测误差</a:t>
                      </a:r>
                      <a:endParaRPr sz="24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949960" algn="l" rtl="0" eaLnBrk="0">
                        <a:lnSpc>
                          <a:spcPct val="87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为评估点预测值是否合意，我们定义预测误差（类似于最小</a:t>
                      </a:r>
                      <a:endParaRPr sz="2100" dirty="0">
                        <a:latin typeface="楷体" panose="02010609060101010101" charset="-122"/>
                        <a:ea typeface="楷体" panose="02010609060101010101" charset="-122"/>
                        <a:cs typeface="楷体" panose="02010609060101010101" charset="-122"/>
                      </a:endParaRPr>
                    </a:p>
                    <a:p>
                      <a:pPr marL="1216660" algn="l" rtl="0" eaLnBrk="0">
                        <a:lnSpc>
                          <a:spcPct val="87000"/>
                        </a:lnSpc>
                        <a:spcBef>
                          <a:spcPts val="1505"/>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二乘残差</a:t>
                      </a:r>
                      <a:r>
                        <a:rPr sz="2100" kern="0" spc="-33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044065" algn="l" rtl="0" eaLnBrk="0">
                        <a:lnSpc>
                          <a:spcPct val="93000"/>
                        </a:lnSpc>
                        <a:spcBef>
                          <a:spcPts val="970"/>
                        </a:spcBef>
                      </a:pPr>
                      <a:r>
                        <a:rPr sz="3800" i="1" kern="0" spc="30" baseline="3000" dirty="0">
                          <a:solidFill>
                            <a:srgbClr val="000000">
                              <a:alpha val="100000"/>
                            </a:srgbClr>
                          </a:solidFill>
                          <a:latin typeface="Times New Roman" panose="02020603050405020304"/>
                          <a:ea typeface="Times New Roman" panose="02020603050405020304"/>
                          <a:cs typeface="Times New Roman" panose="02020603050405020304"/>
                        </a:rPr>
                        <a:t>f</a:t>
                      </a: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3000" dirty="0">
                          <a:solidFill>
                            <a:srgbClr val="000000">
                              <a:alpha val="100000"/>
                            </a:srgbClr>
                          </a:solidFill>
                          <a:latin typeface="Arial" panose="020B0604020202020204"/>
                          <a:ea typeface="Arial" panose="020B0604020202020204"/>
                          <a:cs typeface="Arial" panose="020B0604020202020204"/>
                        </a:rPr>
                        <a:t>=</a:t>
                      </a:r>
                      <a:r>
                        <a:rPr sz="2400" kern="0" spc="30" dirty="0">
                          <a:solidFill>
                            <a:srgbClr val="000000">
                              <a:alpha val="100000"/>
                            </a:srgbClr>
                          </a:solidFill>
                          <a:latin typeface="Arial" panose="020B0604020202020204"/>
                          <a:ea typeface="Arial" panose="020B0604020202020204"/>
                          <a:cs typeface="Arial" panose="020B0604020202020204"/>
                        </a:rPr>
                        <a:t> </a:t>
                      </a:r>
                      <a:r>
                        <a:rPr sz="3800" i="1" kern="0" spc="3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3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3000" dirty="0">
                          <a:solidFill>
                            <a:srgbClr val="000000">
                              <a:alpha val="100000"/>
                            </a:srgbClr>
                          </a:solidFill>
                          <a:latin typeface="Arial" panose="020B0604020202020204"/>
                          <a:ea typeface="Arial" panose="020B0604020202020204"/>
                          <a:cs typeface="Arial" panose="020B0604020202020204"/>
                        </a:rPr>
                        <a:t>−</a:t>
                      </a:r>
                      <a:r>
                        <a:rPr sz="2400" kern="0" spc="250" dirty="0">
                          <a:solidFill>
                            <a:srgbClr val="000000">
                              <a:alpha val="100000"/>
                            </a:srgbClr>
                          </a:solidFill>
                          <a:latin typeface="Arial" panose="020B0604020202020204"/>
                          <a:ea typeface="Arial" panose="020B0604020202020204"/>
                          <a:cs typeface="Arial" panose="020B0604020202020204"/>
                        </a:rPr>
                        <a:t>  </a:t>
                      </a:r>
                      <a:r>
                        <a:rPr sz="2200" kern="0" spc="3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30" baseline="3000" dirty="0">
                          <a:solidFill>
                            <a:srgbClr val="000000">
                              <a:alpha val="100000"/>
                            </a:srgbClr>
                          </a:solidFill>
                          <a:latin typeface="Arial" panose="020B0604020202020204"/>
                          <a:ea typeface="Arial" panose="020B0604020202020204"/>
                          <a:cs typeface="Arial" panose="020B0604020202020204"/>
                        </a:rPr>
                        <a:t>=</a:t>
                      </a:r>
                      <a:r>
                        <a:rPr sz="2400" kern="0" spc="30" dirty="0">
                          <a:solidFill>
                            <a:srgbClr val="000000">
                              <a:alpha val="100000"/>
                            </a:srgbClr>
                          </a:solidFill>
                          <a:latin typeface="Arial" panose="020B0604020202020204"/>
                          <a:ea typeface="Arial" panose="020B0604020202020204"/>
                          <a:cs typeface="Arial" panose="020B0604020202020204"/>
                        </a:rPr>
                        <a:t> </a:t>
                      </a:r>
                      <a:r>
                        <a:rPr sz="3200" kern="0" spc="30" dirty="0">
                          <a:solidFill>
                            <a:srgbClr val="000000">
                              <a:alpha val="100000"/>
                            </a:srgbClr>
                          </a:solidFill>
                          <a:latin typeface="Arial" panose="020B0604020202020204"/>
                          <a:ea typeface="Arial" panose="020B0604020202020204"/>
                          <a:cs typeface="Arial" panose="020B0604020202020204"/>
                        </a:rPr>
                        <a:t>(</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20" baseline="3000" dirty="0">
                          <a:solidFill>
                            <a:srgbClr val="000000">
                              <a:alpha val="100000"/>
                            </a:srgbClr>
                          </a:solidFill>
                          <a:latin typeface="Arial" panose="020B0604020202020204"/>
                          <a:ea typeface="Arial" panose="020B0604020202020204"/>
                          <a:cs typeface="Arial" panose="020B0604020202020204"/>
                        </a:rPr>
                        <a:t>+</a:t>
                      </a:r>
                      <a:r>
                        <a:rPr sz="2400" kern="0" spc="-180" dirty="0">
                          <a:solidFill>
                            <a:srgbClr val="000000">
                              <a:alpha val="100000"/>
                            </a:srgbClr>
                          </a:solidFill>
                          <a:latin typeface="Arial" panose="020B0604020202020204"/>
                          <a:ea typeface="Arial" panose="020B0604020202020204"/>
                          <a:cs typeface="Arial" panose="020B0604020202020204"/>
                        </a:rPr>
                        <a:t> </a:t>
                      </a:r>
                      <a:r>
                        <a:rPr sz="3800" kern="0" spc="2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38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20" baseline="3000" dirty="0">
                          <a:solidFill>
                            <a:srgbClr val="000000">
                              <a:alpha val="100000"/>
                            </a:srgbClr>
                          </a:solidFill>
                          <a:latin typeface="Arial" panose="020B0604020202020204"/>
                          <a:ea typeface="Arial" panose="020B0604020202020204"/>
                          <a:cs typeface="Arial" panose="020B0604020202020204"/>
                        </a:rPr>
                        <a:t>+</a:t>
                      </a:r>
                      <a:r>
                        <a:rPr sz="2400" kern="0" spc="-150" dirty="0">
                          <a:solidFill>
                            <a:srgbClr val="000000">
                              <a:alpha val="100000"/>
                            </a:srgbClr>
                          </a:solidFill>
                          <a:latin typeface="Arial" panose="020B0604020202020204"/>
                          <a:ea typeface="Arial" panose="020B0604020202020204"/>
                          <a:cs typeface="Arial" panose="020B0604020202020204"/>
                        </a:rPr>
                        <a:t> </a:t>
                      </a:r>
                      <a:r>
                        <a:rPr sz="38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20" dirty="0">
                          <a:solidFill>
                            <a:srgbClr val="000000">
                              <a:alpha val="100000"/>
                            </a:srgbClr>
                          </a:solidFill>
                          <a:latin typeface="Arial" panose="020B0604020202020204"/>
                          <a:ea typeface="Arial" panose="020B0604020202020204"/>
                          <a:cs typeface="Arial" panose="020B0604020202020204"/>
                        </a:rPr>
                        <a:t>)</a:t>
                      </a:r>
                      <a:r>
                        <a:rPr sz="2400" kern="0" spc="20" dirty="0">
                          <a:solidFill>
                            <a:srgbClr val="000000">
                              <a:alpha val="100000"/>
                            </a:srgbClr>
                          </a:solidFill>
                          <a:latin typeface="Arial" panose="020B0604020202020204"/>
                          <a:ea typeface="Arial" panose="020B0604020202020204"/>
                          <a:cs typeface="Arial" panose="020B0604020202020204"/>
                        </a:rPr>
                        <a:t>−</a:t>
                      </a:r>
                      <a:r>
                        <a:rPr sz="2400" kern="0" spc="-200" dirty="0">
                          <a:solidFill>
                            <a:srgbClr val="000000">
                              <a:alpha val="100000"/>
                            </a:srgbClr>
                          </a:solidFill>
                          <a:latin typeface="Arial" panose="020B0604020202020204"/>
                          <a:ea typeface="Arial" panose="020B0604020202020204"/>
                          <a:cs typeface="Arial" panose="020B0604020202020204"/>
                        </a:rPr>
                        <a:t> </a:t>
                      </a:r>
                      <a:r>
                        <a:rPr sz="3200" kern="0" spc="20" dirty="0">
                          <a:solidFill>
                            <a:srgbClr val="000000">
                              <a:alpha val="100000"/>
                            </a:srgbClr>
                          </a:solidFill>
                          <a:latin typeface="Arial" panose="020B0604020202020204"/>
                          <a:ea typeface="Arial" panose="020B0604020202020204"/>
                          <a:cs typeface="Arial" panose="020B0604020202020204"/>
                        </a:rPr>
                        <a:t>(</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b</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20" baseline="3000" dirty="0">
                          <a:solidFill>
                            <a:srgbClr val="000000">
                              <a:alpha val="100000"/>
                            </a:srgbClr>
                          </a:solidFill>
                          <a:latin typeface="Arial" panose="020B0604020202020204"/>
                          <a:ea typeface="Arial" panose="020B0604020202020204"/>
                          <a:cs typeface="Arial" panose="020B0604020202020204"/>
                        </a:rPr>
                        <a:t>+</a:t>
                      </a:r>
                      <a:r>
                        <a:rPr sz="2400" kern="0" spc="-180" dirty="0">
                          <a:solidFill>
                            <a:srgbClr val="000000">
                              <a:alpha val="100000"/>
                            </a:srgbClr>
                          </a:solidFill>
                          <a:latin typeface="Arial" panose="020B0604020202020204"/>
                          <a:ea typeface="Arial" panose="020B0604020202020204"/>
                          <a:cs typeface="Arial" panose="020B0604020202020204"/>
                        </a:rPr>
                        <a:t> </a:t>
                      </a:r>
                      <a:r>
                        <a:rPr sz="3800" kern="0" spc="2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38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20" baseline="-2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20" dirty="0">
                          <a:solidFill>
                            <a:srgbClr val="000000">
                              <a:alpha val="100000"/>
                            </a:srgbClr>
                          </a:solidFill>
                          <a:latin typeface="Arial" panose="020B0604020202020204"/>
                          <a:ea typeface="Arial" panose="020B0604020202020204"/>
                          <a:cs typeface="Arial" panose="020B0604020202020204"/>
                        </a:rPr>
                        <a:t>)</a:t>
                      </a:r>
                      <a:endParaRPr sz="32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949960" algn="l" rtl="0" eaLnBrk="0">
                        <a:lnSpc>
                          <a:spcPct val="87000"/>
                        </a:lnSpc>
                        <a:spcBef>
                          <a:spcPts val="64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我们希望预测误差尽可能小，这意味着我们的预测接近真实</a:t>
                      </a:r>
                      <a:endParaRPr sz="2100" dirty="0">
                        <a:latin typeface="楷体" panose="02010609060101010101" charset="-122"/>
                        <a:ea typeface="楷体" panose="02010609060101010101" charset="-122"/>
                        <a:cs typeface="楷体" panose="02010609060101010101" charset="-122"/>
                      </a:endParaRPr>
                    </a:p>
                    <a:p>
                      <a:pPr marL="1207770" algn="l" rtl="0" eaLnBrk="0">
                        <a:lnSpc>
                          <a:spcPts val="3695"/>
                        </a:lnSpc>
                      </a:pPr>
                      <a:r>
                        <a:rPr sz="1900" kern="0" spc="-110" dirty="0">
                          <a:solidFill>
                            <a:srgbClr val="000000">
                              <a:alpha val="100000"/>
                            </a:srgbClr>
                          </a:solidFill>
                          <a:latin typeface="楷体" panose="02010609060101010101" charset="-122"/>
                          <a:ea typeface="楷体" panose="02010609060101010101" charset="-122"/>
                          <a:cs typeface="楷体" panose="02010609060101010101" charset="-122"/>
                        </a:rPr>
                        <a:t>值。</a:t>
                      </a:r>
                      <a:endParaRPr sz="19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43280">
                <a:tc>
                  <a:txBody>
                    <a:bodyPr/>
                    <a:lstStyle/>
                    <a:p>
                      <a:pPr algn="l" rtl="0" eaLnBrk="0">
                        <a:lnSpc>
                          <a:spcPct val="149000"/>
                        </a:lnSpc>
                      </a:pPr>
                      <a:endParaRPr sz="1000" dirty="0">
                        <a:latin typeface="Arial" panose="020B0604020202020204"/>
                        <a:ea typeface="Arial" panose="020B0604020202020204"/>
                        <a:cs typeface="Arial" panose="020B0604020202020204"/>
                      </a:endParaRPr>
                    </a:p>
                    <a:p>
                      <a:pPr algn="l" rtl="0" eaLnBrk="0">
                        <a:lnSpc>
                          <a:spcPct val="150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6860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32" name="textbox 32"/>
          <p:cNvSpPr/>
          <p:nvPr/>
        </p:nvSpPr>
        <p:spPr>
          <a:xfrm>
            <a:off x="3242030" y="3514269"/>
            <a:ext cx="197485" cy="344804"/>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87000"/>
              </a:lnSpc>
            </a:pPr>
            <a:r>
              <a:rPr sz="2400" i="1" kern="0" spc="270" dirty="0">
                <a:solidFill>
                  <a:srgbClr val="000000">
                    <a:alpha val="100000"/>
                  </a:srgbClr>
                </a:solidFill>
                <a:latin typeface="Times New Roman" panose="02020603050405020304"/>
                <a:ea typeface="Times New Roman" panose="02020603050405020304"/>
                <a:cs typeface="Times New Roman" panose="02020603050405020304"/>
              </a:rPr>
              <a:t>y</a:t>
            </a:r>
            <a:endParaRPr sz="2400" dirty="0">
              <a:latin typeface="Times New Roman" panose="02020603050405020304"/>
              <a:ea typeface="Times New Roman" panose="02020603050405020304"/>
              <a:cs typeface="Times New Roman" panose="02020603050405020304"/>
            </a:endParaRPr>
          </a:p>
        </p:txBody>
      </p:sp>
      <p:sp>
        <p:nvSpPr>
          <p:cNvPr id="34" name="textbox 34"/>
          <p:cNvSpPr/>
          <p:nvPr/>
        </p:nvSpPr>
        <p:spPr>
          <a:xfrm>
            <a:off x="3204815" y="3499432"/>
            <a:ext cx="125729" cy="31242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260"/>
              </a:lnSpc>
            </a:pPr>
            <a:r>
              <a:rPr sz="1800" kern="0" spc="-8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able 38"/>
          <p:cNvGraphicFramePr>
            <a:graphicFrameLocks noGrp="1"/>
          </p:cNvGraphicFramePr>
          <p:nvPr/>
        </p:nvGraphicFramePr>
        <p:xfrm>
          <a:off x="60832" y="66928"/>
          <a:ext cx="9018905" cy="6699250"/>
        </p:xfrm>
        <a:graphic>
          <a:graphicData uri="http://schemas.openxmlformats.org/drawingml/2006/table">
            <a:tbl>
              <a:tblPr/>
              <a:tblGrid>
                <a:gridCol w="9018905"/>
              </a:tblGrid>
              <a:tr h="5652770">
                <a:tc>
                  <a:txBody>
                    <a:bodyPr/>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65200" algn="l" rtl="0" eaLnBrk="0">
                        <a:lnSpc>
                          <a:spcPct val="94000"/>
                        </a:lnSpc>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求取</a:t>
                      </a:r>
                      <a:r>
                        <a:rPr sz="2100" kern="0" spc="-4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f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的期望值，得到：</a:t>
                      </a:r>
                      <a:endParaRPr sz="2100" dirty="0">
                        <a:latin typeface="楷体" panose="02010609060101010101" charset="-122"/>
                        <a:ea typeface="楷体" panose="02010609060101010101" charset="-122"/>
                        <a:cs typeface="楷体" panose="02010609060101010101" charset="-122"/>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1642745" algn="l" rtl="0" eaLnBrk="0">
                        <a:lnSpc>
                          <a:spcPts val="3340"/>
                        </a:lnSpc>
                        <a:spcBef>
                          <a:spcPts val="310"/>
                        </a:spcBef>
                        <a:tabLst>
                          <a:tab pos="78263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492375" algn="l" rtl="0" eaLnBrk="0">
                        <a:lnSpc>
                          <a:spcPct val="98000"/>
                        </a:lnSpc>
                        <a:spcBef>
                          <a:spcPts val="1190"/>
                        </a:spcBef>
                      </a:pPr>
                      <a:r>
                        <a:rPr sz="3600" kern="0" spc="60" baseline="3000" dirty="0">
                          <a:solidFill>
                            <a:srgbClr val="000000">
                              <a:alpha val="100000"/>
                            </a:srgbClr>
                          </a:solidFill>
                          <a:latin typeface="Arial" panose="020B0604020202020204"/>
                          <a:ea typeface="Arial" panose="020B0604020202020204"/>
                          <a:cs typeface="Arial" panose="020B0604020202020204"/>
                        </a:rPr>
                        <a:t>=</a:t>
                      </a:r>
                      <a:r>
                        <a:rPr sz="2300" kern="0" spc="60" dirty="0">
                          <a:solidFill>
                            <a:srgbClr val="000000">
                              <a:alpha val="100000"/>
                            </a:srgbClr>
                          </a:solidFill>
                          <a:latin typeface="Arial" panose="020B0604020202020204"/>
                          <a:ea typeface="Arial" panose="020B0604020202020204"/>
                          <a:cs typeface="Arial" panose="020B0604020202020204"/>
                        </a:rPr>
                        <a:t> </a:t>
                      </a:r>
                      <a:r>
                        <a:rPr sz="3600" kern="0" spc="6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4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31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60" baseline="3000" dirty="0">
                          <a:solidFill>
                            <a:srgbClr val="000000">
                              <a:alpha val="100000"/>
                            </a:srgbClr>
                          </a:solidFill>
                          <a:latin typeface="Arial" panose="020B0604020202020204"/>
                          <a:ea typeface="Arial" panose="020B0604020202020204"/>
                          <a:cs typeface="Arial" panose="020B0604020202020204"/>
                        </a:rPr>
                        <a:t>+</a:t>
                      </a:r>
                      <a:r>
                        <a:rPr sz="2300" kern="0" spc="-140" dirty="0">
                          <a:solidFill>
                            <a:srgbClr val="000000">
                              <a:alpha val="100000"/>
                            </a:srgbClr>
                          </a:solidFill>
                          <a:latin typeface="Arial" panose="020B0604020202020204"/>
                          <a:ea typeface="Arial" panose="020B0604020202020204"/>
                          <a:cs typeface="Arial" panose="020B0604020202020204"/>
                        </a:rPr>
                        <a:t> </a:t>
                      </a:r>
                      <a:r>
                        <a:rPr sz="3600" kern="0" spc="6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6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3600" i="1" kern="0" spc="6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60" baseline="-22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60" dirty="0">
                          <a:solidFill>
                            <a:srgbClr val="000000">
                              <a:alpha val="100000"/>
                            </a:srgbClr>
                          </a:solidFill>
                          <a:latin typeface="Arial" panose="020B0604020202020204"/>
                          <a:ea typeface="Arial" panose="020B0604020202020204"/>
                          <a:cs typeface="Arial" panose="020B0604020202020204"/>
                        </a:rPr>
                        <a:t>+</a:t>
                      </a:r>
                      <a:r>
                        <a:rPr sz="2300" kern="0" spc="-100" dirty="0">
                          <a:solidFill>
                            <a:srgbClr val="000000">
                              <a:alpha val="100000"/>
                            </a:srgbClr>
                          </a:solidFill>
                          <a:latin typeface="Arial" panose="020B0604020202020204"/>
                          <a:ea typeface="Arial" panose="020B0604020202020204"/>
                          <a:cs typeface="Arial" panose="020B0604020202020204"/>
                        </a:rPr>
                        <a:t> </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23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60" dirty="0">
                          <a:solidFill>
                            <a:srgbClr val="000000">
                              <a:alpha val="100000"/>
                            </a:srgbClr>
                          </a:solidFill>
                          <a:latin typeface="Arial" panose="020B0604020202020204"/>
                          <a:ea typeface="Arial" panose="020B0604020202020204"/>
                          <a:cs typeface="Arial" panose="020B0604020202020204"/>
                        </a:rPr>
                        <a:t>−</a:t>
                      </a:r>
                      <a:r>
                        <a:rPr sz="2300" kern="0" spc="-140" dirty="0">
                          <a:solidFill>
                            <a:srgbClr val="000000">
                              <a:alpha val="100000"/>
                            </a:srgbClr>
                          </a:solidFill>
                          <a:latin typeface="Arial" panose="020B0604020202020204"/>
                          <a:ea typeface="Arial" panose="020B0604020202020204"/>
                          <a:cs typeface="Arial" panose="020B0604020202020204"/>
                        </a:rPr>
                        <a:t> </a:t>
                      </a:r>
                      <a:r>
                        <a:rPr sz="3200" kern="0" spc="60" dirty="0">
                          <a:solidFill>
                            <a:srgbClr val="000000">
                              <a:alpha val="100000"/>
                            </a:srgbClr>
                          </a:solidFill>
                          <a:latin typeface="Arial" panose="020B0604020202020204"/>
                          <a:ea typeface="Arial" panose="020B0604020202020204"/>
                          <a:cs typeface="Arial" panose="020B0604020202020204"/>
                        </a:rPr>
                        <a:t>[</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6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50" baseline="3000" dirty="0">
                          <a:solidFill>
                            <a:srgbClr val="000000">
                              <a:alpha val="100000"/>
                            </a:srgbClr>
                          </a:solidFill>
                          <a:latin typeface="Arial" panose="020B0604020202020204"/>
                          <a:ea typeface="Arial" panose="020B0604020202020204"/>
                          <a:cs typeface="Arial" panose="020B0604020202020204"/>
                        </a:rPr>
                        <a:t>+</a:t>
                      </a:r>
                      <a:r>
                        <a:rPr sz="2300" kern="0" spc="-130" dirty="0">
                          <a:solidFill>
                            <a:srgbClr val="000000">
                              <a:alpha val="100000"/>
                            </a:srgbClr>
                          </a:solidFill>
                          <a:latin typeface="Arial" panose="020B0604020202020204"/>
                          <a:ea typeface="Arial" panose="020B0604020202020204"/>
                          <a:cs typeface="Arial" panose="020B0604020202020204"/>
                        </a:rPr>
                        <a:t> </a:t>
                      </a:r>
                      <a:r>
                        <a:rPr sz="3600" kern="0" spc="5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5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36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50" baseline="-22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50" dirty="0">
                          <a:solidFill>
                            <a:srgbClr val="000000">
                              <a:alpha val="100000"/>
                            </a:srgbClr>
                          </a:solidFill>
                          <a:latin typeface="Arial" panose="020B0604020202020204"/>
                          <a:ea typeface="Arial" panose="020B0604020202020204"/>
                          <a:cs typeface="Arial" panose="020B0604020202020204"/>
                        </a:rPr>
                        <a:t>]</a:t>
                      </a:r>
                      <a:r>
                        <a:rPr sz="3200" kern="0" spc="0" dirty="0">
                          <a:solidFill>
                            <a:srgbClr val="000000">
                              <a:alpha val="100000"/>
                            </a:srgbClr>
                          </a:solidFill>
                          <a:latin typeface="Arial" panose="020B0604020202020204"/>
                          <a:ea typeface="Arial" panose="020B0604020202020204"/>
                          <a:cs typeface="Arial" panose="020B0604020202020204"/>
                        </a:rPr>
                        <a:t>                           </a:t>
                      </a:r>
                      <a:r>
                        <a:rPr sz="2300" kern="0" spc="60" dirty="0">
                          <a:solidFill>
                            <a:srgbClr val="000000">
                              <a:alpha val="100000"/>
                            </a:srgbClr>
                          </a:solidFill>
                          <a:latin typeface="Arial" panose="020B0604020202020204"/>
                          <a:ea typeface="Arial" panose="020B0604020202020204"/>
                          <a:cs typeface="Arial" panose="020B0604020202020204"/>
                        </a:rPr>
                        <a:t>= </a:t>
                      </a:r>
                      <a:r>
                        <a:rPr sz="2300" kern="0" spc="60" dirty="0">
                          <a:solidFill>
                            <a:srgbClr val="000000">
                              <a:alpha val="100000"/>
                            </a:srgbClr>
                          </a:solidFill>
                          <a:latin typeface="Times New Roman" panose="02020603050405020304"/>
                          <a:ea typeface="Times New Roman" panose="02020603050405020304"/>
                          <a:cs typeface="Times New Roman" panose="02020603050405020304"/>
                        </a:rPr>
                        <a:t>0</a:t>
                      </a:r>
                      <a:endParaRPr sz="2300" dirty="0">
                        <a:latin typeface="Times New Roman" panose="02020603050405020304"/>
                        <a:ea typeface="Times New Roman" panose="02020603050405020304"/>
                        <a:cs typeface="Times New Roman" panose="02020603050405020304"/>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38000"/>
                        </a:lnSpc>
                      </a:pPr>
                      <a:endParaRPr sz="1000" dirty="0">
                        <a:latin typeface="Arial" panose="020B0604020202020204"/>
                        <a:ea typeface="Arial" panose="020B0604020202020204"/>
                        <a:cs typeface="Arial" panose="020B0604020202020204"/>
                      </a:endParaRPr>
                    </a:p>
                    <a:p>
                      <a:pPr marL="1341120" algn="l" rtl="0" eaLnBrk="0">
                        <a:lnSpc>
                          <a:spcPts val="2740"/>
                        </a:lnSpc>
                        <a:spcBef>
                          <a:spcPts val="630"/>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这意味着，</a:t>
                      </a:r>
                      <a:r>
                        <a:rPr sz="2100" kern="0" spc="-6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平均而言，预测</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误差为</a:t>
                      </a:r>
                      <a:r>
                        <a:rPr sz="2100" kern="0" spc="60" dirty="0">
                          <a:solidFill>
                            <a:srgbClr val="000000">
                              <a:alpha val="100000"/>
                            </a:srgbClr>
                          </a:solidFill>
                          <a:latin typeface="Perpetua" panose="02020502060401020303"/>
                          <a:ea typeface="Perpetua" panose="02020502060401020303"/>
                          <a:cs typeface="Perpetua" panose="02020502060401020303"/>
                        </a:rPr>
                        <a:t>0</a:t>
                      </a:r>
                      <a:r>
                        <a:rPr sz="2100" kern="0" spc="-240" dirty="0">
                          <a:solidFill>
                            <a:srgbClr val="000000">
                              <a:alpha val="100000"/>
                            </a:srgbClr>
                          </a:solidFill>
                          <a:latin typeface="Perpetua" panose="02020502060401020303"/>
                          <a:ea typeface="Perpetua" panose="02020502060401020303"/>
                          <a:cs typeface="Perpetua" panose="02020502060401020303"/>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39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baseline="-9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是</a:t>
                      </a:r>
                      <a:r>
                        <a:rPr sz="2100" i="1" kern="0" spc="6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60" baseline="-1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的无偏预测量。</a:t>
                      </a:r>
                      <a:endParaRPr sz="2100" dirty="0">
                        <a:latin typeface="楷体" panose="02010609060101010101" charset="-122"/>
                        <a:ea typeface="楷体" panose="02010609060101010101" charset="-122"/>
                        <a:cs typeface="楷体" panose="02010609060101010101" charset="-122"/>
                      </a:endParaRPr>
                    </a:p>
                    <a:p>
                      <a:pPr marL="965835" algn="l" rtl="0" eaLnBrk="0">
                        <a:lnSpc>
                          <a:spcPct val="87000"/>
                        </a:lnSpc>
                        <a:spcBef>
                          <a:spcPts val="1820"/>
                        </a:spcBef>
                      </a:pP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然而，无偏性并不必然意味着特定的预测值就接近于真实</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值。</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50595" algn="l" rtl="0" eaLnBrk="0">
                        <a:lnSpc>
                          <a:spcPts val="2740"/>
                        </a:lnSpc>
                        <a:spcBef>
                          <a:spcPts val="0"/>
                        </a:spcBef>
                      </a:pP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如果假设</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SR</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SR</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5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成立，则</a:t>
                      </a:r>
                      <a:r>
                        <a:rPr sz="2100" kern="0" spc="4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baseline="-8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是</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80" baseline="-12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的</a:t>
                      </a:r>
                      <a:r>
                        <a:rPr sz="2100" b="1" kern="0" spc="80" dirty="0">
                          <a:solidFill>
                            <a:srgbClr val="000000">
                              <a:alpha val="100000"/>
                            </a:srgbClr>
                          </a:solidFill>
                          <a:latin typeface="楷体" panose="02010609060101010101" charset="-122"/>
                          <a:ea typeface="楷体" panose="02010609060101010101" charset="-122"/>
                          <a:cs typeface="楷体" panose="02010609060101010101" charset="-122"/>
                        </a:rPr>
                        <a:t>最优线性无偏预测</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量。</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46480">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26987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40" name="textbox 40"/>
          <p:cNvSpPr/>
          <p:nvPr/>
        </p:nvSpPr>
        <p:spPr>
          <a:xfrm>
            <a:off x="4436128" y="4876998"/>
            <a:ext cx="176529" cy="331470"/>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87000"/>
              </a:lnSpc>
            </a:pPr>
            <a:r>
              <a:rPr sz="2300" i="1" kern="0" spc="150" dirty="0">
                <a:solidFill>
                  <a:srgbClr val="000000">
                    <a:alpha val="100000"/>
                  </a:srgbClr>
                </a:solidFill>
                <a:latin typeface="Times New Roman" panose="02020603050405020304"/>
                <a:ea typeface="Times New Roman" panose="02020603050405020304"/>
                <a:cs typeface="Times New Roman" panose="02020603050405020304"/>
              </a:rPr>
              <a:t>y</a:t>
            </a:r>
            <a:endParaRPr sz="2300" dirty="0">
              <a:latin typeface="Times New Roman" panose="02020603050405020304"/>
              <a:ea typeface="Times New Roman" panose="02020603050405020304"/>
              <a:cs typeface="Times New Roman" panose="02020603050405020304"/>
            </a:endParaRPr>
          </a:p>
        </p:txBody>
      </p:sp>
      <p:sp>
        <p:nvSpPr>
          <p:cNvPr id="42" name="textbox 42"/>
          <p:cNvSpPr/>
          <p:nvPr/>
        </p:nvSpPr>
        <p:spPr>
          <a:xfrm>
            <a:off x="4375463" y="4862926"/>
            <a:ext cx="113029" cy="2971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135"/>
              </a:lnSpc>
            </a:pPr>
            <a:r>
              <a:rPr sz="1600" kern="0" spc="-8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
        <p:nvSpPr>
          <p:cNvPr id="44" name="textbox 44"/>
          <p:cNvSpPr/>
          <p:nvPr/>
        </p:nvSpPr>
        <p:spPr>
          <a:xfrm>
            <a:off x="5897871" y="3715710"/>
            <a:ext cx="177164" cy="331470"/>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87000"/>
              </a:lnSpc>
            </a:pPr>
            <a:r>
              <a:rPr sz="2300" i="1" kern="0" spc="150" dirty="0">
                <a:solidFill>
                  <a:srgbClr val="000000">
                    <a:alpha val="100000"/>
                  </a:srgbClr>
                </a:solidFill>
                <a:latin typeface="Times New Roman" panose="02020603050405020304"/>
                <a:ea typeface="Times New Roman" panose="02020603050405020304"/>
                <a:cs typeface="Times New Roman" panose="02020603050405020304"/>
              </a:rPr>
              <a:t>y</a:t>
            </a:r>
            <a:endParaRPr sz="2300" dirty="0">
              <a:latin typeface="Times New Roman" panose="02020603050405020304"/>
              <a:ea typeface="Times New Roman" panose="02020603050405020304"/>
              <a:cs typeface="Times New Roman" panose="02020603050405020304"/>
            </a:endParaRPr>
          </a:p>
        </p:txBody>
      </p:sp>
      <p:sp>
        <p:nvSpPr>
          <p:cNvPr id="46" name="textbox 46"/>
          <p:cNvSpPr/>
          <p:nvPr/>
        </p:nvSpPr>
        <p:spPr>
          <a:xfrm>
            <a:off x="5952867" y="3701638"/>
            <a:ext cx="113664" cy="2971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135"/>
              </a:lnSpc>
            </a:pPr>
            <a:r>
              <a:rPr sz="16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pic>
        <p:nvPicPr>
          <p:cNvPr id="48" name="picture 48"/>
          <p:cNvPicPr>
            <a:picLocks noChangeAspect="1"/>
          </p:cNvPicPr>
          <p:nvPr/>
        </p:nvPicPr>
        <p:blipFill>
          <a:blip r:embed="rId1"/>
          <a:stretch>
            <a:fillRect/>
          </a:stretch>
        </p:blipFill>
        <p:spPr>
          <a:xfrm rot="21600000">
            <a:off x="1703634" y="1826620"/>
            <a:ext cx="6184709" cy="424412"/>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table 5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7305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7</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1455" algn="l" rtl="0" eaLnBrk="0">
                        <a:lnSpc>
                          <a:spcPct val="8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预测误差的方差为：</a:t>
                      </a:r>
                      <a:endParaRPr sz="2100" dirty="0">
                        <a:latin typeface="楷体" panose="02010609060101010101" charset="-122"/>
                        <a:ea typeface="楷体" panose="02010609060101010101" charset="-122"/>
                        <a:cs typeface="楷体" panose="02010609060101010101" charset="-122"/>
                      </a:endParaRPr>
                    </a:p>
                    <a:p>
                      <a:pPr algn="l" rtl="0" eaLnBrk="0">
                        <a:lnSpc>
                          <a:spcPct val="176000"/>
                        </a:lnSpc>
                      </a:pPr>
                      <a:endParaRPr sz="1000" dirty="0">
                        <a:latin typeface="Arial" panose="020B0604020202020204"/>
                        <a:ea typeface="Arial" panose="020B0604020202020204"/>
                        <a:cs typeface="Arial" panose="020B0604020202020204"/>
                      </a:endParaRPr>
                    </a:p>
                    <a:p>
                      <a:pPr marL="1877060" algn="l" rtl="0" eaLnBrk="0">
                        <a:lnSpc>
                          <a:spcPts val="7290"/>
                        </a:lnSpc>
                        <a:spcBef>
                          <a:spcPts val="310"/>
                        </a:spcBef>
                        <a:tabLst>
                          <a:tab pos="563245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4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计算过程：</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预测误差等于：</a:t>
                      </a:r>
                      <a:endParaRPr sz="2100" dirty="0">
                        <a:latin typeface="楷体" panose="02010609060101010101" charset="-122"/>
                        <a:ea typeface="楷体" panose="02010609060101010101" charset="-122"/>
                        <a:cs typeface="楷体" panose="02010609060101010101" charset="-122"/>
                      </a:endParaRPr>
                    </a:p>
                    <a:p>
                      <a:pPr algn="l" rtl="0" eaLnBrk="0">
                        <a:lnSpc>
                          <a:spcPct val="181000"/>
                        </a:lnSpc>
                      </a:pPr>
                      <a:endParaRPr sz="1000" dirty="0">
                        <a:latin typeface="Arial" panose="020B0604020202020204"/>
                        <a:ea typeface="Arial" panose="020B0604020202020204"/>
                        <a:cs typeface="Arial" panose="020B0604020202020204"/>
                      </a:endParaRPr>
                    </a:p>
                    <a:p>
                      <a:pPr marL="1444625" algn="l" rtl="0" eaLnBrk="0">
                        <a:lnSpc>
                          <a:spcPts val="2945"/>
                        </a:lnSpc>
                        <a:spcBef>
                          <a:spcPts val="310"/>
                        </a:spcBef>
                        <a:tabLst>
                          <a:tab pos="60813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marL="600075" algn="l" rtl="0" eaLnBrk="0">
                        <a:lnSpc>
                          <a:spcPts val="2935"/>
                        </a:lnSpc>
                        <a:spcBef>
                          <a:spcPts val="300"/>
                        </a:spcBef>
                        <a:tabLst>
                          <a:tab pos="69088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7000"/>
                        </a:lnSpc>
                      </a:pPr>
                      <a:endParaRPr sz="9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503680" algn="l" rtl="0" eaLnBrk="0">
                        <a:lnSpc>
                          <a:spcPts val="2660"/>
                        </a:lnSpc>
                        <a:tabLst>
                          <a:tab pos="66135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54" name="picture 54"/>
          <p:cNvPicPr>
            <a:picLocks noChangeAspect="1"/>
          </p:cNvPicPr>
          <p:nvPr/>
        </p:nvPicPr>
        <p:blipFill>
          <a:blip r:embed="rId1"/>
          <a:stretch>
            <a:fillRect/>
          </a:stretch>
        </p:blipFill>
        <p:spPr>
          <a:xfrm rot="21600000">
            <a:off x="2318313" y="5690262"/>
            <a:ext cx="5109986" cy="337967"/>
          </a:xfrm>
          <a:prstGeom prst="rect">
            <a:avLst/>
          </a:prstGeom>
        </p:spPr>
      </p:pic>
      <p:pic>
        <p:nvPicPr>
          <p:cNvPr id="56" name="picture 56"/>
          <p:cNvPicPr>
            <a:picLocks noChangeAspect="1"/>
          </p:cNvPicPr>
          <p:nvPr/>
        </p:nvPicPr>
        <p:blipFill>
          <a:blip r:embed="rId2"/>
          <a:stretch>
            <a:fillRect/>
          </a:stretch>
        </p:blipFill>
        <p:spPr>
          <a:xfrm rot="21600000">
            <a:off x="1415195" y="5169588"/>
            <a:ext cx="6308568" cy="372613"/>
          </a:xfrm>
          <a:prstGeom prst="rect">
            <a:avLst/>
          </a:prstGeom>
        </p:spPr>
      </p:pic>
      <p:pic>
        <p:nvPicPr>
          <p:cNvPr id="58" name="picture 58"/>
          <p:cNvPicPr>
            <a:picLocks noChangeAspect="1"/>
          </p:cNvPicPr>
          <p:nvPr/>
        </p:nvPicPr>
        <p:blipFill>
          <a:blip r:embed="rId3"/>
          <a:stretch>
            <a:fillRect/>
          </a:stretch>
        </p:blipFill>
        <p:spPr>
          <a:xfrm rot="21600000">
            <a:off x="2259352" y="4367013"/>
            <a:ext cx="4637106" cy="374097"/>
          </a:xfrm>
          <a:prstGeom prst="rect">
            <a:avLst/>
          </a:prstGeom>
        </p:spPr>
      </p:pic>
      <p:pic>
        <p:nvPicPr>
          <p:cNvPr id="60" name="picture 60"/>
          <p:cNvPicPr>
            <a:picLocks noChangeAspect="1"/>
          </p:cNvPicPr>
          <p:nvPr/>
        </p:nvPicPr>
        <p:blipFill>
          <a:blip r:embed="rId4"/>
          <a:stretch>
            <a:fillRect/>
          </a:stretch>
        </p:blipFill>
        <p:spPr>
          <a:xfrm rot="21600000">
            <a:off x="2691944" y="1463552"/>
            <a:ext cx="3755153" cy="92567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 name="table 76"/>
          <p:cNvGraphicFramePr>
            <a:graphicFrameLocks noGrp="1"/>
          </p:cNvGraphicFramePr>
          <p:nvPr/>
        </p:nvGraphicFramePr>
        <p:xfrm>
          <a:off x="-16694" y="0"/>
          <a:ext cx="9018905" cy="6699250"/>
        </p:xfrm>
        <a:graphic>
          <a:graphicData uri="http://schemas.openxmlformats.org/drawingml/2006/table">
            <a:tbl>
              <a:tblPr/>
              <a:tblGrid>
                <a:gridCol w="9018905"/>
              </a:tblGrid>
              <a:tr h="5738495">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963295" algn="l" rtl="0" eaLnBrk="0">
                        <a:lnSpc>
                          <a:spcPct val="86000"/>
                        </a:lnSpc>
                      </a:pPr>
                      <a:r>
                        <a:rPr sz="2400" b="1" kern="0" spc="-20" dirty="0">
                          <a:solidFill>
                            <a:srgbClr val="000000">
                              <a:alpha val="100000"/>
                            </a:srgbClr>
                          </a:solidFill>
                          <a:latin typeface="楷体" panose="02010609060101010101" charset="-122"/>
                          <a:ea typeface="楷体" panose="02010609060101010101" charset="-122"/>
                          <a:cs typeface="楷体" panose="02010609060101010101" charset="-122"/>
                        </a:rPr>
                        <a:t>预测方差的决定因素</a:t>
                      </a:r>
                      <a:endParaRPr sz="2400" dirty="0">
                        <a:latin typeface="楷体" panose="02010609060101010101" charset="-122"/>
                        <a:ea typeface="楷体" panose="02010609060101010101" charset="-122"/>
                        <a:cs typeface="楷体" panose="02010609060101010101" charset="-122"/>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marL="991870" algn="l" rtl="0" eaLnBrk="0">
                        <a:lnSpc>
                          <a:spcPct val="87000"/>
                        </a:lnSpc>
                        <a:spcBef>
                          <a:spcPts val="630"/>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以下条件满足时，预测</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方差更小：</a:t>
                      </a:r>
                      <a:endParaRPr sz="2100" dirty="0">
                        <a:latin typeface="楷体" panose="02010609060101010101" charset="-122"/>
                        <a:ea typeface="楷体" panose="02010609060101010101" charset="-122"/>
                        <a:cs typeface="楷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marL="1285240" algn="l" rtl="0" eaLnBrk="0">
                        <a:lnSpc>
                          <a:spcPct val="87000"/>
                        </a:lnSpc>
                        <a:spcBef>
                          <a:spcPts val="630"/>
                        </a:spcBef>
                      </a:pPr>
                      <a:r>
                        <a:rPr sz="1800" kern="0" spc="9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23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模型的总体不确定</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性更小（不确定性由随机误差项的方差</a:t>
                      </a:r>
                      <a:endParaRPr sz="2100" dirty="0">
                        <a:latin typeface="楷体" panose="02010609060101010101" charset="-122"/>
                        <a:ea typeface="楷体" panose="02010609060101010101" charset="-122"/>
                        <a:cs typeface="楷体" panose="02010609060101010101" charset="-122"/>
                      </a:endParaRPr>
                    </a:p>
                    <a:p>
                      <a:pPr marL="1507490" algn="l" rtl="0" eaLnBrk="0">
                        <a:lnSpc>
                          <a:spcPts val="2375"/>
                        </a:lnSpc>
                        <a:spcBef>
                          <a:spcPts val="1765"/>
                        </a:spcBef>
                      </a:pPr>
                      <a:r>
                        <a:rPr sz="1900" kern="0" spc="-20" dirty="0" err="1">
                          <a:solidFill>
                            <a:srgbClr val="000000">
                              <a:alpha val="100000"/>
                            </a:srgbClr>
                          </a:solidFill>
                          <a:latin typeface="楷体" panose="02010609060101010101" charset="-122"/>
                          <a:ea typeface="楷体" panose="02010609060101010101" charset="-122"/>
                          <a:cs typeface="楷体" panose="02010609060101010101" charset="-122"/>
                        </a:rPr>
                        <a:t>衡量</a:t>
                      </a:r>
                      <a:r>
                        <a:rPr sz="1900"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1900" dirty="0">
                        <a:latin typeface="楷体" panose="02010609060101010101" charset="-122"/>
                        <a:ea typeface="楷体" panose="02010609060101010101" charset="-122"/>
                        <a:cs typeface="楷体" panose="02010609060101010101" charset="-122"/>
                      </a:endParaRPr>
                    </a:p>
                    <a:p>
                      <a:pPr algn="l" rtl="0" eaLnBrk="0">
                        <a:lnSpc>
                          <a:spcPct val="113000"/>
                        </a:lnSpc>
                      </a:pPr>
                      <a:endParaRPr sz="1000" dirty="0">
                        <a:latin typeface="Arial" panose="020B0604020202020204"/>
                        <a:ea typeface="Arial" panose="020B0604020202020204"/>
                        <a:cs typeface="Arial" panose="020B0604020202020204"/>
                      </a:endParaRPr>
                    </a:p>
                    <a:p>
                      <a:pPr marL="1285240" algn="l" rtl="0" eaLnBrk="0">
                        <a:lnSpc>
                          <a:spcPct val="87000"/>
                        </a:lnSpc>
                        <a:spcBef>
                          <a:spcPts val="630"/>
                        </a:spcBef>
                      </a:pPr>
                      <a:r>
                        <a:rPr sz="1800" kern="0" spc="3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32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样本规模</a:t>
                      </a:r>
                      <a:r>
                        <a:rPr sz="2100" kern="0" spc="-5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Perpetua" panose="02020502060401020303"/>
                          <a:ea typeface="Perpetua" panose="02020502060401020303"/>
                          <a:cs typeface="Perpetua" panose="02020502060401020303"/>
                        </a:rPr>
                        <a:t>N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更大</a:t>
                      </a:r>
                      <a:endParaRPr sz="21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marL="1285240" algn="l" rtl="0" eaLnBrk="0">
                        <a:lnSpc>
                          <a:spcPct val="87000"/>
                        </a:lnSpc>
                        <a:spcBef>
                          <a:spcPts val="630"/>
                        </a:spcBef>
                      </a:pPr>
                      <a:r>
                        <a:rPr sz="1800" kern="0" spc="4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40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40" dirty="0" err="1">
                          <a:solidFill>
                            <a:srgbClr val="000000">
                              <a:alpha val="100000"/>
                            </a:srgbClr>
                          </a:solidFill>
                          <a:latin typeface="楷体" panose="02010609060101010101" charset="-122"/>
                          <a:ea typeface="楷体" panose="02010609060101010101" charset="-122"/>
                          <a:cs typeface="楷体" panose="02010609060101010101" charset="-122"/>
                        </a:rPr>
                        <a:t>解释变量的变异更大</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60755">
                <a:tc>
                  <a:txBody>
                    <a:bodyPr/>
                    <a:lstStyle/>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6860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0" name="table 100"/>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4155"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12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89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5"/>
                        </a:spcBef>
                      </a:pPr>
                      <a:r>
                        <a:rPr sz="1800" kern="0" spc="-10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预测区间为：</a:t>
                      </a:r>
                      <a:endParaRPr sz="2100" dirty="0">
                        <a:latin typeface="楷体" panose="02010609060101010101" charset="-122"/>
                        <a:ea typeface="楷体" panose="02010609060101010101" charset="-122"/>
                        <a:cs typeface="楷体" panose="02010609060101010101" charset="-122"/>
                      </a:endParaRPr>
                    </a:p>
                    <a:p>
                      <a:pPr marL="2636520" algn="l" rtl="0" eaLnBrk="0">
                        <a:lnSpc>
                          <a:spcPct val="85000"/>
                        </a:lnSpc>
                        <a:spcBef>
                          <a:spcPts val="580"/>
                        </a:spcBef>
                      </a:pP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P</a:t>
                      </a:r>
                      <a:r>
                        <a:rPr sz="2700" kern="0" spc="0" dirty="0">
                          <a:solidFill>
                            <a:srgbClr val="000000">
                              <a:alpha val="100000"/>
                            </a:srgbClr>
                          </a:solidFill>
                          <a:latin typeface="Arial" panose="020B0604020202020204"/>
                          <a:ea typeface="Arial" panose="020B0604020202020204"/>
                          <a:cs typeface="Arial" panose="020B0604020202020204"/>
                        </a:rPr>
                        <a:t>(</a:t>
                      </a:r>
                      <a:r>
                        <a:rPr sz="2000" kern="0" spc="0" dirty="0">
                          <a:solidFill>
                            <a:srgbClr val="000000">
                              <a:alpha val="100000"/>
                            </a:srgbClr>
                          </a:solidFill>
                          <a:latin typeface="Arial" panose="020B0604020202020204"/>
                          <a:ea typeface="Arial" panose="020B0604020202020204"/>
                          <a:cs typeface="Arial" panose="020B0604020202020204"/>
                        </a:rPr>
                        <a:t>−</a:t>
                      </a:r>
                      <a:r>
                        <a:rPr sz="2000" kern="0" spc="-18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800" i="1" kern="0" spc="0" baseline="-26000" dirty="0">
                          <a:solidFill>
                            <a:srgbClr val="000000">
                              <a:alpha val="100000"/>
                            </a:srgbClr>
                          </a:solidFill>
                          <a:latin typeface="Times New Roman" panose="02020603050405020304"/>
                          <a:ea typeface="Times New Roman" panose="02020603050405020304"/>
                          <a:cs typeface="Times New Roman" panose="02020603050405020304"/>
                        </a:rPr>
                        <a:t>c</a:t>
                      </a:r>
                      <a:r>
                        <a:rPr sz="1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t </a:t>
                      </a:r>
                      <a:r>
                        <a:rPr sz="2000" kern="0" spc="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800" i="1" kern="0" spc="0" baseline="-26000" dirty="0">
                          <a:solidFill>
                            <a:srgbClr val="000000">
                              <a:alpha val="100000"/>
                            </a:srgbClr>
                          </a:solidFill>
                          <a:latin typeface="Times New Roman" panose="02020603050405020304"/>
                          <a:ea typeface="Times New Roman" panose="02020603050405020304"/>
                          <a:cs typeface="Times New Roman" panose="02020603050405020304"/>
                        </a:rPr>
                        <a:t>c</a:t>
                      </a:r>
                      <a:r>
                        <a:rPr sz="1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0" dirty="0">
                          <a:solidFill>
                            <a:srgbClr val="000000">
                              <a:alpha val="100000"/>
                            </a:srgbClr>
                          </a:solidFill>
                          <a:latin typeface="Arial" panose="020B0604020202020204"/>
                          <a:ea typeface="Arial" panose="020B0604020202020204"/>
                          <a:cs typeface="Arial" panose="020B0604020202020204"/>
                        </a:rPr>
                        <a:t>)</a:t>
                      </a:r>
                      <a:r>
                        <a:rPr sz="2700" kern="0" spc="-39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Arial" panose="020B0604020202020204"/>
                          <a:ea typeface="Arial" panose="020B0604020202020204"/>
                          <a:cs typeface="Arial" panose="020B0604020202020204"/>
                        </a:rPr>
                        <a:t>−</a:t>
                      </a:r>
                      <a:r>
                        <a:rPr sz="2100" kern="0" spc="0" dirty="0">
                          <a:solidFill>
                            <a:srgbClr val="000000">
                              <a:alpha val="100000"/>
                            </a:srgbClr>
                          </a:solidFill>
                          <a:latin typeface="Arial" panose="020B0604020202020204"/>
                          <a:ea typeface="Arial" panose="020B0604020202020204"/>
                          <a:cs typeface="Arial" panose="020B0604020202020204"/>
                        </a:rPr>
                        <a:t>α</a:t>
                      </a:r>
                      <a:endParaRPr sz="2100" dirty="0">
                        <a:latin typeface="Arial" panose="020B0604020202020204"/>
                        <a:ea typeface="Arial" panose="020B0604020202020204"/>
                        <a:cs typeface="Arial" panose="020B0604020202020204"/>
                      </a:endParaRPr>
                    </a:p>
                    <a:p>
                      <a:pPr algn="l" rtl="0" eaLnBrk="0">
                        <a:lnSpc>
                          <a:spcPct val="149000"/>
                        </a:lnSpc>
                      </a:pPr>
                      <a:endParaRPr sz="1000" dirty="0">
                        <a:latin typeface="Arial" panose="020B0604020202020204"/>
                        <a:ea typeface="Arial" panose="020B0604020202020204"/>
                        <a:cs typeface="Arial" panose="020B0604020202020204"/>
                      </a:endParaRPr>
                    </a:p>
                    <a:p>
                      <a:pPr algn="l" rtl="0" eaLnBrk="0">
                        <a:lnSpc>
                          <a:spcPct val="149000"/>
                        </a:lnSpc>
                      </a:pPr>
                      <a:endParaRPr sz="1000" dirty="0">
                        <a:latin typeface="Arial" panose="020B0604020202020204"/>
                        <a:ea typeface="Arial" panose="020B0604020202020204"/>
                        <a:cs typeface="Arial" panose="020B0604020202020204"/>
                      </a:endParaRPr>
                    </a:p>
                    <a:p>
                      <a:pPr marL="211455" algn="l" rtl="0" eaLnBrk="0">
                        <a:lnSpc>
                          <a:spcPct val="92000"/>
                        </a:lnSpc>
                        <a:spcBef>
                          <a:spcPts val="605"/>
                        </a:spcBef>
                      </a:pPr>
                      <a:r>
                        <a:rPr sz="1700" kern="0" spc="-1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160" dirty="0">
                          <a:solidFill>
                            <a:srgbClr val="000000">
                              <a:alpha val="100000"/>
                            </a:srgbClr>
                          </a:solidFill>
                          <a:latin typeface="楷体" panose="02010609060101010101" charset="-122"/>
                          <a:ea typeface="楷体" panose="02010609060101010101" charset="-122"/>
                          <a:cs typeface="楷体" panose="02010609060101010101" charset="-122"/>
                        </a:rPr>
                        <a:t>代入：</a:t>
                      </a:r>
                      <a:endParaRPr sz="2000" dirty="0">
                        <a:latin typeface="楷体" panose="02010609060101010101" charset="-122"/>
                        <a:ea typeface="楷体" panose="02010609060101010101" charset="-122"/>
                        <a:cs typeface="楷体" panose="02010609060101010101" charset="-122"/>
                      </a:endParaRPr>
                    </a:p>
                    <a:p>
                      <a:pPr marL="2012950" algn="l" rtl="0" eaLnBrk="0">
                        <a:lnSpc>
                          <a:spcPts val="6230"/>
                        </a:lnSpc>
                        <a:spcBef>
                          <a:spcPts val="320"/>
                        </a:spcBef>
                        <a:tabLst>
                          <a:tab pos="554164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591945" algn="l" rtl="0" eaLnBrk="0">
                        <a:lnSpc>
                          <a:spcPct val="83000"/>
                        </a:lnSpc>
                        <a:spcBef>
                          <a:spcPts val="1970"/>
                        </a:spcBef>
                      </a:pPr>
                      <a:r>
                        <a:rPr sz="2000" i="1" kern="0" spc="50" dirty="0">
                          <a:solidFill>
                            <a:srgbClr val="000000">
                              <a:alpha val="100000"/>
                            </a:srgbClr>
                          </a:solidFill>
                          <a:latin typeface="Times New Roman" panose="02020603050405020304"/>
                          <a:ea typeface="Times New Roman" panose="02020603050405020304"/>
                          <a:cs typeface="Times New Roman" panose="02020603050405020304"/>
                        </a:rPr>
                        <a:t>P</a:t>
                      </a:r>
                      <a:r>
                        <a:rPr sz="2800" kern="0" spc="50" dirty="0">
                          <a:solidFill>
                            <a:srgbClr val="000000">
                              <a:alpha val="100000"/>
                            </a:srgbClr>
                          </a:solidFill>
                          <a:latin typeface="Arial" panose="020B0604020202020204"/>
                          <a:ea typeface="Arial" panose="020B0604020202020204"/>
                          <a:cs typeface="Arial" panose="020B0604020202020204"/>
                        </a:rPr>
                        <a:t>[</a:t>
                      </a:r>
                      <a:r>
                        <a:rPr sz="2800" kern="0" spc="250" dirty="0">
                          <a:solidFill>
                            <a:srgbClr val="000000">
                              <a:alpha val="100000"/>
                            </a:srgbClr>
                          </a:solidFill>
                          <a:latin typeface="Arial" panose="020B0604020202020204"/>
                          <a:ea typeface="Arial" panose="020B0604020202020204"/>
                          <a:cs typeface="Arial" panose="020B0604020202020204"/>
                        </a:rPr>
                        <a:t> </a:t>
                      </a:r>
                      <a:r>
                        <a:rPr sz="1800" kern="0" spc="50" baseline="-29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50" dirty="0">
                          <a:solidFill>
                            <a:srgbClr val="000000">
                              <a:alpha val="100000"/>
                            </a:srgbClr>
                          </a:solidFill>
                          <a:latin typeface="Arial" panose="020B0604020202020204"/>
                          <a:ea typeface="Arial" panose="020B0604020202020204"/>
                          <a:cs typeface="Arial" panose="020B0604020202020204"/>
                        </a:rPr>
                        <a:t>−</a:t>
                      </a:r>
                      <a:r>
                        <a:rPr sz="2000" kern="0" spc="-17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800" i="1" kern="0" spc="0" baseline="-29000" dirty="0">
                          <a:solidFill>
                            <a:srgbClr val="000000">
                              <a:alpha val="100000"/>
                            </a:srgbClr>
                          </a:solidFill>
                          <a:latin typeface="Times New Roman" panose="02020603050405020304"/>
                          <a:ea typeface="Times New Roman" panose="02020603050405020304"/>
                          <a:cs typeface="Times New Roman" panose="02020603050405020304"/>
                        </a:rPr>
                        <a:t>c</a:t>
                      </a:r>
                      <a:r>
                        <a:rPr sz="1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se</a:t>
                      </a:r>
                      <a:r>
                        <a:rPr sz="2700" kern="0" spc="50" dirty="0">
                          <a:solidFill>
                            <a:srgbClr val="000000">
                              <a:alpha val="100000"/>
                            </a:srgbClr>
                          </a:solidFill>
                          <a:latin typeface="Arial" panose="020B0604020202020204"/>
                          <a:ea typeface="Arial" panose="020B0604020202020204"/>
                          <a:cs typeface="Arial" panose="020B0604020202020204"/>
                        </a:rPr>
                        <a:t>(</a:t>
                      </a:r>
                      <a:r>
                        <a:rPr sz="2000" i="1" kern="0" spc="50" dirty="0">
                          <a:solidFill>
                            <a:srgbClr val="000000">
                              <a:alpha val="100000"/>
                            </a:srgbClr>
                          </a:solidFill>
                          <a:latin typeface="Times New Roman" panose="02020603050405020304"/>
                          <a:ea typeface="Times New Roman" panose="02020603050405020304"/>
                          <a:cs typeface="Times New Roman" panose="02020603050405020304"/>
                        </a:rPr>
                        <a:t>f </a:t>
                      </a:r>
                      <a:r>
                        <a:rPr sz="2700" kern="0" spc="50" dirty="0">
                          <a:solidFill>
                            <a:srgbClr val="000000">
                              <a:alpha val="100000"/>
                            </a:srgbClr>
                          </a:solidFill>
                          <a:latin typeface="Arial" panose="020B0604020202020204"/>
                          <a:ea typeface="Arial" panose="020B0604020202020204"/>
                          <a:cs typeface="Arial" panose="020B0604020202020204"/>
                        </a:rPr>
                        <a:t>)</a:t>
                      </a:r>
                      <a:r>
                        <a:rPr sz="2700" kern="0" spc="-400" dirty="0">
                          <a:solidFill>
                            <a:srgbClr val="000000">
                              <a:alpha val="100000"/>
                            </a:srgbClr>
                          </a:solidFill>
                          <a:latin typeface="Arial" panose="020B0604020202020204"/>
                          <a:ea typeface="Arial" panose="020B0604020202020204"/>
                          <a:cs typeface="Arial" panose="020B0604020202020204"/>
                        </a:rPr>
                        <a:t> </a:t>
                      </a:r>
                      <a:r>
                        <a:rPr sz="2000" kern="0" spc="40" dirty="0">
                          <a:solidFill>
                            <a:srgbClr val="000000">
                              <a:alpha val="100000"/>
                            </a:srgbClr>
                          </a:solidFill>
                          <a:latin typeface="Arial" panose="020B0604020202020204"/>
                          <a:ea typeface="Arial" panose="020B0604020202020204"/>
                          <a:cs typeface="Arial" panose="020B0604020202020204"/>
                        </a:rPr>
                        <a:t>≤ </a:t>
                      </a:r>
                      <a:r>
                        <a:rPr sz="2000" i="1" kern="0" spc="40" dirty="0">
                          <a:solidFill>
                            <a:srgbClr val="000000">
                              <a:alpha val="100000"/>
                            </a:srgbClr>
                          </a:solidFill>
                          <a:latin typeface="Times New Roman" panose="02020603050405020304"/>
                          <a:ea typeface="Times New Roman" panose="02020603050405020304"/>
                          <a:cs typeface="Times New Roman" panose="02020603050405020304"/>
                        </a:rPr>
                        <a:t>y</a:t>
                      </a:r>
                      <a:r>
                        <a:rPr sz="1800" kern="0" spc="40" baseline="-29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40" dirty="0">
                          <a:solidFill>
                            <a:srgbClr val="000000">
                              <a:alpha val="100000"/>
                            </a:srgbClr>
                          </a:solidFill>
                          <a:latin typeface="Arial" panose="020B0604020202020204"/>
                          <a:ea typeface="Arial" panose="020B0604020202020204"/>
                          <a:cs typeface="Arial" panose="020B0604020202020204"/>
                        </a:rPr>
                        <a:t>≤</a:t>
                      </a:r>
                      <a:r>
                        <a:rPr sz="2000" kern="0" spc="260" dirty="0">
                          <a:solidFill>
                            <a:srgbClr val="000000">
                              <a:alpha val="100000"/>
                            </a:srgbClr>
                          </a:solidFill>
                          <a:latin typeface="Arial" panose="020B0604020202020204"/>
                          <a:ea typeface="Arial" panose="020B0604020202020204"/>
                          <a:cs typeface="Arial" panose="020B0604020202020204"/>
                        </a:rPr>
                        <a:t>  </a:t>
                      </a:r>
                      <a:r>
                        <a:rPr sz="1800" kern="0" spc="40" baseline="-29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40" dirty="0">
                          <a:solidFill>
                            <a:srgbClr val="000000">
                              <a:alpha val="100000"/>
                            </a:srgbClr>
                          </a:solidFill>
                          <a:latin typeface="Arial" panose="020B0604020202020204"/>
                          <a:ea typeface="Arial" panose="020B0604020202020204"/>
                          <a:cs typeface="Arial" panose="020B0604020202020204"/>
                        </a:rPr>
                        <a:t>+</a:t>
                      </a:r>
                      <a:r>
                        <a:rPr sz="2000" kern="0" spc="-14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t</a:t>
                      </a:r>
                      <a:r>
                        <a:rPr sz="1800" i="1" kern="0" spc="0" baseline="-29000" dirty="0">
                          <a:solidFill>
                            <a:srgbClr val="000000">
                              <a:alpha val="100000"/>
                            </a:srgbClr>
                          </a:solidFill>
                          <a:latin typeface="Times New Roman" panose="02020603050405020304"/>
                          <a:ea typeface="Times New Roman" panose="02020603050405020304"/>
                          <a:cs typeface="Times New Roman" panose="02020603050405020304"/>
                        </a:rPr>
                        <a:t>c</a:t>
                      </a:r>
                      <a:r>
                        <a:rPr sz="1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se</a:t>
                      </a:r>
                      <a:r>
                        <a:rPr sz="2700" kern="0" spc="40" dirty="0">
                          <a:solidFill>
                            <a:srgbClr val="000000">
                              <a:alpha val="100000"/>
                            </a:srgbClr>
                          </a:solidFill>
                          <a:latin typeface="Arial" panose="020B0604020202020204"/>
                          <a:ea typeface="Arial" panose="020B0604020202020204"/>
                          <a:cs typeface="Arial" panose="020B0604020202020204"/>
                        </a:rPr>
                        <a:t>(</a:t>
                      </a:r>
                      <a:r>
                        <a:rPr sz="2000" i="1" kern="0" spc="40" dirty="0">
                          <a:solidFill>
                            <a:srgbClr val="000000">
                              <a:alpha val="100000"/>
                            </a:srgbClr>
                          </a:solidFill>
                          <a:latin typeface="Times New Roman" panose="02020603050405020304"/>
                          <a:ea typeface="Times New Roman" panose="02020603050405020304"/>
                          <a:cs typeface="Times New Roman" panose="02020603050405020304"/>
                        </a:rPr>
                        <a:t>f </a:t>
                      </a:r>
                      <a:r>
                        <a:rPr sz="2700" kern="0" spc="40" dirty="0">
                          <a:solidFill>
                            <a:srgbClr val="000000">
                              <a:alpha val="100000"/>
                            </a:srgbClr>
                          </a:solidFill>
                          <a:latin typeface="Arial" panose="020B0604020202020204"/>
                          <a:ea typeface="Arial" panose="020B0604020202020204"/>
                          <a:cs typeface="Arial" panose="020B0604020202020204"/>
                        </a:rPr>
                        <a:t>)</a:t>
                      </a:r>
                      <a:r>
                        <a:rPr sz="2800" kern="0" spc="40" dirty="0">
                          <a:solidFill>
                            <a:srgbClr val="000000">
                              <a:alpha val="100000"/>
                            </a:srgbClr>
                          </a:solidFill>
                          <a:latin typeface="Arial" panose="020B0604020202020204"/>
                          <a:ea typeface="Arial" panose="020B0604020202020204"/>
                          <a:cs typeface="Arial" panose="020B0604020202020204"/>
                        </a:rPr>
                        <a:t>]</a:t>
                      </a:r>
                      <a:r>
                        <a:rPr sz="2000" kern="0" spc="40" dirty="0">
                          <a:solidFill>
                            <a:srgbClr val="000000">
                              <a:alpha val="100000"/>
                            </a:srgbClr>
                          </a:solidFill>
                          <a:latin typeface="Arial" panose="020B0604020202020204"/>
                          <a:ea typeface="Arial" panose="020B0604020202020204"/>
                          <a:cs typeface="Arial" panose="020B0604020202020204"/>
                        </a:rPr>
                        <a:t>= </a:t>
                      </a:r>
                      <a:r>
                        <a:rPr sz="2000"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40" dirty="0">
                          <a:solidFill>
                            <a:srgbClr val="000000">
                              <a:alpha val="100000"/>
                            </a:srgbClr>
                          </a:solidFill>
                          <a:latin typeface="Arial" panose="020B0604020202020204"/>
                          <a:ea typeface="Arial" panose="020B0604020202020204"/>
                          <a:cs typeface="Arial" panose="020B0604020202020204"/>
                        </a:rPr>
                        <a:t>−</a:t>
                      </a:r>
                      <a:r>
                        <a:rPr sz="2200" kern="0" spc="40" dirty="0">
                          <a:solidFill>
                            <a:srgbClr val="000000">
                              <a:alpha val="100000"/>
                            </a:srgbClr>
                          </a:solidFill>
                          <a:latin typeface="Arial" panose="020B0604020202020204"/>
                          <a:ea typeface="Arial" panose="020B0604020202020204"/>
                          <a:cs typeface="Arial" panose="020B0604020202020204"/>
                        </a:rPr>
                        <a:t>α</a:t>
                      </a:r>
                      <a:endParaRPr sz="22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5000"/>
                        </a:lnSpc>
                      </a:pPr>
                      <a:endParaRPr sz="7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12725" algn="l" rtl="0" eaLnBrk="0">
                        <a:lnSpc>
                          <a:spcPct val="85000"/>
                        </a:lnSpc>
                      </a:pPr>
                      <a:r>
                        <a:rPr sz="3100" kern="0" spc="-10" baseline="-300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100(1 – α)%</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的预测区间是：</a:t>
                      </a:r>
                      <a:r>
                        <a:rPr sz="2400" kern="0" spc="630" dirty="0">
                          <a:solidFill>
                            <a:srgbClr val="000000">
                              <a:alpha val="100000"/>
                            </a:srgbClr>
                          </a:solidFill>
                          <a:latin typeface="楷体" panose="02010609060101010101" charset="-122"/>
                          <a:ea typeface="楷体" panose="02010609060101010101" charset="-122"/>
                          <a:cs typeface="楷体" panose="02010609060101010101" charset="-122"/>
                        </a:rPr>
                        <a:t> </a:t>
                      </a:r>
                      <a:r>
                        <a:rPr sz="2000" kern="0" spc="-10" baseline="-16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20" baseline="8000" dirty="0">
                          <a:solidFill>
                            <a:srgbClr val="000000">
                              <a:alpha val="100000"/>
                            </a:srgbClr>
                          </a:solidFill>
                          <a:latin typeface="Arial" panose="020B0604020202020204"/>
                          <a:ea typeface="Arial" panose="020B0604020202020204"/>
                          <a:cs typeface="Arial" panose="020B0604020202020204"/>
                        </a:rPr>
                        <a:t>±</a:t>
                      </a:r>
                      <a:r>
                        <a:rPr sz="2200" kern="0" spc="-180" dirty="0">
                          <a:solidFill>
                            <a:srgbClr val="000000">
                              <a:alpha val="100000"/>
                            </a:srgbClr>
                          </a:solidFill>
                          <a:latin typeface="Arial" panose="020B0604020202020204"/>
                          <a:ea typeface="Arial" panose="020B0604020202020204"/>
                          <a:cs typeface="Arial" panose="020B0604020202020204"/>
                        </a:rPr>
                        <a:t> </a:t>
                      </a:r>
                      <a:r>
                        <a:rPr sz="3400" i="1" kern="0" spc="-20" baseline="8000" dirty="0">
                          <a:solidFill>
                            <a:srgbClr val="000000">
                              <a:alpha val="100000"/>
                            </a:srgbClr>
                          </a:solidFill>
                          <a:latin typeface="Times New Roman" panose="02020603050405020304"/>
                          <a:ea typeface="Times New Roman" panose="02020603050405020304"/>
                          <a:cs typeface="Times New Roman" panose="02020603050405020304"/>
                        </a:rPr>
                        <a:t>t</a:t>
                      </a:r>
                      <a:r>
                        <a:rPr sz="2000" i="1" kern="0" spc="-20" baseline="-16000" dirty="0">
                          <a:solidFill>
                            <a:srgbClr val="000000">
                              <a:alpha val="100000"/>
                            </a:srgbClr>
                          </a:solidFill>
                          <a:latin typeface="Times New Roman" panose="02020603050405020304"/>
                          <a:ea typeface="Times New Roman" panose="02020603050405020304"/>
                          <a:cs typeface="Times New Roman" panose="02020603050405020304"/>
                        </a:rPr>
                        <a:t>c</a:t>
                      </a:r>
                      <a:r>
                        <a:rPr sz="13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3400" kern="0" spc="-20" baseline="6000" dirty="0">
                          <a:solidFill>
                            <a:srgbClr val="000000">
                              <a:alpha val="100000"/>
                            </a:srgbClr>
                          </a:solidFill>
                          <a:latin typeface="Times New Roman" panose="02020603050405020304"/>
                          <a:ea typeface="Times New Roman" panose="02020603050405020304"/>
                          <a:cs typeface="Times New Roman" panose="02020603050405020304"/>
                        </a:rPr>
                        <a:t>se</a:t>
                      </a:r>
                      <a:r>
                        <a:rPr sz="22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4500" kern="0" spc="-20" baseline="5000" dirty="0">
                          <a:solidFill>
                            <a:srgbClr val="000000">
                              <a:alpha val="100000"/>
                            </a:srgbClr>
                          </a:solidFill>
                          <a:latin typeface="Arial" panose="020B0604020202020204"/>
                          <a:ea typeface="Arial" panose="020B0604020202020204"/>
                          <a:cs typeface="Arial" panose="020B0604020202020204"/>
                        </a:rPr>
                        <a:t>(</a:t>
                      </a:r>
                      <a:r>
                        <a:rPr sz="3400" i="1" kern="0" spc="-20" baseline="6000" dirty="0">
                          <a:solidFill>
                            <a:srgbClr val="000000">
                              <a:alpha val="100000"/>
                            </a:srgbClr>
                          </a:solidFill>
                          <a:latin typeface="Times New Roman" panose="02020603050405020304"/>
                          <a:ea typeface="Times New Roman" panose="02020603050405020304"/>
                          <a:cs typeface="Times New Roman" panose="02020603050405020304"/>
                        </a:rPr>
                        <a:t>f</a:t>
                      </a:r>
                      <a:r>
                        <a:rPr sz="2200" i="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20" dirty="0">
                          <a:solidFill>
                            <a:srgbClr val="000000">
                              <a:alpha val="100000"/>
                            </a:srgbClr>
                          </a:solidFill>
                          <a:latin typeface="Arial" panose="020B0604020202020204"/>
                          <a:ea typeface="Arial" panose="020B0604020202020204"/>
                          <a:cs typeface="Arial" panose="020B0604020202020204"/>
                        </a:rPr>
                        <a:t>)</a:t>
                      </a:r>
                      <a:endParaRPr sz="29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2" name="textbox 102"/>
          <p:cNvSpPr/>
          <p:nvPr/>
        </p:nvSpPr>
        <p:spPr>
          <a:xfrm>
            <a:off x="5017788" y="3614974"/>
            <a:ext cx="175260" cy="32067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8000"/>
              </a:lnSpc>
            </a:pPr>
            <a:r>
              <a:rPr sz="2200" i="1" kern="0" spc="190" dirty="0">
                <a:solidFill>
                  <a:srgbClr val="000000">
                    <a:alpha val="100000"/>
                  </a:srgbClr>
                </a:solidFill>
                <a:latin typeface="Times New Roman" panose="02020603050405020304"/>
                <a:ea typeface="Times New Roman" panose="02020603050405020304"/>
                <a:cs typeface="Times New Roman" panose="02020603050405020304"/>
              </a:rPr>
              <a:t>y</a:t>
            </a:r>
            <a:endParaRPr sz="2200" dirty="0">
              <a:latin typeface="Times New Roman" panose="02020603050405020304"/>
              <a:ea typeface="Times New Roman" panose="02020603050405020304"/>
              <a:cs typeface="Times New Roman" panose="02020603050405020304"/>
            </a:endParaRPr>
          </a:p>
        </p:txBody>
      </p:sp>
      <p:sp>
        <p:nvSpPr>
          <p:cNvPr id="104" name="textbox 104"/>
          <p:cNvSpPr/>
          <p:nvPr/>
        </p:nvSpPr>
        <p:spPr>
          <a:xfrm>
            <a:off x="5067579" y="3601585"/>
            <a:ext cx="112395" cy="28447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35"/>
              </a:lnSpc>
            </a:pPr>
            <a:r>
              <a:rPr sz="1600" kern="0" spc="-8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
        <p:nvSpPr>
          <p:cNvPr id="106" name="textbox 106"/>
          <p:cNvSpPr/>
          <p:nvPr/>
        </p:nvSpPr>
        <p:spPr>
          <a:xfrm>
            <a:off x="4663605" y="3007619"/>
            <a:ext cx="167639" cy="29464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88000"/>
              </a:lnSpc>
            </a:pPr>
            <a:r>
              <a:rPr sz="2000" i="1" kern="0" spc="210" dirty="0">
                <a:solidFill>
                  <a:srgbClr val="000000">
                    <a:alpha val="100000"/>
                  </a:srgbClr>
                </a:solidFill>
                <a:latin typeface="Times New Roman" panose="02020603050405020304"/>
                <a:ea typeface="Times New Roman" panose="02020603050405020304"/>
                <a:cs typeface="Times New Roman" panose="02020603050405020304"/>
              </a:rPr>
              <a:t>y</a:t>
            </a:r>
            <a:endParaRPr sz="2000" dirty="0">
              <a:latin typeface="Times New Roman" panose="02020603050405020304"/>
              <a:ea typeface="Times New Roman" panose="02020603050405020304"/>
              <a:cs typeface="Times New Roman" panose="02020603050405020304"/>
            </a:endParaRPr>
          </a:p>
        </p:txBody>
      </p:sp>
      <p:sp>
        <p:nvSpPr>
          <p:cNvPr id="108" name="textbox 108"/>
          <p:cNvSpPr/>
          <p:nvPr/>
        </p:nvSpPr>
        <p:spPr>
          <a:xfrm>
            <a:off x="4698026" y="2995598"/>
            <a:ext cx="107950" cy="26733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905"/>
              </a:lnSpc>
            </a:pPr>
            <a:r>
              <a:rPr sz="15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500" dirty="0">
              <a:latin typeface="Times New Roman" panose="02020603050405020304"/>
              <a:ea typeface="Times New Roman" panose="02020603050405020304"/>
              <a:cs typeface="Times New Roman" panose="02020603050405020304"/>
            </a:endParaRPr>
          </a:p>
        </p:txBody>
      </p:sp>
      <p:sp>
        <p:nvSpPr>
          <p:cNvPr id="110" name="textbox 110"/>
          <p:cNvSpPr/>
          <p:nvPr/>
        </p:nvSpPr>
        <p:spPr>
          <a:xfrm>
            <a:off x="2645872" y="3007619"/>
            <a:ext cx="167639" cy="29464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88000"/>
              </a:lnSpc>
            </a:pPr>
            <a:r>
              <a:rPr sz="2000" i="1" kern="0" spc="210" dirty="0">
                <a:solidFill>
                  <a:srgbClr val="000000">
                    <a:alpha val="100000"/>
                  </a:srgbClr>
                </a:solidFill>
                <a:latin typeface="Times New Roman" panose="02020603050405020304"/>
                <a:ea typeface="Times New Roman" panose="02020603050405020304"/>
                <a:cs typeface="Times New Roman" panose="02020603050405020304"/>
              </a:rPr>
              <a:t>y</a:t>
            </a:r>
            <a:endParaRPr sz="2000" dirty="0">
              <a:latin typeface="Times New Roman" panose="02020603050405020304"/>
              <a:ea typeface="Times New Roman" panose="02020603050405020304"/>
              <a:cs typeface="Times New Roman" panose="02020603050405020304"/>
            </a:endParaRPr>
          </a:p>
        </p:txBody>
      </p:sp>
      <p:sp>
        <p:nvSpPr>
          <p:cNvPr id="112" name="textbox 112"/>
          <p:cNvSpPr/>
          <p:nvPr/>
        </p:nvSpPr>
        <p:spPr>
          <a:xfrm>
            <a:off x="2664441" y="2995598"/>
            <a:ext cx="107950" cy="26733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905"/>
              </a:lnSpc>
            </a:pPr>
            <a:r>
              <a:rPr sz="15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500" dirty="0">
              <a:latin typeface="Times New Roman" panose="02020603050405020304"/>
              <a:ea typeface="Times New Roman" panose="02020603050405020304"/>
              <a:cs typeface="Times New Roman" panose="02020603050405020304"/>
            </a:endParaRPr>
          </a:p>
        </p:txBody>
      </p:sp>
      <p:pic>
        <p:nvPicPr>
          <p:cNvPr id="114" name="picture 114"/>
          <p:cNvPicPr>
            <a:picLocks noChangeAspect="1"/>
          </p:cNvPicPr>
          <p:nvPr/>
        </p:nvPicPr>
        <p:blipFill>
          <a:blip r:embed="rId1"/>
          <a:stretch>
            <a:fillRect/>
          </a:stretch>
        </p:blipFill>
        <p:spPr>
          <a:xfrm rot="21600000">
            <a:off x="2827532" y="1909045"/>
            <a:ext cx="3529616" cy="791496"/>
          </a:xfrm>
          <a:prstGeom prst="rect">
            <a:avLst/>
          </a:prstGeom>
        </p:spPr>
      </p:pic>
      <p:graphicFrame>
        <p:nvGraphicFramePr>
          <p:cNvPr id="116" name="table 116"/>
          <p:cNvGraphicFramePr>
            <a:graphicFrameLocks noGrp="1"/>
          </p:cNvGraphicFramePr>
          <p:nvPr/>
        </p:nvGraphicFramePr>
        <p:xfrm>
          <a:off x="1959610" y="4184650"/>
          <a:ext cx="5224780" cy="2404745"/>
        </p:xfrm>
        <a:graphic>
          <a:graphicData uri="http://schemas.openxmlformats.org/drawingml/2006/table">
            <a:tbl>
              <a:tblPr/>
              <a:tblGrid>
                <a:gridCol w="5224780"/>
              </a:tblGrid>
              <a:tr h="240474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118" name="picture 118"/>
          <p:cNvPicPr>
            <a:picLocks noChangeAspect="1"/>
          </p:cNvPicPr>
          <p:nvPr/>
        </p:nvPicPr>
        <p:blipFill>
          <a:blip r:embed="rId2"/>
          <a:stretch>
            <a:fillRect/>
          </a:stretch>
        </p:blipFill>
        <p:spPr>
          <a:xfrm rot="21600000">
            <a:off x="1965960" y="4191000"/>
            <a:ext cx="5212080" cy="2398776"/>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box 124"/>
          <p:cNvSpPr/>
          <p:nvPr/>
        </p:nvSpPr>
        <p:spPr>
          <a:xfrm>
            <a:off x="128270" y="57150"/>
            <a:ext cx="8961755" cy="6659245"/>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30000"/>
              </a:lnSpc>
            </a:pPr>
            <a:endParaRPr sz="300" dirty="0">
              <a:latin typeface="Arial" panose="020B0604020202020204"/>
              <a:ea typeface="Arial" panose="020B0604020202020204"/>
              <a:cs typeface="Arial" panose="020B0604020202020204"/>
            </a:endParaRPr>
          </a:p>
          <a:p>
            <a:pPr marL="788670" algn="l" rtl="0" eaLnBrk="0">
              <a:lnSpc>
                <a:spcPct val="87000"/>
              </a:lnSpc>
              <a:spcBef>
                <a:spcPts val="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50" dirty="0">
                <a:solidFill>
                  <a:srgbClr val="000000">
                    <a:alpha val="100000"/>
                  </a:srgbClr>
                </a:solidFill>
                <a:latin typeface="楷体" panose="02010609060101010101" charset="-122"/>
                <a:ea typeface="楷体" panose="02010609060101010101" charset="-122"/>
                <a:cs typeface="楷体" panose="02010609060101010101" charset="-122"/>
              </a:rPr>
              <a:t>食品支出的例子</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788670" algn="l" rtl="0" eaLnBrk="0">
              <a:lnSpc>
                <a:spcPct val="87000"/>
              </a:lnSpc>
              <a:spcBef>
                <a:spcPts val="64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点预测值：</a:t>
            </a:r>
            <a:endParaRPr sz="2100" dirty="0">
              <a:latin typeface="楷体" panose="02010609060101010101" charset="-122"/>
              <a:ea typeface="楷体" panose="02010609060101010101" charset="-122"/>
              <a:cs typeface="楷体" panose="02010609060101010101" charset="-122"/>
            </a:endParaRPr>
          </a:p>
          <a:p>
            <a:pPr marL="1871345" algn="l" rtl="0" eaLnBrk="0">
              <a:lnSpc>
                <a:spcPct val="86000"/>
              </a:lnSpc>
              <a:spcBef>
                <a:spcPts val="1685"/>
              </a:spcBef>
            </a:pPr>
            <a:r>
              <a:rPr sz="1800" kern="0" spc="-40" baseline="-26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80" dirty="0">
                <a:solidFill>
                  <a:srgbClr val="000000">
                    <a:alpha val="100000"/>
                  </a:srgbClr>
                </a:solidFill>
                <a:latin typeface="Arial" panose="020B0604020202020204"/>
                <a:ea typeface="Arial" panose="020B0604020202020204"/>
                <a:cs typeface="Arial" panose="020B0604020202020204"/>
              </a:rPr>
              <a:t>=</a:t>
            </a:r>
            <a:r>
              <a:rPr sz="2000" kern="0" spc="-90" dirty="0">
                <a:solidFill>
                  <a:srgbClr val="000000">
                    <a:alpha val="100000"/>
                  </a:srgbClr>
                </a:solidFill>
                <a:latin typeface="Arial" panose="020B0604020202020204"/>
                <a:ea typeface="Arial" panose="020B0604020202020204"/>
                <a:cs typeface="Arial" panose="020B0604020202020204"/>
              </a:rPr>
              <a:t> </a:t>
            </a:r>
            <a:r>
              <a:rPr sz="2000" i="1" kern="0" spc="-80" dirty="0">
                <a:solidFill>
                  <a:srgbClr val="000000">
                    <a:alpha val="100000"/>
                  </a:srgbClr>
                </a:solidFill>
                <a:latin typeface="Times New Roman" panose="02020603050405020304"/>
                <a:ea typeface="Times New Roman" panose="02020603050405020304"/>
                <a:cs typeface="Times New Roman" panose="02020603050405020304"/>
              </a:rPr>
              <a:t>b</a:t>
            </a:r>
            <a:r>
              <a:rPr sz="1800" kern="0" spc="-8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80" dirty="0">
                <a:solidFill>
                  <a:srgbClr val="000000">
                    <a:alpha val="100000"/>
                  </a:srgbClr>
                </a:solidFill>
                <a:latin typeface="Arial" panose="020B0604020202020204"/>
                <a:ea typeface="Arial" panose="020B0604020202020204"/>
                <a:cs typeface="Arial" panose="020B0604020202020204"/>
              </a:rPr>
              <a:t>+</a:t>
            </a:r>
            <a:r>
              <a:rPr sz="2000" kern="0" spc="-190" dirty="0">
                <a:solidFill>
                  <a:srgbClr val="000000">
                    <a:alpha val="100000"/>
                  </a:srgbClr>
                </a:solidFill>
                <a:latin typeface="Arial" panose="020B0604020202020204"/>
                <a:ea typeface="Arial" panose="020B0604020202020204"/>
                <a:cs typeface="Arial" panose="020B0604020202020204"/>
              </a:rPr>
              <a:t> </a:t>
            </a:r>
            <a:r>
              <a:rPr sz="2000" i="1" kern="0" spc="-80" dirty="0">
                <a:solidFill>
                  <a:srgbClr val="000000">
                    <a:alpha val="100000"/>
                  </a:srgbClr>
                </a:solidFill>
                <a:latin typeface="Times New Roman" panose="02020603050405020304"/>
                <a:ea typeface="Times New Roman" panose="02020603050405020304"/>
                <a:cs typeface="Times New Roman" panose="02020603050405020304"/>
              </a:rPr>
              <a:t>b</a:t>
            </a:r>
            <a:r>
              <a:rPr sz="1800" kern="0" spc="-8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800" kern="0" spc="10" baseline="-26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Arial" panose="020B0604020202020204"/>
                <a:ea typeface="Arial" panose="020B0604020202020204"/>
                <a:cs typeface="Arial" panose="020B0604020202020204"/>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83.4160</a:t>
            </a:r>
            <a:r>
              <a:rPr sz="2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Arial" panose="020B0604020202020204"/>
                <a:ea typeface="Arial" panose="020B0604020202020204"/>
                <a:cs typeface="Arial" panose="020B0604020202020204"/>
              </a:rPr>
              <a: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10.2096</a:t>
            </a:r>
            <a:r>
              <a:rPr sz="20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20</a:t>
            </a:r>
            <a:r>
              <a:rPr sz="2700" kern="0" spc="0" dirty="0">
                <a:solidFill>
                  <a:srgbClr val="000000">
                    <a:alpha val="100000"/>
                  </a:srgbClr>
                </a:solidFill>
                <a:latin typeface="Arial" panose="020B0604020202020204"/>
                <a:ea typeface="Arial" panose="020B0604020202020204"/>
                <a:cs typeface="Arial" panose="020B0604020202020204"/>
              </a:rPr>
              <a:t>)</a:t>
            </a:r>
            <a:r>
              <a:rPr sz="2700" kern="0" spc="-28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287.6089</a:t>
            </a:r>
            <a:endParaRPr sz="20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a:ea typeface="Arial" panose="020B0604020202020204"/>
              <a:cs typeface="Arial" panose="020B0604020202020204"/>
            </a:endParaRPr>
          </a:p>
          <a:p>
            <a:pPr marL="788670" algn="l" rtl="0" eaLnBrk="0">
              <a:lnSpc>
                <a:spcPct val="87000"/>
              </a:lnSpc>
              <a:spcBef>
                <a:spcPts val="63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预测误差的方差估计值为：</a:t>
            </a:r>
            <a:endParaRPr sz="2100" dirty="0">
              <a:latin typeface="楷体" panose="02010609060101010101" charset="-122"/>
              <a:ea typeface="楷体" panose="02010609060101010101" charset="-122"/>
              <a:cs typeface="楷体" panose="02010609060101010101" charset="-122"/>
            </a:endParaRPr>
          </a:p>
          <a:p>
            <a:pPr marL="3187700" indent="-749300" algn="l" rtl="0" eaLnBrk="0">
              <a:lnSpc>
                <a:spcPct val="497000"/>
              </a:lnSpc>
              <a:spcBef>
                <a:spcPts val="955"/>
              </a:spcBef>
              <a:tabLst>
                <a:tab pos="5773420" algn="l"/>
                <a:tab pos="5986145" algn="l"/>
                <a:tab pos="6403340" algn="l"/>
              </a:tabLst>
            </a:pP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788670" algn="l" rtl="0" eaLnBrk="0">
              <a:lnSpc>
                <a:spcPts val="2745"/>
              </a:lnSpc>
              <a:spcBef>
                <a:spcPts val="4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50" baseline="-12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的</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95%</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预测区间为：</a:t>
            </a:r>
            <a:endParaRPr sz="2100" dirty="0">
              <a:latin typeface="楷体" panose="02010609060101010101" charset="-122"/>
              <a:ea typeface="楷体" panose="02010609060101010101" charset="-122"/>
              <a:cs typeface="楷体" panose="02010609060101010101" charset="-122"/>
            </a:endParaRPr>
          </a:p>
          <a:p>
            <a:pPr algn="l" rtl="0" eaLnBrk="0">
              <a:lnSpc>
                <a:spcPct val="198000"/>
              </a:lnSpc>
            </a:pPr>
            <a:endParaRPr sz="1000" dirty="0">
              <a:latin typeface="Arial" panose="020B0604020202020204"/>
              <a:ea typeface="Arial" panose="020B0604020202020204"/>
              <a:cs typeface="Arial" panose="020B0604020202020204"/>
            </a:endParaRPr>
          </a:p>
          <a:p>
            <a:pPr marL="2498725" algn="l" rtl="0" eaLnBrk="0">
              <a:lnSpc>
                <a:spcPts val="2365"/>
              </a:lnSpc>
              <a:spcBef>
                <a:spcPts val="300"/>
              </a:spcBef>
              <a:tabLst>
                <a:tab pos="667258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3714115" algn="l" rtl="0" eaLnBrk="0">
              <a:lnSpc>
                <a:spcPct val="79000"/>
              </a:lnSpc>
              <a:spcBef>
                <a:spcPts val="905"/>
              </a:spcBef>
            </a:pPr>
            <a:r>
              <a:rPr sz="1900" kern="0" spc="-20" dirty="0">
                <a:solidFill>
                  <a:srgbClr val="000000">
                    <a:alpha val="100000"/>
                  </a:srgbClr>
                </a:solidFill>
                <a:latin typeface="Arial" panose="020B0604020202020204"/>
                <a:ea typeface="Arial" panose="020B0604020202020204"/>
                <a:cs typeface="Arial" panose="020B0604020202020204"/>
              </a:rPr>
              <a:t>= </a:t>
            </a:r>
            <a:r>
              <a:rPr sz="26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104.1323</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40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471.0854</a:t>
            </a:r>
            <a:r>
              <a:rPr sz="2600" kern="0" spc="-30" dirty="0">
                <a:solidFill>
                  <a:srgbClr val="000000">
                    <a:alpha val="100000"/>
                  </a:srgbClr>
                </a:solidFill>
                <a:latin typeface="Arial" panose="020B0604020202020204"/>
                <a:ea typeface="Arial" panose="020B0604020202020204"/>
                <a:cs typeface="Arial" panose="020B0604020202020204"/>
              </a:rPr>
              <a:t>]</a:t>
            </a:r>
            <a:endParaRPr sz="2600" dirty="0">
              <a:latin typeface="Arial" panose="020B0604020202020204"/>
              <a:ea typeface="Arial" panose="020B0604020202020204"/>
              <a:cs typeface="Arial" panose="020B0604020202020204"/>
            </a:endParaRPr>
          </a:p>
          <a:p>
            <a:pPr algn="l" rtl="0" eaLnBrk="0">
              <a:lnSpc>
                <a:spcPct val="103000"/>
              </a:lnSpc>
            </a:pPr>
            <a:endParaRPr sz="1400" dirty="0">
              <a:latin typeface="Arial" panose="020B0604020202020204"/>
              <a:ea typeface="Arial" panose="020B0604020202020204"/>
              <a:cs typeface="Arial" panose="020B0604020202020204"/>
            </a:endParaRPr>
          </a:p>
          <a:p>
            <a:pPr marL="136525" algn="l" rtl="0" eaLnBrk="0">
              <a:lnSpc>
                <a:spcPts val="2745"/>
              </a:lnSpc>
              <a:spcBef>
                <a:spcPts val="5"/>
              </a:spcBef>
            </a:pPr>
            <a:r>
              <a:rPr sz="2100" b="1" kern="0" spc="20" baseline="-5000" dirty="0">
                <a:solidFill>
                  <a:srgbClr val="FFFFFF">
                    <a:alpha val="100000"/>
                  </a:srgbClr>
                </a:solidFill>
                <a:latin typeface="Franklin Gothic Book" panose="020B0503020102020204"/>
                <a:ea typeface="Franklin Gothic Book" panose="020B0503020102020204"/>
                <a:cs typeface="Franklin Gothic Book" panose="020B0503020102020204"/>
              </a:rPr>
              <a:t>13</a:t>
            </a:r>
            <a:r>
              <a:rPr sz="1300" kern="0" spc="20" dirty="0">
                <a:solidFill>
                  <a:srgbClr val="FFFFFF">
                    <a:alpha val="100000"/>
                  </a:srgbClr>
                </a:solidFill>
                <a:latin typeface="Franklin Gothic Book" panose="020B0503020102020204"/>
                <a:ea typeface="Franklin Gothic Book" panose="020B0503020102020204"/>
                <a:cs typeface="Franklin Gothic Book" panose="020B0503020102020204"/>
              </a:rPr>
              <a:t>         </a:t>
            </a:r>
            <a:r>
              <a:rPr sz="1300" kern="0" spc="10" dirty="0">
                <a:solidFill>
                  <a:srgbClr val="FFFFFF">
                    <a:alpha val="100000"/>
                  </a:srgbClr>
                </a:solidFill>
                <a:latin typeface="Franklin Gothic Book" panose="020B0503020102020204"/>
                <a:ea typeface="Franklin Gothic Book" panose="020B0503020102020204"/>
                <a:cs typeface="Franklin Gothic Book" panose="020B0503020102020204"/>
              </a:rPr>
              <a:t>  </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E(y</a:t>
            </a:r>
            <a:r>
              <a:rPr sz="2200" kern="0" spc="10" baseline="-1200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的</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95%</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预测区间为：</a:t>
            </a:r>
            <a:r>
              <a:rPr sz="2100" kern="0" spc="-2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[258.91,316.31]</a:t>
            </a:r>
            <a:endParaRPr sz="2100" dirty="0">
              <a:latin typeface="Times New Roman" panose="02020603050405020304"/>
              <a:ea typeface="Times New Roman" panose="02020603050405020304"/>
              <a:cs typeface="Times New Roman" panose="02020603050405020304"/>
            </a:endParaRPr>
          </a:p>
        </p:txBody>
      </p:sp>
      <p:pic>
        <p:nvPicPr>
          <p:cNvPr id="126" name="picture 126"/>
          <p:cNvPicPr>
            <a:picLocks noChangeAspect="1"/>
          </p:cNvPicPr>
          <p:nvPr/>
        </p:nvPicPr>
        <p:blipFill>
          <a:blip r:embed="rId1"/>
          <a:stretch>
            <a:fillRect/>
          </a:stretch>
        </p:blipFill>
        <p:spPr>
          <a:xfrm rot="21600000">
            <a:off x="2649170" y="5269164"/>
            <a:ext cx="4174006" cy="300651"/>
          </a:xfrm>
          <a:prstGeom prst="rect">
            <a:avLst/>
          </a:prstGeom>
        </p:spPr>
      </p:pic>
      <p:pic>
        <p:nvPicPr>
          <p:cNvPr id="128" name="picture 128"/>
          <p:cNvPicPr>
            <a:picLocks noChangeAspect="1"/>
          </p:cNvPicPr>
          <p:nvPr/>
        </p:nvPicPr>
        <p:blipFill>
          <a:blip r:embed="rId2"/>
          <a:stretch>
            <a:fillRect/>
          </a:stretch>
        </p:blipFill>
        <p:spPr>
          <a:xfrm rot="21600000">
            <a:off x="3338487" y="3976089"/>
            <a:ext cx="2798474" cy="548558"/>
          </a:xfrm>
          <a:prstGeom prst="rect">
            <a:avLst/>
          </a:prstGeom>
        </p:spPr>
      </p:pic>
      <p:pic>
        <p:nvPicPr>
          <p:cNvPr id="130" name="picture 130"/>
          <p:cNvPicPr>
            <a:picLocks noChangeAspect="1"/>
          </p:cNvPicPr>
          <p:nvPr/>
        </p:nvPicPr>
        <p:blipFill>
          <a:blip r:embed="rId3"/>
          <a:stretch>
            <a:fillRect/>
          </a:stretch>
        </p:blipFill>
        <p:spPr>
          <a:xfrm rot="21600000">
            <a:off x="3338487" y="3175076"/>
            <a:ext cx="3215209" cy="714461"/>
          </a:xfrm>
          <a:prstGeom prst="rect">
            <a:avLst/>
          </a:prstGeom>
        </p:spPr>
      </p:pic>
      <p:pic>
        <p:nvPicPr>
          <p:cNvPr id="132" name="picture 132"/>
          <p:cNvPicPr>
            <a:picLocks noChangeAspect="1"/>
          </p:cNvPicPr>
          <p:nvPr/>
        </p:nvPicPr>
        <p:blipFill>
          <a:blip r:embed="rId4"/>
          <a:stretch>
            <a:fillRect/>
          </a:stretch>
        </p:blipFill>
        <p:spPr>
          <a:xfrm rot="21600000">
            <a:off x="2588656" y="2253627"/>
            <a:ext cx="3334951" cy="815068"/>
          </a:xfrm>
          <a:prstGeom prst="rect">
            <a:avLst/>
          </a:prstGeom>
        </p:spPr>
      </p:pic>
      <p:sp>
        <p:nvSpPr>
          <p:cNvPr id="134" name="textbox 134"/>
          <p:cNvSpPr/>
          <p:nvPr/>
        </p:nvSpPr>
        <p:spPr>
          <a:xfrm>
            <a:off x="1867830" y="1285805"/>
            <a:ext cx="163829" cy="292100"/>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marL="12700" algn="l" rtl="0" eaLnBrk="0">
              <a:lnSpc>
                <a:spcPct val="87000"/>
              </a:lnSpc>
            </a:pPr>
            <a:r>
              <a:rPr sz="2000" i="1" kern="0" spc="180" dirty="0">
                <a:solidFill>
                  <a:srgbClr val="000000">
                    <a:alpha val="100000"/>
                  </a:srgbClr>
                </a:solidFill>
                <a:latin typeface="Times New Roman" panose="02020603050405020304"/>
                <a:ea typeface="Times New Roman" panose="02020603050405020304"/>
                <a:cs typeface="Times New Roman" panose="02020603050405020304"/>
              </a:rPr>
              <a:t>y</a:t>
            </a:r>
            <a:endParaRPr sz="2000" dirty="0">
              <a:latin typeface="Times New Roman" panose="02020603050405020304"/>
              <a:ea typeface="Times New Roman" panose="02020603050405020304"/>
              <a:cs typeface="Times New Roman" panose="02020603050405020304"/>
            </a:endParaRPr>
          </a:p>
        </p:txBody>
      </p:sp>
      <p:sp>
        <p:nvSpPr>
          <p:cNvPr id="136" name="textbox 136"/>
          <p:cNvSpPr/>
          <p:nvPr/>
        </p:nvSpPr>
        <p:spPr>
          <a:xfrm>
            <a:off x="1915355" y="1273569"/>
            <a:ext cx="106045" cy="26225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860"/>
              </a:lnSpc>
            </a:pPr>
            <a:r>
              <a:rPr sz="1400"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14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8" name="table 138"/>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14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2019935" algn="l" rtl="0" eaLnBrk="0">
                        <a:lnSpc>
                          <a:spcPct val="87000"/>
                        </a:lnSpc>
                        <a:spcBef>
                          <a:spcPts val="5"/>
                        </a:spcBef>
                      </a:pPr>
                      <a:r>
                        <a:rPr sz="3600" b="1" kern="0" spc="-30" dirty="0">
                          <a:solidFill>
                            <a:srgbClr val="000000">
                              <a:alpha val="100000"/>
                            </a:srgbClr>
                          </a:solidFill>
                          <a:latin typeface="黑体" panose="02010609060101010101" charset="-122"/>
                          <a:ea typeface="黑体" panose="02010609060101010101" charset="-122"/>
                          <a:cs typeface="黑体" panose="02010609060101010101" charset="-122"/>
                        </a:rPr>
                        <a:t>二、衡量拟合优度</a:t>
                      </a:r>
                      <a:endParaRPr sz="3600" dirty="0">
                        <a:latin typeface="黑体" panose="02010609060101010101" charset="-122"/>
                        <a:ea typeface="黑体" panose="02010609060101010101" charset="-122"/>
                        <a:cs typeface="黑体" panose="02010609060101010101"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分析计量经济模型的两</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个主要目的是：</a:t>
                      </a:r>
                      <a:endParaRPr sz="21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4000"/>
                        </a:lnSpc>
                      </a:pPr>
                      <a:endParaRPr sz="1000" dirty="0">
                        <a:latin typeface="Arial" panose="020B0604020202020204"/>
                        <a:ea typeface="Arial" panose="020B0604020202020204"/>
                        <a:cs typeface="Arial" panose="020B0604020202020204"/>
                      </a:endParaRPr>
                    </a:p>
                    <a:p>
                      <a:pPr marL="2780665" algn="l" rtl="0" eaLnBrk="0">
                        <a:lnSpc>
                          <a:spcPct val="92000"/>
                        </a:lnSpc>
                        <a:spcBef>
                          <a:spcPts val="705"/>
                        </a:spcBef>
                      </a:pPr>
                      <a:r>
                        <a:rPr sz="36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10" baseline="-22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10" baseline="3000" dirty="0">
                          <a:solidFill>
                            <a:srgbClr val="000000">
                              <a:alpha val="100000"/>
                            </a:srgbClr>
                          </a:solidFill>
                          <a:latin typeface="Arial" panose="020B0604020202020204"/>
                          <a:ea typeface="Arial" panose="020B0604020202020204"/>
                          <a:cs typeface="Arial" panose="020B0604020202020204"/>
                        </a:rPr>
                        <a:t>=</a:t>
                      </a:r>
                      <a:r>
                        <a:rPr sz="2300" kern="0" spc="-10" dirty="0">
                          <a:solidFill>
                            <a:srgbClr val="000000">
                              <a:alpha val="100000"/>
                            </a:srgbClr>
                          </a:solidFill>
                          <a:latin typeface="Arial" panose="020B0604020202020204"/>
                          <a:ea typeface="Arial" panose="020B0604020202020204"/>
                          <a:cs typeface="Arial" panose="020B0604020202020204"/>
                        </a:rPr>
                        <a:t> </a:t>
                      </a:r>
                      <a:r>
                        <a:rPr sz="3600" kern="0" spc="-1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1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10" baseline="3000" dirty="0">
                          <a:solidFill>
                            <a:srgbClr val="000000">
                              <a:alpha val="100000"/>
                            </a:srgbClr>
                          </a:solidFill>
                          <a:latin typeface="Arial" panose="020B0604020202020204"/>
                          <a:ea typeface="Arial" panose="020B0604020202020204"/>
                          <a:cs typeface="Arial" panose="020B0604020202020204"/>
                        </a:rPr>
                        <a:t>+</a:t>
                      </a:r>
                      <a:r>
                        <a:rPr sz="2300" kern="0" spc="-180" dirty="0">
                          <a:solidFill>
                            <a:srgbClr val="000000">
                              <a:alpha val="100000"/>
                            </a:srgbClr>
                          </a:solidFill>
                          <a:latin typeface="Arial" panose="020B0604020202020204"/>
                          <a:ea typeface="Arial" panose="020B0604020202020204"/>
                          <a:cs typeface="Arial" panose="020B0604020202020204"/>
                        </a:rPr>
                        <a:t> </a:t>
                      </a:r>
                      <a:r>
                        <a:rPr sz="3600" kern="0" spc="-1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1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6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10" baseline="-22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20" baseline="3000" dirty="0">
                          <a:solidFill>
                            <a:srgbClr val="000000">
                              <a:alpha val="100000"/>
                            </a:srgbClr>
                          </a:solidFill>
                          <a:latin typeface="Arial" panose="020B0604020202020204"/>
                          <a:ea typeface="Arial" panose="020B0604020202020204"/>
                          <a:cs typeface="Arial" panose="020B0604020202020204"/>
                        </a:rPr>
                        <a:t>+</a:t>
                      </a:r>
                      <a:r>
                        <a:rPr sz="2300" kern="0" spc="-160" dirty="0">
                          <a:solidFill>
                            <a:srgbClr val="000000">
                              <a:alpha val="100000"/>
                            </a:srgbClr>
                          </a:solidFill>
                          <a:latin typeface="Arial" panose="020B0604020202020204"/>
                          <a:ea typeface="Arial" panose="020B0604020202020204"/>
                          <a:cs typeface="Arial" panose="020B0604020202020204"/>
                        </a:rPr>
                        <a:t> </a:t>
                      </a:r>
                      <a:r>
                        <a:rPr sz="36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20" baseline="-22000" dirty="0">
                          <a:solidFill>
                            <a:srgbClr val="000000">
                              <a:alpha val="100000"/>
                            </a:srgbClr>
                          </a:solidFill>
                          <a:latin typeface="Times New Roman" panose="02020603050405020304"/>
                          <a:ea typeface="Times New Roman" panose="02020603050405020304"/>
                          <a:cs typeface="Times New Roman" panose="02020603050405020304"/>
                        </a:rPr>
                        <a:t>i</a:t>
                      </a:r>
                      <a:endParaRPr sz="2100" baseline="-220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720725" algn="l" rtl="0" eaLnBrk="0">
                        <a:lnSpc>
                          <a:spcPts val="2745"/>
                        </a:lnSpc>
                        <a:spcBef>
                          <a:spcPts val="635"/>
                        </a:spcBef>
                      </a:pP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目的一：解释因变量</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如何随自变量</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的改变而改变</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marL="720090" algn="l" rtl="0" eaLnBrk="0">
                        <a:lnSpc>
                          <a:spcPts val="2740"/>
                        </a:lnSpc>
                        <a:spcBef>
                          <a:spcPts val="1615"/>
                        </a:spcBef>
                      </a:pP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目的二：给定</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30" baseline="-900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来预测</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30" baseline="-9000" dirty="0">
                          <a:solidFill>
                            <a:srgbClr val="000000">
                              <a:alpha val="100000"/>
                            </a:srgbClr>
                          </a:solidFill>
                          <a:latin typeface="Times New Roman" panose="02020603050405020304"/>
                          <a:ea typeface="Times New Roman" panose="02020603050405020304"/>
                          <a:cs typeface="Times New Roman" panose="02020603050405020304"/>
                        </a:rPr>
                        <a:t>0</a:t>
                      </a:r>
                      <a:r>
                        <a:rPr sz="2200" kern="0" spc="30" baseline="-9000" dirty="0">
                          <a:solidFill>
                            <a:srgbClr val="000000">
                              <a:alpha val="100000"/>
                            </a:srgbClr>
                          </a:solidFill>
                          <a:latin typeface="楷体" panose="02010609060101010101" charset="-122"/>
                          <a:ea typeface="楷体" panose="02010609060101010101" charset="-122"/>
                          <a:cs typeface="楷体" panose="02010609060101010101" charset="-122"/>
                        </a:rPr>
                        <a:t>；</a:t>
                      </a:r>
                      <a:endParaRPr sz="2200" baseline="-9000" dirty="0">
                        <a:latin typeface="楷体" panose="02010609060101010101" charset="-122"/>
                        <a:ea typeface="楷体" panose="02010609060101010101" charset="-122"/>
                        <a:cs typeface="楷体" panose="02010609060101010101" charset="-122"/>
                      </a:endParaRPr>
                    </a:p>
                    <a:p>
                      <a:pPr marL="635635" algn="l" rtl="0" eaLnBrk="0">
                        <a:lnSpc>
                          <a:spcPts val="2740"/>
                        </a:lnSpc>
                        <a:spcBef>
                          <a:spcPts val="1815"/>
                        </a:spcBef>
                      </a:pP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与预测目的密切相关的是，我们希望利用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0" baseline="-14000" dirty="0">
                          <a:solidFill>
                            <a:srgbClr val="000000">
                              <a:alpha val="100000"/>
                            </a:srgbClr>
                          </a:solidFill>
                          <a:latin typeface="Times New Roman" panose="02020603050405020304"/>
                          <a:ea typeface="Times New Roman" panose="02020603050405020304"/>
                          <a:cs typeface="Times New Roman" panose="02020603050405020304"/>
                        </a:rPr>
                        <a:t>i</a:t>
                      </a:r>
                      <a:r>
                        <a:rPr sz="14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尽可能解释因</a:t>
                      </a:r>
                      <a:endParaRPr sz="2100" dirty="0">
                        <a:latin typeface="楷体" panose="02010609060101010101" charset="-122"/>
                        <a:ea typeface="楷体" panose="02010609060101010101" charset="-122"/>
                        <a:cs typeface="楷体" panose="02010609060101010101" charset="-122"/>
                      </a:endParaRPr>
                    </a:p>
                    <a:p>
                      <a:pPr marL="224155" algn="l" rtl="0" eaLnBrk="0">
                        <a:lnSpc>
                          <a:spcPts val="3960"/>
                        </a:lnSpc>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变量 </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70" baseline="-24000" dirty="0">
                          <a:solidFill>
                            <a:srgbClr val="000000">
                              <a:alpha val="100000"/>
                            </a:srgbClr>
                          </a:solidFill>
                          <a:latin typeface="Times New Roman" panose="02020603050405020304"/>
                          <a:ea typeface="Times New Roman" panose="02020603050405020304"/>
                          <a:cs typeface="Times New Roman" panose="02020603050405020304"/>
                        </a:rPr>
                        <a:t>i</a:t>
                      </a:r>
                      <a:r>
                        <a:rPr sz="1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的变</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异。</a:t>
                      </a:r>
                      <a:endParaRPr sz="2100" dirty="0">
                        <a:latin typeface="楷体" panose="02010609060101010101" charset="-122"/>
                        <a:ea typeface="楷体" panose="02010609060101010101" charset="-122"/>
                        <a:cs typeface="楷体" panose="02010609060101010101" charset="-122"/>
                      </a:endParaRPr>
                    </a:p>
                    <a:p>
                      <a:pPr marL="531495" algn="l" rtl="0" eaLnBrk="0">
                        <a:lnSpc>
                          <a:spcPts val="2740"/>
                        </a:lnSpc>
                        <a:spcBef>
                          <a:spcPts val="1625"/>
                        </a:spcBef>
                      </a:pPr>
                      <a:r>
                        <a:rPr sz="1800" kern="0" spc="5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30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在上面的回归模型中，称</a:t>
                      </a:r>
                      <a:r>
                        <a:rPr sz="2100" kern="0" spc="-60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0" baseline="-14000" dirty="0">
                          <a:solidFill>
                            <a:srgbClr val="000000">
                              <a:alpha val="100000"/>
                            </a:srgbClr>
                          </a:solidFill>
                          <a:latin typeface="Times New Roman" panose="02020603050405020304"/>
                          <a:ea typeface="Times New Roman" panose="02020603050405020304"/>
                          <a:cs typeface="Times New Roman" panose="02020603050405020304"/>
                        </a:rPr>
                        <a:t>i</a:t>
                      </a:r>
                      <a:r>
                        <a:rPr sz="14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为“解释”变量，</a:t>
                      </a:r>
                      <a:r>
                        <a:rPr sz="2100" kern="0" spc="-37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因为我们希</a:t>
                      </a:r>
                      <a:endParaRPr sz="2100" dirty="0">
                        <a:latin typeface="楷体" panose="02010609060101010101" charset="-122"/>
                        <a:ea typeface="楷体" panose="02010609060101010101" charset="-122"/>
                        <a:cs typeface="楷体" panose="02010609060101010101" charset="-122"/>
                      </a:endParaRPr>
                    </a:p>
                    <a:p>
                      <a:pPr marL="761365" algn="l" rtl="0" eaLnBrk="0">
                        <a:lnSpc>
                          <a:spcPts val="3960"/>
                        </a:lnSpc>
                      </a:pP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望它的变异将“解释”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的变</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异。</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ath 142"/>
          <p:cNvSpPr/>
          <p:nvPr/>
        </p:nvSpPr>
        <p:spPr>
          <a:xfrm>
            <a:off x="4390941" y="5434693"/>
            <a:ext cx="156175" cy="11970"/>
          </a:xfrm>
          <a:custGeom>
            <a:avLst/>
            <a:gdLst/>
            <a:ahLst/>
            <a:cxnLst/>
            <a:rect l="0" t="0" r="0" b="0"/>
            <a:pathLst>
              <a:path w="245" h="18">
                <a:moveTo>
                  <a:pt x="9" y="9"/>
                </a:moveTo>
                <a:lnTo>
                  <a:pt x="236" y="9"/>
                </a:lnTo>
              </a:path>
            </a:pathLst>
          </a:custGeom>
          <a:noFill/>
          <a:ln w="12036" cap="sq">
            <a:solidFill>
              <a:srgbClr val="000000"/>
            </a:solidFill>
            <a:prstDash val="solid"/>
            <a:round/>
          </a:ln>
        </p:spPr>
        <p:txBody>
          <a:bodyPr rtlCol="0"/>
          <a:lstStyle/>
          <a:p>
            <a:pPr algn="ctr"/>
            <a:endParaRPr lang="zh-CN" altLang="en-US"/>
          </a:p>
        </p:txBody>
      </p:sp>
      <p:sp>
        <p:nvSpPr>
          <p:cNvPr id="144" name="path 144"/>
          <p:cNvSpPr/>
          <p:nvPr/>
        </p:nvSpPr>
        <p:spPr>
          <a:xfrm>
            <a:off x="5457668" y="5434693"/>
            <a:ext cx="156175" cy="11970"/>
          </a:xfrm>
          <a:custGeom>
            <a:avLst/>
            <a:gdLst/>
            <a:ahLst/>
            <a:cxnLst/>
            <a:rect l="0" t="0" r="0" b="0"/>
            <a:pathLst>
              <a:path w="245" h="18">
                <a:moveTo>
                  <a:pt x="9" y="9"/>
                </a:moveTo>
                <a:lnTo>
                  <a:pt x="236" y="9"/>
                </a:lnTo>
              </a:path>
            </a:pathLst>
          </a:custGeom>
          <a:noFill/>
          <a:ln w="12036" cap="sq">
            <a:solidFill>
              <a:srgbClr val="000000"/>
            </a:solidFill>
            <a:prstDash val="solid"/>
            <a:round/>
          </a:ln>
        </p:spPr>
        <p:txBody>
          <a:bodyPr rtlCol="0"/>
          <a:lstStyle/>
          <a:p>
            <a:pPr algn="ctr"/>
            <a:endParaRPr lang="zh-CN" altLang="en-US"/>
          </a:p>
        </p:txBody>
      </p:sp>
      <p:graphicFrame>
        <p:nvGraphicFramePr>
          <p:cNvPr id="146" name="table 146"/>
          <p:cNvGraphicFramePr>
            <a:graphicFrameLocks noGrp="1"/>
          </p:cNvGraphicFramePr>
          <p:nvPr/>
        </p:nvGraphicFramePr>
        <p:xfrm>
          <a:off x="60832" y="66928"/>
          <a:ext cx="9018905" cy="6699250"/>
        </p:xfrm>
        <a:graphic>
          <a:graphicData uri="http://schemas.openxmlformats.org/drawingml/2006/table">
            <a:tbl>
              <a:tblPr/>
              <a:tblGrid>
                <a:gridCol w="9018905"/>
              </a:tblGrid>
              <a:tr h="5902325">
                <a:tc>
                  <a:txBody>
                    <a:bodyPr/>
                    <a:lstStyle/>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marL="878205" algn="l" rtl="0" eaLnBrk="0">
                        <a:lnSpc>
                          <a:spcPts val="2740"/>
                        </a:lnSpc>
                        <a:spcBef>
                          <a:spcPts val="0"/>
                        </a:spcBef>
                      </a:pP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10" dirty="0">
                          <a:solidFill>
                            <a:srgbClr val="000000">
                              <a:alpha val="100000"/>
                            </a:srgbClr>
                          </a:solidFill>
                          <a:latin typeface="楷体" panose="02010609060101010101" charset="-122"/>
                          <a:ea typeface="楷体" panose="02010609060101010101" charset="-122"/>
                          <a:cs typeface="楷体" panose="02010609060101010101" charset="-122"/>
                        </a:rPr>
                        <a:t>为开发一个衡量由</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模型解释的</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4000" dirty="0">
                          <a:solidFill>
                            <a:srgbClr val="000000">
                              <a:alpha val="100000"/>
                            </a:srgbClr>
                          </a:solidFill>
                          <a:latin typeface="Times New Roman" panose="02020603050405020304"/>
                          <a:ea typeface="Times New Roman" panose="02020603050405020304"/>
                          <a:cs typeface="Times New Roman" panose="02020603050405020304"/>
                        </a:rPr>
                        <a:t>i</a:t>
                      </a:r>
                      <a:r>
                        <a:rPr sz="1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变异的指标，我们首先将</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4000" dirty="0">
                          <a:solidFill>
                            <a:srgbClr val="000000">
                              <a:alpha val="100000"/>
                            </a:srgbClr>
                          </a:solidFill>
                          <a:latin typeface="Times New Roman" panose="02020603050405020304"/>
                          <a:ea typeface="Times New Roman" panose="02020603050405020304"/>
                          <a:cs typeface="Times New Roman" panose="02020603050405020304"/>
                        </a:rPr>
                        <a:t>i</a:t>
                      </a:r>
                      <a:endParaRPr sz="2200" baseline="-14000" dirty="0">
                        <a:latin typeface="Times New Roman" panose="02020603050405020304"/>
                        <a:ea typeface="Times New Roman" panose="02020603050405020304"/>
                        <a:cs typeface="Times New Roman" panose="02020603050405020304"/>
                      </a:endParaRPr>
                    </a:p>
                    <a:p>
                      <a:pPr marL="1146810" algn="l" rtl="0" eaLnBrk="0">
                        <a:lnSpc>
                          <a:spcPts val="3415"/>
                        </a:lnSpc>
                      </a:pP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分解为可解释的部分</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和不可解释的部分：</a:t>
                      </a:r>
                      <a:endParaRPr sz="2100" dirty="0">
                        <a:latin typeface="楷体" panose="02010609060101010101" charset="-122"/>
                        <a:ea typeface="楷体" panose="02010609060101010101" charset="-122"/>
                        <a:cs typeface="楷体" panose="02010609060101010101" charset="-122"/>
                      </a:endParaRPr>
                    </a:p>
                    <a:p>
                      <a:pPr marL="3688715" algn="l" rtl="0" eaLnBrk="0">
                        <a:lnSpc>
                          <a:spcPct val="85000"/>
                        </a:lnSpc>
                        <a:spcBef>
                          <a:spcPts val="1540"/>
                        </a:spcBef>
                      </a:pPr>
                      <a:r>
                        <a:rPr sz="32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18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10" baseline="3000" dirty="0">
                          <a:solidFill>
                            <a:srgbClr val="000000">
                              <a:alpha val="100000"/>
                            </a:srgbClr>
                          </a:solidFill>
                          <a:latin typeface="Arial" panose="020B0604020202020204"/>
                          <a:ea typeface="Arial" panose="020B0604020202020204"/>
                          <a:cs typeface="Arial" panose="020B0604020202020204"/>
                        </a:rPr>
                        <a:t>=</a:t>
                      </a:r>
                      <a:r>
                        <a:rPr sz="2000" kern="0" spc="-10" dirty="0">
                          <a:solidFill>
                            <a:srgbClr val="000000">
                              <a:alpha val="100000"/>
                            </a:srgbClr>
                          </a:solidFill>
                          <a:latin typeface="Arial" panose="020B0604020202020204"/>
                          <a:ea typeface="Arial" panose="020B0604020202020204"/>
                          <a:cs typeface="Arial" panose="020B0604020202020204"/>
                        </a:rPr>
                        <a:t> </a:t>
                      </a:r>
                      <a:r>
                        <a:rPr sz="32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000"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18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700" kern="0" spc="-380" dirty="0">
                          <a:solidFill>
                            <a:srgbClr val="000000">
                              <a:alpha val="100000"/>
                            </a:srgbClr>
                          </a:solidFill>
                          <a:latin typeface="Arial" panose="020B0604020202020204"/>
                          <a:ea typeface="Arial" panose="020B0604020202020204"/>
                          <a:cs typeface="Arial" panose="020B0604020202020204"/>
                        </a:rPr>
                        <a:t> </a:t>
                      </a:r>
                      <a:r>
                        <a:rPr sz="3200" kern="0" spc="-10" baseline="3000" dirty="0">
                          <a:solidFill>
                            <a:srgbClr val="000000">
                              <a:alpha val="100000"/>
                            </a:srgbClr>
                          </a:solidFill>
                          <a:latin typeface="Arial" panose="020B0604020202020204"/>
                          <a:ea typeface="Arial" panose="020B0604020202020204"/>
                          <a:cs typeface="Arial" panose="020B0604020202020204"/>
                        </a:rPr>
                        <a:t>+</a:t>
                      </a:r>
                      <a:r>
                        <a:rPr sz="2000" kern="0" spc="-130" dirty="0">
                          <a:solidFill>
                            <a:srgbClr val="000000">
                              <a:alpha val="100000"/>
                            </a:srgbClr>
                          </a:solidFill>
                          <a:latin typeface="Arial" panose="020B0604020202020204"/>
                          <a:ea typeface="Arial" panose="020B0604020202020204"/>
                          <a:cs typeface="Arial" panose="020B0604020202020204"/>
                        </a:rPr>
                        <a:t> </a:t>
                      </a:r>
                      <a:r>
                        <a:rPr sz="32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18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endParaRPr sz="1800" baseline="-23000" dirty="0">
                        <a:latin typeface="Times New Roman" panose="02020603050405020304"/>
                        <a:ea typeface="Times New Roman" panose="02020603050405020304"/>
                        <a:cs typeface="Times New Roman" panose="02020603050405020304"/>
                      </a:endParaRPr>
                    </a:p>
                    <a:p>
                      <a:pPr algn="l" rtl="0" eaLnBrk="0">
                        <a:lnSpc>
                          <a:spcPct val="149000"/>
                        </a:lnSpc>
                      </a:pPr>
                      <a:endParaRPr sz="1000" dirty="0">
                        <a:latin typeface="Arial" panose="020B0604020202020204"/>
                        <a:ea typeface="Arial" panose="020B0604020202020204"/>
                        <a:cs typeface="Arial" panose="020B0604020202020204"/>
                      </a:endParaRPr>
                    </a:p>
                    <a:p>
                      <a:pPr marL="1198245" algn="l" rtl="0" eaLnBrk="0">
                        <a:lnSpc>
                          <a:spcPts val="2740"/>
                        </a:lnSpc>
                        <a:spcBef>
                          <a:spcPts val="640"/>
                        </a:spcBef>
                      </a:pPr>
                      <a:r>
                        <a:rPr sz="1800" kern="0" spc="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17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是可解释或系统的</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部分；</a:t>
                      </a:r>
                      <a:endParaRPr sz="2100" dirty="0">
                        <a:latin typeface="楷体" panose="02010609060101010101" charset="-122"/>
                        <a:ea typeface="楷体" panose="02010609060101010101" charset="-122"/>
                        <a:cs typeface="楷体" panose="02010609060101010101" charset="-122"/>
                      </a:endParaRPr>
                    </a:p>
                    <a:p>
                      <a:pPr marL="1198245" algn="l" rtl="0" eaLnBrk="0">
                        <a:lnSpc>
                          <a:spcPts val="2740"/>
                        </a:lnSpc>
                        <a:spcBef>
                          <a:spcPts val="1615"/>
                        </a:spcBef>
                      </a:pPr>
                      <a:r>
                        <a:rPr sz="1800" kern="0" spc="7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29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200" i="1" kern="0" spc="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是随机的，非系统和无法</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解释的部分。</a:t>
                      </a:r>
                      <a:endParaRPr sz="2100" dirty="0">
                        <a:latin typeface="楷体" panose="02010609060101010101" charset="-122"/>
                        <a:ea typeface="楷体" panose="02010609060101010101" charset="-122"/>
                        <a:cs typeface="楷体" panose="02010609060101010101" charset="-122"/>
                      </a:endParaRPr>
                    </a:p>
                    <a:p>
                      <a:pPr algn="l" rtl="0" eaLnBrk="0">
                        <a:lnSpc>
                          <a:spcPct val="149000"/>
                        </a:lnSpc>
                      </a:pPr>
                      <a:endParaRPr sz="1000" dirty="0">
                        <a:latin typeface="Arial" panose="020B0604020202020204"/>
                        <a:ea typeface="Arial" panose="020B0604020202020204"/>
                        <a:cs typeface="Arial" panose="020B0604020202020204"/>
                      </a:endParaRPr>
                    </a:p>
                    <a:p>
                      <a:pPr algn="l" rtl="0" eaLnBrk="0">
                        <a:lnSpc>
                          <a:spcPct val="150000"/>
                        </a:lnSpc>
                      </a:pPr>
                      <a:endParaRPr sz="1000" dirty="0">
                        <a:latin typeface="Arial" panose="020B0604020202020204"/>
                        <a:ea typeface="Arial" panose="020B0604020202020204"/>
                        <a:cs typeface="Arial" panose="020B0604020202020204"/>
                      </a:endParaRPr>
                    </a:p>
                    <a:p>
                      <a:pPr marL="1137920" algn="l" rtl="0" eaLnBrk="0">
                        <a:lnSpc>
                          <a:spcPts val="2550"/>
                        </a:lnSpc>
                        <a:spcBef>
                          <a:spcPts val="630"/>
                        </a:spcBef>
                      </a:pP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与上式类似，</a:t>
                      </a:r>
                      <a:r>
                        <a:rPr sz="2100" kern="0" spc="-3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还可以写为</a:t>
                      </a:r>
                      <a:r>
                        <a:rPr sz="2100" kern="0" spc="60" dirty="0">
                          <a:solidFill>
                            <a:srgbClr val="000000">
                              <a:alpha val="100000"/>
                            </a:srgbClr>
                          </a:solidFill>
                          <a:latin typeface="Perpetua" panose="02020502060401020303"/>
                          <a:ea typeface="Perpetua" panose="02020502060401020303"/>
                          <a:cs typeface="Perpetua" panose="02020502060401020303"/>
                        </a:rPr>
                        <a:t>:</a:t>
                      </a:r>
                      <a:endParaRPr sz="2100" dirty="0">
                        <a:latin typeface="Perpetua" panose="02020502060401020303"/>
                        <a:ea typeface="Perpetua" panose="02020502060401020303"/>
                        <a:cs typeface="Perpetua" panose="02020502060401020303"/>
                      </a:endParaRPr>
                    </a:p>
                    <a:p>
                      <a:pPr marL="3830320" algn="l" rtl="0" eaLnBrk="0">
                        <a:lnSpc>
                          <a:spcPct val="100000"/>
                        </a:lnSpc>
                        <a:spcBef>
                          <a:spcPts val="1630"/>
                        </a:spcBef>
                      </a:pPr>
                      <a:r>
                        <a:rPr sz="2300"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10" baseline="-27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r>
                        <a:rPr sz="2300" kern="0" spc="270" dirty="0">
                          <a:solidFill>
                            <a:srgbClr val="000000">
                              <a:alpha val="100000"/>
                            </a:srgbClr>
                          </a:solidFill>
                          <a:latin typeface="Arial" panose="020B0604020202020204"/>
                          <a:ea typeface="Arial" panose="020B0604020202020204"/>
                          <a:cs typeface="Arial" panose="020B0604020202020204"/>
                        </a:rPr>
                        <a:t>  </a:t>
                      </a:r>
                      <a:r>
                        <a:rPr sz="2100" i="1" kern="0" spc="-10" baseline="-27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r>
                        <a:rPr sz="2300" kern="0" spc="90" dirty="0">
                          <a:solidFill>
                            <a:srgbClr val="000000">
                              <a:alpha val="100000"/>
                            </a:srgbClr>
                          </a:solidFill>
                          <a:latin typeface="Arial" panose="020B0604020202020204"/>
                          <a:ea typeface="Arial" panose="020B0604020202020204"/>
                          <a:cs typeface="Arial" panose="020B0604020202020204"/>
                        </a:rPr>
                        <a:t>  </a:t>
                      </a:r>
                      <a:r>
                        <a:rPr sz="2100" i="1" kern="0" spc="-10" baseline="-27000" dirty="0">
                          <a:solidFill>
                            <a:srgbClr val="000000">
                              <a:alpha val="100000"/>
                            </a:srgbClr>
                          </a:solidFill>
                          <a:latin typeface="Times New Roman" panose="02020603050405020304"/>
                          <a:ea typeface="Times New Roman" panose="02020603050405020304"/>
                          <a:cs typeface="Times New Roman" panose="02020603050405020304"/>
                        </a:rPr>
                        <a:t>i</a:t>
                      </a:r>
                      <a:endParaRPr sz="2100" baseline="-27000" dirty="0">
                        <a:latin typeface="Times New Roman" panose="02020603050405020304"/>
                        <a:ea typeface="Times New Roman" panose="02020603050405020304"/>
                        <a:cs typeface="Times New Roman" panose="02020603050405020304"/>
                      </a:endParaRPr>
                    </a:p>
                    <a:p>
                      <a:pPr algn="l" rtl="0" eaLnBrk="0">
                        <a:lnSpc>
                          <a:spcPct val="113000"/>
                        </a:lnSpc>
                      </a:pPr>
                      <a:endParaRPr sz="1000" dirty="0">
                        <a:latin typeface="Arial" panose="020B0604020202020204"/>
                        <a:ea typeface="Arial" panose="020B0604020202020204"/>
                        <a:cs typeface="Arial" panose="020B0604020202020204"/>
                      </a:endParaRPr>
                    </a:p>
                    <a:p>
                      <a:pPr marL="1198245" algn="l" rtl="0" eaLnBrk="0">
                        <a:lnSpc>
                          <a:spcPct val="87000"/>
                        </a:lnSpc>
                        <a:spcBef>
                          <a:spcPts val="640"/>
                        </a:spcBef>
                      </a:pPr>
                      <a:r>
                        <a:rPr sz="1800" kern="0" spc="-8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50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两边减去样本均值：</a:t>
                      </a:r>
                      <a:endParaRPr sz="2100" dirty="0">
                        <a:latin typeface="楷体" panose="02010609060101010101" charset="-122"/>
                        <a:ea typeface="楷体" panose="02010609060101010101" charset="-122"/>
                        <a:cs typeface="楷体" panose="02010609060101010101" charset="-122"/>
                      </a:endParaRPr>
                    </a:p>
                    <a:p>
                      <a:pPr algn="l" rtl="0" eaLnBrk="0">
                        <a:lnSpc>
                          <a:spcPct val="103000"/>
                        </a:lnSpc>
                      </a:pPr>
                      <a:endParaRPr sz="1600" dirty="0">
                        <a:latin typeface="Arial" panose="020B0604020202020204"/>
                        <a:ea typeface="Arial" panose="020B0604020202020204"/>
                        <a:cs typeface="Arial" panose="020B0604020202020204"/>
                      </a:endParaRPr>
                    </a:p>
                    <a:p>
                      <a:pPr marL="3828415" algn="l" rtl="0" eaLnBrk="0">
                        <a:lnSpc>
                          <a:spcPct val="94000"/>
                        </a:lnSpc>
                        <a:spcBef>
                          <a:spcPts val="5"/>
                        </a:spcBef>
                      </a:pPr>
                      <a:r>
                        <a:rPr sz="22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000" i="1" kern="0" spc="-2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160" dirty="0">
                          <a:solidFill>
                            <a:srgbClr val="000000">
                              <a:alpha val="100000"/>
                            </a:srgbClr>
                          </a:solidFill>
                          <a:latin typeface="Arial" panose="020B0604020202020204"/>
                          <a:ea typeface="Arial" panose="020B0604020202020204"/>
                          <a:cs typeface="Arial" panose="020B0604020202020204"/>
                        </a:rPr>
                        <a:t> </a:t>
                      </a:r>
                      <a:r>
                        <a:rPr sz="22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200" i="1"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 </a:t>
                      </a:r>
                      <a:r>
                        <a:rPr sz="2900" kern="0" spc="-20" dirty="0">
                          <a:solidFill>
                            <a:srgbClr val="000000">
                              <a:alpha val="100000"/>
                            </a:srgbClr>
                          </a:solidFill>
                          <a:latin typeface="Arial" panose="020B0604020202020204"/>
                          <a:ea typeface="Arial" panose="020B0604020202020204"/>
                          <a:cs typeface="Arial" panose="020B0604020202020204"/>
                        </a:rPr>
                        <a:t>(</a:t>
                      </a:r>
                      <a:r>
                        <a:rPr sz="2900" kern="0" spc="600" dirty="0">
                          <a:solidFill>
                            <a:srgbClr val="000000">
                              <a:alpha val="100000"/>
                            </a:srgbClr>
                          </a:solidFill>
                          <a:latin typeface="Arial" panose="020B0604020202020204"/>
                          <a:ea typeface="Arial" panose="020B0604020202020204"/>
                          <a:cs typeface="Arial" panose="020B0604020202020204"/>
                        </a:rPr>
                        <a:t> </a:t>
                      </a:r>
                      <a:r>
                        <a:rPr sz="2000" i="1" kern="0" spc="-2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200" dirty="0">
                          <a:solidFill>
                            <a:srgbClr val="000000">
                              <a:alpha val="100000"/>
                            </a:srgbClr>
                          </a:solidFill>
                          <a:latin typeface="Arial" panose="020B0604020202020204"/>
                          <a:ea typeface="Arial" panose="020B0604020202020204"/>
                          <a:cs typeface="Arial" panose="020B0604020202020204"/>
                        </a:rPr>
                        <a:t> </a:t>
                      </a:r>
                      <a:r>
                        <a:rPr sz="22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200" i="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20" dirty="0">
                          <a:solidFill>
                            <a:srgbClr val="000000">
                              <a:alpha val="100000"/>
                            </a:srgbClr>
                          </a:solidFill>
                          <a:latin typeface="Arial" panose="020B0604020202020204"/>
                          <a:ea typeface="Arial" panose="020B0604020202020204"/>
                          <a:cs typeface="Arial" panose="020B0604020202020204"/>
                        </a:rPr>
                        <a:t>)</a:t>
                      </a:r>
                      <a:r>
                        <a:rPr sz="2900" kern="0" spc="-41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80" dirty="0">
                          <a:solidFill>
                            <a:srgbClr val="000000">
                              <a:alpha val="100000"/>
                            </a:srgbClr>
                          </a:solidFill>
                          <a:latin typeface="Arial" panose="020B0604020202020204"/>
                          <a:ea typeface="Arial" panose="020B0604020202020204"/>
                          <a:cs typeface="Arial" panose="020B0604020202020204"/>
                        </a:rPr>
                        <a:t>  </a:t>
                      </a:r>
                      <a:r>
                        <a:rPr sz="2000" i="1" kern="0" spc="-20" baseline="-26000" dirty="0">
                          <a:solidFill>
                            <a:srgbClr val="000000">
                              <a:alpha val="100000"/>
                            </a:srgbClr>
                          </a:solidFill>
                          <a:latin typeface="Times New Roman" panose="02020603050405020304"/>
                          <a:ea typeface="Times New Roman" panose="02020603050405020304"/>
                          <a:cs typeface="Times New Roman" panose="02020603050405020304"/>
                        </a:rPr>
                        <a:t>i</a:t>
                      </a:r>
                      <a:endParaRPr sz="2000" baseline="-26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96925">
                <a:tc>
                  <a:txBody>
                    <a:bodyPr/>
                    <a:lstStyle/>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35000"/>
                        </a:lnSpc>
                      </a:pPr>
                      <a:endParaRPr sz="1000" dirty="0">
                        <a:latin typeface="Arial" panose="020B0604020202020204"/>
                        <a:ea typeface="Arial" panose="020B0604020202020204"/>
                        <a:cs typeface="Arial" panose="020B0604020202020204"/>
                      </a:endParaRPr>
                    </a:p>
                    <a:p>
                      <a:pPr marL="22542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148" name="textbox 148"/>
          <p:cNvSpPr/>
          <p:nvPr/>
        </p:nvSpPr>
        <p:spPr>
          <a:xfrm>
            <a:off x="5977516" y="5407522"/>
            <a:ext cx="144779" cy="285750"/>
          </a:xfrm>
          <a:prstGeom prst="rect">
            <a:avLst/>
          </a:prstGeom>
          <a:noFill/>
          <a:ln w="0" cap="flat">
            <a:noFill/>
            <a:prstDash val="solid"/>
            <a:miter lim="0"/>
          </a:ln>
        </p:spPr>
        <p:txBody>
          <a:bodyPr vert="horz" wrap="square" lIns="0" tIns="0" rIns="0" bIns="0"/>
          <a:lstStyle/>
          <a:p>
            <a:pPr algn="l" rtl="0" eaLnBrk="0">
              <a:lnSpc>
                <a:spcPct val="73000"/>
              </a:lnSpc>
            </a:pPr>
            <a:endParaRPr sz="100" dirty="0">
              <a:latin typeface="Arial" panose="020B0604020202020204"/>
              <a:ea typeface="Arial" panose="020B0604020202020204"/>
              <a:cs typeface="Arial" panose="020B0604020202020204"/>
            </a:endParaRPr>
          </a:p>
          <a:p>
            <a:pPr marL="12700" algn="l" rtl="0" eaLnBrk="0">
              <a:lnSpc>
                <a:spcPct val="78000"/>
              </a:lnSpc>
            </a:pPr>
            <a:r>
              <a:rPr sz="2200" i="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sz="2200" dirty="0">
              <a:latin typeface="Times New Roman" panose="02020603050405020304"/>
              <a:ea typeface="Times New Roman" panose="02020603050405020304"/>
              <a:cs typeface="Times New Roman" panose="02020603050405020304"/>
            </a:endParaRPr>
          </a:p>
        </p:txBody>
      </p:sp>
      <p:sp>
        <p:nvSpPr>
          <p:cNvPr id="150" name="textbox 150"/>
          <p:cNvSpPr/>
          <p:nvPr/>
        </p:nvSpPr>
        <p:spPr>
          <a:xfrm>
            <a:off x="5990397" y="5394092"/>
            <a:ext cx="113664" cy="28511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45"/>
              </a:lnSpc>
            </a:pPr>
            <a:r>
              <a:rPr sz="16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
        <p:nvSpPr>
          <p:cNvPr id="152" name="textbox 152"/>
          <p:cNvSpPr/>
          <p:nvPr/>
        </p:nvSpPr>
        <p:spPr>
          <a:xfrm>
            <a:off x="4943039" y="5407522"/>
            <a:ext cx="176529" cy="318134"/>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87000"/>
              </a:lnSpc>
            </a:pPr>
            <a:r>
              <a:rPr sz="2200" i="1" kern="0" spc="200" dirty="0">
                <a:solidFill>
                  <a:srgbClr val="000000">
                    <a:alpha val="100000"/>
                  </a:srgbClr>
                </a:solidFill>
                <a:latin typeface="Times New Roman" panose="02020603050405020304"/>
                <a:ea typeface="Times New Roman" panose="02020603050405020304"/>
                <a:cs typeface="Times New Roman" panose="02020603050405020304"/>
              </a:rPr>
              <a:t>y</a:t>
            </a:r>
            <a:endParaRPr sz="2200" dirty="0">
              <a:latin typeface="Times New Roman" panose="02020603050405020304"/>
              <a:ea typeface="Times New Roman" panose="02020603050405020304"/>
              <a:cs typeface="Times New Roman" panose="02020603050405020304"/>
            </a:endParaRPr>
          </a:p>
        </p:txBody>
      </p:sp>
      <p:sp>
        <p:nvSpPr>
          <p:cNvPr id="154" name="textbox 154"/>
          <p:cNvSpPr/>
          <p:nvPr/>
        </p:nvSpPr>
        <p:spPr>
          <a:xfrm>
            <a:off x="4948901" y="5394092"/>
            <a:ext cx="113664" cy="28511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045"/>
              </a:lnSpc>
            </a:pPr>
            <a:r>
              <a:rPr sz="16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
        <p:nvSpPr>
          <p:cNvPr id="156" name="textbox 156"/>
          <p:cNvSpPr/>
          <p:nvPr/>
        </p:nvSpPr>
        <p:spPr>
          <a:xfrm>
            <a:off x="4939202" y="4227586"/>
            <a:ext cx="149860" cy="297179"/>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2700" algn="l" rtl="0" eaLnBrk="0">
              <a:lnSpc>
                <a:spcPct val="77000"/>
              </a:lnSpc>
            </a:pP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2300" dirty="0">
              <a:latin typeface="Times New Roman" panose="02020603050405020304"/>
              <a:ea typeface="Times New Roman" panose="02020603050405020304"/>
              <a:cs typeface="Times New Roman" panose="02020603050405020304"/>
            </a:endParaRPr>
          </a:p>
        </p:txBody>
      </p:sp>
      <p:sp>
        <p:nvSpPr>
          <p:cNvPr id="158" name="textbox 158"/>
          <p:cNvSpPr/>
          <p:nvPr/>
        </p:nvSpPr>
        <p:spPr>
          <a:xfrm>
            <a:off x="4950032" y="4214113"/>
            <a:ext cx="116839" cy="29654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130"/>
              </a:lnSpc>
            </a:pPr>
            <a:r>
              <a:rPr sz="16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
        <p:nvSpPr>
          <p:cNvPr id="160" name="textbox 160"/>
          <p:cNvSpPr/>
          <p:nvPr/>
        </p:nvSpPr>
        <p:spPr>
          <a:xfrm>
            <a:off x="4425483" y="4227586"/>
            <a:ext cx="182879" cy="334645"/>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88000"/>
              </a:lnSpc>
            </a:pPr>
            <a:r>
              <a:rPr sz="2300" i="1" kern="0" spc="200" dirty="0">
                <a:solidFill>
                  <a:srgbClr val="000000">
                    <a:alpha val="100000"/>
                  </a:srgbClr>
                </a:solidFill>
                <a:latin typeface="Times New Roman" panose="02020603050405020304"/>
                <a:ea typeface="Times New Roman" panose="02020603050405020304"/>
                <a:cs typeface="Times New Roman" panose="02020603050405020304"/>
              </a:rPr>
              <a:t>y</a:t>
            </a:r>
            <a:endParaRPr sz="2300" dirty="0">
              <a:latin typeface="Times New Roman" panose="02020603050405020304"/>
              <a:ea typeface="Times New Roman" panose="02020603050405020304"/>
              <a:cs typeface="Times New Roman" panose="02020603050405020304"/>
            </a:endParaRPr>
          </a:p>
        </p:txBody>
      </p:sp>
      <p:sp>
        <p:nvSpPr>
          <p:cNvPr id="162" name="textbox 162"/>
          <p:cNvSpPr/>
          <p:nvPr/>
        </p:nvSpPr>
        <p:spPr>
          <a:xfrm>
            <a:off x="4423813" y="4214113"/>
            <a:ext cx="116839" cy="29654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130"/>
              </a:lnSpc>
            </a:pPr>
            <a:r>
              <a:rPr sz="16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 name="table 166"/>
          <p:cNvGraphicFramePr>
            <a:graphicFrameLocks noGrp="1"/>
          </p:cNvGraphicFramePr>
          <p:nvPr/>
        </p:nvGraphicFramePr>
        <p:xfrm>
          <a:off x="60832" y="66928"/>
          <a:ext cx="9018905" cy="6699250"/>
        </p:xfrm>
        <a:graphic>
          <a:graphicData uri="http://schemas.openxmlformats.org/drawingml/2006/table">
            <a:tbl>
              <a:tblPr/>
              <a:tblGrid>
                <a:gridCol w="758190"/>
                <a:gridCol w="8260715"/>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16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2283460" algn="l" rtl="0" eaLnBrk="0">
                        <a:lnSpc>
                          <a:spcPct val="90000"/>
                        </a:lnSpc>
                        <a:spcBef>
                          <a:spcPts val="5"/>
                        </a:spcBef>
                      </a:pPr>
                      <a:r>
                        <a:rPr sz="2000" b="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000" b="1" kern="0" spc="0" dirty="0">
                          <a:solidFill>
                            <a:srgbClr val="000000">
                              <a:alpha val="100000"/>
                            </a:srgbClr>
                          </a:solidFill>
                          <a:latin typeface="楷体" panose="02010609060101010101" charset="-122"/>
                          <a:ea typeface="楷体" panose="02010609060101010101" charset="-122"/>
                          <a:cs typeface="楷体" panose="02010609060101010101" charset="-122"/>
                        </a:rPr>
                        <a:t>可解释和不可解释的</a:t>
                      </a:r>
                      <a:r>
                        <a:rPr sz="2000" b="1" kern="0" spc="-10" dirty="0">
                          <a:solidFill>
                            <a:srgbClr val="000000">
                              <a:alpha val="100000"/>
                            </a:srgbClr>
                          </a:solidFill>
                          <a:latin typeface="楷体" panose="02010609060101010101" charset="-122"/>
                          <a:ea typeface="楷体" panose="02010609060101010101" charset="-122"/>
                          <a:cs typeface="楷体" panose="02010609060101010101" charset="-122"/>
                        </a:rPr>
                        <a:t>部分</a:t>
                      </a:r>
                      <a:endParaRPr sz="20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8" name="table 168"/>
          <p:cNvGraphicFramePr>
            <a:graphicFrameLocks noGrp="1"/>
          </p:cNvGraphicFramePr>
          <p:nvPr/>
        </p:nvGraphicFramePr>
        <p:xfrm>
          <a:off x="1034541" y="1046734"/>
          <a:ext cx="7074534" cy="4172584"/>
        </p:xfrm>
        <a:graphic>
          <a:graphicData uri="http://schemas.openxmlformats.org/drawingml/2006/table">
            <a:tbl>
              <a:tblPr/>
              <a:tblGrid>
                <a:gridCol w="7074534"/>
              </a:tblGrid>
              <a:tr h="4172584">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170" name="picture 170"/>
          <p:cNvPicPr>
            <a:picLocks noChangeAspect="1"/>
          </p:cNvPicPr>
          <p:nvPr/>
        </p:nvPicPr>
        <p:blipFill>
          <a:blip r:embed="rId1"/>
          <a:stretch>
            <a:fillRect/>
          </a:stretch>
        </p:blipFill>
        <p:spPr>
          <a:xfrm rot="21600000">
            <a:off x="1040891" y="1053083"/>
            <a:ext cx="7061200" cy="4165600"/>
          </a:xfrm>
          <a:prstGeom prst="rect">
            <a:avLst/>
          </a:prstGeom>
        </p:spPr>
      </p:pic>
      <p:pic>
        <p:nvPicPr>
          <p:cNvPr id="2" name="picture 214"/>
          <p:cNvPicPr>
            <a:picLocks noChangeAspect="1"/>
          </p:cNvPicPr>
          <p:nvPr/>
        </p:nvPicPr>
        <p:blipFill>
          <a:blip r:embed="rId2"/>
          <a:stretch>
            <a:fillRect/>
          </a:stretch>
        </p:blipFill>
        <p:spPr>
          <a:xfrm rot="21600000">
            <a:off x="1761369" y="5978158"/>
            <a:ext cx="3750048" cy="441932"/>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 name="table 216"/>
          <p:cNvGraphicFramePr>
            <a:graphicFrameLocks noGrp="1"/>
          </p:cNvGraphicFramePr>
          <p:nvPr/>
        </p:nvGraphicFramePr>
        <p:xfrm>
          <a:off x="60832" y="66928"/>
          <a:ext cx="9018905" cy="6699250"/>
        </p:xfrm>
        <a:graphic>
          <a:graphicData uri="http://schemas.openxmlformats.org/drawingml/2006/table">
            <a:tbl>
              <a:tblPr/>
              <a:tblGrid>
                <a:gridCol w="9018905"/>
              </a:tblGrid>
              <a:tr h="5887720">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246505" indent="-281305" algn="l" rtl="0" eaLnBrk="0">
                        <a:lnSpc>
                          <a:spcPct val="12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上式将</a:t>
                      </a:r>
                      <a:r>
                        <a:rPr sz="2100" kern="0" spc="-4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的“总样本变异”分解为可解释的部分和不可解释</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的部分。</a:t>
                      </a:r>
                      <a:endParaRPr sz="2100" dirty="0">
                        <a:latin typeface="楷体" panose="02010609060101010101" charset="-122"/>
                        <a:ea typeface="楷体" panose="02010609060101010101" charset="-122"/>
                        <a:cs typeface="楷体" panose="02010609060101010101" charset="-122"/>
                      </a:endParaRPr>
                    </a:p>
                    <a:p>
                      <a:pPr algn="l" rtl="0" eaLnBrk="0">
                        <a:lnSpc>
                          <a:spcPct val="123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统称为：</a:t>
                      </a:r>
                      <a:r>
                        <a:rPr sz="2100" kern="0" spc="-55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“平方和”</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具体包括:</a:t>
                      </a:r>
                      <a:endParaRPr sz="2100" dirty="0">
                        <a:latin typeface="楷体" panose="02010609060101010101" charset="-122"/>
                        <a:ea typeface="楷体" panose="02010609060101010101" charset="-122"/>
                        <a:cs typeface="楷体"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698115" algn="l" rtl="0" eaLnBrk="0">
                        <a:lnSpc>
                          <a:spcPct val="99000"/>
                        </a:lnSpc>
                        <a:spcBef>
                          <a:spcPts val="900"/>
                        </a:spcBef>
                      </a:pPr>
                      <a:r>
                        <a:rPr sz="4600" kern="0" spc="20" baseline="-3000" dirty="0">
                          <a:solidFill>
                            <a:srgbClr val="000000">
                              <a:alpha val="100000"/>
                            </a:srgbClr>
                          </a:solidFill>
                          <a:latin typeface="Arial" panose="020B0604020202020204"/>
                          <a:ea typeface="Arial" panose="020B0604020202020204"/>
                          <a:cs typeface="Arial" panose="020B0604020202020204"/>
                        </a:rPr>
                        <a:t>Σ</a:t>
                      </a:r>
                      <a:r>
                        <a:rPr sz="4100" kern="0" spc="20" baseline="-4000" dirty="0">
                          <a:solidFill>
                            <a:srgbClr val="000000">
                              <a:alpha val="100000"/>
                            </a:srgbClr>
                          </a:solidFill>
                          <a:latin typeface="Arial" panose="020B0604020202020204"/>
                          <a:ea typeface="Arial" panose="020B0604020202020204"/>
                          <a:cs typeface="Arial" panose="020B0604020202020204"/>
                        </a:rPr>
                        <a:t>(</a:t>
                      </a:r>
                      <a:r>
                        <a:rPr sz="3100" i="1" kern="0" spc="0" baseline="-5000" dirty="0">
                          <a:solidFill>
                            <a:srgbClr val="000000">
                              <a:alpha val="100000"/>
                            </a:srgbClr>
                          </a:solidFill>
                          <a:latin typeface="Times New Roman" panose="02020603050405020304"/>
                          <a:ea typeface="Times New Roman" panose="02020603050405020304"/>
                          <a:cs typeface="Times New Roman" panose="02020603050405020304"/>
                        </a:rPr>
                        <a:t>y</a:t>
                      </a:r>
                      <a:r>
                        <a:rPr sz="18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Arial" panose="020B0604020202020204"/>
                          <a:ea typeface="Arial" panose="020B0604020202020204"/>
                          <a:cs typeface="Arial" panose="020B0604020202020204"/>
                        </a:rPr>
                        <a:t>−</a:t>
                      </a:r>
                      <a:r>
                        <a:rPr sz="2000" kern="0" spc="-120" dirty="0">
                          <a:solidFill>
                            <a:srgbClr val="000000">
                              <a:alpha val="100000"/>
                            </a:srgbClr>
                          </a:solidFill>
                          <a:latin typeface="Arial" panose="020B0604020202020204"/>
                          <a:ea typeface="Arial" panose="020B0604020202020204"/>
                          <a:cs typeface="Arial" panose="020B0604020202020204"/>
                        </a:rPr>
                        <a:t> </a:t>
                      </a:r>
                      <a:r>
                        <a:rPr sz="2000" i="1" strike="sngStrike"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000" i="1" strike="sngStrike"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20" dirty="0">
                          <a:solidFill>
                            <a:srgbClr val="000000">
                              <a:alpha val="100000"/>
                            </a:srgbClr>
                          </a:solidFill>
                          <a:latin typeface="Arial" panose="020B0604020202020204"/>
                          <a:ea typeface="Arial" panose="020B0604020202020204"/>
                          <a:cs typeface="Arial" panose="020B0604020202020204"/>
                        </a:rPr>
                        <a:t>)</a:t>
                      </a:r>
                      <a:r>
                        <a:rPr sz="2600" kern="0" spc="640" dirty="0">
                          <a:solidFill>
                            <a:srgbClr val="000000">
                              <a:alpha val="100000"/>
                            </a:srgbClr>
                          </a:solidFill>
                          <a:latin typeface="Arial" panose="020B0604020202020204"/>
                          <a:ea typeface="Arial" panose="020B0604020202020204"/>
                          <a:cs typeface="Arial" panose="020B0604020202020204"/>
                        </a:rPr>
                        <a:t> </a:t>
                      </a:r>
                      <a:r>
                        <a:rPr sz="2000" kern="0" spc="20" dirty="0">
                          <a:solidFill>
                            <a:srgbClr val="000000">
                              <a:alpha val="100000"/>
                            </a:srgbClr>
                          </a:solidFill>
                          <a:latin typeface="Arial" panose="020B0604020202020204"/>
                          <a:ea typeface="Arial" panose="020B0604020202020204"/>
                          <a:cs typeface="Arial" panose="020B0604020202020204"/>
                        </a:rPr>
                        <a:t>= </a:t>
                      </a:r>
                      <a:r>
                        <a:rPr sz="20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总平方和 </a:t>
                      </a:r>
                      <a:r>
                        <a:rPr sz="2000" kern="0" spc="2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SST</a:t>
                      </a:r>
                      <a:endParaRPr sz="2000" dirty="0">
                        <a:latin typeface="Times New Roman" panose="02020603050405020304"/>
                        <a:ea typeface="Times New Roman" panose="02020603050405020304"/>
                        <a:cs typeface="Times New Roman" panose="02020603050405020304"/>
                      </a:endParaRPr>
                    </a:p>
                    <a:p>
                      <a:pPr marL="2698115" algn="l" rtl="0" eaLnBrk="0">
                        <a:lnSpc>
                          <a:spcPct val="100000"/>
                        </a:lnSpc>
                        <a:spcBef>
                          <a:spcPts val="45"/>
                        </a:spcBef>
                      </a:pPr>
                      <a:r>
                        <a:rPr sz="4600" kern="0" spc="0" baseline="-6000" dirty="0">
                          <a:solidFill>
                            <a:srgbClr val="000000">
                              <a:alpha val="100000"/>
                            </a:srgbClr>
                          </a:solidFill>
                          <a:latin typeface="Arial" panose="020B0604020202020204"/>
                          <a:ea typeface="Arial" panose="020B0604020202020204"/>
                          <a:cs typeface="Arial" panose="020B0604020202020204"/>
                        </a:rPr>
                        <a:t>Σ</a:t>
                      </a:r>
                      <a:r>
                        <a:rPr sz="4100" kern="0" spc="0" baseline="-6000" dirty="0">
                          <a:solidFill>
                            <a:srgbClr val="000000">
                              <a:alpha val="100000"/>
                            </a:srgbClr>
                          </a:solidFill>
                          <a:latin typeface="Arial" panose="020B0604020202020204"/>
                          <a:ea typeface="Arial" panose="020B0604020202020204"/>
                          <a:cs typeface="Arial" panose="020B0604020202020204"/>
                        </a:rPr>
                        <a:t>(</a:t>
                      </a:r>
                      <a:r>
                        <a:rPr sz="2600" kern="0" spc="540" dirty="0">
                          <a:solidFill>
                            <a:srgbClr val="000000">
                              <a:alpha val="100000"/>
                            </a:srgbClr>
                          </a:solidFill>
                          <a:latin typeface="Arial" panose="020B0604020202020204"/>
                          <a:ea typeface="Arial" panose="020B0604020202020204"/>
                          <a:cs typeface="Arial" panose="020B0604020202020204"/>
                        </a:rPr>
                        <a:t> </a:t>
                      </a:r>
                      <a:r>
                        <a:rPr sz="1800" i="1" kern="0" spc="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Arial" panose="020B0604020202020204"/>
                          <a:ea typeface="Arial" panose="020B0604020202020204"/>
                          <a:cs typeface="Arial" panose="020B0604020202020204"/>
                        </a:rPr>
                        <a:t>−</a:t>
                      </a:r>
                      <a:r>
                        <a:rPr sz="2000" kern="0" spc="-170" dirty="0">
                          <a:solidFill>
                            <a:srgbClr val="000000">
                              <a:alpha val="100000"/>
                            </a:srgbClr>
                          </a:solidFill>
                          <a:latin typeface="Arial" panose="020B0604020202020204"/>
                          <a:ea typeface="Arial" panose="020B0604020202020204"/>
                          <a:cs typeface="Arial" panose="020B0604020202020204"/>
                        </a:rPr>
                        <a:t> </a:t>
                      </a:r>
                      <a:r>
                        <a:rPr sz="2000" i="1" strike="sngStrike" kern="0" spc="0" dirty="0">
                          <a:solidFill>
                            <a:srgbClr val="000000">
                              <a:alpha val="100000"/>
                            </a:srgbClr>
                          </a:solidFill>
                          <a:latin typeface="Times New Roman" panose="02020603050405020304"/>
                          <a:ea typeface="Times New Roman" panose="02020603050405020304"/>
                          <a:cs typeface="Times New Roman" panose="02020603050405020304"/>
                        </a:rPr>
                        <a:t>y</a:t>
                      </a:r>
                      <a:r>
                        <a:rPr sz="2000" i="1" strike="sngStrike" kern="0" spc="-36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Arial" panose="020B0604020202020204"/>
                          <a:ea typeface="Arial" panose="020B0604020202020204"/>
                          <a:cs typeface="Arial" panose="020B0604020202020204"/>
                        </a:rPr>
                        <a:t>)</a:t>
                      </a:r>
                      <a:r>
                        <a:rPr sz="1800" kern="0" spc="0" baseline="75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回归平方和 </a:t>
                      </a:r>
                      <a:r>
                        <a:rPr sz="2000" kern="0" spc="0" dirty="0">
                          <a:solidFill>
                            <a:srgbClr val="000000">
                              <a:alpha val="100000"/>
                            </a:srgbClr>
                          </a:solidFill>
                          <a:latin typeface="Arial" panose="020B0604020202020204"/>
                          <a:ea typeface="Arial" panose="020B0604020202020204"/>
                          <a:cs typeface="Arial" panose="020B0604020202020204"/>
                        </a:rPr>
                        <a:t>= </a:t>
                      </a:r>
                      <a:r>
                        <a:rPr sz="2000" kern="0" spc="-1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SSR</a:t>
                      </a:r>
                      <a:endParaRPr sz="2000" dirty="0">
                        <a:latin typeface="Times New Roman" panose="02020603050405020304"/>
                        <a:ea typeface="Times New Roman" panose="02020603050405020304"/>
                        <a:cs typeface="Times New Roman" panose="02020603050405020304"/>
                      </a:endParaRPr>
                    </a:p>
                    <a:p>
                      <a:pPr marL="2698115" algn="l" rtl="0" eaLnBrk="0">
                        <a:lnSpc>
                          <a:spcPct val="80000"/>
                        </a:lnSpc>
                        <a:spcBef>
                          <a:spcPts val="725"/>
                        </a:spcBef>
                      </a:pPr>
                      <a:r>
                        <a:rPr sz="4600" kern="0" spc="20" baseline="-9000" dirty="0">
                          <a:solidFill>
                            <a:srgbClr val="000000">
                              <a:alpha val="100000"/>
                            </a:srgbClr>
                          </a:solidFill>
                          <a:latin typeface="Arial" panose="020B0604020202020204"/>
                          <a:ea typeface="Arial" panose="020B0604020202020204"/>
                          <a:cs typeface="Arial" panose="020B0604020202020204"/>
                        </a:rPr>
                        <a:t>Σ</a:t>
                      </a:r>
                      <a:r>
                        <a:rPr sz="2900" kern="0" spc="20" dirty="0">
                          <a:solidFill>
                            <a:srgbClr val="000000">
                              <a:alpha val="100000"/>
                            </a:srgbClr>
                          </a:solidFill>
                          <a:latin typeface="Arial" panose="020B0604020202020204"/>
                          <a:ea typeface="Arial" panose="020B0604020202020204"/>
                          <a:cs typeface="Arial" panose="020B0604020202020204"/>
                        </a:rPr>
                        <a:t>   </a:t>
                      </a:r>
                      <a:r>
                        <a:rPr sz="2000" kern="0" spc="20" dirty="0">
                          <a:solidFill>
                            <a:srgbClr val="000000">
                              <a:alpha val="100000"/>
                            </a:srgbClr>
                          </a:solidFill>
                          <a:latin typeface="Arial" panose="020B0604020202020204"/>
                          <a:ea typeface="Arial" panose="020B0604020202020204"/>
                          <a:cs typeface="Arial" panose="020B0604020202020204"/>
                        </a:rPr>
                        <a:t>= </a:t>
                      </a:r>
                      <a:r>
                        <a:rPr sz="20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残差平方和 </a:t>
                      </a:r>
                      <a:r>
                        <a:rPr sz="2000" kern="0" spc="2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SSE</a:t>
                      </a:r>
                      <a:endParaRPr sz="2000" dirty="0">
                        <a:latin typeface="Times New Roman" panose="02020603050405020304"/>
                        <a:ea typeface="Times New Roman" panose="02020603050405020304"/>
                        <a:cs typeface="Times New Roman" panose="02020603050405020304"/>
                      </a:endParaRPr>
                    </a:p>
                    <a:p>
                      <a:pPr marL="965200" algn="l" rtl="0" eaLnBrk="0">
                        <a:lnSpc>
                          <a:spcPct val="87000"/>
                        </a:lnSpc>
                        <a:spcBef>
                          <a:spcPts val="181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重写上式：</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10000"/>
                        </a:lnSpc>
                      </a:pPr>
                      <a:endParaRPr sz="500" dirty="0">
                        <a:latin typeface="Arial" panose="020B0604020202020204"/>
                        <a:ea typeface="Arial" panose="020B0604020202020204"/>
                        <a:cs typeface="Arial" panose="020B0604020202020204"/>
                      </a:endParaRPr>
                    </a:p>
                    <a:p>
                      <a:pPr marL="3479165" algn="l" rtl="0" eaLnBrk="0">
                        <a:lnSpc>
                          <a:spcPct val="78000"/>
                        </a:lnSpc>
                        <a:spcBef>
                          <a:spcPts val="5"/>
                        </a:spcBef>
                      </a:pPr>
                      <a:r>
                        <a:rPr sz="2200" kern="0" spc="-10" dirty="0">
                          <a:solidFill>
                            <a:srgbClr val="000000">
                              <a:alpha val="100000"/>
                            </a:srgbClr>
                          </a:solidFill>
                          <a:latin typeface="Times New Roman" panose="02020603050405020304"/>
                          <a:ea typeface="Times New Roman" panose="02020603050405020304"/>
                          <a:cs typeface="Times New Roman" panose="02020603050405020304"/>
                        </a:rPr>
                        <a:t>SST </a:t>
                      </a:r>
                      <a:r>
                        <a:rPr sz="2200" kern="0" spc="-10" dirty="0">
                          <a:solidFill>
                            <a:srgbClr val="000000">
                              <a:alpha val="100000"/>
                            </a:srgbClr>
                          </a:solidFill>
                          <a:latin typeface="Arial" panose="020B0604020202020204"/>
                          <a:ea typeface="Arial" panose="020B0604020202020204"/>
                          <a:cs typeface="Arial" panose="020B0604020202020204"/>
                        </a:rPr>
                        <a:t>=</a:t>
                      </a:r>
                      <a:r>
                        <a:rPr sz="2200" kern="0" spc="-120" dirty="0">
                          <a:solidFill>
                            <a:srgbClr val="000000">
                              <a:alpha val="100000"/>
                            </a:srgbClr>
                          </a:solidFill>
                          <a:latin typeface="Arial" panose="020B0604020202020204"/>
                          <a:ea typeface="Arial" panose="020B0604020202020204"/>
                          <a:cs typeface="Arial" panose="020B0604020202020204"/>
                        </a:rPr>
                        <a:t> </a:t>
                      </a:r>
                      <a:r>
                        <a:rPr sz="2200" kern="0" spc="-10" dirty="0">
                          <a:solidFill>
                            <a:srgbClr val="000000">
                              <a:alpha val="100000"/>
                            </a:srgbClr>
                          </a:solidFill>
                          <a:latin typeface="Times New Roman" panose="02020603050405020304"/>
                          <a:ea typeface="Times New Roman" panose="02020603050405020304"/>
                          <a:cs typeface="Times New Roman" panose="02020603050405020304"/>
                        </a:rPr>
                        <a:t>SSR</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10" dirty="0">
                          <a:solidFill>
                            <a:srgbClr val="000000">
                              <a:alpha val="100000"/>
                            </a:srgbClr>
                          </a:solidFill>
                          <a:latin typeface="Arial" panose="020B0604020202020204"/>
                          <a:ea typeface="Arial" panose="020B0604020202020204"/>
                          <a:cs typeface="Arial" panose="020B0604020202020204"/>
                        </a:rPr>
                        <a:t>+ </a:t>
                      </a:r>
                      <a:r>
                        <a:rPr sz="2200" kern="0" spc="-10" dirty="0">
                          <a:solidFill>
                            <a:srgbClr val="000000">
                              <a:alpha val="100000"/>
                            </a:srgbClr>
                          </a:solidFill>
                          <a:latin typeface="Times New Roman" panose="02020603050405020304"/>
                          <a:ea typeface="Times New Roman" panose="02020603050405020304"/>
                          <a:cs typeface="Times New Roman" panose="02020603050405020304"/>
                        </a:rPr>
                        <a:t>S</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SE</a:t>
                      </a:r>
                      <a:endParaRPr sz="22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11530">
                <a:tc>
                  <a:txBody>
                    <a:bodyPr/>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25425" algn="l" rtl="0" eaLnBrk="0">
                        <a:lnSpc>
                          <a:spcPct val="75000"/>
                        </a:lnSpc>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18</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218" name="textbox 218"/>
          <p:cNvSpPr/>
          <p:nvPr/>
        </p:nvSpPr>
        <p:spPr>
          <a:xfrm>
            <a:off x="3055044" y="4290731"/>
            <a:ext cx="179070" cy="403225"/>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124000"/>
              </a:lnSpc>
            </a:pPr>
            <a:r>
              <a:rPr sz="2000" i="1" kern="0" spc="-5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410" dirty="0">
                <a:solidFill>
                  <a:srgbClr val="000000">
                    <a:alpha val="100000"/>
                  </a:srgbClr>
                </a:solidFill>
                <a:latin typeface="Times New Roman" panose="02020603050405020304"/>
                <a:ea typeface="Times New Roman" panose="02020603050405020304"/>
                <a:cs typeface="Times New Roman" panose="02020603050405020304"/>
              </a:rPr>
              <a:t> </a:t>
            </a:r>
            <a:r>
              <a:rPr sz="1100" i="1" kern="0" spc="-50" dirty="0">
                <a:solidFill>
                  <a:srgbClr val="000000">
                    <a:alpha val="100000"/>
                  </a:srgbClr>
                </a:solidFill>
                <a:latin typeface="Times New Roman" panose="02020603050405020304"/>
                <a:ea typeface="Times New Roman" panose="02020603050405020304"/>
                <a:cs typeface="Times New Roman" panose="02020603050405020304"/>
              </a:rPr>
              <a:t>i</a:t>
            </a:r>
            <a:endParaRPr sz="1100" dirty="0">
              <a:latin typeface="Times New Roman" panose="02020603050405020304"/>
              <a:ea typeface="Times New Roman" panose="02020603050405020304"/>
              <a:cs typeface="Times New Roman" panose="02020603050405020304"/>
            </a:endParaRPr>
          </a:p>
        </p:txBody>
      </p:sp>
      <p:sp>
        <p:nvSpPr>
          <p:cNvPr id="220" name="textbox 220"/>
          <p:cNvSpPr/>
          <p:nvPr/>
        </p:nvSpPr>
        <p:spPr>
          <a:xfrm>
            <a:off x="3037683" y="4203552"/>
            <a:ext cx="188595" cy="38989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133000"/>
              </a:lnSpc>
            </a:pPr>
            <a:r>
              <a:rPr sz="18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1000" kern="0" spc="-40" dirty="0">
                <a:solidFill>
                  <a:srgbClr val="000000">
                    <a:alpha val="100000"/>
                  </a:srgbClr>
                </a:solidFill>
                <a:latin typeface="Times New Roman" panose="02020603050405020304"/>
                <a:ea typeface="Times New Roman" panose="02020603050405020304"/>
                <a:cs typeface="Times New Roman" panose="02020603050405020304"/>
              </a:rPr>
              <a:t>2</a:t>
            </a:r>
            <a:endParaRPr sz="1000" dirty="0">
              <a:latin typeface="Times New Roman" panose="02020603050405020304"/>
              <a:ea typeface="Times New Roman" panose="02020603050405020304"/>
              <a:cs typeface="Times New Roman" panose="02020603050405020304"/>
            </a:endParaRPr>
          </a:p>
        </p:txBody>
      </p:sp>
      <p:sp>
        <p:nvSpPr>
          <p:cNvPr id="222" name="textbox 222"/>
          <p:cNvSpPr/>
          <p:nvPr/>
        </p:nvSpPr>
        <p:spPr>
          <a:xfrm>
            <a:off x="3153703" y="3788877"/>
            <a:ext cx="160654" cy="292734"/>
          </a:xfrm>
          <a:prstGeom prst="rect">
            <a:avLst/>
          </a:prstGeom>
          <a:noFill/>
          <a:ln w="0" cap="flat">
            <a:noFill/>
            <a:prstDash val="solid"/>
            <a:miter lim="0"/>
          </a:ln>
        </p:spPr>
        <p:txBody>
          <a:bodyPr vert="horz" wrap="square" lIns="0" tIns="0" rIns="0" bIns="0"/>
          <a:lstStyle/>
          <a:p>
            <a:pPr algn="l" rtl="0" eaLnBrk="0">
              <a:lnSpc>
                <a:spcPct val="77000"/>
              </a:lnSpc>
            </a:pPr>
            <a:endParaRPr sz="100" dirty="0">
              <a:latin typeface="Arial" panose="020B0604020202020204"/>
              <a:ea typeface="Arial" panose="020B0604020202020204"/>
              <a:cs typeface="Arial" panose="020B0604020202020204"/>
            </a:endParaRPr>
          </a:p>
          <a:p>
            <a:pPr marL="12700" algn="l" rtl="0" eaLnBrk="0">
              <a:lnSpc>
                <a:spcPct val="88000"/>
              </a:lnSpc>
            </a:pPr>
            <a:r>
              <a:rPr sz="2000" i="1" kern="0" spc="160" dirty="0">
                <a:solidFill>
                  <a:srgbClr val="000000">
                    <a:alpha val="100000"/>
                  </a:srgbClr>
                </a:solidFill>
                <a:latin typeface="Times New Roman" panose="02020603050405020304"/>
                <a:ea typeface="Times New Roman" panose="02020603050405020304"/>
                <a:cs typeface="Times New Roman" panose="02020603050405020304"/>
              </a:rPr>
              <a:t>y</a:t>
            </a:r>
            <a:endParaRPr sz="2000" dirty="0">
              <a:latin typeface="Times New Roman" panose="02020603050405020304"/>
              <a:ea typeface="Times New Roman" panose="02020603050405020304"/>
              <a:cs typeface="Times New Roman" panose="02020603050405020304"/>
            </a:endParaRPr>
          </a:p>
        </p:txBody>
      </p:sp>
      <p:sp>
        <p:nvSpPr>
          <p:cNvPr id="224" name="textbox 224"/>
          <p:cNvSpPr/>
          <p:nvPr/>
        </p:nvSpPr>
        <p:spPr>
          <a:xfrm>
            <a:off x="3133143" y="3777129"/>
            <a:ext cx="104139" cy="25971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845"/>
              </a:lnSpc>
            </a:pPr>
            <a:r>
              <a:rPr sz="1400" kern="0" spc="-60" dirty="0">
                <a:solidFill>
                  <a:srgbClr val="000000">
                    <a:alpha val="100000"/>
                  </a:srgbClr>
                </a:solidFill>
                <a:latin typeface="Times New Roman" panose="02020603050405020304"/>
                <a:ea typeface="Times New Roman" panose="02020603050405020304"/>
                <a:cs typeface="Times New Roman" panose="02020603050405020304"/>
              </a:rPr>
              <a:t>^</a:t>
            </a:r>
            <a:endParaRPr sz="1400" dirty="0">
              <a:latin typeface="Times New Roman" panose="02020603050405020304"/>
              <a:ea typeface="Times New Roman" panose="02020603050405020304"/>
              <a:cs typeface="Times New Roman" panose="02020603050405020304"/>
            </a:endParaRPr>
          </a:p>
        </p:txBody>
      </p:sp>
      <p:sp>
        <p:nvSpPr>
          <p:cNvPr id="226" name="textbox 226"/>
          <p:cNvSpPr/>
          <p:nvPr/>
        </p:nvSpPr>
        <p:spPr>
          <a:xfrm>
            <a:off x="3830207" y="3199809"/>
            <a:ext cx="97789" cy="162560"/>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2000"/>
              </a:lnSpc>
            </a:pPr>
            <a:r>
              <a:rPr sz="1100" kern="0" spc="0" dirty="0">
                <a:solidFill>
                  <a:srgbClr val="000000">
                    <a:alpha val="100000"/>
                  </a:srgbClr>
                </a:solidFill>
                <a:latin typeface="Times New Roman" panose="02020603050405020304"/>
                <a:ea typeface="Times New Roman" panose="02020603050405020304"/>
                <a:cs typeface="Times New Roman" panose="02020603050405020304"/>
              </a:rPr>
              <a:t>2</a:t>
            </a:r>
            <a:endParaRPr sz="11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0" name="table 230"/>
          <p:cNvGraphicFramePr>
            <a:graphicFrameLocks noGrp="1"/>
          </p:cNvGraphicFramePr>
          <p:nvPr/>
        </p:nvGraphicFramePr>
        <p:xfrm>
          <a:off x="60832" y="66928"/>
          <a:ext cx="9018904" cy="6699250"/>
        </p:xfrm>
        <a:graphic>
          <a:graphicData uri="http://schemas.openxmlformats.org/drawingml/2006/table">
            <a:tbl>
              <a:tblPr/>
              <a:tblGrid>
                <a:gridCol w="746125"/>
                <a:gridCol w="827277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542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03835" algn="l" rtl="0" eaLnBrk="0">
                        <a:lnSpc>
                          <a:spcPct val="8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70" dirty="0">
                          <a:solidFill>
                            <a:srgbClr val="000000">
                              <a:alpha val="100000"/>
                            </a:srgbClr>
                          </a:solidFill>
                          <a:latin typeface="楷体" panose="02010609060101010101" charset="-122"/>
                          <a:ea typeface="楷体" panose="02010609060101010101" charset="-122"/>
                          <a:cs typeface="楷体" panose="02010609060101010101" charset="-122"/>
                        </a:rPr>
                        <a:t>定义“判定系数</a:t>
                      </a:r>
                      <a:r>
                        <a:rPr sz="2100" b="1" kern="0" spc="60" dirty="0">
                          <a:solidFill>
                            <a:srgbClr val="000000">
                              <a:alpha val="100000"/>
                            </a:srgbClr>
                          </a:solidFill>
                          <a:latin typeface="楷体" panose="02010609060101010101" charset="-122"/>
                          <a:ea typeface="楷体" panose="02010609060101010101" charset="-122"/>
                          <a:cs typeface="楷体" panose="02010609060101010101" charset="-122"/>
                        </a:rPr>
                        <a:t>”或“决定系数”：</a:t>
                      </a:r>
                      <a:r>
                        <a:rPr sz="2100" kern="0" spc="-4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b="1" i="1" kern="0" spc="60" dirty="0">
                          <a:solidFill>
                            <a:srgbClr val="000000">
                              <a:alpha val="100000"/>
                            </a:srgbClr>
                          </a:solidFill>
                          <a:latin typeface="Times New Roman" panose="02020603050405020304"/>
                          <a:ea typeface="Times New Roman" panose="02020603050405020304"/>
                          <a:cs typeface="Times New Roman" panose="02020603050405020304"/>
                        </a:rPr>
                        <a:t>R</a:t>
                      </a:r>
                      <a:r>
                        <a:rPr sz="2200" b="1" kern="0" spc="60" baseline="28000" dirty="0">
                          <a:solidFill>
                            <a:srgbClr val="000000">
                              <a:alpha val="100000"/>
                            </a:srgbClr>
                          </a:solidFill>
                          <a:latin typeface="Times New Roman" panose="02020603050405020304"/>
                          <a:ea typeface="Times New Roman" panose="02020603050405020304"/>
                          <a:cs typeface="Times New Roman" panose="02020603050405020304"/>
                        </a:rPr>
                        <a:t>2</a:t>
                      </a:r>
                      <a:endParaRPr sz="2200" baseline="28000" dirty="0">
                        <a:latin typeface="Times New Roman" panose="02020603050405020304"/>
                        <a:ea typeface="Times New Roman" panose="02020603050405020304"/>
                        <a:cs typeface="Times New Roman" panose="02020603050405020304"/>
                      </a:endParaRPr>
                    </a:p>
                    <a:p>
                      <a:pPr algn="l" rtl="0" eaLnBrk="0">
                        <a:lnSpc>
                          <a:spcPct val="122000"/>
                        </a:lnSpc>
                      </a:pPr>
                      <a:endParaRPr sz="1000" dirty="0">
                        <a:latin typeface="Arial" panose="020B0604020202020204"/>
                        <a:ea typeface="Arial" panose="020B0604020202020204"/>
                        <a:cs typeface="Arial" panose="020B0604020202020204"/>
                      </a:endParaRPr>
                    </a:p>
                    <a:p>
                      <a:pPr marL="203835" algn="l" rtl="0" eaLnBrk="0">
                        <a:lnSpc>
                          <a:spcPts val="255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5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i="1" kern="0" spc="6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60" baseline="36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为</a:t>
                      </a:r>
                      <a:r>
                        <a:rPr sz="2100" kern="0" spc="-47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的变异中可由回归模</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型中的</a:t>
                      </a:r>
                      <a:r>
                        <a:rPr sz="2100" kern="0" spc="50" dirty="0">
                          <a:solidFill>
                            <a:srgbClr val="000000">
                              <a:alpha val="100000"/>
                            </a:srgbClr>
                          </a:solidFill>
                          <a:latin typeface="Perpetua" panose="02020502060401020303"/>
                          <a:ea typeface="Perpetua" panose="02020502060401020303"/>
                          <a:cs typeface="Perpetua" panose="02020502060401020303"/>
                        </a:rPr>
                        <a:t>x</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解释的比例。</a:t>
                      </a:r>
                      <a:endParaRPr sz="2100" dirty="0">
                        <a:latin typeface="楷体" panose="02010609060101010101" charset="-122"/>
                        <a:ea typeface="楷体" panose="02010609060101010101" charset="-122"/>
                        <a:cs typeface="楷体" panose="02010609060101010101" charset="-122"/>
                      </a:endParaRPr>
                    </a:p>
                    <a:p>
                      <a:pPr algn="l" rtl="0" eaLnBrk="0">
                        <a:lnSpc>
                          <a:spcPct val="155000"/>
                        </a:lnSpc>
                      </a:pPr>
                      <a:endParaRPr sz="1000" dirty="0">
                        <a:latin typeface="Arial" panose="020B0604020202020204"/>
                        <a:ea typeface="Arial" panose="020B0604020202020204"/>
                        <a:cs typeface="Arial" panose="020B0604020202020204"/>
                      </a:endParaRPr>
                    </a:p>
                    <a:p>
                      <a:pPr marL="2297430" algn="l" rtl="0" eaLnBrk="0">
                        <a:lnSpc>
                          <a:spcPts val="4615"/>
                        </a:lnSpc>
                        <a:spcBef>
                          <a:spcPts val="305"/>
                        </a:spcBef>
                        <a:tabLst>
                          <a:tab pos="474281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523875" algn="l" rtl="0" eaLnBrk="0">
                        <a:lnSpc>
                          <a:spcPts val="2745"/>
                        </a:lnSpc>
                        <a:spcBef>
                          <a:spcPts val="640"/>
                        </a:spcBef>
                      </a:pPr>
                      <a:r>
                        <a:rPr sz="1800" kern="0" spc="5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17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50" baseline="4100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越接近于</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，样本值</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1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越接近</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于拟合的回归方程；</a:t>
                      </a:r>
                      <a:endParaRPr sz="2100" dirty="0">
                        <a:latin typeface="楷体" panose="02010609060101010101" charset="-122"/>
                        <a:ea typeface="楷体" panose="02010609060101010101" charset="-122"/>
                        <a:cs typeface="楷体" panose="02010609060101010101" charset="-122"/>
                      </a:endParaRPr>
                    </a:p>
                    <a:p>
                      <a:pPr marL="764540" indent="-240665" algn="l" rtl="0" eaLnBrk="0">
                        <a:lnSpc>
                          <a:spcPct val="121000"/>
                        </a:lnSpc>
                        <a:spcBef>
                          <a:spcPts val="1365"/>
                        </a:spcBef>
                      </a:pPr>
                      <a:r>
                        <a:rPr sz="1800" kern="0" spc="7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26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如果</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70" baseline="31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，则所</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有的样本数据完全落在拟合的最小二乘</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线上，因此</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SSE</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，模型完美</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地拟合了数据；</a:t>
                      </a:r>
                      <a:endParaRPr sz="2100" dirty="0">
                        <a:latin typeface="楷体" panose="02010609060101010101" charset="-122"/>
                        <a:ea typeface="楷体" panose="02010609060101010101" charset="-122"/>
                        <a:cs typeface="楷体" panose="02010609060101010101" charset="-122"/>
                      </a:endParaRPr>
                    </a:p>
                    <a:p>
                      <a:pPr marL="742315" indent="-218440" algn="l" rtl="0" eaLnBrk="0">
                        <a:lnSpc>
                          <a:spcPct val="129000"/>
                        </a:lnSpc>
                        <a:spcBef>
                          <a:spcPts val="1695"/>
                        </a:spcBef>
                      </a:pPr>
                      <a:r>
                        <a:rPr sz="1800" kern="0" spc="8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28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如果</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的样本数据不相关，显示没有线性关系，则最小</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二乘拟合线是水平的，其值等于</a:t>
                      </a:r>
                      <a:r>
                        <a:rPr sz="2100" kern="0" spc="-580" dirty="0">
                          <a:solidFill>
                            <a:srgbClr val="000000">
                              <a:alpha val="100000"/>
                            </a:srgbClr>
                          </a:solidFill>
                          <a:latin typeface="楷体" panose="02010609060101010101" charset="-122"/>
                          <a:ea typeface="楷体" panose="02010609060101010101" charset="-122"/>
                          <a:cs typeface="楷体" panose="02010609060101010101" charset="-122"/>
                        </a:rPr>
                        <a:t> </a:t>
                      </a:r>
                      <a:r>
                        <a:rPr sz="2400" i="1" kern="0" spc="80" dirty="0">
                          <a:solidFill>
                            <a:srgbClr val="000000">
                              <a:alpha val="100000"/>
                            </a:srgbClr>
                          </a:solidFill>
                          <a:latin typeface="Times New Roman" panose="02020603050405020304"/>
                          <a:ea typeface="Times New Roman" panose="02020603050405020304"/>
                          <a:cs typeface="Times New Roman" panose="02020603050405020304"/>
                        </a:rPr>
                        <a:t>y</a:t>
                      </a:r>
                      <a:r>
                        <a:rPr sz="2400" i="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，因此</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SSR</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 0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5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8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03000"/>
                        </a:lnSpc>
                      </a:pPr>
                      <a:endParaRPr sz="1000" dirty="0">
                        <a:latin typeface="Arial" panose="020B0604020202020204"/>
                        <a:ea typeface="Arial" panose="020B0604020202020204"/>
                        <a:cs typeface="Arial" panose="020B0604020202020204"/>
                      </a:endParaRPr>
                    </a:p>
                    <a:p>
                      <a:pPr marL="753745" indent="-229870" algn="l" rtl="0" eaLnBrk="0">
                        <a:lnSpc>
                          <a:spcPct val="123000"/>
                        </a:lnSpc>
                        <a:spcBef>
                          <a:spcPts val="5"/>
                        </a:spcBef>
                      </a:pPr>
                      <a:r>
                        <a:rPr sz="1800" kern="0" spc="2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当</a:t>
                      </a:r>
                      <a:r>
                        <a:rPr sz="2100" kern="0" spc="-4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0 &lt; </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2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&lt;</a:t>
                      </a:r>
                      <a:r>
                        <a:rPr sz="21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时，</a:t>
                      </a:r>
                      <a:r>
                        <a:rPr sz="2100" kern="0" spc="-49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1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可以解释为：</a:t>
                      </a:r>
                      <a:r>
                        <a:rPr sz="2100" kern="0" spc="-57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相对于其均值的变异</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可由回归模型解释的比例。</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32" name="path 232"/>
          <p:cNvSpPr/>
          <p:nvPr/>
        </p:nvSpPr>
        <p:spPr>
          <a:xfrm>
            <a:off x="5479777" y="4641888"/>
            <a:ext cx="178850" cy="16316"/>
          </a:xfrm>
          <a:custGeom>
            <a:avLst/>
            <a:gdLst/>
            <a:ahLst/>
            <a:cxnLst/>
            <a:rect l="0" t="0" r="0" b="0"/>
            <a:pathLst>
              <a:path w="281" h="25">
                <a:moveTo>
                  <a:pt x="12" y="12"/>
                </a:moveTo>
                <a:lnTo>
                  <a:pt x="268" y="12"/>
                </a:lnTo>
              </a:path>
            </a:pathLst>
          </a:custGeom>
          <a:noFill/>
          <a:ln w="16315" cap="sq">
            <a:solidFill>
              <a:srgbClr val="000000"/>
            </a:solidFill>
            <a:prstDash val="solid"/>
            <a:round/>
          </a:ln>
        </p:spPr>
        <p:txBody>
          <a:bodyPr rtlCol="0"/>
          <a:lstStyle/>
          <a:p>
            <a:pPr algn="ctr"/>
            <a:endParaRPr lang="zh-CN" altLang="en-US"/>
          </a:p>
        </p:txBody>
      </p:sp>
      <p:pic>
        <p:nvPicPr>
          <p:cNvPr id="234" name="picture 234"/>
          <p:cNvPicPr>
            <a:picLocks noChangeAspect="1"/>
          </p:cNvPicPr>
          <p:nvPr/>
        </p:nvPicPr>
        <p:blipFill>
          <a:blip r:embed="rId1"/>
          <a:stretch>
            <a:fillRect/>
          </a:stretch>
        </p:blipFill>
        <p:spPr>
          <a:xfrm rot="21600000">
            <a:off x="3104774" y="1635407"/>
            <a:ext cx="2445285" cy="586228"/>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0" name="table 260"/>
          <p:cNvGraphicFramePr>
            <a:graphicFrameLocks noGrp="1"/>
          </p:cNvGraphicFramePr>
          <p:nvPr/>
        </p:nvGraphicFramePr>
        <p:xfrm>
          <a:off x="60832" y="66928"/>
          <a:ext cx="9018905" cy="6699248"/>
        </p:xfrm>
        <a:graphic>
          <a:graphicData uri="http://schemas.openxmlformats.org/drawingml/2006/table">
            <a:tbl>
              <a:tblPr/>
              <a:tblGrid>
                <a:gridCol w="710565"/>
                <a:gridCol w="1461135"/>
                <a:gridCol w="6847205"/>
              </a:tblGrid>
              <a:tr h="1104264">
                <a:tc gridSpan="3">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878205" algn="l" rtl="0" eaLnBrk="0">
                        <a:lnSpc>
                          <a:spcPct val="87000"/>
                        </a:lnSpc>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食品支出的例子</a:t>
                      </a:r>
                      <a:endParaRPr sz="2100" dirty="0">
                        <a:latin typeface="楷体" panose="02010609060101010101" charset="-122"/>
                        <a:ea typeface="楷体" panose="02010609060101010101" charset="-122"/>
                        <a:cs typeface="楷体" panose="02010609060101010101" charset="-122"/>
                      </a:endParaRPr>
                    </a:p>
                    <a:p>
                      <a:pPr algn="l" rtl="0" eaLnBrk="0">
                        <a:lnSpc>
                          <a:spcPct val="109000"/>
                        </a:lnSpc>
                      </a:pPr>
                      <a:endParaRPr sz="800" dirty="0">
                        <a:latin typeface="Arial" panose="020B0604020202020204"/>
                        <a:ea typeface="Arial" panose="020B0604020202020204"/>
                        <a:cs typeface="Arial" panose="020B0604020202020204"/>
                      </a:endParaRPr>
                    </a:p>
                    <a:p>
                      <a:pPr marL="878205" algn="l" rtl="0" eaLnBrk="0">
                        <a:lnSpc>
                          <a:spcPct val="87000"/>
                        </a:lnSpc>
                        <a:spcBef>
                          <a:spcPts val="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该例中平方和为：</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2617470">
                <a:tc gridSpan="2">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878205" algn="l" rtl="0" eaLnBrk="0">
                        <a:lnSpc>
                          <a:spcPct val="96000"/>
                        </a:lnSpc>
                        <a:spcBef>
                          <a:spcPts val="5"/>
                        </a:spcBef>
                      </a:pPr>
                      <a:r>
                        <a:rPr sz="1600" kern="0" spc="-1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6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120" dirty="0">
                          <a:solidFill>
                            <a:srgbClr val="000000">
                              <a:alpha val="100000"/>
                            </a:srgbClr>
                          </a:solidFill>
                          <a:latin typeface="楷体" panose="02010609060101010101" charset="-122"/>
                          <a:ea typeface="楷体" panose="02010609060101010101" charset="-122"/>
                          <a:cs typeface="楷体" panose="02010609060101010101" charset="-122"/>
                        </a:rPr>
                        <a:t>由此：</a:t>
                      </a:r>
                      <a:endParaRPr sz="19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c hMerge="1">
                  <a:tcPr marL="0" marR="0" marT="0" marB="0">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18000"/>
                        </a:lnSpc>
                      </a:pPr>
                      <a:endParaRPr sz="300" dirty="0">
                        <a:latin typeface="Arial" panose="020B0604020202020204"/>
                        <a:ea typeface="Arial" panose="020B0604020202020204"/>
                        <a:cs typeface="Arial" panose="020B0604020202020204"/>
                      </a:endParaRPr>
                    </a:p>
                    <a:p>
                      <a:pPr marL="471805" algn="l" rtl="0" eaLnBrk="0">
                        <a:lnSpc>
                          <a:spcPts val="2770"/>
                        </a:lnSpc>
                        <a:spcBef>
                          <a:spcPts val="0"/>
                        </a:spcBef>
                        <a:tabLst>
                          <a:tab pos="34397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471805" algn="l" rtl="0" eaLnBrk="0">
                        <a:lnSpc>
                          <a:spcPts val="2775"/>
                        </a:lnSpc>
                        <a:spcBef>
                          <a:spcPts val="640"/>
                        </a:spcBef>
                        <a:tabLst>
                          <a:tab pos="411099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54000"/>
                        </a:lnSpc>
                      </a:pPr>
                      <a:endParaRPr sz="1000" dirty="0">
                        <a:latin typeface="Arial" panose="020B0604020202020204"/>
                        <a:ea typeface="Arial" panose="020B0604020202020204"/>
                        <a:cs typeface="Arial" panose="020B0604020202020204"/>
                      </a:endParaRPr>
                    </a:p>
                    <a:p>
                      <a:pPr marL="1470660" algn="l" rtl="0" eaLnBrk="0">
                        <a:lnSpc>
                          <a:spcPts val="3915"/>
                        </a:lnSpc>
                        <a:spcBef>
                          <a:spcPts val="310"/>
                        </a:spcBef>
                        <a:tabLst>
                          <a:tab pos="268732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785620" algn="l" rtl="0" eaLnBrk="0">
                        <a:lnSpc>
                          <a:spcPts val="4325"/>
                        </a:lnSpc>
                        <a:spcBef>
                          <a:spcPts val="1080"/>
                        </a:spcBef>
                        <a:tabLst>
                          <a:tab pos="34905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17000"/>
                        </a:lnSpc>
                      </a:pPr>
                      <a:endParaRPr sz="500" dirty="0">
                        <a:latin typeface="Arial" panose="020B0604020202020204"/>
                        <a:ea typeface="Arial" panose="020B0604020202020204"/>
                        <a:cs typeface="Arial" panose="020B0604020202020204"/>
                      </a:endParaRPr>
                    </a:p>
                    <a:p>
                      <a:pPr marL="1785620" algn="l" rtl="0" eaLnBrk="0">
                        <a:lnSpc>
                          <a:spcPct val="78000"/>
                        </a:lnSpc>
                        <a:spcBef>
                          <a:spcPts val="5"/>
                        </a:spcBef>
                      </a:pPr>
                      <a:r>
                        <a:rPr sz="1800" kern="0" spc="-10" dirty="0">
                          <a:solidFill>
                            <a:srgbClr val="000000">
                              <a:alpha val="100000"/>
                            </a:srgbClr>
                          </a:solidFill>
                          <a:latin typeface="Arial" panose="020B0604020202020204"/>
                          <a:ea typeface="Arial" panose="020B0604020202020204"/>
                          <a:cs typeface="Arial" panose="020B06040202020202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0.385</a:t>
                      </a:r>
                      <a:endParaRPr sz="18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1156335">
                <a:tc gridSpan="3">
                  <a:txBody>
                    <a:bodyPr/>
                    <a:lstStyle/>
                    <a:p>
                      <a:pPr algn="l" rtl="0" eaLnBrk="0">
                        <a:lnSpc>
                          <a:spcPct val="105000"/>
                        </a:lnSpc>
                      </a:pPr>
                      <a:endParaRPr sz="100" dirty="0">
                        <a:latin typeface="Arial" panose="020B0604020202020204"/>
                        <a:ea typeface="Arial" panose="020B0604020202020204"/>
                        <a:cs typeface="Arial" panose="020B0604020202020204"/>
                      </a:endParaRPr>
                    </a:p>
                    <a:p>
                      <a:pPr marL="1153795" indent="-275590" algn="l" rtl="0" eaLnBrk="0">
                        <a:lnSpc>
                          <a:spcPct val="96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可以得到结论：食品支出</a:t>
                      </a:r>
                      <a:r>
                        <a:rPr sz="2100" kern="0" spc="70" dirty="0">
                          <a:solidFill>
                            <a:srgbClr val="000000">
                              <a:alpha val="100000"/>
                            </a:srgbClr>
                          </a:solidFill>
                          <a:latin typeface="Perpetua" panose="02020502060401020303"/>
                          <a:ea typeface="Perpetua" panose="02020502060401020303"/>
                          <a:cs typeface="Perpetua" panose="02020502060401020303"/>
                        </a:rPr>
                        <a:t>3</a:t>
                      </a:r>
                      <a:r>
                        <a:rPr sz="2100" kern="0" spc="60" dirty="0">
                          <a:solidFill>
                            <a:srgbClr val="000000">
                              <a:alpha val="100000"/>
                            </a:srgbClr>
                          </a:solidFill>
                          <a:latin typeface="Perpetua" panose="02020502060401020303"/>
                          <a:ea typeface="Perpetua" panose="02020502060401020303"/>
                          <a:cs typeface="Perpetua" panose="02020502060401020303"/>
                        </a:rPr>
                        <a:t>8.5%</a:t>
                      </a:r>
                      <a:r>
                        <a:rPr sz="2100" kern="0" spc="230" dirty="0">
                          <a:solidFill>
                            <a:srgbClr val="000000">
                              <a:alpha val="100000"/>
                            </a:srgbClr>
                          </a:solidFill>
                          <a:latin typeface="Perpetua" panose="02020502060401020303"/>
                          <a:ea typeface="Perpetua" panose="02020502060401020303"/>
                          <a:cs typeface="Perpetua" panose="02020502060401020303"/>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的变异（与样本均值的偏差）</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可由回归模型解释。</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878205" algn="l" rtl="0" eaLnBrk="0">
                        <a:lnSpc>
                          <a:spcPts val="2550"/>
                        </a:lnSpc>
                      </a:pP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1821179">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900" dirty="0">
                        <a:latin typeface="楷体" panose="02010609060101010101" charset="-122"/>
                        <a:ea typeface="楷体" panose="02010609060101010101" charset="-122"/>
                        <a:cs typeface="楷体" panose="02010609060101010101" charset="-122"/>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14000"/>
                        </a:lnSpc>
                      </a:pPr>
                      <a:endParaRPr sz="1700" baseline="490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66" name="picture 266"/>
          <p:cNvPicPr>
            <a:picLocks noChangeAspect="1"/>
          </p:cNvPicPr>
          <p:nvPr/>
        </p:nvPicPr>
        <p:blipFill>
          <a:blip r:embed="rId1"/>
          <a:stretch>
            <a:fillRect/>
          </a:stretch>
        </p:blipFill>
        <p:spPr>
          <a:xfrm rot="21600000">
            <a:off x="4018487" y="2919762"/>
            <a:ext cx="1704990" cy="549585"/>
          </a:xfrm>
          <a:prstGeom prst="rect">
            <a:avLst/>
          </a:prstGeom>
        </p:spPr>
      </p:pic>
      <p:pic>
        <p:nvPicPr>
          <p:cNvPr id="268" name="picture 268"/>
          <p:cNvPicPr>
            <a:picLocks noChangeAspect="1"/>
          </p:cNvPicPr>
          <p:nvPr/>
        </p:nvPicPr>
        <p:blipFill>
          <a:blip r:embed="rId2"/>
          <a:stretch>
            <a:fillRect/>
          </a:stretch>
        </p:blipFill>
        <p:spPr>
          <a:xfrm rot="21600000">
            <a:off x="3703291" y="2285076"/>
            <a:ext cx="1217499" cy="497583"/>
          </a:xfrm>
          <a:prstGeom prst="rect">
            <a:avLst/>
          </a:prstGeom>
        </p:spPr>
      </p:pic>
      <p:pic>
        <p:nvPicPr>
          <p:cNvPr id="270" name="picture 270"/>
          <p:cNvPicPr>
            <a:picLocks noChangeAspect="1"/>
          </p:cNvPicPr>
          <p:nvPr/>
        </p:nvPicPr>
        <p:blipFill>
          <a:blip r:embed="rId3"/>
          <a:stretch>
            <a:fillRect/>
          </a:stretch>
        </p:blipFill>
        <p:spPr>
          <a:xfrm rot="21600000">
            <a:off x="2704744" y="1658446"/>
            <a:ext cx="3639192" cy="352393"/>
          </a:xfrm>
          <a:prstGeom prst="rect">
            <a:avLst/>
          </a:prstGeom>
        </p:spPr>
      </p:pic>
      <p:pic>
        <p:nvPicPr>
          <p:cNvPr id="272" name="picture 272"/>
          <p:cNvPicPr>
            <a:picLocks noChangeAspect="1"/>
          </p:cNvPicPr>
          <p:nvPr/>
        </p:nvPicPr>
        <p:blipFill>
          <a:blip r:embed="rId4"/>
          <a:stretch>
            <a:fillRect/>
          </a:stretch>
        </p:blipFill>
        <p:spPr>
          <a:xfrm rot="21600000">
            <a:off x="2704744" y="1225396"/>
            <a:ext cx="2968514" cy="351933"/>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 name="table 276"/>
          <p:cNvGraphicFramePr>
            <a:graphicFrameLocks noGrp="1"/>
          </p:cNvGraphicFramePr>
          <p:nvPr/>
        </p:nvGraphicFramePr>
        <p:xfrm>
          <a:off x="60832" y="66928"/>
          <a:ext cx="9018905" cy="6699248"/>
        </p:xfrm>
        <a:graphic>
          <a:graphicData uri="http://schemas.openxmlformats.org/drawingml/2006/table">
            <a:tbl>
              <a:tblPr/>
              <a:tblGrid>
                <a:gridCol w="9018905"/>
              </a:tblGrid>
              <a:tr h="5848984">
                <a:tc>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966470" algn="l" rtl="0" eaLnBrk="0">
                        <a:lnSpc>
                          <a:spcPct val="85000"/>
                        </a:lnSpc>
                        <a:spcBef>
                          <a:spcPts val="0"/>
                        </a:spcBef>
                      </a:pPr>
                      <a:r>
                        <a:rPr sz="20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40" dirty="0">
                          <a:solidFill>
                            <a:srgbClr val="000000">
                              <a:alpha val="100000"/>
                            </a:srgbClr>
                          </a:solidFill>
                          <a:latin typeface="楷体" panose="02010609060101010101" charset="-122"/>
                          <a:ea typeface="楷体" panose="02010609060101010101" charset="-122"/>
                          <a:cs typeface="楷体" panose="02010609060101010101" charset="-122"/>
                        </a:rPr>
                        <a:t>如何汇报回归估计结果</a:t>
                      </a:r>
                      <a:endParaRPr sz="2400" dirty="0">
                        <a:latin typeface="楷体" panose="02010609060101010101" charset="-122"/>
                        <a:ea typeface="楷体" panose="02010609060101010101" charset="-122"/>
                        <a:cs typeface="楷体" panose="020106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结果汇报应包括的关键要素是：</a:t>
                      </a:r>
                      <a:endParaRPr sz="2100" dirty="0">
                        <a:latin typeface="楷体" panose="02010609060101010101" charset="-122"/>
                        <a:ea typeface="楷体" panose="02010609060101010101" charset="-122"/>
                        <a:cs typeface="楷体"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marL="1400810" algn="l" rtl="0" eaLnBrk="0">
                        <a:lnSpc>
                          <a:spcPct val="87000"/>
                        </a:lnSpc>
                        <a:spcBef>
                          <a:spcPts val="630"/>
                        </a:spcBef>
                      </a:pPr>
                      <a:r>
                        <a:rPr sz="2100" kern="0" spc="100" dirty="0">
                          <a:solidFill>
                            <a:srgbClr val="000000">
                              <a:alpha val="100000"/>
                            </a:srgbClr>
                          </a:solidFill>
                          <a:latin typeface="Perpetua" panose="02020502060401020303"/>
                          <a:ea typeface="Perpetua" panose="02020502060401020303"/>
                          <a:cs typeface="Perpetua" panose="02020502060401020303"/>
                        </a:rPr>
                        <a:t>—</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估计系数</a:t>
                      </a:r>
                      <a:endParaRPr sz="2100" dirty="0">
                        <a:latin typeface="楷体" panose="02010609060101010101" charset="-122"/>
                        <a:ea typeface="楷体" panose="02010609060101010101" charset="-122"/>
                        <a:cs typeface="楷体"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marL="1400810" algn="l" rtl="0" eaLnBrk="0">
                        <a:lnSpc>
                          <a:spcPts val="2550"/>
                        </a:lnSpc>
                        <a:spcBef>
                          <a:spcPts val="635"/>
                        </a:spcBef>
                      </a:pPr>
                      <a:r>
                        <a:rPr sz="2100" kern="0" spc="90" dirty="0">
                          <a:solidFill>
                            <a:srgbClr val="000000">
                              <a:alpha val="100000"/>
                            </a:srgbClr>
                          </a:solidFill>
                          <a:latin typeface="Perpetua" panose="02020502060401020303"/>
                          <a:ea typeface="Perpetua" panose="02020502060401020303"/>
                          <a:cs typeface="Perpetua" panose="02020502060401020303"/>
                        </a:rPr>
                        <a:t>—</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标注误或</a:t>
                      </a:r>
                      <a:r>
                        <a:rPr sz="2100" kern="0" spc="90" dirty="0">
                          <a:solidFill>
                            <a:srgbClr val="000000">
                              <a:alpha val="100000"/>
                            </a:srgbClr>
                          </a:solidFill>
                          <a:latin typeface="Perpetua" panose="02020502060401020303"/>
                          <a:ea typeface="Perpetua" panose="02020502060401020303"/>
                          <a:cs typeface="Perpetua" panose="02020502060401020303"/>
                        </a:rPr>
                        <a:t>t</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统计量</a:t>
                      </a:r>
                      <a:endParaRPr sz="2100" dirty="0">
                        <a:latin typeface="楷体" panose="02010609060101010101" charset="-122"/>
                        <a:ea typeface="楷体" panose="02010609060101010101" charset="-122"/>
                        <a:cs typeface="楷体" panose="02010609060101010101" charset="-122"/>
                      </a:endParaRPr>
                    </a:p>
                    <a:p>
                      <a:pPr marL="1400810" algn="l" rtl="0" eaLnBrk="0">
                        <a:lnSpc>
                          <a:spcPct val="85000"/>
                        </a:lnSpc>
                        <a:spcBef>
                          <a:spcPts val="1615"/>
                        </a:spcBef>
                      </a:pPr>
                      <a:r>
                        <a:rPr sz="2400" kern="0" spc="0" dirty="0">
                          <a:solidFill>
                            <a:srgbClr val="000000">
                              <a:alpha val="100000"/>
                            </a:srgbClr>
                          </a:solidFill>
                          <a:latin typeface="Perpetua" panose="02020502060401020303"/>
                          <a:ea typeface="Perpetua" panose="02020502060401020303"/>
                          <a:cs typeface="Perpetua" panose="02020502060401020303"/>
                        </a:rPr>
                        <a:t>—</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统计显著性的标记</a:t>
                      </a:r>
                      <a:endParaRPr sz="2400" dirty="0">
                        <a:latin typeface="楷体" panose="02010609060101010101" charset="-122"/>
                        <a:ea typeface="楷体" panose="02010609060101010101" charset="-122"/>
                        <a:cs typeface="楷体" panose="02010609060101010101" charset="-122"/>
                      </a:endParaRPr>
                    </a:p>
                    <a:p>
                      <a:pPr algn="l" rtl="0" eaLnBrk="0">
                        <a:lnSpc>
                          <a:spcPct val="133000"/>
                        </a:lnSpc>
                      </a:pPr>
                      <a:endParaRPr sz="1000" dirty="0">
                        <a:latin typeface="Arial" panose="020B0604020202020204"/>
                        <a:ea typeface="Arial" panose="020B0604020202020204"/>
                        <a:cs typeface="Arial" panose="020B0604020202020204"/>
                      </a:endParaRPr>
                    </a:p>
                    <a:p>
                      <a:pPr marL="1400810" algn="l" rtl="0" eaLnBrk="0">
                        <a:lnSpc>
                          <a:spcPts val="1720"/>
                        </a:lnSpc>
                        <a:spcBef>
                          <a:spcPts val="705"/>
                        </a:spcBef>
                      </a:pPr>
                      <a:r>
                        <a:rPr sz="3600" kern="0" spc="80" baseline="-8000" dirty="0">
                          <a:solidFill>
                            <a:srgbClr val="000000">
                              <a:alpha val="100000"/>
                            </a:srgbClr>
                          </a:solidFill>
                          <a:latin typeface="Perpetua" panose="02020502060401020303"/>
                          <a:ea typeface="Perpetua" panose="02020502060401020303"/>
                          <a:cs typeface="Perpetua" panose="02020502060401020303"/>
                        </a:rPr>
                        <a:t>—</a:t>
                      </a:r>
                      <a:r>
                        <a:rPr sz="2300" kern="0" spc="-40" dirty="0">
                          <a:solidFill>
                            <a:srgbClr val="000000">
                              <a:alpha val="100000"/>
                            </a:srgbClr>
                          </a:solidFill>
                          <a:latin typeface="Perpetua" panose="02020502060401020303"/>
                          <a:ea typeface="Perpetua" panose="02020502060401020303"/>
                          <a:cs typeface="Perpetua" panose="02020502060401020303"/>
                        </a:rPr>
                        <a:t> </a:t>
                      </a:r>
                      <a:r>
                        <a:rPr sz="3600" i="1" kern="0" spc="80" baseline="-8000" dirty="0">
                          <a:solidFill>
                            <a:srgbClr val="000000">
                              <a:alpha val="100000"/>
                            </a:srgbClr>
                          </a:solidFill>
                          <a:latin typeface="Times New Roman" panose="02020603050405020304"/>
                          <a:ea typeface="Times New Roman" panose="02020603050405020304"/>
                          <a:cs typeface="Times New Roman" panose="02020603050405020304"/>
                        </a:rPr>
                        <a:t>R</a:t>
                      </a:r>
                      <a:r>
                        <a:rPr sz="2400" kern="0" spc="80" baseline="17000" dirty="0">
                          <a:solidFill>
                            <a:srgbClr val="000000">
                              <a:alpha val="100000"/>
                            </a:srgbClr>
                          </a:solidFill>
                          <a:latin typeface="Perpetua" panose="02020502060401020303"/>
                          <a:ea typeface="Perpetua" panose="02020502060401020303"/>
                          <a:cs typeface="Perpetua" panose="02020502060401020303"/>
                        </a:rPr>
                        <a:t>2</a:t>
                      </a:r>
                      <a:endParaRPr sz="2400" baseline="17000" dirty="0">
                        <a:latin typeface="Perpetua" panose="02020502060401020303"/>
                        <a:ea typeface="Perpetua" panose="02020502060401020303"/>
                        <a:cs typeface="Perpetua" panose="02020502060401020303"/>
                      </a:endParaRPr>
                    </a:p>
                    <a:p>
                      <a:pPr algn="l" rtl="0" eaLnBrk="0">
                        <a:lnSpc>
                          <a:spcPct val="139000"/>
                        </a:lnSpc>
                      </a:pPr>
                      <a:endParaRPr sz="1000" dirty="0">
                        <a:latin typeface="Arial" panose="020B0604020202020204"/>
                        <a:ea typeface="Arial" panose="020B0604020202020204"/>
                        <a:cs typeface="Arial" panose="020B0604020202020204"/>
                      </a:endParaRPr>
                    </a:p>
                    <a:p>
                      <a:pPr marL="1405890" algn="l" rtl="0" eaLnBrk="0">
                        <a:lnSpc>
                          <a:spcPct val="90000"/>
                        </a:lnSpc>
                        <a:spcBef>
                          <a:spcPts val="725"/>
                        </a:spcBef>
                      </a:pP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避免使用</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之类的变</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量缩写</a:t>
                      </a:r>
                      <a:endParaRPr sz="2400" dirty="0">
                        <a:latin typeface="楷体" panose="02010609060101010101" charset="-122"/>
                        <a:ea typeface="楷体" panose="02010609060101010101" charset="-122"/>
                        <a:cs typeface="楷体" panose="02010609060101010101" charset="-122"/>
                      </a:endParaRPr>
                    </a:p>
                    <a:p>
                      <a:pPr marL="1408430" algn="l" rtl="0" eaLnBrk="0">
                        <a:lnSpc>
                          <a:spcPct val="83000"/>
                        </a:lnSpc>
                        <a:spcBef>
                          <a:spcPts val="1860"/>
                        </a:spcBef>
                      </a:pP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在论文中应利用独立的部分准确定义变</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量，使用易于</a:t>
                      </a:r>
                      <a:endParaRPr sz="2400" dirty="0">
                        <a:latin typeface="楷体" panose="02010609060101010101" charset="-122"/>
                        <a:ea typeface="楷体" panose="02010609060101010101" charset="-122"/>
                        <a:cs typeface="楷体" panose="02010609060101010101" charset="-122"/>
                      </a:endParaRPr>
                    </a:p>
                    <a:p>
                      <a:pPr marL="1417955" algn="l" rtl="0" eaLnBrk="0">
                        <a:lnSpc>
                          <a:spcPts val="4030"/>
                        </a:lnSpc>
                      </a:pPr>
                      <a:r>
                        <a:rPr sz="2400" kern="0" spc="-180" dirty="0">
                          <a:solidFill>
                            <a:srgbClr val="000000">
                              <a:alpha val="100000"/>
                            </a:srgbClr>
                          </a:solidFill>
                          <a:latin typeface="楷体" panose="02010609060101010101" charset="-122"/>
                          <a:ea typeface="楷体" panose="02010609060101010101" charset="-122"/>
                          <a:cs typeface="楷体" panose="02010609060101010101" charset="-122"/>
                        </a:rPr>
                        <a:t>解释的变量缩写。</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50264">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0" name="table 280"/>
          <p:cNvGraphicFramePr>
            <a:graphicFrameLocks noGrp="1"/>
          </p:cNvGraphicFramePr>
          <p:nvPr/>
        </p:nvGraphicFramePr>
        <p:xfrm>
          <a:off x="60832" y="66928"/>
          <a:ext cx="9018903" cy="6699250"/>
        </p:xfrm>
        <a:graphic>
          <a:graphicData uri="http://schemas.openxmlformats.org/drawingml/2006/table">
            <a:tbl>
              <a:tblPr/>
              <a:tblGrid>
                <a:gridCol w="753744"/>
                <a:gridCol w="5345429"/>
                <a:gridCol w="2919730"/>
              </a:tblGrid>
              <a:tr h="2814320">
                <a:tc rowSpan="3">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1615"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24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1455" algn="l" rtl="0" eaLnBrk="0">
                        <a:lnSpc>
                          <a:spcPct val="94000"/>
                        </a:lnSpc>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在食品支出的例子中，</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定义变量为</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504825" algn="l" rtl="0" eaLnBrk="0">
                        <a:lnSpc>
                          <a:spcPct val="94000"/>
                        </a:lnSpc>
                        <a:spcBef>
                          <a:spcPts val="635"/>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FOOD</a:t>
                      </a: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_</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EXP</a:t>
                      </a: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3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以美元衡量的三口之家的周</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食品支出</a:t>
                      </a:r>
                      <a:endParaRPr sz="2100" dirty="0">
                        <a:latin typeface="楷体" panose="02010609060101010101" charset="-122"/>
                        <a:ea typeface="楷体" panose="02010609060101010101" charset="-122"/>
                        <a:cs typeface="楷体" panose="02010609060101010101" charset="-122"/>
                      </a:endParaRPr>
                    </a:p>
                    <a:p>
                      <a:pPr marL="502920" algn="l" rtl="0" eaLnBrk="0">
                        <a:lnSpc>
                          <a:spcPts val="3825"/>
                        </a:lnSpc>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21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3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以</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100</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美元衡量的周家</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户收入</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477010">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066925" algn="l" rtl="0" eaLnBrk="0">
                        <a:lnSpc>
                          <a:spcPct val="76000"/>
                        </a:lnSpc>
                      </a:pPr>
                      <a:r>
                        <a:rPr sz="1000" kern="0" spc="-2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1442720" algn="l" rtl="0" eaLnBrk="0">
                        <a:lnSpc>
                          <a:spcPct val="79000"/>
                        </a:lnSpc>
                      </a:pP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FOOD</a:t>
                      </a:r>
                      <a:r>
                        <a:rPr sz="18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_</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EXP</a:t>
                      </a:r>
                      <a:r>
                        <a:rPr sz="18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90" dirty="0">
                          <a:solidFill>
                            <a:srgbClr val="000000">
                              <a:alpha val="100000"/>
                            </a:srgbClr>
                          </a:solidFill>
                          <a:latin typeface="Arial" panose="020B0604020202020204"/>
                          <a:ea typeface="Arial" panose="020B0604020202020204"/>
                          <a:cs typeface="Arial" panose="020B0604020202020204"/>
                        </a:rPr>
                        <a:t>= </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83.42</a:t>
                      </a:r>
                      <a:r>
                        <a:rPr sz="18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90" dirty="0">
                          <a:solidFill>
                            <a:srgbClr val="000000">
                              <a:alpha val="100000"/>
                            </a:srgbClr>
                          </a:solidFill>
                          <a:latin typeface="Arial" panose="020B0604020202020204"/>
                          <a:ea typeface="Arial" panose="020B0604020202020204"/>
                          <a:cs typeface="Arial" panose="020B0604020202020204"/>
                        </a:rPr>
                        <a:t>+</a:t>
                      </a:r>
                      <a:r>
                        <a:rPr sz="1800" kern="0" spc="80" dirty="0">
                          <a:solidFill>
                            <a:srgbClr val="000000">
                              <a:alpha val="100000"/>
                            </a:srgbClr>
                          </a:solidFill>
                          <a:latin typeface="Times New Roman" panose="02020603050405020304"/>
                          <a:ea typeface="Times New Roman" panose="02020603050405020304"/>
                          <a:cs typeface="Times New Roman" panose="02020603050405020304"/>
                        </a:rPr>
                        <a:t>10.21</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INCOME</a:t>
                      </a:r>
                      <a:endParaRPr sz="1800" dirty="0">
                        <a:latin typeface="Times New Roman" panose="02020603050405020304"/>
                        <a:ea typeface="Times New Roman" panose="02020603050405020304"/>
                        <a:cs typeface="Times New Roman" panose="02020603050405020304"/>
                      </a:endParaRPr>
                    </a:p>
                    <a:p>
                      <a:pPr marL="1967865" algn="l" rtl="0" eaLnBrk="0">
                        <a:lnSpc>
                          <a:spcPts val="3630"/>
                        </a:lnSpc>
                      </a:pPr>
                      <a:r>
                        <a:rPr sz="2400" kern="0" spc="0" dirty="0">
                          <a:solidFill>
                            <a:srgbClr val="000000">
                              <a:alpha val="100000"/>
                            </a:srgbClr>
                          </a:solidFill>
                          <a:latin typeface="Arial" panose="020B0604020202020204"/>
                          <a:ea typeface="Arial" panose="020B0604020202020204"/>
                          <a:cs typeface="Arial" panose="020B0604020202020204"/>
                        </a:rPr>
                        <a:t>(</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se</a:t>
                      </a:r>
                      <a:r>
                        <a:rPr sz="2400" kern="0" spc="0" dirty="0">
                          <a:solidFill>
                            <a:srgbClr val="000000">
                              <a:alpha val="100000"/>
                            </a:srgbClr>
                          </a:solidFill>
                          <a:latin typeface="Arial" panose="020B0604020202020204"/>
                          <a:ea typeface="Arial" panose="020B0604020202020204"/>
                          <a:cs typeface="Arial" panose="020B0604020202020204"/>
                        </a:rPr>
                        <a:t>)</a:t>
                      </a:r>
                      <a:r>
                        <a:rPr sz="2400" kern="0" spc="20" dirty="0">
                          <a:solidFill>
                            <a:srgbClr val="000000">
                              <a:alpha val="100000"/>
                            </a:srgbClr>
                          </a:solidFill>
                          <a:latin typeface="Arial" panose="020B0604020202020204"/>
                          <a:ea typeface="Arial" panose="020B0604020202020204"/>
                          <a:cs typeface="Arial" panose="020B0604020202020204"/>
                        </a:rPr>
                        <a:t>       </a:t>
                      </a:r>
                      <a:r>
                        <a:rPr sz="2400" kern="0" spc="0" dirty="0">
                          <a:solidFill>
                            <a:srgbClr val="000000">
                              <a:alpha val="100000"/>
                            </a:srgbClr>
                          </a:solidFill>
                          <a:latin typeface="Arial" panose="020B0604020202020204"/>
                          <a:ea typeface="Arial" panose="020B0604020202020204"/>
                          <a:cs typeface="Arial" panose="020B0604020202020204"/>
                        </a:rPr>
                        <a:t>(</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43.41</a:t>
                      </a: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2.09</a:t>
                      </a:r>
                      <a:r>
                        <a:rPr sz="2400" kern="0" spc="-10" dirty="0">
                          <a:solidFill>
                            <a:srgbClr val="000000">
                              <a:alpha val="100000"/>
                            </a:srgbClr>
                          </a:solidFill>
                          <a:latin typeface="Arial" panose="020B0604020202020204"/>
                          <a:ea typeface="Arial" panose="020B0604020202020204"/>
                          <a:cs typeface="Arial" panose="020B0604020202020204"/>
                        </a:rPr>
                        <a:t>)</a:t>
                      </a:r>
                      <a:r>
                        <a:rPr sz="1600" kern="0" spc="-10" baseline="69000" dirty="0">
                          <a:solidFill>
                            <a:srgbClr val="000000">
                              <a:alpha val="100000"/>
                            </a:srgbClr>
                          </a:solidFill>
                          <a:latin typeface="Times New Roman" panose="02020603050405020304"/>
                          <a:ea typeface="Times New Roman" panose="02020603050405020304"/>
                          <a:cs typeface="Times New Roman" panose="02020603050405020304"/>
                        </a:rPr>
                        <a:t>***</a:t>
                      </a:r>
                      <a:endParaRPr sz="1600" baseline="69000" dirty="0">
                        <a:latin typeface="Times New Roman" panose="02020603050405020304"/>
                        <a:ea typeface="Times New Roman" panose="02020603050405020304"/>
                        <a:cs typeface="Times New Roman" panose="02020603050405020304"/>
                      </a:endParaRPr>
                    </a:p>
                  </a:txBody>
                  <a:tcPr marL="0" marR="0" marT="0" marB="0">
                    <a:lnL>
                      <a:noFill/>
                    </a:lnL>
                    <a:lnR>
                      <a:noFill/>
                    </a:lnR>
                    <a:lnT>
                      <a:noFill/>
                    </a:lnT>
                    <a:lnB>
                      <a:noFill/>
                    </a:lnB>
                  </a:tcPr>
                </a:tc>
                <a:tc>
                  <a:txBody>
                    <a:bodyPr/>
                    <a:lstStyle/>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56210" algn="l" rtl="0" eaLnBrk="0">
                        <a:lnSpc>
                          <a:spcPct val="93000"/>
                        </a:lnSpc>
                      </a:pPr>
                      <a:r>
                        <a:rPr sz="1800" i="1" kern="0" spc="30" dirty="0">
                          <a:solidFill>
                            <a:srgbClr val="000000">
                              <a:alpha val="100000"/>
                            </a:srgbClr>
                          </a:solidFill>
                          <a:latin typeface="Times New Roman" panose="02020603050405020304"/>
                          <a:ea typeface="Times New Roman" panose="02020603050405020304"/>
                          <a:cs typeface="Times New Roman" panose="02020603050405020304"/>
                        </a:rPr>
                        <a:t>R</a:t>
                      </a:r>
                      <a:r>
                        <a:rPr sz="1600" kern="0" spc="30" baseline="49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30" dirty="0">
                          <a:solidFill>
                            <a:srgbClr val="000000">
                              <a:alpha val="100000"/>
                            </a:srgbClr>
                          </a:solidFill>
                          <a:latin typeface="Arial" panose="020B0604020202020204"/>
                          <a:ea typeface="Arial" panose="020B0604020202020204"/>
                          <a:cs typeface="Arial" panose="020B0604020202020204"/>
                        </a:rPr>
                        <a:t>= </a:t>
                      </a:r>
                      <a:r>
                        <a:rPr sz="1800" kern="0" spc="30" dirty="0">
                          <a:solidFill>
                            <a:srgbClr val="000000">
                              <a:alpha val="100000"/>
                            </a:srgbClr>
                          </a:solidFill>
                          <a:latin typeface="Times New Roman" panose="02020603050405020304"/>
                          <a:ea typeface="Times New Roman" panose="02020603050405020304"/>
                          <a:cs typeface="Times New Roman" panose="02020603050405020304"/>
                        </a:rPr>
                        <a:t>0.385</a:t>
                      </a:r>
                      <a:endParaRPr sz="18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2407920">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554355" algn="l" rtl="0" eaLnBrk="0">
                        <a:lnSpc>
                          <a:spcPct val="96000"/>
                        </a:lnSpc>
                      </a:pPr>
                      <a:r>
                        <a:rPr sz="1900" kern="0" spc="-100" dirty="0">
                          <a:solidFill>
                            <a:srgbClr val="000000">
                              <a:alpha val="100000"/>
                            </a:srgbClr>
                          </a:solidFill>
                          <a:latin typeface="楷体" panose="02010609060101010101" charset="-122"/>
                          <a:ea typeface="楷体" panose="02010609060101010101" charset="-122"/>
                          <a:cs typeface="楷体" panose="02010609060101010101" charset="-122"/>
                        </a:rPr>
                        <a:t>其中：</a:t>
                      </a:r>
                      <a:endParaRPr sz="1900" dirty="0">
                        <a:latin typeface="楷体" panose="02010609060101010101" charset="-122"/>
                        <a:ea typeface="楷体" panose="02010609060101010101" charset="-122"/>
                        <a:cs typeface="楷体" panose="02010609060101010101" charset="-122"/>
                      </a:endParaRPr>
                    </a:p>
                    <a:p>
                      <a:pPr marL="1158875" algn="l" rtl="0" eaLnBrk="0">
                        <a:lnSpc>
                          <a:spcPct val="94000"/>
                        </a:lnSpc>
                        <a:spcBef>
                          <a:spcPts val="1625"/>
                        </a:spcBef>
                      </a:pPr>
                      <a:r>
                        <a:rPr sz="2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表示在</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10%</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的水平上显著</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marL="1090295" algn="l" rtl="0" eaLnBrk="0">
                        <a:lnSpc>
                          <a:spcPct val="94000"/>
                        </a:lnSpc>
                        <a:spcBef>
                          <a:spcPts val="1460"/>
                        </a:spcBef>
                      </a:pP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表示在</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5%</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的水平上显著；</a:t>
                      </a:r>
                      <a:endParaRPr sz="2100" dirty="0">
                        <a:latin typeface="楷体" panose="02010609060101010101" charset="-122"/>
                        <a:ea typeface="楷体" panose="02010609060101010101" charset="-122"/>
                        <a:cs typeface="楷体" panose="02010609060101010101" charset="-122"/>
                      </a:endParaRPr>
                    </a:p>
                    <a:p>
                      <a:pPr algn="l" rtl="0" eaLnBrk="0">
                        <a:lnSpc>
                          <a:spcPct val="102000"/>
                        </a:lnSpc>
                      </a:pPr>
                      <a:endParaRPr sz="1200" dirty="0">
                        <a:latin typeface="Arial" panose="020B0604020202020204"/>
                        <a:ea typeface="Arial" panose="020B0604020202020204"/>
                        <a:cs typeface="Arial" panose="020B0604020202020204"/>
                      </a:endParaRPr>
                    </a:p>
                    <a:p>
                      <a:pPr marL="1090295" algn="l" rtl="0" eaLnBrk="0">
                        <a:lnSpc>
                          <a:spcPct val="94000"/>
                        </a:lnSpc>
                        <a:spcBef>
                          <a:spcPts val="5"/>
                        </a:spcBef>
                      </a:pP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表示在</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的水平上显著；</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4" name="table 284"/>
          <p:cNvGraphicFramePr>
            <a:graphicFrameLocks noGrp="1"/>
          </p:cNvGraphicFramePr>
          <p:nvPr/>
        </p:nvGraphicFramePr>
        <p:xfrm>
          <a:off x="60832" y="66928"/>
          <a:ext cx="9018905" cy="6699250"/>
        </p:xfrm>
        <a:graphic>
          <a:graphicData uri="http://schemas.openxmlformats.org/drawingml/2006/table">
            <a:tbl>
              <a:tblPr/>
              <a:tblGrid>
                <a:gridCol w="9018905"/>
              </a:tblGrid>
              <a:tr h="5441315">
                <a:tc>
                  <a:txBody>
                    <a:bodyPr/>
                    <a:lstStyle/>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3234055" algn="l" rtl="0" eaLnBrk="0">
                        <a:lnSpc>
                          <a:spcPct val="86000"/>
                        </a:lnSpc>
                        <a:spcBef>
                          <a:spcPts val="5"/>
                        </a:spcBef>
                      </a:pPr>
                      <a:r>
                        <a:rPr sz="3600" b="1" kern="0" spc="-40" dirty="0">
                          <a:solidFill>
                            <a:srgbClr val="000000">
                              <a:alpha val="100000"/>
                            </a:srgbClr>
                          </a:solidFill>
                          <a:latin typeface="黑体" panose="02010609060101010101" charset="-122"/>
                          <a:ea typeface="黑体" panose="02010609060101010101" charset="-122"/>
                          <a:cs typeface="黑体" panose="02010609060101010101" charset="-122"/>
                        </a:rPr>
                        <a:t>三、建模问题</a:t>
                      </a:r>
                      <a:endParaRPr sz="3600" dirty="0">
                        <a:latin typeface="黑体" panose="02010609060101010101" charset="-122"/>
                        <a:ea typeface="黑体" panose="02010609060101010101" charset="-122"/>
                        <a:cs typeface="黑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在构建一个计量模型时</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，我们必须解决一系列问题：</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965200" algn="l" rtl="0" eaLnBrk="0">
                        <a:lnSpc>
                          <a:spcPct val="8900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变量的度量单位</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与数值缩放</a:t>
                      </a:r>
                      <a:endParaRPr sz="2100" dirty="0">
                        <a:latin typeface="楷体" panose="02010609060101010101" charset="-122"/>
                        <a:ea typeface="楷体" panose="02010609060101010101" charset="-122"/>
                        <a:cs typeface="楷体" panose="02010609060101010101" charset="-122"/>
                      </a:endParaRPr>
                    </a:p>
                    <a:p>
                      <a:pPr algn="l" rtl="0" eaLnBrk="0">
                        <a:lnSpc>
                          <a:spcPct val="141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方程函数形式的</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选择</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误</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差项是否服从正态分布</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数</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据是否存在“异常值”</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257935">
                <a:tc>
                  <a:txBody>
                    <a:bodyPr/>
                    <a:lstStyle/>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8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8" name="table 288"/>
          <p:cNvGraphicFramePr>
            <a:graphicFrameLocks noGrp="1"/>
          </p:cNvGraphicFramePr>
          <p:nvPr/>
        </p:nvGraphicFramePr>
        <p:xfrm>
          <a:off x="60832" y="66928"/>
          <a:ext cx="9018903" cy="6699250"/>
        </p:xfrm>
        <a:graphic>
          <a:graphicData uri="http://schemas.openxmlformats.org/drawingml/2006/table">
            <a:tbl>
              <a:tblPr/>
              <a:tblGrid>
                <a:gridCol w="753744"/>
                <a:gridCol w="4676775"/>
                <a:gridCol w="3588384"/>
              </a:tblGrid>
              <a:tr h="4098925">
                <a:tc rowSpan="3">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4000"/>
                        </a:lnSpc>
                      </a:pPr>
                      <a:endParaRPr sz="1000" dirty="0">
                        <a:latin typeface="Arial" panose="020B0604020202020204"/>
                        <a:ea typeface="Arial" panose="020B0604020202020204"/>
                        <a:cs typeface="Arial" panose="020B0604020202020204"/>
                      </a:endParaRPr>
                    </a:p>
                    <a:p>
                      <a:pPr marL="214630" algn="l" rtl="0" eaLnBrk="0">
                        <a:lnSpc>
                          <a:spcPct val="85000"/>
                        </a:lnSpc>
                        <a:spcBef>
                          <a:spcPts val="5"/>
                        </a:spcBef>
                      </a:pPr>
                      <a:r>
                        <a:rPr sz="22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3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b="1" kern="0" spc="-50" dirty="0">
                          <a:solidFill>
                            <a:srgbClr val="000000">
                              <a:alpha val="100000"/>
                            </a:srgbClr>
                          </a:solidFill>
                          <a:latin typeface="楷体" panose="02010609060101010101" charset="-122"/>
                          <a:ea typeface="楷体" panose="02010609060101010101" charset="-122"/>
                          <a:cs typeface="楷体" panose="02010609060101010101" charset="-122"/>
                        </a:rPr>
                        <a:t>（一）数据缩放的影响</a:t>
                      </a:r>
                      <a:endParaRPr sz="2600" dirty="0">
                        <a:latin typeface="楷体" panose="02010609060101010101" charset="-122"/>
                        <a:ea typeface="楷体" panose="02010609060101010101" charset="-122"/>
                        <a:cs typeface="楷体" panose="02010609060101010101" charset="-122"/>
                      </a:endParaRPr>
                    </a:p>
                    <a:p>
                      <a:pPr marL="211455" algn="l" rtl="0" eaLnBrk="0">
                        <a:lnSpc>
                          <a:spcPct val="87000"/>
                        </a:lnSpc>
                        <a:spcBef>
                          <a:spcPts val="174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考虑食品支出的例子，目前为止的回归：</a:t>
                      </a:r>
                      <a:endParaRPr sz="2100" dirty="0">
                        <a:latin typeface="楷体" panose="02010609060101010101" charset="-122"/>
                        <a:ea typeface="楷体" panose="02010609060101010101" charset="-122"/>
                        <a:cs typeface="楷体" panose="02010609060101010101" charset="-122"/>
                      </a:endParaRPr>
                    </a:p>
                    <a:p>
                      <a:pPr algn="l" rtl="0" eaLnBrk="0">
                        <a:lnSpc>
                          <a:spcPct val="142000"/>
                        </a:lnSpc>
                      </a:pPr>
                      <a:endParaRPr sz="1000" dirty="0">
                        <a:latin typeface="Arial" panose="020B0604020202020204"/>
                        <a:ea typeface="Arial" panose="020B0604020202020204"/>
                        <a:cs typeface="Arial" panose="020B0604020202020204"/>
                      </a:endParaRPr>
                    </a:p>
                    <a:p>
                      <a:pPr marL="468630" indent="-257175" algn="l" rtl="0" eaLnBrk="0">
                        <a:lnSpc>
                          <a:spcPct val="13000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以美元为单位来衡量周食品支出；</a:t>
                      </a:r>
                      <a:r>
                        <a:rPr sz="2100" kern="0" spc="-38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以</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100</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美元为单位来</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衡量收入。因此，</a:t>
                      </a:r>
                      <a:r>
                        <a:rPr sz="2100" kern="0" spc="59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周收入</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为</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2000</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美元，</a:t>
                      </a:r>
                      <a:r>
                        <a:rPr sz="2100" kern="0" spc="-6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则报告</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x= 20</a:t>
                      </a:r>
                      <a:endParaRPr sz="2100" dirty="0">
                        <a:latin typeface="Times New Roman" panose="02020603050405020304"/>
                        <a:ea typeface="Times New Roman" panose="02020603050405020304"/>
                        <a:cs typeface="Times New Roman" panose="02020603050405020304"/>
                      </a:endParaRPr>
                    </a:p>
                    <a:p>
                      <a:pPr algn="l" rtl="0" eaLnBrk="0">
                        <a:lnSpc>
                          <a:spcPct val="113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如果以美元来度量收入</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，估计回归方程，结果如下：</a:t>
                      </a:r>
                      <a:endParaRPr sz="2100" dirty="0">
                        <a:latin typeface="楷体" panose="02010609060101010101" charset="-122"/>
                        <a:ea typeface="楷体" panose="02010609060101010101" charset="-122"/>
                        <a:cs typeface="楷体" panose="02010609060101010101" charset="-122"/>
                      </a:endParaRPr>
                    </a:p>
                    <a:p>
                      <a:pPr marL="1583055" algn="l" rtl="0" eaLnBrk="0">
                        <a:lnSpc>
                          <a:spcPts val="610"/>
                        </a:lnSpc>
                        <a:spcBef>
                          <a:spcPts val="1215"/>
                        </a:spcBef>
                      </a:pPr>
                      <a:r>
                        <a:rPr sz="1100" kern="0" spc="-20" dirty="0">
                          <a:solidFill>
                            <a:srgbClr val="000000">
                              <a:alpha val="100000"/>
                            </a:srgbClr>
                          </a:solidFill>
                          <a:latin typeface="Arial" panose="020B0604020202020204"/>
                          <a:ea typeface="Arial" panose="020B0604020202020204"/>
                          <a:cs typeface="Arial" panose="020B0604020202020204"/>
                        </a:rPr>
                        <a:t>Λ</a:t>
                      </a:r>
                      <a:endParaRPr sz="1100" dirty="0">
                        <a:latin typeface="Arial" panose="020B0604020202020204"/>
                        <a:ea typeface="Arial" panose="020B0604020202020204"/>
                        <a:cs typeface="Arial" panose="020B0604020202020204"/>
                      </a:endParaRPr>
                    </a:p>
                    <a:p>
                      <a:pPr marL="958215" algn="l" rtl="0" eaLnBrk="0">
                        <a:lnSpc>
                          <a:spcPct val="76000"/>
                        </a:lnSpc>
                        <a:spcBef>
                          <a:spcPts val="20"/>
                        </a:spcBef>
                      </a:pP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FOOD</a:t>
                      </a:r>
                      <a:r>
                        <a:rPr sz="18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60" dirty="0">
                          <a:solidFill>
                            <a:srgbClr val="000000">
                              <a:alpha val="100000"/>
                            </a:srgbClr>
                          </a:solidFill>
                          <a:latin typeface="Times New Roman" panose="02020603050405020304"/>
                          <a:ea typeface="Times New Roman" panose="02020603050405020304"/>
                          <a:cs typeface="Times New Roman" panose="02020603050405020304"/>
                        </a:rPr>
                        <a:t>_</a:t>
                      </a:r>
                      <a:r>
                        <a:rPr sz="18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EXP</a:t>
                      </a:r>
                      <a:r>
                        <a:rPr sz="18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60" dirty="0">
                          <a:solidFill>
                            <a:srgbClr val="000000">
                              <a:alpha val="100000"/>
                            </a:srgbClr>
                          </a:solidFill>
                          <a:latin typeface="Arial" panose="020B0604020202020204"/>
                          <a:ea typeface="Arial" panose="020B0604020202020204"/>
                          <a:cs typeface="Arial" panose="020B0604020202020204"/>
                        </a:rPr>
                        <a:t>= </a:t>
                      </a:r>
                      <a:r>
                        <a:rPr sz="1800" kern="0" spc="60" dirty="0">
                          <a:solidFill>
                            <a:srgbClr val="000000">
                              <a:alpha val="100000"/>
                            </a:srgbClr>
                          </a:solidFill>
                          <a:latin typeface="Times New Roman" panose="02020603050405020304"/>
                          <a:ea typeface="Times New Roman" panose="02020603050405020304"/>
                          <a:cs typeface="Times New Roman" panose="02020603050405020304"/>
                        </a:rPr>
                        <a:t>83.42</a:t>
                      </a:r>
                      <a:r>
                        <a:rPr sz="18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60" dirty="0">
                          <a:solidFill>
                            <a:srgbClr val="000000">
                              <a:alpha val="100000"/>
                            </a:srgbClr>
                          </a:solidFill>
                          <a:latin typeface="Arial" panose="020B0604020202020204"/>
                          <a:ea typeface="Arial" panose="020B0604020202020204"/>
                          <a:cs typeface="Arial" panose="020B0604020202020204"/>
                        </a:rPr>
                        <a:t>+</a:t>
                      </a:r>
                      <a:r>
                        <a:rPr sz="1800" kern="0" spc="-120" dirty="0">
                          <a:solidFill>
                            <a:srgbClr val="000000">
                              <a:alpha val="100000"/>
                            </a:srgbClr>
                          </a:solidFill>
                          <a:latin typeface="Arial" panose="020B0604020202020204"/>
                          <a:ea typeface="Arial" panose="020B0604020202020204"/>
                          <a:cs typeface="Arial" panose="020B0604020202020204"/>
                        </a:rPr>
                        <a:t> </a:t>
                      </a:r>
                      <a:r>
                        <a:rPr sz="18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.1021</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2500" kern="0" spc="50" dirty="0">
                          <a:solidFill>
                            <a:srgbClr val="000000">
                              <a:alpha val="100000"/>
                            </a:srgbClr>
                          </a:solidFill>
                          <a:latin typeface="Arial" panose="020B0604020202020204"/>
                          <a:ea typeface="Arial" panose="020B0604020202020204"/>
                          <a:cs typeface="Arial" panose="020B0604020202020204"/>
                        </a:rPr>
                        <a:t>(</a:t>
                      </a:r>
                      <a:r>
                        <a:rPr sz="2900" kern="0" spc="50" baseline="-4000" dirty="0">
                          <a:solidFill>
                            <a:srgbClr val="000000">
                              <a:alpha val="100000"/>
                            </a:srgbClr>
                          </a:solidFill>
                          <a:latin typeface="Times New Roman" panose="02020603050405020304"/>
                          <a:ea typeface="Times New Roman" panose="02020603050405020304"/>
                          <a:cs typeface="Times New Roman" panose="02020603050405020304"/>
                        </a:rPr>
                        <a:t>$</a:t>
                      </a:r>
                      <a:r>
                        <a:rPr sz="2500" kern="0" spc="50" dirty="0">
                          <a:solidFill>
                            <a:srgbClr val="000000">
                              <a:alpha val="100000"/>
                            </a:srgbClr>
                          </a:solidFill>
                          <a:latin typeface="Arial" panose="020B0604020202020204"/>
                          <a:ea typeface="Arial" panose="020B0604020202020204"/>
                          <a:cs typeface="Arial" panose="020B0604020202020204"/>
                        </a:rPr>
                        <a:t>)   </a:t>
                      </a:r>
                      <a:r>
                        <a:rPr sz="1800" i="1" kern="0" spc="50" dirty="0">
                          <a:solidFill>
                            <a:srgbClr val="000000">
                              <a:alpha val="100000"/>
                            </a:srgbClr>
                          </a:solidFill>
                          <a:latin typeface="Times New Roman" panose="02020603050405020304"/>
                          <a:ea typeface="Times New Roman" panose="02020603050405020304"/>
                          <a:cs typeface="Times New Roman" panose="02020603050405020304"/>
                        </a:rPr>
                        <a:t>R</a:t>
                      </a:r>
                      <a:r>
                        <a:rPr sz="1600" kern="0" spc="50" baseline="55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50" dirty="0">
                          <a:solidFill>
                            <a:srgbClr val="000000">
                              <a:alpha val="100000"/>
                            </a:srgbClr>
                          </a:solidFill>
                          <a:latin typeface="Arial" panose="020B0604020202020204"/>
                          <a:ea typeface="Arial" panose="020B0604020202020204"/>
                          <a:cs typeface="Arial" panose="020B0604020202020204"/>
                        </a:rPr>
                        <a:t>= </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0.385</a:t>
                      </a:r>
                      <a:endParaRPr sz="1800" dirty="0">
                        <a:latin typeface="Times New Roman" panose="02020603050405020304"/>
                        <a:ea typeface="Times New Roman" panose="02020603050405020304"/>
                        <a:cs typeface="Times New Roman" panose="02020603050405020304"/>
                      </a:endParaRPr>
                    </a:p>
                    <a:p>
                      <a:pPr marL="1483995" algn="l" rtl="0" eaLnBrk="0">
                        <a:lnSpc>
                          <a:spcPts val="3625"/>
                        </a:lnSpc>
                      </a:pPr>
                      <a:r>
                        <a:rPr sz="25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se</a:t>
                      </a:r>
                      <a:r>
                        <a:rPr sz="2500" kern="0" spc="-10" dirty="0">
                          <a:solidFill>
                            <a:srgbClr val="000000">
                              <a:alpha val="100000"/>
                            </a:srgbClr>
                          </a:solidFill>
                          <a:latin typeface="Arial" panose="020B0604020202020204"/>
                          <a:ea typeface="Arial" panose="020B0604020202020204"/>
                          <a:cs typeface="Arial" panose="020B0604020202020204"/>
                        </a:rPr>
                        <a:t>)       (</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43.41</a:t>
                      </a:r>
                      <a:r>
                        <a:rPr sz="25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0.0209</a:t>
                      </a:r>
                      <a:r>
                        <a:rPr sz="2500" kern="0" spc="-10" dirty="0">
                          <a:solidFill>
                            <a:srgbClr val="000000">
                              <a:alpha val="100000"/>
                            </a:srgbClr>
                          </a:solidFill>
                          <a:latin typeface="Arial" panose="020B0604020202020204"/>
                          <a:ea typeface="Arial" panose="020B0604020202020204"/>
                          <a:cs typeface="Arial" panose="020B0604020202020204"/>
                        </a:rPr>
                        <a:t>)</a:t>
                      </a:r>
                      <a:r>
                        <a:rPr sz="1600" kern="0" spc="-10" baseline="70000" dirty="0">
                          <a:solidFill>
                            <a:srgbClr val="000000">
                              <a:alpha val="100000"/>
                            </a:srgbClr>
                          </a:solidFill>
                          <a:latin typeface="Times New Roman" panose="02020603050405020304"/>
                          <a:ea typeface="Times New Roman" panose="02020603050405020304"/>
                          <a:cs typeface="Times New Roman" panose="02020603050405020304"/>
                        </a:rPr>
                        <a:t>***</a:t>
                      </a:r>
                      <a:endParaRPr sz="1600" baseline="700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153795">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548765" algn="l" rtl="0" eaLnBrk="0">
                        <a:lnSpc>
                          <a:spcPct val="72000"/>
                        </a:lnSpc>
                      </a:pPr>
                      <a:r>
                        <a:rPr sz="1000" kern="0" spc="-2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953135" algn="l" rtl="0" eaLnBrk="0">
                        <a:lnSpc>
                          <a:spcPct val="79000"/>
                        </a:lnSpc>
                        <a:spcBef>
                          <a:spcPts val="15"/>
                        </a:spcBef>
                      </a:pPr>
                      <a:r>
                        <a:rPr sz="1700" i="1" kern="0" spc="0" dirty="0">
                          <a:solidFill>
                            <a:srgbClr val="000000">
                              <a:alpha val="100000"/>
                            </a:srgbClr>
                          </a:solidFill>
                          <a:latin typeface="Times New Roman" panose="02020603050405020304"/>
                          <a:ea typeface="Times New Roman" panose="02020603050405020304"/>
                          <a:cs typeface="Times New Roman" panose="02020603050405020304"/>
                        </a:rPr>
                        <a:t>FOOD</a:t>
                      </a:r>
                      <a:r>
                        <a:rPr sz="17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00" dirty="0">
                          <a:solidFill>
                            <a:srgbClr val="000000">
                              <a:alpha val="100000"/>
                            </a:srgbClr>
                          </a:solidFill>
                          <a:latin typeface="Times New Roman" panose="02020603050405020304"/>
                          <a:ea typeface="Times New Roman" panose="02020603050405020304"/>
                          <a:cs typeface="Times New Roman" panose="02020603050405020304"/>
                        </a:rPr>
                        <a:t>_</a:t>
                      </a:r>
                      <a:r>
                        <a:rPr sz="17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700" i="1" kern="0" spc="0" dirty="0">
                          <a:solidFill>
                            <a:srgbClr val="000000">
                              <a:alpha val="100000"/>
                            </a:srgbClr>
                          </a:solidFill>
                          <a:latin typeface="Times New Roman" panose="02020603050405020304"/>
                          <a:ea typeface="Times New Roman" panose="02020603050405020304"/>
                          <a:cs typeface="Times New Roman" panose="02020603050405020304"/>
                        </a:rPr>
                        <a:t>EXP</a:t>
                      </a:r>
                      <a:r>
                        <a:rPr sz="17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00" dirty="0">
                          <a:solidFill>
                            <a:srgbClr val="000000">
                              <a:alpha val="100000"/>
                            </a:srgbClr>
                          </a:solidFill>
                          <a:latin typeface="Arial" panose="020B0604020202020204"/>
                          <a:ea typeface="Arial" panose="020B0604020202020204"/>
                          <a:cs typeface="Arial" panose="020B0604020202020204"/>
                        </a:rPr>
                        <a:t>= </a:t>
                      </a:r>
                      <a:r>
                        <a:rPr sz="1700" kern="0" spc="100" dirty="0">
                          <a:solidFill>
                            <a:srgbClr val="000000">
                              <a:alpha val="100000"/>
                            </a:srgbClr>
                          </a:solidFill>
                          <a:latin typeface="Times New Roman" panose="02020603050405020304"/>
                          <a:ea typeface="Times New Roman" panose="02020603050405020304"/>
                          <a:cs typeface="Times New Roman" panose="02020603050405020304"/>
                        </a:rPr>
                        <a:t>83.42</a:t>
                      </a:r>
                      <a:r>
                        <a:rPr sz="17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00" dirty="0">
                          <a:solidFill>
                            <a:srgbClr val="000000">
                              <a:alpha val="100000"/>
                            </a:srgbClr>
                          </a:solidFill>
                          <a:latin typeface="Arial" panose="020B0604020202020204"/>
                          <a:ea typeface="Arial" panose="020B0604020202020204"/>
                          <a:cs typeface="Arial" panose="020B0604020202020204"/>
                        </a:rPr>
                        <a:t>+</a:t>
                      </a:r>
                      <a:r>
                        <a:rPr sz="1700" kern="0" spc="100" dirty="0">
                          <a:solidFill>
                            <a:srgbClr val="000000">
                              <a:alpha val="100000"/>
                            </a:srgbClr>
                          </a:solidFill>
                          <a:latin typeface="Times New Roman" panose="02020603050405020304"/>
                          <a:ea typeface="Times New Roman" panose="02020603050405020304"/>
                          <a:cs typeface="Times New Roman" panose="02020603050405020304"/>
                        </a:rPr>
                        <a:t>1</a:t>
                      </a:r>
                      <a:r>
                        <a:rPr sz="1700" kern="0" spc="90" dirty="0">
                          <a:solidFill>
                            <a:srgbClr val="000000">
                              <a:alpha val="100000"/>
                            </a:srgbClr>
                          </a:solidFill>
                          <a:latin typeface="Times New Roman" panose="02020603050405020304"/>
                          <a:ea typeface="Times New Roman" panose="02020603050405020304"/>
                          <a:cs typeface="Times New Roman" panose="02020603050405020304"/>
                        </a:rPr>
                        <a:t>0.21</a:t>
                      </a:r>
                      <a:r>
                        <a:rPr sz="1700" i="1" kern="0" spc="0" dirty="0">
                          <a:solidFill>
                            <a:srgbClr val="000000">
                              <a:alpha val="100000"/>
                            </a:srgbClr>
                          </a:solidFill>
                          <a:latin typeface="Times New Roman" panose="02020603050405020304"/>
                          <a:ea typeface="Times New Roman" panose="02020603050405020304"/>
                          <a:cs typeface="Times New Roman" panose="02020603050405020304"/>
                        </a:rPr>
                        <a:t>INCOME</a:t>
                      </a:r>
                      <a:endParaRPr sz="1700" dirty="0">
                        <a:latin typeface="Times New Roman" panose="02020603050405020304"/>
                        <a:ea typeface="Times New Roman" panose="02020603050405020304"/>
                        <a:cs typeface="Times New Roman" panose="02020603050405020304"/>
                      </a:endParaRPr>
                    </a:p>
                    <a:p>
                      <a:pPr marL="1454150" algn="l" rtl="0" eaLnBrk="0">
                        <a:lnSpc>
                          <a:spcPts val="3460"/>
                        </a:lnSpc>
                      </a:pPr>
                      <a:r>
                        <a:rPr sz="2300" kern="0" spc="0" dirty="0">
                          <a:solidFill>
                            <a:srgbClr val="000000">
                              <a:alpha val="100000"/>
                            </a:srgbClr>
                          </a:solidFill>
                          <a:latin typeface="Arial" panose="020B0604020202020204"/>
                          <a:ea typeface="Arial" panose="020B0604020202020204"/>
                          <a:cs typeface="Arial" panose="020B0604020202020204"/>
                        </a:rPr>
                        <a:t>(</a:t>
                      </a:r>
                      <a:r>
                        <a:rPr sz="1700" kern="0" spc="0" dirty="0">
                          <a:solidFill>
                            <a:srgbClr val="000000">
                              <a:alpha val="100000"/>
                            </a:srgbClr>
                          </a:solidFill>
                          <a:latin typeface="Times New Roman" panose="02020603050405020304"/>
                          <a:ea typeface="Times New Roman" panose="02020603050405020304"/>
                          <a:cs typeface="Times New Roman" panose="02020603050405020304"/>
                        </a:rPr>
                        <a:t>se</a:t>
                      </a:r>
                      <a:r>
                        <a:rPr sz="2300" kern="0" spc="0" dirty="0">
                          <a:solidFill>
                            <a:srgbClr val="000000">
                              <a:alpha val="100000"/>
                            </a:srgbClr>
                          </a:solidFill>
                          <a:latin typeface="Arial" panose="020B0604020202020204"/>
                          <a:ea typeface="Arial" panose="020B0604020202020204"/>
                          <a:cs typeface="Arial" panose="020B0604020202020204"/>
                        </a:rPr>
                        <a:t>)</a:t>
                      </a:r>
                      <a:r>
                        <a:rPr sz="2300" kern="0" spc="20" dirty="0">
                          <a:solidFill>
                            <a:srgbClr val="000000">
                              <a:alpha val="100000"/>
                            </a:srgbClr>
                          </a:solidFill>
                          <a:latin typeface="Arial" panose="020B0604020202020204"/>
                          <a:ea typeface="Arial" panose="020B0604020202020204"/>
                          <a:cs typeface="Arial" panose="020B0604020202020204"/>
                        </a:rPr>
                        <a:t>       </a:t>
                      </a:r>
                      <a:r>
                        <a:rPr sz="2300" kern="0" spc="0" dirty="0">
                          <a:solidFill>
                            <a:srgbClr val="000000">
                              <a:alpha val="100000"/>
                            </a:srgbClr>
                          </a:solidFill>
                          <a:latin typeface="Arial" panose="020B0604020202020204"/>
                          <a:ea typeface="Arial" panose="020B0604020202020204"/>
                          <a:cs typeface="Arial" panose="020B0604020202020204"/>
                        </a:rPr>
                        <a:t>(</a:t>
                      </a:r>
                      <a:r>
                        <a:rPr sz="1700" kern="0" spc="0" dirty="0">
                          <a:solidFill>
                            <a:srgbClr val="000000">
                              <a:alpha val="100000"/>
                            </a:srgbClr>
                          </a:solidFill>
                          <a:latin typeface="Times New Roman" panose="02020603050405020304"/>
                          <a:ea typeface="Times New Roman" panose="02020603050405020304"/>
                          <a:cs typeface="Times New Roman" panose="02020603050405020304"/>
                        </a:rPr>
                        <a:t>43.41</a:t>
                      </a:r>
                      <a:r>
                        <a:rPr sz="2300" kern="0" spc="0" dirty="0">
                          <a:solidFill>
                            <a:srgbClr val="000000">
                              <a:alpha val="100000"/>
                            </a:srgbClr>
                          </a:solidFill>
                          <a:latin typeface="Arial" panose="020B0604020202020204"/>
                          <a:ea typeface="Arial" panose="020B0604020202020204"/>
                          <a:cs typeface="Arial" panose="020B0604020202020204"/>
                        </a:rPr>
                        <a:t>)(</a:t>
                      </a:r>
                      <a:r>
                        <a:rPr sz="1700" kern="0" spc="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.09</a:t>
                      </a:r>
                      <a:r>
                        <a:rPr sz="2300" kern="0" spc="-10" dirty="0">
                          <a:solidFill>
                            <a:srgbClr val="000000">
                              <a:alpha val="100000"/>
                            </a:srgbClr>
                          </a:solidFill>
                          <a:latin typeface="Arial" panose="020B0604020202020204"/>
                          <a:ea typeface="Arial" panose="020B0604020202020204"/>
                          <a:cs typeface="Arial" panose="020B0604020202020204"/>
                        </a:rPr>
                        <a:t>)</a:t>
                      </a:r>
                      <a:r>
                        <a:rPr sz="1600" kern="0" spc="-10" baseline="65000" dirty="0">
                          <a:solidFill>
                            <a:srgbClr val="000000">
                              <a:alpha val="100000"/>
                            </a:srgbClr>
                          </a:solidFill>
                          <a:latin typeface="Times New Roman" panose="02020603050405020304"/>
                          <a:ea typeface="Times New Roman" panose="02020603050405020304"/>
                          <a:cs typeface="Times New Roman" panose="02020603050405020304"/>
                        </a:rPr>
                        <a:t>***</a:t>
                      </a:r>
                      <a:endParaRPr sz="1600" baseline="65000" dirty="0">
                        <a:latin typeface="Times New Roman" panose="02020603050405020304"/>
                        <a:ea typeface="Times New Roman" panose="02020603050405020304"/>
                        <a:cs typeface="Times New Roman" panose="02020603050405020304"/>
                      </a:endParaRPr>
                    </a:p>
                  </a:txBody>
                  <a:tcPr marL="0" marR="0" marT="0" marB="0">
                    <a:lnL>
                      <a:noFill/>
                    </a:lnL>
                    <a:lnR>
                      <a:noFill/>
                    </a:lnR>
                    <a:lnT>
                      <a:noFill/>
                    </a:lnT>
                    <a:lnB>
                      <a:noFill/>
                    </a:lnB>
                  </a:tcPr>
                </a:tc>
                <a:tc>
                  <a:txBody>
                    <a:bodyPr/>
                    <a:lstStyle/>
                    <a:p>
                      <a:pPr algn="l" rtl="0" eaLnBrk="0">
                        <a:lnSpc>
                          <a:spcPct val="166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48590" algn="l" rtl="0" eaLnBrk="0">
                        <a:lnSpc>
                          <a:spcPct val="94000"/>
                        </a:lnSpc>
                      </a:pP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R</a:t>
                      </a:r>
                      <a:r>
                        <a:rPr sz="1600" kern="0" spc="30" baseline="49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30" dirty="0">
                          <a:solidFill>
                            <a:srgbClr val="000000">
                              <a:alpha val="100000"/>
                            </a:srgbClr>
                          </a:solidFill>
                          <a:latin typeface="Arial" panose="020B0604020202020204"/>
                          <a:ea typeface="Arial" panose="020B0604020202020204"/>
                          <a:cs typeface="Arial" panose="020B0604020202020204"/>
                        </a:rPr>
                        <a:t>= </a:t>
                      </a:r>
                      <a:r>
                        <a:rPr sz="1700" kern="0" spc="30" dirty="0">
                          <a:solidFill>
                            <a:srgbClr val="000000">
                              <a:alpha val="100000"/>
                            </a:srgbClr>
                          </a:solidFill>
                          <a:latin typeface="Times New Roman" panose="02020603050405020304"/>
                          <a:ea typeface="Times New Roman" panose="02020603050405020304"/>
                          <a:cs typeface="Times New Roman" panose="02020603050405020304"/>
                        </a:rPr>
                        <a:t>0.385</a:t>
                      </a:r>
                      <a:endParaRPr sz="17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1446530">
                <a:tc vMerge="1">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229485" algn="l" rtl="0" eaLnBrk="0">
                        <a:lnSpc>
                          <a:spcPct val="90000"/>
                        </a:lnSpc>
                      </a:pPr>
                      <a:r>
                        <a:rPr sz="1800" kern="0" spc="0" dirty="0">
                          <a:solidFill>
                            <a:srgbClr val="000000">
                              <a:alpha val="100000"/>
                            </a:srgbClr>
                          </a:solidFill>
                          <a:latin typeface="楷体" panose="02010609060101010101" charset="-122"/>
                          <a:ea typeface="楷体" panose="02010609060101010101" charset="-122"/>
                          <a:cs typeface="楷体" panose="02010609060101010101" charset="-122"/>
                        </a:rPr>
                        <a:t>估计系数现在是</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0.1</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021</a:t>
                      </a:r>
                      <a:r>
                        <a:rPr sz="1800" kern="0" spc="-10" dirty="0">
                          <a:solidFill>
                            <a:srgbClr val="000000">
                              <a:alpha val="100000"/>
                            </a:srgbClr>
                          </a:solidFill>
                          <a:latin typeface="楷体" panose="02010609060101010101" charset="-122"/>
                          <a:ea typeface="楷体" panose="02010609060101010101" charset="-122"/>
                          <a:cs typeface="楷体" panose="02010609060101010101" charset="-122"/>
                        </a:rPr>
                        <a:t>，缩小</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100</a:t>
                      </a:r>
                      <a:r>
                        <a:rPr sz="1800" kern="0" spc="-10" dirty="0">
                          <a:solidFill>
                            <a:srgbClr val="000000">
                              <a:alpha val="100000"/>
                            </a:srgbClr>
                          </a:solidFill>
                          <a:latin typeface="楷体" panose="02010609060101010101" charset="-122"/>
                          <a:ea typeface="楷体" panose="02010609060101010101" charset="-122"/>
                          <a:cs typeface="楷体" panose="02010609060101010101" charset="-122"/>
                        </a:rPr>
                        <a:t>倍</a:t>
                      </a:r>
                      <a:endParaRPr sz="1800" dirty="0">
                        <a:latin typeface="楷体" panose="02010609060101010101" charset="-122"/>
                        <a:ea typeface="楷体" panose="02010609060101010101" charset="-122"/>
                        <a:cs typeface="楷体" panose="02010609060101010101" charset="-122"/>
                      </a:endParaRPr>
                    </a:p>
                    <a:p>
                      <a:pPr marL="1046480" algn="l" rtl="0" eaLnBrk="0">
                        <a:lnSpc>
                          <a:spcPts val="3240"/>
                        </a:lnSpc>
                      </a:pPr>
                      <a:r>
                        <a:rPr sz="1800" kern="0" spc="-20" dirty="0">
                          <a:solidFill>
                            <a:srgbClr val="000000">
                              <a:alpha val="100000"/>
                            </a:srgbClr>
                          </a:solidFill>
                          <a:latin typeface="楷体" panose="02010609060101010101" charset="-122"/>
                          <a:ea typeface="楷体" panose="02010609060101010101" charset="-122"/>
                          <a:cs typeface="楷体" panose="02010609060101010101" charset="-122"/>
                        </a:rPr>
                        <a:t>比较结果：</a:t>
                      </a:r>
                      <a:r>
                        <a:rPr sz="1800" kern="0" spc="-300" dirty="0">
                          <a:solidFill>
                            <a:srgbClr val="000000">
                              <a:alpha val="100000"/>
                            </a:srgbClr>
                          </a:solidFill>
                          <a:latin typeface="楷体" panose="02010609060101010101" charset="-122"/>
                          <a:ea typeface="楷体" panose="02010609060101010101" charset="-122"/>
                          <a:cs typeface="楷体" panose="02010609060101010101" charset="-122"/>
                        </a:rPr>
                        <a:t> </a:t>
                      </a:r>
                      <a:r>
                        <a:rPr sz="1800" kern="0" spc="-20" dirty="0">
                          <a:solidFill>
                            <a:srgbClr val="000000">
                              <a:alpha val="100000"/>
                            </a:srgbClr>
                          </a:solidFill>
                          <a:latin typeface="楷体" panose="02010609060101010101" charset="-122"/>
                          <a:ea typeface="楷体" panose="02010609060101010101" charset="-122"/>
                          <a:cs typeface="楷体" panose="02010609060101010101" charset="-122"/>
                        </a:rPr>
                        <a:t>标准误变得更小，缩小了</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100</a:t>
                      </a:r>
                      <a:r>
                        <a:rPr sz="1800" kern="0" spc="-20" dirty="0">
                          <a:solidFill>
                            <a:srgbClr val="000000">
                              <a:alpha val="100000"/>
                            </a:srgbClr>
                          </a:solidFill>
                          <a:latin typeface="楷体" panose="02010609060101010101" charset="-122"/>
                          <a:ea typeface="楷体" panose="02010609060101010101" charset="-122"/>
                          <a:cs typeface="楷体" panose="02010609060101010101" charset="-122"/>
                        </a:rPr>
                        <a:t>倍</a:t>
                      </a:r>
                      <a:endParaRPr sz="18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2277110" algn="l" rtl="0" eaLnBrk="0">
                        <a:lnSpc>
                          <a:spcPct val="90000"/>
                        </a:lnSpc>
                        <a:spcBef>
                          <a:spcPts val="0"/>
                        </a:spcBef>
                      </a:pPr>
                      <a:r>
                        <a:rPr sz="1800" kern="0" spc="-100" dirty="0">
                          <a:solidFill>
                            <a:srgbClr val="000000">
                              <a:alpha val="100000"/>
                            </a:srgbClr>
                          </a:solidFill>
                          <a:latin typeface="Times New Roman" panose="02020603050405020304"/>
                          <a:ea typeface="Times New Roman" panose="02020603050405020304"/>
                          <a:cs typeface="Times New Roman" panose="02020603050405020304"/>
                        </a:rPr>
                        <a:t>t</a:t>
                      </a:r>
                      <a:r>
                        <a:rPr sz="18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0" dirty="0">
                          <a:solidFill>
                            <a:srgbClr val="000000">
                              <a:alpha val="100000"/>
                            </a:srgbClr>
                          </a:solidFill>
                          <a:latin typeface="楷体" panose="02010609060101010101" charset="-122"/>
                          <a:ea typeface="楷体" panose="02010609060101010101" charset="-122"/>
                          <a:cs typeface="楷体" panose="02010609060101010101" charset="-122"/>
                        </a:rPr>
                        <a:t>统计量和其他结果不变</a:t>
                      </a:r>
                      <a:r>
                        <a:rPr sz="1800" kern="0" spc="-110" dirty="0">
                          <a:solidFill>
                            <a:srgbClr val="000000">
                              <a:alpha val="100000"/>
                            </a:srgbClr>
                          </a:solidFill>
                          <a:latin typeface="楷体" panose="02010609060101010101" charset="-122"/>
                          <a:ea typeface="楷体" panose="02010609060101010101" charset="-122"/>
                          <a:cs typeface="楷体" panose="02010609060101010101" charset="-122"/>
                        </a:rPr>
                        <a:t>。</a:t>
                      </a:r>
                      <a:endParaRPr sz="18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2" name="table 292"/>
          <p:cNvGraphicFramePr>
            <a:graphicFrameLocks noGrp="1"/>
          </p:cNvGraphicFramePr>
          <p:nvPr/>
        </p:nvGraphicFramePr>
        <p:xfrm>
          <a:off x="60832" y="66928"/>
          <a:ext cx="9018905" cy="6699250"/>
        </p:xfrm>
        <a:graphic>
          <a:graphicData uri="http://schemas.openxmlformats.org/drawingml/2006/table">
            <a:tbl>
              <a:tblPr/>
              <a:tblGrid>
                <a:gridCol w="9018905"/>
              </a:tblGrid>
              <a:tr h="6080125">
                <a:tc>
                  <a:txBody>
                    <a:bodyPr/>
                    <a:lstStyle/>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953770" algn="l" rtl="0" eaLnBrk="0">
                        <a:lnSpc>
                          <a:spcPct val="85000"/>
                        </a:lnSpc>
                      </a:pPr>
                      <a:r>
                        <a:rPr sz="2600" b="1" kern="0" spc="-20" dirty="0">
                          <a:solidFill>
                            <a:srgbClr val="000000">
                              <a:alpha val="100000"/>
                            </a:srgbClr>
                          </a:solidFill>
                          <a:latin typeface="楷体" panose="02010609060101010101" charset="-122"/>
                          <a:ea typeface="楷体" panose="02010609060101010101" charset="-122"/>
                          <a:cs typeface="楷体" panose="02010609060101010101" charset="-122"/>
                        </a:rPr>
                        <a:t>数据缩放的影响</a:t>
                      </a:r>
                      <a:endParaRPr sz="2600" dirty="0">
                        <a:latin typeface="楷体" panose="02010609060101010101" charset="-122"/>
                        <a:ea typeface="楷体" panose="02010609060101010101" charset="-122"/>
                        <a:cs typeface="楷体" panose="02010609060101010101" charset="-122"/>
                      </a:endParaRPr>
                    </a:p>
                    <a:p>
                      <a:pPr algn="l" rtl="0" eaLnBrk="0">
                        <a:lnSpc>
                          <a:spcPct val="168000"/>
                        </a:lnSpc>
                      </a:pPr>
                      <a:endParaRPr sz="1000" dirty="0">
                        <a:latin typeface="Arial" panose="020B0604020202020204"/>
                        <a:ea typeface="Arial" panose="020B0604020202020204"/>
                        <a:cs typeface="Arial" panose="020B0604020202020204"/>
                      </a:endParaRPr>
                    </a:p>
                    <a:p>
                      <a:pPr marL="963295" algn="l" rtl="0" eaLnBrk="0">
                        <a:lnSpc>
                          <a:spcPct val="90000"/>
                        </a:lnSpc>
                        <a:spcBef>
                          <a:spcPts val="610"/>
                        </a:spcBef>
                      </a:pPr>
                      <a:r>
                        <a:rPr sz="17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b="1" kern="0" spc="-50" dirty="0">
                          <a:solidFill>
                            <a:srgbClr val="000000">
                              <a:alpha val="100000"/>
                            </a:srgbClr>
                          </a:solidFill>
                          <a:latin typeface="Times New Roman" panose="02020603050405020304"/>
                          <a:ea typeface="Times New Roman" panose="02020603050405020304"/>
                          <a:cs typeface="Times New Roman" panose="02020603050405020304"/>
                        </a:rPr>
                        <a:t>1.</a:t>
                      </a:r>
                      <a:r>
                        <a:rPr sz="2000" b="1" kern="0" spc="-50" dirty="0">
                          <a:solidFill>
                            <a:srgbClr val="000000">
                              <a:alpha val="100000"/>
                            </a:srgbClr>
                          </a:solidFill>
                          <a:latin typeface="楷体" panose="02010609060101010101" charset="-122"/>
                          <a:ea typeface="楷体" panose="02010609060101010101" charset="-122"/>
                          <a:cs typeface="楷体" panose="02010609060101010101" charset="-122"/>
                        </a:rPr>
                        <a:t>改变</a:t>
                      </a:r>
                      <a:r>
                        <a:rPr sz="2000" b="1" kern="0" spc="-50" dirty="0">
                          <a:solidFill>
                            <a:srgbClr val="000000">
                              <a:alpha val="100000"/>
                            </a:srgbClr>
                          </a:solidFill>
                          <a:latin typeface="Times New Roman" panose="02020603050405020304"/>
                          <a:ea typeface="Times New Roman" panose="02020603050405020304"/>
                          <a:cs typeface="Times New Roman" panose="02020603050405020304"/>
                        </a:rPr>
                        <a:t>x</a:t>
                      </a:r>
                      <a:r>
                        <a:rPr sz="2000" b="1" kern="0" spc="-50" dirty="0">
                          <a:solidFill>
                            <a:srgbClr val="000000">
                              <a:alpha val="100000"/>
                            </a:srgbClr>
                          </a:solidFill>
                          <a:latin typeface="楷体" panose="02010609060101010101" charset="-122"/>
                          <a:ea typeface="楷体" panose="02010609060101010101" charset="-122"/>
                          <a:cs typeface="楷体" panose="02010609060101010101" charset="-122"/>
                        </a:rPr>
                        <a:t>的标度</a:t>
                      </a:r>
                      <a:endParaRPr sz="2000" dirty="0">
                        <a:latin typeface="楷体" panose="02010609060101010101" charset="-122"/>
                        <a:ea typeface="楷体" panose="02010609060101010101" charset="-122"/>
                        <a:cs typeface="楷体" panose="02010609060101010101" charset="-122"/>
                      </a:endParaRPr>
                    </a:p>
                    <a:p>
                      <a:pPr algn="l" rtl="0" eaLnBrk="0">
                        <a:lnSpc>
                          <a:spcPct val="120000"/>
                        </a:lnSpc>
                      </a:pPr>
                      <a:endParaRPr sz="1000" dirty="0">
                        <a:latin typeface="Arial" panose="020B0604020202020204"/>
                        <a:ea typeface="Arial" panose="020B0604020202020204"/>
                        <a:cs typeface="Arial" panose="020B0604020202020204"/>
                      </a:endParaRPr>
                    </a:p>
                    <a:p>
                      <a:pPr marL="963295" algn="l" rtl="0" eaLnBrk="0">
                        <a:lnSpc>
                          <a:spcPct val="90000"/>
                        </a:lnSpc>
                        <a:spcBef>
                          <a:spcPts val="600"/>
                        </a:spcBef>
                      </a:pPr>
                      <a:r>
                        <a:rPr sz="17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0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的系数必须</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乘以缩放因子</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c</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a:t>
                      </a:r>
                      <a:endParaRPr sz="2000" dirty="0">
                        <a:latin typeface="楷体" panose="02010609060101010101" charset="-122"/>
                        <a:ea typeface="楷体" panose="02010609060101010101" charset="-122"/>
                        <a:cs typeface="楷体" panose="02010609060101010101" charset="-122"/>
                      </a:endParaRPr>
                    </a:p>
                    <a:p>
                      <a:pPr algn="l" rtl="0" eaLnBrk="0">
                        <a:lnSpc>
                          <a:spcPct val="120000"/>
                        </a:lnSpc>
                      </a:pPr>
                      <a:endParaRPr sz="1000" dirty="0">
                        <a:latin typeface="Arial" panose="020B0604020202020204"/>
                        <a:ea typeface="Arial" panose="020B0604020202020204"/>
                        <a:cs typeface="Arial" panose="020B0604020202020204"/>
                      </a:endParaRPr>
                    </a:p>
                    <a:p>
                      <a:pPr marL="1229995" indent="-266700" algn="l" rtl="0" eaLnBrk="0">
                        <a:lnSpc>
                          <a:spcPct val="124000"/>
                        </a:lnSpc>
                        <a:spcBef>
                          <a:spcPts val="610"/>
                        </a:spcBef>
                      </a:pPr>
                      <a:r>
                        <a:rPr sz="17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当</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的</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标度改变，唯一发生改变的是回归系数的标准误，但它变</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000" kern="0" spc="-40" dirty="0">
                          <a:solidFill>
                            <a:srgbClr val="000000">
                              <a:alpha val="100000"/>
                            </a:srgbClr>
                          </a:solidFill>
                          <a:latin typeface="楷体" panose="02010609060101010101" charset="-122"/>
                          <a:ea typeface="楷体" panose="02010609060101010101" charset="-122"/>
                          <a:cs typeface="楷体" panose="02010609060101010101" charset="-122"/>
                        </a:rPr>
                        <a:t>动的比例与估计系数相同，因此它</a:t>
                      </a:r>
                      <a:r>
                        <a:rPr sz="2000" kern="0" spc="-50" dirty="0">
                          <a:solidFill>
                            <a:srgbClr val="000000">
                              <a:alpha val="100000"/>
                            </a:srgbClr>
                          </a:solidFill>
                          <a:latin typeface="楷体" panose="02010609060101010101" charset="-122"/>
                          <a:ea typeface="楷体" panose="02010609060101010101" charset="-122"/>
                          <a:cs typeface="楷体" panose="02010609060101010101" charset="-122"/>
                        </a:rPr>
                        <a:t>们的比例</a:t>
                      </a:r>
                      <a:r>
                        <a:rPr sz="2000" kern="0" spc="-50" dirty="0">
                          <a:solidFill>
                            <a:srgbClr val="000000">
                              <a:alpha val="100000"/>
                            </a:srgbClr>
                          </a:solidFill>
                          <a:latin typeface="Times New Roman" panose="02020603050405020304"/>
                          <a:ea typeface="Times New Roman" panose="02020603050405020304"/>
                          <a:cs typeface="Times New Roman" panose="02020603050405020304"/>
                        </a:rPr>
                        <a:t>t</a:t>
                      </a:r>
                      <a:r>
                        <a:rPr sz="2000" kern="0" spc="-50" dirty="0">
                          <a:solidFill>
                            <a:srgbClr val="000000">
                              <a:alpha val="100000"/>
                            </a:srgbClr>
                          </a:solidFill>
                          <a:latin typeface="楷体" panose="02010609060101010101" charset="-122"/>
                          <a:ea typeface="楷体" panose="02010609060101010101" charset="-122"/>
                          <a:cs typeface="楷体" panose="02010609060101010101" charset="-122"/>
                        </a:rPr>
                        <a:t>统计量，不发生改变。</a:t>
                      </a:r>
                      <a:endParaRPr sz="20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marL="963295" algn="l" rtl="0" eaLnBrk="0">
                        <a:lnSpc>
                          <a:spcPct val="85000"/>
                        </a:lnSpc>
                        <a:spcBef>
                          <a:spcPts val="605"/>
                        </a:spcBef>
                      </a:pPr>
                      <a:r>
                        <a:rPr sz="17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70" dirty="0">
                          <a:solidFill>
                            <a:srgbClr val="000000">
                              <a:alpha val="100000"/>
                            </a:srgbClr>
                          </a:solidFill>
                          <a:latin typeface="楷体" panose="02010609060101010101" charset="-122"/>
                          <a:ea typeface="楷体" panose="02010609060101010101" charset="-122"/>
                          <a:cs typeface="楷体" panose="02010609060101010101" charset="-122"/>
                        </a:rPr>
                        <a:t>其他所有的回归统计量不发</a:t>
                      </a:r>
                      <a:r>
                        <a:rPr sz="2000" kern="0" spc="-80" dirty="0">
                          <a:solidFill>
                            <a:srgbClr val="000000">
                              <a:alpha val="100000"/>
                            </a:srgbClr>
                          </a:solidFill>
                          <a:latin typeface="楷体" panose="02010609060101010101" charset="-122"/>
                          <a:ea typeface="楷体" panose="02010609060101010101" charset="-122"/>
                          <a:cs typeface="楷体" panose="02010609060101010101" charset="-122"/>
                        </a:rPr>
                        <a:t>生改变。</a:t>
                      </a:r>
                      <a:endParaRPr sz="20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marL="963295" algn="l" rtl="0" eaLnBrk="0">
                        <a:lnSpc>
                          <a:spcPct val="90000"/>
                        </a:lnSpc>
                        <a:spcBef>
                          <a:spcPts val="600"/>
                        </a:spcBef>
                      </a:pPr>
                      <a:r>
                        <a:rPr sz="17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b="1" kern="0" spc="-40" dirty="0">
                          <a:solidFill>
                            <a:srgbClr val="000000">
                              <a:alpha val="100000"/>
                            </a:srgbClr>
                          </a:solidFill>
                          <a:latin typeface="Times New Roman" panose="02020603050405020304"/>
                          <a:ea typeface="Times New Roman" panose="02020603050405020304"/>
                          <a:cs typeface="Times New Roman" panose="02020603050405020304"/>
                        </a:rPr>
                        <a:t>2.</a:t>
                      </a:r>
                      <a:r>
                        <a:rPr sz="2000" b="1" kern="0" spc="-40" dirty="0">
                          <a:solidFill>
                            <a:srgbClr val="000000">
                              <a:alpha val="100000"/>
                            </a:srgbClr>
                          </a:solidFill>
                          <a:latin typeface="楷体" panose="02010609060101010101" charset="-122"/>
                          <a:ea typeface="楷体" panose="02010609060101010101" charset="-122"/>
                          <a:cs typeface="楷体" panose="02010609060101010101" charset="-122"/>
                        </a:rPr>
                        <a:t>改变</a:t>
                      </a:r>
                      <a:r>
                        <a:rPr sz="2000" b="1" kern="0" spc="-40" dirty="0">
                          <a:solidFill>
                            <a:srgbClr val="000000">
                              <a:alpha val="100000"/>
                            </a:srgbClr>
                          </a:solidFill>
                          <a:latin typeface="Times New Roman" panose="02020603050405020304"/>
                          <a:ea typeface="Times New Roman" panose="02020603050405020304"/>
                          <a:cs typeface="Times New Roman" panose="02020603050405020304"/>
                        </a:rPr>
                        <a:t>y</a:t>
                      </a:r>
                      <a:r>
                        <a:rPr sz="2000" b="1" kern="0" spc="-40" dirty="0">
                          <a:solidFill>
                            <a:srgbClr val="000000">
                              <a:alpha val="100000"/>
                            </a:srgbClr>
                          </a:solidFill>
                          <a:latin typeface="楷体" panose="02010609060101010101" charset="-122"/>
                          <a:ea typeface="楷体" panose="02010609060101010101" charset="-122"/>
                          <a:cs typeface="楷体" panose="02010609060101010101" charset="-122"/>
                        </a:rPr>
                        <a:t>的标度</a:t>
                      </a:r>
                      <a:endParaRPr sz="2000" dirty="0">
                        <a:latin typeface="楷体" panose="02010609060101010101" charset="-122"/>
                        <a:ea typeface="楷体" panose="02010609060101010101" charset="-122"/>
                        <a:cs typeface="楷体" panose="02010609060101010101" charset="-122"/>
                      </a:endParaRPr>
                    </a:p>
                    <a:p>
                      <a:pPr algn="l" rtl="0" eaLnBrk="0">
                        <a:lnSpc>
                          <a:spcPct val="120000"/>
                        </a:lnSpc>
                      </a:pPr>
                      <a:endParaRPr sz="1000" dirty="0">
                        <a:latin typeface="Arial" panose="020B0604020202020204"/>
                        <a:ea typeface="Arial" panose="020B0604020202020204"/>
                        <a:cs typeface="Arial" panose="020B0604020202020204"/>
                      </a:endParaRPr>
                    </a:p>
                    <a:p>
                      <a:pPr marL="1228090" indent="-264795" algn="l" rtl="0" eaLnBrk="0">
                        <a:lnSpc>
                          <a:spcPct val="121000"/>
                        </a:lnSpc>
                        <a:spcBef>
                          <a:spcPts val="605"/>
                        </a:spcBef>
                      </a:pPr>
                      <a:r>
                        <a:rPr sz="17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改变</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y</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的度量单位，但不改变</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x</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的度量单位</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，则所有的系数都必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须改变，以保证方程仍然有效。</a:t>
                      </a:r>
                      <a:endParaRPr sz="2000" dirty="0">
                        <a:latin typeface="楷体" panose="02010609060101010101" charset="-122"/>
                        <a:ea typeface="楷体" panose="02010609060101010101" charset="-122"/>
                        <a:cs typeface="楷体" panose="02010609060101010101" charset="-122"/>
                      </a:endParaRPr>
                    </a:p>
                    <a:p>
                      <a:pPr algn="l" rtl="0" eaLnBrk="0">
                        <a:lnSpc>
                          <a:spcPct val="116000"/>
                        </a:lnSpc>
                      </a:pPr>
                      <a:endParaRPr sz="1000" dirty="0">
                        <a:latin typeface="Arial" panose="020B0604020202020204"/>
                        <a:ea typeface="Arial" panose="020B0604020202020204"/>
                        <a:cs typeface="Arial" panose="020B0604020202020204"/>
                      </a:endParaRPr>
                    </a:p>
                    <a:p>
                      <a:pPr marL="963295" algn="l" rtl="0" eaLnBrk="0">
                        <a:lnSpc>
                          <a:spcPct val="86000"/>
                        </a:lnSpc>
                        <a:spcBef>
                          <a:spcPts val="605"/>
                        </a:spcBef>
                      </a:pPr>
                      <a:r>
                        <a:rPr sz="17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30" dirty="0">
                          <a:solidFill>
                            <a:srgbClr val="000000">
                              <a:alpha val="100000"/>
                            </a:srgbClr>
                          </a:solidFill>
                          <a:latin typeface="楷体" panose="02010609060101010101" charset="-122"/>
                          <a:ea typeface="楷体" panose="02010609060101010101" charset="-122"/>
                          <a:cs typeface="楷体" panose="02010609060101010101" charset="-122"/>
                        </a:rPr>
                        <a:t>因为在这一过程中误差项被</a:t>
                      </a:r>
                      <a:r>
                        <a:rPr sz="2000" kern="0" spc="-40" dirty="0">
                          <a:solidFill>
                            <a:srgbClr val="000000">
                              <a:alpha val="100000"/>
                            </a:srgbClr>
                          </a:solidFill>
                          <a:latin typeface="楷体" panose="02010609060101010101" charset="-122"/>
                          <a:ea typeface="楷体" panose="02010609060101010101" charset="-122"/>
                          <a:cs typeface="楷体" panose="02010609060101010101" charset="-122"/>
                        </a:rPr>
                        <a:t>缩减了，最小二乘残差也被缩减了。</a:t>
                      </a:r>
                      <a:endParaRPr sz="20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63295" algn="l" rtl="0" eaLnBrk="0">
                        <a:lnSpc>
                          <a:spcPct val="86000"/>
                        </a:lnSpc>
                        <a:spcBef>
                          <a:spcPts val="0"/>
                        </a:spcBef>
                      </a:pPr>
                      <a:r>
                        <a:rPr sz="17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这将影响回归系数的标准误，但不影响</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统计量和</a:t>
                      </a:r>
                      <a:r>
                        <a:rPr sz="2100" kern="0" spc="-10" dirty="0">
                          <a:solidFill>
                            <a:srgbClr val="000000">
                              <a:alpha val="100000"/>
                            </a:srgbClr>
                          </a:solidFill>
                          <a:latin typeface="Perpetua" panose="02020502060401020303"/>
                          <a:ea typeface="Perpetua" panose="02020502060401020303"/>
                          <a:cs typeface="Perpetua" panose="02020502060401020303"/>
                        </a:rPr>
                        <a:t>R</a:t>
                      </a:r>
                      <a:r>
                        <a:rPr sz="2200" kern="0" spc="-10" baseline="28000" dirty="0">
                          <a:solidFill>
                            <a:srgbClr val="000000">
                              <a:alpha val="100000"/>
                            </a:srgbClr>
                          </a:solidFill>
                          <a:latin typeface="Perpetua" panose="02020502060401020303"/>
                          <a:ea typeface="Perpetua" panose="02020502060401020303"/>
                          <a:cs typeface="Perpetua" panose="02020502060401020303"/>
                        </a:rPr>
                        <a:t>2</a:t>
                      </a:r>
                      <a:endParaRPr sz="2200" baseline="28000" dirty="0">
                        <a:latin typeface="Perpetua" panose="02020502060401020303"/>
                        <a:ea typeface="Perpetua" panose="02020502060401020303"/>
                        <a:cs typeface="Perpetua" panose="02020502060401020303"/>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619125">
                <a:tc>
                  <a:txBody>
                    <a:bodyPr/>
                    <a:lstStyle/>
                    <a:p>
                      <a:pPr algn="l" rtl="0" eaLnBrk="0">
                        <a:lnSpc>
                          <a:spcPct val="152000"/>
                        </a:lnSpc>
                      </a:pPr>
                      <a:endParaRPr sz="1000" dirty="0">
                        <a:latin typeface="Arial" panose="020B0604020202020204"/>
                        <a:ea typeface="Arial" panose="020B0604020202020204"/>
                        <a:cs typeface="Arial" panose="020B0604020202020204"/>
                      </a:endParaRPr>
                    </a:p>
                    <a:p>
                      <a:pPr marL="221615"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27</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 name="table 296"/>
          <p:cNvGraphicFramePr>
            <a:graphicFrameLocks noGrp="1"/>
          </p:cNvGraphicFramePr>
          <p:nvPr/>
        </p:nvGraphicFramePr>
        <p:xfrm>
          <a:off x="60832" y="66928"/>
          <a:ext cx="9018905" cy="6699248"/>
        </p:xfrm>
        <a:graphic>
          <a:graphicData uri="http://schemas.openxmlformats.org/drawingml/2006/table">
            <a:tbl>
              <a:tblPr/>
              <a:tblGrid>
                <a:gridCol w="9018905"/>
              </a:tblGrid>
              <a:tr h="5106034">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949960" algn="l" rtl="0" eaLnBrk="0">
                        <a:lnSpc>
                          <a:spcPct val="94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50" dirty="0">
                          <a:solidFill>
                            <a:srgbClr val="000000">
                              <a:alpha val="100000"/>
                            </a:srgbClr>
                          </a:solidFill>
                          <a:latin typeface="Times New Roman" panose="02020603050405020304"/>
                          <a:ea typeface="Times New Roman" panose="02020603050405020304"/>
                          <a:cs typeface="Times New Roman" panose="02020603050405020304"/>
                        </a:rPr>
                        <a:t>3.</a:t>
                      </a:r>
                      <a:r>
                        <a:rPr sz="2100" b="1" kern="0" spc="50" dirty="0">
                          <a:solidFill>
                            <a:srgbClr val="000000">
                              <a:alpha val="100000"/>
                            </a:srgbClr>
                          </a:solidFill>
                          <a:latin typeface="楷体" panose="02010609060101010101" charset="-122"/>
                          <a:ea typeface="楷体" panose="02010609060101010101" charset="-122"/>
                          <a:cs typeface="楷体" panose="02010609060101010101" charset="-122"/>
                        </a:rPr>
                        <a:t>同比例改变</a:t>
                      </a:r>
                      <a:r>
                        <a:rPr sz="2100" b="1" kern="0" spc="50" dirty="0">
                          <a:solidFill>
                            <a:srgbClr val="000000">
                              <a:alpha val="100000"/>
                            </a:srgbClr>
                          </a:solidFill>
                          <a:latin typeface="Times New Roman" panose="02020603050405020304"/>
                          <a:ea typeface="Times New Roman" panose="02020603050405020304"/>
                          <a:cs typeface="Times New Roman" panose="02020603050405020304"/>
                        </a:rPr>
                        <a:t>y</a:t>
                      </a:r>
                      <a:r>
                        <a:rPr sz="2100" b="1" kern="0" spc="5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b="1" kern="0" spc="50" dirty="0">
                          <a:solidFill>
                            <a:srgbClr val="000000">
                              <a:alpha val="100000"/>
                            </a:srgbClr>
                          </a:solidFill>
                          <a:latin typeface="Times New Roman" panose="02020603050405020304"/>
                          <a:ea typeface="Times New Roman" panose="02020603050405020304"/>
                          <a:cs typeface="Times New Roman" panose="02020603050405020304"/>
                        </a:rPr>
                        <a:t>x</a:t>
                      </a:r>
                      <a:r>
                        <a:rPr sz="2100" b="1" kern="0" spc="50" dirty="0">
                          <a:solidFill>
                            <a:srgbClr val="000000">
                              <a:alpha val="100000"/>
                            </a:srgbClr>
                          </a:solidFill>
                          <a:latin typeface="楷体" panose="02010609060101010101" charset="-122"/>
                          <a:ea typeface="楷体" panose="02010609060101010101" charset="-122"/>
                          <a:cs typeface="楷体" panose="02010609060101010101" charset="-122"/>
                        </a:rPr>
                        <a:t>的标度</a:t>
                      </a:r>
                      <a:endParaRPr sz="21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marL="1206500" indent="-256540" algn="l" rtl="0" eaLnBrk="0">
                        <a:lnSpc>
                          <a:spcPct val="123000"/>
                        </a:lnSpc>
                        <a:spcBef>
                          <a:spcPts val="72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i="1" kern="0" spc="60" dirty="0">
                          <a:solidFill>
                            <a:srgbClr val="000000">
                              <a:alpha val="100000"/>
                            </a:srgbClr>
                          </a:solidFill>
                          <a:latin typeface="Times New Roman" panose="02020603050405020304"/>
                          <a:ea typeface="Times New Roman" panose="02020603050405020304"/>
                          <a:cs typeface="Times New Roman" panose="02020603050405020304"/>
                        </a:rPr>
                        <a:t>b</a:t>
                      </a:r>
                      <a:r>
                        <a:rPr sz="2400" kern="0" spc="60" baseline="-24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的回归结果将不会改变，但截距项的估计结果和</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残差项</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会发生改变。</a:t>
                      </a:r>
                      <a:endParaRPr sz="2100" dirty="0">
                        <a:latin typeface="楷体" panose="02010609060101010101" charset="-122"/>
                        <a:ea typeface="楷体" panose="02010609060101010101" charset="-122"/>
                        <a:cs typeface="楷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marL="949960" algn="l" rtl="0" eaLnBrk="0">
                        <a:lnSpc>
                          <a:spcPct val="82000"/>
                        </a:lnSpc>
                        <a:spcBef>
                          <a:spcPts val="72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t</a:t>
                      </a:r>
                      <a:r>
                        <a:rPr sz="21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统计量</a:t>
                      </a:r>
                      <a:r>
                        <a:rPr sz="2100" kern="0" spc="-4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46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R</a:t>
                      </a:r>
                      <a:r>
                        <a:rPr sz="1500" kern="0" spc="-7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不受影</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响。</a:t>
                      </a:r>
                      <a:endParaRPr sz="2100" dirty="0">
                        <a:latin typeface="楷体" panose="02010609060101010101" charset="-122"/>
                        <a:ea typeface="楷体" panose="02010609060101010101" charset="-122"/>
                        <a:cs typeface="楷体" panose="02010609060101010101" charset="-122"/>
                      </a:endParaRPr>
                    </a:p>
                    <a:p>
                      <a:pPr algn="l" rtl="0" eaLnBrk="0">
                        <a:lnSpc>
                          <a:spcPct val="138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949960" algn="l" rtl="0" eaLnBrk="0">
                        <a:lnSpc>
                          <a:spcPct val="89000"/>
                        </a:lnSpc>
                        <a:spcBef>
                          <a:spcPts val="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根据新的度量单</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位对参数进行解释。</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593214">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7170"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28</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0" name="table 300"/>
          <p:cNvGraphicFramePr>
            <a:graphicFrameLocks noGrp="1"/>
          </p:cNvGraphicFramePr>
          <p:nvPr/>
        </p:nvGraphicFramePr>
        <p:xfrm>
          <a:off x="60832" y="66928"/>
          <a:ext cx="9018904" cy="6699250"/>
        </p:xfrm>
        <a:graphic>
          <a:graphicData uri="http://schemas.openxmlformats.org/drawingml/2006/table">
            <a:tbl>
              <a:tblPr/>
              <a:tblGrid>
                <a:gridCol w="978535"/>
                <a:gridCol w="804036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42000"/>
                        </a:lnSpc>
                      </a:pPr>
                      <a:endParaRPr sz="1000" dirty="0">
                        <a:latin typeface="Arial" panose="020B0604020202020204"/>
                        <a:ea typeface="Arial" panose="020B0604020202020204"/>
                        <a:cs typeface="Arial" panose="020B0604020202020204"/>
                      </a:endParaRPr>
                    </a:p>
                    <a:p>
                      <a:pPr algn="l" rtl="0" eaLnBrk="0">
                        <a:lnSpc>
                          <a:spcPct val="143000"/>
                        </a:lnSpc>
                      </a:pPr>
                      <a:endParaRPr sz="1000" dirty="0">
                        <a:latin typeface="Arial" panose="020B0604020202020204"/>
                        <a:ea typeface="Arial" panose="020B0604020202020204"/>
                        <a:cs typeface="Arial" panose="020B0604020202020204"/>
                      </a:endParaRPr>
                    </a:p>
                    <a:p>
                      <a:pPr marL="3025775" algn="l" rtl="0" eaLnBrk="0">
                        <a:lnSpc>
                          <a:spcPct val="86000"/>
                        </a:lnSpc>
                      </a:pP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模拟样本</a:t>
                      </a:r>
                      <a:endParaRPr sz="24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02" name="picture 302"/>
          <p:cNvPicPr>
            <a:picLocks noChangeAspect="1"/>
          </p:cNvPicPr>
          <p:nvPr/>
        </p:nvPicPr>
        <p:blipFill>
          <a:blip r:embed="rId1"/>
          <a:stretch>
            <a:fillRect/>
          </a:stretch>
        </p:blipFill>
        <p:spPr>
          <a:xfrm rot="21600000">
            <a:off x="1475231" y="1095755"/>
            <a:ext cx="6408420" cy="5571744"/>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 name="table 306"/>
          <p:cNvGraphicFramePr>
            <a:graphicFrameLocks noGrp="1"/>
          </p:cNvGraphicFramePr>
          <p:nvPr/>
        </p:nvGraphicFramePr>
        <p:xfrm>
          <a:off x="60832" y="66928"/>
          <a:ext cx="9018905" cy="6699249"/>
        </p:xfrm>
        <a:graphic>
          <a:graphicData uri="http://schemas.openxmlformats.org/drawingml/2006/table">
            <a:tbl>
              <a:tblPr/>
              <a:tblGrid>
                <a:gridCol w="859155"/>
                <a:gridCol w="8159750"/>
              </a:tblGrid>
              <a:tr h="786765">
                <a:tc gridSpan="2">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3274060" algn="l" rtl="0" eaLnBrk="0">
                        <a:lnSpc>
                          <a:spcPct val="86000"/>
                        </a:lnSpc>
                      </a:pP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模拟样本估计结果</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912484">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30</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308" name="picture 308"/>
          <p:cNvPicPr>
            <a:picLocks noChangeAspect="1"/>
          </p:cNvPicPr>
          <p:nvPr/>
        </p:nvPicPr>
        <p:blipFill>
          <a:blip r:embed="rId1"/>
          <a:stretch>
            <a:fillRect/>
          </a:stretch>
        </p:blipFill>
        <p:spPr>
          <a:xfrm rot="21600000">
            <a:off x="1237488" y="972311"/>
            <a:ext cx="6669023" cy="5695188"/>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2" name="table 312"/>
          <p:cNvGraphicFramePr>
            <a:graphicFrameLocks noGrp="1"/>
          </p:cNvGraphicFramePr>
          <p:nvPr/>
        </p:nvGraphicFramePr>
        <p:xfrm>
          <a:off x="60832" y="66928"/>
          <a:ext cx="9018904" cy="6699250"/>
        </p:xfrm>
        <a:graphic>
          <a:graphicData uri="http://schemas.openxmlformats.org/drawingml/2006/table">
            <a:tbl>
              <a:tblPr/>
              <a:tblGrid>
                <a:gridCol w="908685"/>
                <a:gridCol w="811021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31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marL="2343150" algn="l" rtl="0" eaLnBrk="0">
                        <a:lnSpc>
                          <a:spcPct val="87000"/>
                        </a:lnSpc>
                        <a:spcBef>
                          <a:spcPts val="5"/>
                        </a:spcBef>
                      </a:pPr>
                      <a:r>
                        <a:rPr sz="2100" b="1" kern="0" spc="70" dirty="0">
                          <a:solidFill>
                            <a:srgbClr val="000000">
                              <a:alpha val="100000"/>
                            </a:srgbClr>
                          </a:solidFill>
                          <a:latin typeface="楷体" panose="02010609060101010101" charset="-122"/>
                          <a:ea typeface="楷体" panose="02010609060101010101" charset="-122"/>
                          <a:cs typeface="楷体" panose="02010609060101010101" charset="-122"/>
                        </a:rPr>
                        <a:t>缩放数据影响的总结</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14" name="table 314"/>
          <p:cNvGraphicFramePr>
            <a:graphicFrameLocks noGrp="1"/>
          </p:cNvGraphicFramePr>
          <p:nvPr/>
        </p:nvGraphicFramePr>
        <p:xfrm>
          <a:off x="1336547" y="1309170"/>
          <a:ext cx="6163941" cy="2437761"/>
        </p:xfrm>
        <a:graphic>
          <a:graphicData uri="http://schemas.openxmlformats.org/drawingml/2006/table">
            <a:tbl>
              <a:tblPr/>
              <a:tblGrid>
                <a:gridCol w="993139"/>
                <a:gridCol w="1055369"/>
                <a:gridCol w="1055370"/>
                <a:gridCol w="989964"/>
                <a:gridCol w="1062355"/>
                <a:gridCol w="1007744"/>
              </a:tblGrid>
              <a:tr h="273684">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04000"/>
                        </a:lnSpc>
                      </a:pPr>
                      <a:endParaRPr sz="300" dirty="0">
                        <a:latin typeface="Arial" panose="020B0604020202020204"/>
                        <a:ea typeface="Arial" panose="020B0604020202020204"/>
                        <a:cs typeface="Arial" panose="020B0604020202020204"/>
                      </a:endParaRPr>
                    </a:p>
                    <a:p>
                      <a:pPr marL="63500" algn="l" rtl="0" eaLnBrk="0">
                        <a:lnSpc>
                          <a:spcPct val="90000"/>
                        </a:lnSpc>
                        <a:spcBef>
                          <a:spcPts val="5"/>
                        </a:spcBef>
                      </a:pPr>
                      <a:r>
                        <a:rPr sz="1600" kern="0" spc="50" dirty="0">
                          <a:solidFill>
                            <a:srgbClr val="000000">
                              <a:alpha val="100000"/>
                            </a:srgbClr>
                          </a:solidFill>
                          <a:latin typeface="等线" panose="02010600030101010101" charset="-122"/>
                          <a:ea typeface="等线" panose="02010600030101010101" charset="-122"/>
                          <a:cs typeface="等线" panose="02010600030101010101" charset="-122"/>
                        </a:rPr>
                        <a:t>x单位变大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04000"/>
                        </a:lnSpc>
                      </a:pPr>
                      <a:endParaRPr sz="300" dirty="0">
                        <a:latin typeface="Arial" panose="020B0604020202020204"/>
                        <a:ea typeface="Arial" panose="020B0604020202020204"/>
                        <a:cs typeface="Arial" panose="020B0604020202020204"/>
                      </a:endParaRPr>
                    </a:p>
                    <a:p>
                      <a:pPr marL="62865" algn="l" rtl="0" eaLnBrk="0">
                        <a:lnSpc>
                          <a:spcPct val="90000"/>
                        </a:lnSpc>
                        <a:spcBef>
                          <a:spcPts val="5"/>
                        </a:spcBef>
                      </a:pPr>
                      <a:r>
                        <a:rPr sz="1600" kern="0" spc="50" dirty="0">
                          <a:solidFill>
                            <a:srgbClr val="000000">
                              <a:alpha val="100000"/>
                            </a:srgbClr>
                          </a:solidFill>
                          <a:latin typeface="等线" panose="02010600030101010101" charset="-122"/>
                          <a:ea typeface="等线" panose="02010600030101010101" charset="-122"/>
                          <a:cs typeface="等线" panose="02010600030101010101" charset="-122"/>
                        </a:rPr>
                        <a:t>x单位变小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04000"/>
                        </a:lnSpc>
                      </a:pPr>
                      <a:endParaRPr sz="300" dirty="0">
                        <a:latin typeface="Arial" panose="020B0604020202020204"/>
                        <a:ea typeface="Arial" panose="020B0604020202020204"/>
                        <a:cs typeface="Arial" panose="020B0604020202020204"/>
                      </a:endParaRPr>
                    </a:p>
                    <a:p>
                      <a:pPr marL="62230" algn="l" rtl="0" eaLnBrk="0">
                        <a:lnSpc>
                          <a:spcPct val="90000"/>
                        </a:lnSpc>
                        <a:spcBef>
                          <a:spcPts val="5"/>
                        </a:spcBef>
                      </a:pPr>
                      <a:r>
                        <a:rPr sz="1600" kern="0" spc="50" dirty="0">
                          <a:solidFill>
                            <a:srgbClr val="000000">
                              <a:alpha val="100000"/>
                            </a:srgbClr>
                          </a:solidFill>
                          <a:latin typeface="等线" panose="02010600030101010101" charset="-122"/>
                          <a:ea typeface="等线" panose="02010600030101010101" charset="-122"/>
                          <a:cs typeface="等线" panose="02010600030101010101" charset="-122"/>
                        </a:rPr>
                        <a:t>y单位变大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04000"/>
                        </a:lnSpc>
                      </a:pPr>
                      <a:endParaRPr sz="300" dirty="0">
                        <a:latin typeface="Arial" panose="020B0604020202020204"/>
                        <a:ea typeface="Arial" panose="020B0604020202020204"/>
                        <a:cs typeface="Arial" panose="020B0604020202020204"/>
                      </a:endParaRPr>
                    </a:p>
                    <a:p>
                      <a:pPr marL="33020" algn="l" rtl="0" eaLnBrk="0">
                        <a:lnSpc>
                          <a:spcPct val="90000"/>
                        </a:lnSpc>
                        <a:spcBef>
                          <a:spcPts val="5"/>
                        </a:spcBef>
                      </a:pPr>
                      <a:r>
                        <a:rPr sz="1600" kern="0" spc="50" dirty="0">
                          <a:solidFill>
                            <a:srgbClr val="000000">
                              <a:alpha val="100000"/>
                            </a:srgbClr>
                          </a:solidFill>
                          <a:latin typeface="等线" panose="02010600030101010101" charset="-122"/>
                          <a:ea typeface="等线" panose="02010600030101010101" charset="-122"/>
                          <a:cs typeface="等线" panose="02010600030101010101" charset="-122"/>
                        </a:rPr>
                        <a:t>y单位变小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69875">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241300" algn="l" rtl="0" eaLnBrk="0">
                        <a:lnSpc>
                          <a:spcPct val="90000"/>
                        </a:lnSpc>
                        <a:spcBef>
                          <a:spcPts val="0"/>
                        </a:spcBef>
                      </a:pPr>
                      <a:r>
                        <a:rPr sz="1600" kern="0" spc="40" dirty="0">
                          <a:solidFill>
                            <a:srgbClr val="000000">
                              <a:alpha val="100000"/>
                            </a:srgbClr>
                          </a:solidFill>
                          <a:latin typeface="等线" panose="02010600030101010101" charset="-122"/>
                          <a:ea typeface="等线" panose="02010600030101010101" charset="-122"/>
                          <a:cs typeface="等线" panose="02010600030101010101" charset="-122"/>
                        </a:rPr>
                        <a:t>x数值</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464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464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236855" algn="l" rtl="0" eaLnBrk="0">
                        <a:lnSpc>
                          <a:spcPct val="90000"/>
                        </a:lnSpc>
                        <a:spcBef>
                          <a:spcPts val="0"/>
                        </a:spcBef>
                      </a:pPr>
                      <a:r>
                        <a:rPr sz="1600" kern="0" spc="50" dirty="0">
                          <a:solidFill>
                            <a:srgbClr val="000000">
                              <a:alpha val="100000"/>
                            </a:srgbClr>
                          </a:solidFill>
                          <a:latin typeface="等线" panose="02010600030101010101" charset="-122"/>
                          <a:ea typeface="等线" panose="02010600030101010101" charset="-122"/>
                          <a:cs typeface="等线" panose="02010600030101010101" charset="-122"/>
                        </a:rPr>
                        <a:t>y数值</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4099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1242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69875">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40195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464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464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9814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4099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1242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69875">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229235" algn="l" rtl="0" eaLnBrk="0">
                        <a:lnSpc>
                          <a:spcPct val="90000"/>
                        </a:lnSpc>
                        <a:spcBef>
                          <a:spcPts val="0"/>
                        </a:spcBef>
                      </a:pPr>
                      <a:r>
                        <a:rPr sz="1600" kern="0" spc="0" dirty="0">
                          <a:solidFill>
                            <a:srgbClr val="000000">
                              <a:alpha val="100000"/>
                            </a:srgbClr>
                          </a:solidFill>
                          <a:latin typeface="等线" panose="02010600030101010101" charset="-122"/>
                          <a:ea typeface="等线" panose="02010600030101010101" charset="-122"/>
                          <a:cs typeface="等线" panose="02010600030101010101" charset="-122"/>
                        </a:rPr>
                        <a:t>se</a:t>
                      </a: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464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464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225425" algn="l" rtl="0" eaLnBrk="0">
                        <a:lnSpc>
                          <a:spcPct val="90000"/>
                        </a:lnSpc>
                        <a:spcBef>
                          <a:spcPts val="0"/>
                        </a:spcBef>
                      </a:pPr>
                      <a:r>
                        <a:rPr sz="1600" kern="0" spc="0" dirty="0">
                          <a:solidFill>
                            <a:srgbClr val="000000">
                              <a:alpha val="100000"/>
                            </a:srgbClr>
                          </a:solidFill>
                          <a:latin typeface="等线" panose="02010600030101010101" charset="-122"/>
                          <a:ea typeface="等线" panose="02010600030101010101" charset="-122"/>
                          <a:cs typeface="等线" panose="02010600030101010101" charset="-122"/>
                        </a:rPr>
                        <a:t>se</a:t>
                      </a: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4099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1242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69875">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0988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t_b2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0670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t_b2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3210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0353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70509">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40195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b1</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9814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b1</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4099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1242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69875">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229235" algn="l" rtl="0" eaLnBrk="0">
                        <a:lnSpc>
                          <a:spcPct val="90000"/>
                        </a:lnSpc>
                        <a:spcBef>
                          <a:spcPts val="0"/>
                        </a:spcBef>
                      </a:pPr>
                      <a:r>
                        <a:rPr sz="1600" kern="0" spc="0" dirty="0">
                          <a:solidFill>
                            <a:srgbClr val="000000">
                              <a:alpha val="100000"/>
                            </a:srgbClr>
                          </a:solidFill>
                          <a:latin typeface="等线" panose="02010600030101010101" charset="-122"/>
                          <a:ea typeface="等线" panose="02010600030101010101" charset="-122"/>
                          <a:cs typeface="等线" panose="02010600030101010101" charset="-122"/>
                        </a:rPr>
                        <a:t>se</a:t>
                      </a: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(b1)</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225425" algn="l" rtl="0" eaLnBrk="0">
                        <a:lnSpc>
                          <a:spcPct val="90000"/>
                        </a:lnSpc>
                        <a:spcBef>
                          <a:spcPts val="0"/>
                        </a:spcBef>
                      </a:pPr>
                      <a:r>
                        <a:rPr sz="1600" kern="0" spc="0" dirty="0">
                          <a:solidFill>
                            <a:srgbClr val="000000">
                              <a:alpha val="100000"/>
                            </a:srgbClr>
                          </a:solidFill>
                          <a:latin typeface="等线" panose="02010600030101010101" charset="-122"/>
                          <a:ea typeface="等线" panose="02010600030101010101" charset="-122"/>
                          <a:cs typeface="等线" panose="02010600030101010101" charset="-122"/>
                        </a:rPr>
                        <a:t>se</a:t>
                      </a: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(b1)</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4099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4000"/>
                        </a:lnSpc>
                      </a:pPr>
                      <a:endParaRPr sz="200" dirty="0">
                        <a:latin typeface="Arial" panose="020B0604020202020204"/>
                        <a:ea typeface="Arial" panose="020B0604020202020204"/>
                        <a:cs typeface="Arial" panose="020B0604020202020204"/>
                      </a:endParaRPr>
                    </a:p>
                    <a:p>
                      <a:pPr marL="31242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70509">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09880"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t_b1</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06705" algn="l" rtl="0" eaLnBrk="0">
                        <a:lnSpc>
                          <a:spcPct val="90000"/>
                        </a:lnSpc>
                        <a:spcBef>
                          <a:spcPts val="0"/>
                        </a:spcBef>
                      </a:pPr>
                      <a:r>
                        <a:rPr sz="1600" kern="0" spc="10" dirty="0">
                          <a:solidFill>
                            <a:srgbClr val="000000">
                              <a:alpha val="100000"/>
                            </a:srgbClr>
                          </a:solidFill>
                          <a:latin typeface="等线" panose="02010600030101010101" charset="-122"/>
                          <a:ea typeface="等线" panose="02010600030101010101" charset="-122"/>
                          <a:cs typeface="等线" panose="02010600030101010101" charset="-122"/>
                        </a:rPr>
                        <a:t>t_b1</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3210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6000"/>
                        </a:lnSpc>
                      </a:pPr>
                      <a:endParaRPr sz="200" dirty="0">
                        <a:latin typeface="Arial" panose="020B0604020202020204"/>
                        <a:ea typeface="Arial" panose="020B0604020202020204"/>
                        <a:cs typeface="Arial" panose="020B0604020202020204"/>
                      </a:endParaRPr>
                    </a:p>
                    <a:p>
                      <a:pPr marL="30353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r h="273684">
                <a:tc>
                  <a:txBody>
                    <a:bodyPr/>
                    <a:lstStyle/>
                    <a:p>
                      <a:pPr algn="l" rtl="0" eaLnBrk="0">
                        <a:lnSpc>
                          <a:spcPct val="101000"/>
                        </a:lnSpc>
                      </a:pPr>
                      <a:endParaRPr sz="500" dirty="0">
                        <a:latin typeface="Arial" panose="020B0604020202020204"/>
                        <a:ea typeface="Arial" panose="020B0604020202020204"/>
                        <a:cs typeface="Arial" panose="020B0604020202020204"/>
                      </a:endParaRPr>
                    </a:p>
                    <a:p>
                      <a:pPr marL="404495" algn="l" rtl="0" eaLnBrk="0">
                        <a:lnSpc>
                          <a:spcPct val="70000"/>
                        </a:lnSpc>
                        <a:spcBef>
                          <a:spcPts val="0"/>
                        </a:spcBef>
                      </a:pPr>
                      <a:r>
                        <a:rPr sz="1600" kern="0" spc="-30" dirty="0">
                          <a:solidFill>
                            <a:srgbClr val="000000">
                              <a:alpha val="100000"/>
                            </a:srgbClr>
                          </a:solidFill>
                          <a:latin typeface="等线" panose="02010600030101010101" charset="-122"/>
                          <a:ea typeface="等线" panose="02010600030101010101" charset="-122"/>
                          <a:cs typeface="等线" panose="02010600030101010101" charset="-122"/>
                        </a:rPr>
                        <a:t>R2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32512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l" rtl="0" eaLnBrk="0">
                        <a:lnSpc>
                          <a:spcPct val="101000"/>
                        </a:lnSpc>
                      </a:pPr>
                      <a:endParaRPr sz="500" dirty="0">
                        <a:latin typeface="Arial" panose="020B0604020202020204"/>
                        <a:ea typeface="Arial" panose="020B0604020202020204"/>
                        <a:cs typeface="Arial" panose="020B0604020202020204"/>
                      </a:endParaRPr>
                    </a:p>
                    <a:p>
                      <a:pPr marL="400685" algn="l" rtl="0" eaLnBrk="0">
                        <a:lnSpc>
                          <a:spcPct val="70000"/>
                        </a:lnSpc>
                        <a:spcBef>
                          <a:spcPts val="0"/>
                        </a:spcBef>
                      </a:pPr>
                      <a:r>
                        <a:rPr sz="1600" kern="0" spc="-30" dirty="0">
                          <a:solidFill>
                            <a:srgbClr val="000000">
                              <a:alpha val="100000"/>
                            </a:srgbClr>
                          </a:solidFill>
                          <a:latin typeface="等线" panose="02010600030101010101" charset="-122"/>
                          <a:ea typeface="等线" panose="02010600030101010101" charset="-122"/>
                          <a:cs typeface="等线" panose="02010600030101010101" charset="-122"/>
                        </a:rPr>
                        <a:t>R2</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332105"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303530" algn="l" rtl="0" eaLnBrk="0">
                        <a:lnSpc>
                          <a:spcPct val="90000"/>
                        </a:lnSpc>
                        <a:spcBef>
                          <a:spcPts val="0"/>
                        </a:spcBef>
                      </a:pPr>
                      <a:r>
                        <a:rPr sz="1600" kern="0" spc="2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6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r>
            </a:tbl>
          </a:graphicData>
        </a:graphic>
      </p:graphicFrame>
      <p:graphicFrame>
        <p:nvGraphicFramePr>
          <p:cNvPr id="316" name="table 316"/>
          <p:cNvGraphicFramePr>
            <a:graphicFrameLocks noGrp="1"/>
          </p:cNvGraphicFramePr>
          <p:nvPr/>
        </p:nvGraphicFramePr>
        <p:xfrm>
          <a:off x="1979675" y="4005212"/>
          <a:ext cx="4878070" cy="2580636"/>
        </p:xfrm>
        <a:graphic>
          <a:graphicData uri="http://schemas.openxmlformats.org/drawingml/2006/table">
            <a:tbl>
              <a:tblPr>
                <a:solidFill>
                  <a:srgbClr val="DDEBF7"/>
                </a:solidFill>
              </a:tblPr>
              <a:tblGrid>
                <a:gridCol w="947420"/>
                <a:gridCol w="1963420"/>
                <a:gridCol w="1967230"/>
              </a:tblGrid>
              <a:tr h="2603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00000"/>
                        </a:lnSpc>
                      </a:pPr>
                      <a:endParaRPr sz="300" dirty="0">
                        <a:latin typeface="Arial" panose="020B0604020202020204"/>
                        <a:ea typeface="Arial" panose="020B0604020202020204"/>
                        <a:cs typeface="Arial" panose="020B0604020202020204"/>
                      </a:endParaRPr>
                    </a:p>
                    <a:p>
                      <a:pPr marL="87630" algn="l" rtl="0" eaLnBrk="0">
                        <a:lnSpc>
                          <a:spcPct val="91000"/>
                        </a:lnSpc>
                        <a:spcBef>
                          <a:spcPts val="0"/>
                        </a:spcBef>
                      </a:pPr>
                      <a:r>
                        <a:rPr sz="1500" kern="0" spc="70" dirty="0">
                          <a:solidFill>
                            <a:srgbClr val="000000">
                              <a:alpha val="100000"/>
                            </a:srgbClr>
                          </a:solidFill>
                          <a:latin typeface="等线" panose="02010600030101010101" charset="-122"/>
                          <a:ea typeface="等线" panose="02010600030101010101" charset="-122"/>
                          <a:cs typeface="等线" panose="02010600030101010101" charset="-122"/>
                        </a:rPr>
                        <a:t>x、y单位同比例变大</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00000"/>
                        </a:lnSpc>
                      </a:pPr>
                      <a:endParaRPr sz="300" dirty="0">
                        <a:latin typeface="Arial" panose="020B0604020202020204"/>
                        <a:ea typeface="Arial" panose="020B0604020202020204"/>
                        <a:cs typeface="Arial" panose="020B0604020202020204"/>
                      </a:endParaRPr>
                    </a:p>
                    <a:p>
                      <a:pPr marL="87630" algn="l" rtl="0" eaLnBrk="0">
                        <a:lnSpc>
                          <a:spcPct val="91000"/>
                        </a:lnSpc>
                        <a:spcBef>
                          <a:spcPts val="0"/>
                        </a:spcBef>
                      </a:pPr>
                      <a:r>
                        <a:rPr sz="1500" kern="0" spc="70" dirty="0">
                          <a:solidFill>
                            <a:srgbClr val="000000">
                              <a:alpha val="100000"/>
                            </a:srgbClr>
                          </a:solidFill>
                          <a:latin typeface="等线" panose="02010600030101010101" charset="-122"/>
                          <a:ea typeface="等线" panose="02010600030101010101" charset="-122"/>
                          <a:cs typeface="等线" panose="02010600030101010101" charset="-122"/>
                        </a:rPr>
                        <a:t>x、y单位同比例变小</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809">
                <a:tc>
                  <a:txBody>
                    <a:bodyPr/>
                    <a:lstStyle/>
                    <a:p>
                      <a:pPr algn="l" rtl="0" eaLnBrk="0">
                        <a:lnSpc>
                          <a:spcPct val="142000"/>
                        </a:lnSpc>
                      </a:pPr>
                      <a:endParaRPr sz="200" dirty="0">
                        <a:latin typeface="Arial" panose="020B0604020202020204"/>
                        <a:ea typeface="Arial" panose="020B0604020202020204"/>
                        <a:cs typeface="Arial" panose="020B0604020202020204"/>
                      </a:endParaRPr>
                    </a:p>
                    <a:p>
                      <a:pPr marL="229235" algn="l" rtl="0" eaLnBrk="0">
                        <a:lnSpc>
                          <a:spcPct val="91000"/>
                        </a:lnSpc>
                        <a:spcBef>
                          <a:spcPts val="0"/>
                        </a:spcBef>
                      </a:pPr>
                      <a:r>
                        <a:rPr sz="1500" kern="0" spc="70" dirty="0">
                          <a:solidFill>
                            <a:srgbClr val="000000">
                              <a:alpha val="100000"/>
                            </a:srgbClr>
                          </a:solidFill>
                          <a:latin typeface="等线" panose="02010600030101010101" charset="-122"/>
                          <a:ea typeface="等线" panose="02010600030101010101" charset="-122"/>
                          <a:cs typeface="等线" panose="02010600030101010101" charset="-122"/>
                        </a:rPr>
                        <a:t>y数值</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2000"/>
                        </a:lnSpc>
                      </a:pPr>
                      <a:endParaRPr sz="200" dirty="0">
                        <a:latin typeface="Arial" panose="020B0604020202020204"/>
                        <a:ea typeface="Arial" panose="020B0604020202020204"/>
                        <a:cs typeface="Arial" panose="020B0604020202020204"/>
                      </a:endParaRPr>
                    </a:p>
                    <a:p>
                      <a:pPr marL="796925" algn="l" rtl="0" eaLnBrk="0">
                        <a:lnSpc>
                          <a:spcPct val="91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2000"/>
                        </a:lnSpc>
                      </a:pPr>
                      <a:endParaRPr sz="200" dirty="0">
                        <a:latin typeface="Arial" panose="020B0604020202020204"/>
                        <a:ea typeface="Arial" panose="020B0604020202020204"/>
                        <a:cs typeface="Arial" panose="020B0604020202020204"/>
                      </a:endParaRPr>
                    </a:p>
                    <a:p>
                      <a:pPr marL="797560" algn="l" rtl="0" eaLnBrk="0">
                        <a:lnSpc>
                          <a:spcPct val="91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175">
                <a:tc>
                  <a:txBody>
                    <a:bodyPr/>
                    <a:lstStyle/>
                    <a:p>
                      <a:pPr algn="l" rtl="0" eaLnBrk="0">
                        <a:lnSpc>
                          <a:spcPct val="140000"/>
                        </a:lnSpc>
                      </a:pPr>
                      <a:endParaRPr sz="200" dirty="0">
                        <a:latin typeface="Arial" panose="020B0604020202020204"/>
                        <a:ea typeface="Arial" panose="020B0604020202020204"/>
                        <a:cs typeface="Arial" panose="020B0604020202020204"/>
                      </a:endParaRPr>
                    </a:p>
                    <a:p>
                      <a:pPr marL="230505" algn="l" rtl="0" eaLnBrk="0">
                        <a:lnSpc>
                          <a:spcPct val="91000"/>
                        </a:lnSpc>
                        <a:spcBef>
                          <a:spcPts val="0"/>
                        </a:spcBef>
                      </a:pPr>
                      <a:r>
                        <a:rPr sz="1500" kern="0" spc="60" dirty="0">
                          <a:solidFill>
                            <a:srgbClr val="000000">
                              <a:alpha val="100000"/>
                            </a:srgbClr>
                          </a:solidFill>
                          <a:latin typeface="等线" panose="02010600030101010101" charset="-122"/>
                          <a:ea typeface="等线" panose="02010600030101010101" charset="-122"/>
                          <a:cs typeface="等线" panose="02010600030101010101" charset="-122"/>
                        </a:rPr>
                        <a:t>x数值</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0000"/>
                        </a:lnSpc>
                      </a:pPr>
                      <a:endParaRPr sz="200" dirty="0">
                        <a:latin typeface="Arial" panose="020B0604020202020204"/>
                        <a:ea typeface="Arial" panose="020B0604020202020204"/>
                        <a:cs typeface="Arial" panose="020B0604020202020204"/>
                      </a:endParaRPr>
                    </a:p>
                    <a:p>
                      <a:pPr marL="796925" algn="l" rtl="0" eaLnBrk="0">
                        <a:lnSpc>
                          <a:spcPct val="91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0000"/>
                        </a:lnSpc>
                      </a:pPr>
                      <a:endParaRPr sz="200" dirty="0">
                        <a:latin typeface="Arial" panose="020B0604020202020204"/>
                        <a:ea typeface="Arial" panose="020B0604020202020204"/>
                        <a:cs typeface="Arial" panose="020B0604020202020204"/>
                      </a:endParaRPr>
                    </a:p>
                    <a:p>
                      <a:pPr marL="797560" algn="l" rtl="0" eaLnBrk="0">
                        <a:lnSpc>
                          <a:spcPct val="91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809">
                <a:tc>
                  <a:txBody>
                    <a:bodyPr/>
                    <a:lstStyle/>
                    <a:p>
                      <a:pPr algn="l" rtl="0" eaLnBrk="0">
                        <a:lnSpc>
                          <a:spcPct val="142000"/>
                        </a:lnSpc>
                      </a:pPr>
                      <a:endParaRPr sz="200" dirty="0">
                        <a:latin typeface="Arial" panose="020B0604020202020204"/>
                        <a:ea typeface="Arial" panose="020B0604020202020204"/>
                        <a:cs typeface="Arial" panose="020B0604020202020204"/>
                      </a:endParaRPr>
                    </a:p>
                    <a:p>
                      <a:pPr marL="382905" algn="l" rtl="0" eaLnBrk="0">
                        <a:lnSpc>
                          <a:spcPct val="91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b2</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2000"/>
                        </a:lnSpc>
                      </a:pPr>
                      <a:endParaRPr sz="200" dirty="0">
                        <a:latin typeface="Arial" panose="020B0604020202020204"/>
                        <a:ea typeface="Arial" panose="020B0604020202020204"/>
                        <a:cs typeface="Arial" panose="020B0604020202020204"/>
                      </a:endParaRPr>
                    </a:p>
                    <a:p>
                      <a:pPr marL="788670" algn="l" rtl="0" eaLnBrk="0">
                        <a:lnSpc>
                          <a:spcPct val="91000"/>
                        </a:lnSpc>
                        <a:spcBef>
                          <a:spcPts val="0"/>
                        </a:spcBef>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2000"/>
                        </a:lnSpc>
                      </a:pPr>
                      <a:endParaRPr sz="200" dirty="0">
                        <a:latin typeface="Arial" panose="020B0604020202020204"/>
                        <a:ea typeface="Arial" panose="020B0604020202020204"/>
                        <a:cs typeface="Arial" panose="020B0604020202020204"/>
                      </a:endParaRPr>
                    </a:p>
                    <a:p>
                      <a:pPr marL="788670" algn="l" rtl="0" eaLnBrk="0">
                        <a:lnSpc>
                          <a:spcPct val="91000"/>
                        </a:lnSpc>
                        <a:spcBef>
                          <a:spcPts val="0"/>
                        </a:spcBef>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175">
                <a:tc>
                  <a:txBody>
                    <a:bodyPr/>
                    <a:lstStyle/>
                    <a:p>
                      <a:pPr algn="l" rtl="0" eaLnBrk="0">
                        <a:lnSpc>
                          <a:spcPct val="140000"/>
                        </a:lnSpc>
                      </a:pPr>
                      <a:endParaRPr sz="200" dirty="0">
                        <a:latin typeface="Arial" panose="020B0604020202020204"/>
                        <a:ea typeface="Arial" panose="020B0604020202020204"/>
                        <a:cs typeface="Arial" panose="020B0604020202020204"/>
                      </a:endParaRPr>
                    </a:p>
                    <a:p>
                      <a:pPr marL="218440" algn="l" rtl="0" eaLnBrk="0">
                        <a:lnSpc>
                          <a:spcPct val="91000"/>
                        </a:lnSpc>
                        <a:spcBef>
                          <a:spcPts val="0"/>
                        </a:spcBef>
                      </a:pPr>
                      <a:r>
                        <a:rPr sz="1500" kern="0" spc="0" dirty="0">
                          <a:solidFill>
                            <a:srgbClr val="000000">
                              <a:alpha val="100000"/>
                            </a:srgbClr>
                          </a:solidFill>
                          <a:latin typeface="等线" panose="02010600030101010101" charset="-122"/>
                          <a:ea typeface="等线" panose="02010600030101010101" charset="-122"/>
                          <a:cs typeface="等线" panose="02010600030101010101" charset="-122"/>
                        </a:rPr>
                        <a:t>se</a:t>
                      </a:r>
                      <a:r>
                        <a:rPr sz="1500" kern="0" spc="30" dirty="0">
                          <a:solidFill>
                            <a:srgbClr val="000000">
                              <a:alpha val="100000"/>
                            </a:srgbClr>
                          </a:solidFill>
                          <a:latin typeface="等线" panose="02010600030101010101" charset="-122"/>
                          <a:ea typeface="等线" panose="02010600030101010101" charset="-122"/>
                          <a:cs typeface="等线" panose="02010600030101010101" charset="-122"/>
                        </a:rPr>
                        <a:t>(b2)</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0000"/>
                        </a:lnSpc>
                      </a:pPr>
                      <a:endParaRPr sz="200" dirty="0">
                        <a:latin typeface="Arial" panose="020B0604020202020204"/>
                        <a:ea typeface="Arial" panose="020B0604020202020204"/>
                        <a:cs typeface="Arial" panose="020B0604020202020204"/>
                      </a:endParaRPr>
                    </a:p>
                    <a:p>
                      <a:pPr marL="788670" algn="l" rtl="0" eaLnBrk="0">
                        <a:lnSpc>
                          <a:spcPct val="91000"/>
                        </a:lnSpc>
                        <a:spcBef>
                          <a:spcPts val="0"/>
                        </a:spcBef>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40000"/>
                        </a:lnSpc>
                      </a:pPr>
                      <a:endParaRPr sz="200" dirty="0">
                        <a:latin typeface="Arial" panose="020B0604020202020204"/>
                        <a:ea typeface="Arial" panose="020B0604020202020204"/>
                        <a:cs typeface="Arial" panose="020B0604020202020204"/>
                      </a:endParaRPr>
                    </a:p>
                    <a:p>
                      <a:pPr marL="788670" algn="l" rtl="0" eaLnBrk="0">
                        <a:lnSpc>
                          <a:spcPct val="91000"/>
                        </a:lnSpc>
                        <a:spcBef>
                          <a:spcPts val="0"/>
                        </a:spcBef>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809">
                <a:tc>
                  <a:txBody>
                    <a:bodyPr/>
                    <a:lstStyle/>
                    <a:p>
                      <a:pPr algn="l" rtl="0" eaLnBrk="0">
                        <a:lnSpc>
                          <a:spcPct val="135000"/>
                        </a:lnSpc>
                      </a:pPr>
                      <a:endParaRPr sz="200" dirty="0">
                        <a:latin typeface="Arial" panose="020B0604020202020204"/>
                        <a:ea typeface="Arial" panose="020B0604020202020204"/>
                        <a:cs typeface="Arial" panose="020B0604020202020204"/>
                      </a:endParaRPr>
                    </a:p>
                    <a:p>
                      <a:pPr marL="295910" algn="l" rtl="0" eaLnBrk="0">
                        <a:lnSpc>
                          <a:spcPct val="92000"/>
                        </a:lnSpc>
                      </a:pPr>
                      <a:r>
                        <a:rPr sz="1500" kern="0" spc="20" dirty="0">
                          <a:solidFill>
                            <a:srgbClr val="000000">
                              <a:alpha val="100000"/>
                            </a:srgbClr>
                          </a:solidFill>
                          <a:latin typeface="等线" panose="02010600030101010101" charset="-122"/>
                          <a:ea typeface="等线" panose="02010600030101010101" charset="-122"/>
                          <a:cs typeface="等线" panose="02010600030101010101" charset="-122"/>
                        </a:rPr>
                        <a:t>t_b2</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5000"/>
                        </a:lnSpc>
                      </a:pPr>
                      <a:endParaRPr sz="200" dirty="0">
                        <a:latin typeface="Arial" panose="020B0604020202020204"/>
                        <a:ea typeface="Arial" panose="020B0604020202020204"/>
                        <a:cs typeface="Arial" panose="020B0604020202020204"/>
                      </a:endParaRPr>
                    </a:p>
                    <a:p>
                      <a:pPr marL="788670" algn="l" rtl="0" eaLnBrk="0">
                        <a:lnSpc>
                          <a:spcPct val="92000"/>
                        </a:lnSpc>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5000"/>
                        </a:lnSpc>
                      </a:pPr>
                      <a:endParaRPr sz="200" dirty="0">
                        <a:latin typeface="Arial" panose="020B0604020202020204"/>
                        <a:ea typeface="Arial" panose="020B0604020202020204"/>
                        <a:cs typeface="Arial" panose="020B0604020202020204"/>
                      </a:endParaRPr>
                    </a:p>
                    <a:p>
                      <a:pPr marL="788670" algn="l" rtl="0" eaLnBrk="0">
                        <a:lnSpc>
                          <a:spcPct val="92000"/>
                        </a:lnSpc>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175">
                <a:tc>
                  <a:txBody>
                    <a:bodyPr/>
                    <a:lstStyle/>
                    <a:p>
                      <a:pPr algn="l" rtl="0" eaLnBrk="0">
                        <a:lnSpc>
                          <a:spcPct val="132000"/>
                        </a:lnSpc>
                      </a:pPr>
                      <a:endParaRPr sz="200" dirty="0">
                        <a:latin typeface="Arial" panose="020B0604020202020204"/>
                        <a:ea typeface="Arial" panose="020B0604020202020204"/>
                        <a:cs typeface="Arial" panose="020B0604020202020204"/>
                      </a:endParaRPr>
                    </a:p>
                    <a:p>
                      <a:pPr marL="382905" algn="l" rtl="0" eaLnBrk="0">
                        <a:lnSpc>
                          <a:spcPct val="92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b1</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2000"/>
                        </a:lnSpc>
                      </a:pPr>
                      <a:endParaRPr sz="200" dirty="0">
                        <a:latin typeface="Arial" panose="020B0604020202020204"/>
                        <a:ea typeface="Arial" panose="020B0604020202020204"/>
                        <a:cs typeface="Arial" panose="020B0604020202020204"/>
                      </a:endParaRPr>
                    </a:p>
                    <a:p>
                      <a:pPr marL="796925" algn="l" rtl="0" eaLnBrk="0">
                        <a:lnSpc>
                          <a:spcPct val="92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2000"/>
                        </a:lnSpc>
                      </a:pPr>
                      <a:endParaRPr sz="200" dirty="0">
                        <a:latin typeface="Arial" panose="020B0604020202020204"/>
                        <a:ea typeface="Arial" panose="020B0604020202020204"/>
                        <a:cs typeface="Arial" panose="020B0604020202020204"/>
                      </a:endParaRPr>
                    </a:p>
                    <a:p>
                      <a:pPr marL="797560" algn="l" rtl="0" eaLnBrk="0">
                        <a:lnSpc>
                          <a:spcPct val="92000"/>
                        </a:lnSpc>
                        <a:spcBef>
                          <a:spcPts val="0"/>
                        </a:spcBef>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809">
                <a:tc>
                  <a:txBody>
                    <a:bodyPr/>
                    <a:lstStyle/>
                    <a:p>
                      <a:pPr algn="l" rtl="0" eaLnBrk="0">
                        <a:lnSpc>
                          <a:spcPct val="135000"/>
                        </a:lnSpc>
                      </a:pPr>
                      <a:endParaRPr sz="200" dirty="0">
                        <a:latin typeface="Arial" panose="020B0604020202020204"/>
                        <a:ea typeface="Arial" panose="020B0604020202020204"/>
                        <a:cs typeface="Arial" panose="020B0604020202020204"/>
                      </a:endParaRPr>
                    </a:p>
                    <a:p>
                      <a:pPr marL="218440" algn="l" rtl="0" eaLnBrk="0">
                        <a:lnSpc>
                          <a:spcPct val="92000"/>
                        </a:lnSpc>
                      </a:pPr>
                      <a:r>
                        <a:rPr sz="1500" kern="0" spc="0" dirty="0">
                          <a:solidFill>
                            <a:srgbClr val="000000">
                              <a:alpha val="100000"/>
                            </a:srgbClr>
                          </a:solidFill>
                          <a:latin typeface="等线" panose="02010600030101010101" charset="-122"/>
                          <a:ea typeface="等线" panose="02010600030101010101" charset="-122"/>
                          <a:cs typeface="等线" panose="02010600030101010101" charset="-122"/>
                        </a:rPr>
                        <a:t>se</a:t>
                      </a:r>
                      <a:r>
                        <a:rPr sz="1500" kern="0" spc="30" dirty="0">
                          <a:solidFill>
                            <a:srgbClr val="000000">
                              <a:alpha val="100000"/>
                            </a:srgbClr>
                          </a:solidFill>
                          <a:latin typeface="等线" panose="02010600030101010101" charset="-122"/>
                          <a:ea typeface="等线" panose="02010600030101010101" charset="-122"/>
                          <a:cs typeface="等线" panose="02010600030101010101" charset="-122"/>
                        </a:rPr>
                        <a:t>(b1)</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5000"/>
                        </a:lnSpc>
                      </a:pPr>
                      <a:endParaRPr sz="200" dirty="0">
                        <a:latin typeface="Arial" panose="020B0604020202020204"/>
                        <a:ea typeface="Arial" panose="020B0604020202020204"/>
                        <a:cs typeface="Arial" panose="020B0604020202020204"/>
                      </a:endParaRPr>
                    </a:p>
                    <a:p>
                      <a:pPr marL="796925" algn="l" rtl="0" eaLnBrk="0">
                        <a:lnSpc>
                          <a:spcPct val="92000"/>
                        </a:lnSpc>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变小</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5000"/>
                        </a:lnSpc>
                      </a:pPr>
                      <a:endParaRPr sz="200" dirty="0">
                        <a:latin typeface="Arial" panose="020B0604020202020204"/>
                        <a:ea typeface="Arial" panose="020B0604020202020204"/>
                        <a:cs typeface="Arial" panose="020B0604020202020204"/>
                      </a:endParaRPr>
                    </a:p>
                    <a:p>
                      <a:pPr marL="797560" algn="l" rtl="0" eaLnBrk="0">
                        <a:lnSpc>
                          <a:spcPct val="92000"/>
                        </a:lnSpc>
                      </a:pPr>
                      <a:r>
                        <a:rPr sz="1500" kern="0" spc="10" dirty="0">
                          <a:solidFill>
                            <a:srgbClr val="000000">
                              <a:alpha val="100000"/>
                            </a:srgbClr>
                          </a:solidFill>
                          <a:latin typeface="等线" panose="02010600030101010101" charset="-122"/>
                          <a:ea typeface="等线" panose="02010600030101010101" charset="-122"/>
                          <a:cs typeface="等线" panose="02010600030101010101" charset="-122"/>
                        </a:rPr>
                        <a:t>变大</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57175">
                <a:tc>
                  <a:txBody>
                    <a:bodyPr/>
                    <a:lstStyle/>
                    <a:p>
                      <a:pPr algn="l" rtl="0" eaLnBrk="0">
                        <a:lnSpc>
                          <a:spcPct val="132000"/>
                        </a:lnSpc>
                      </a:pPr>
                      <a:endParaRPr sz="200" dirty="0">
                        <a:latin typeface="Arial" panose="020B0604020202020204"/>
                        <a:ea typeface="Arial" panose="020B0604020202020204"/>
                        <a:cs typeface="Arial" panose="020B0604020202020204"/>
                      </a:endParaRPr>
                    </a:p>
                    <a:p>
                      <a:pPr marL="295910" algn="l" rtl="0" eaLnBrk="0">
                        <a:lnSpc>
                          <a:spcPct val="92000"/>
                        </a:lnSpc>
                        <a:spcBef>
                          <a:spcPts val="0"/>
                        </a:spcBef>
                      </a:pPr>
                      <a:r>
                        <a:rPr sz="1500" kern="0" spc="20" dirty="0">
                          <a:solidFill>
                            <a:srgbClr val="000000">
                              <a:alpha val="100000"/>
                            </a:srgbClr>
                          </a:solidFill>
                          <a:latin typeface="等线" panose="02010600030101010101" charset="-122"/>
                          <a:ea typeface="等线" panose="02010600030101010101" charset="-122"/>
                          <a:cs typeface="等线" panose="02010600030101010101" charset="-122"/>
                        </a:rPr>
                        <a:t>t_b1</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2000"/>
                        </a:lnSpc>
                      </a:pPr>
                      <a:endParaRPr sz="200" dirty="0">
                        <a:latin typeface="Arial" panose="020B0604020202020204"/>
                        <a:ea typeface="Arial" panose="020B0604020202020204"/>
                        <a:cs typeface="Arial" panose="020B0604020202020204"/>
                      </a:endParaRPr>
                    </a:p>
                    <a:p>
                      <a:pPr marL="788670" algn="l" rtl="0" eaLnBrk="0">
                        <a:lnSpc>
                          <a:spcPct val="92000"/>
                        </a:lnSpc>
                        <a:spcBef>
                          <a:spcPts val="0"/>
                        </a:spcBef>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2000"/>
                        </a:lnSpc>
                      </a:pPr>
                      <a:endParaRPr sz="200" dirty="0">
                        <a:latin typeface="Arial" panose="020B0604020202020204"/>
                        <a:ea typeface="Arial" panose="020B0604020202020204"/>
                        <a:cs typeface="Arial" panose="020B0604020202020204"/>
                      </a:endParaRPr>
                    </a:p>
                    <a:p>
                      <a:pPr marL="788670" algn="l" rtl="0" eaLnBrk="0">
                        <a:lnSpc>
                          <a:spcPct val="92000"/>
                        </a:lnSpc>
                        <a:spcBef>
                          <a:spcPts val="0"/>
                        </a:spcBef>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r h="260350">
                <a:tc>
                  <a:txBody>
                    <a:bodyPr/>
                    <a:lstStyle/>
                    <a:p>
                      <a:pPr algn="l" rtl="0" eaLnBrk="0">
                        <a:lnSpc>
                          <a:spcPct val="116000"/>
                        </a:lnSpc>
                      </a:pPr>
                      <a:endParaRPr sz="400" dirty="0">
                        <a:latin typeface="Arial" panose="020B0604020202020204"/>
                        <a:ea typeface="Arial" panose="020B0604020202020204"/>
                        <a:cs typeface="Arial" panose="020B0604020202020204"/>
                      </a:endParaRPr>
                    </a:p>
                    <a:p>
                      <a:pPr marL="385445" algn="l" rtl="0" eaLnBrk="0">
                        <a:lnSpc>
                          <a:spcPct val="70000"/>
                        </a:lnSpc>
                        <a:spcBef>
                          <a:spcPts val="0"/>
                        </a:spcBef>
                      </a:pPr>
                      <a:r>
                        <a:rPr sz="1500" kern="0" spc="-20" dirty="0">
                          <a:solidFill>
                            <a:srgbClr val="000000">
                              <a:alpha val="100000"/>
                            </a:srgbClr>
                          </a:solidFill>
                          <a:latin typeface="等线" panose="02010600030101010101" charset="-122"/>
                          <a:ea typeface="等线" panose="02010600030101010101" charset="-122"/>
                          <a:cs typeface="等线" panose="02010600030101010101" charset="-122"/>
                        </a:rPr>
                        <a:t>R2</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6000"/>
                        </a:lnSpc>
                      </a:pPr>
                      <a:endParaRPr sz="200" dirty="0">
                        <a:latin typeface="Arial" panose="020B0604020202020204"/>
                        <a:ea typeface="Arial" panose="020B0604020202020204"/>
                        <a:cs typeface="Arial" panose="020B0604020202020204"/>
                      </a:endParaRPr>
                    </a:p>
                    <a:p>
                      <a:pPr marL="788670" algn="l" rtl="0" eaLnBrk="0">
                        <a:lnSpc>
                          <a:spcPct val="92000"/>
                        </a:lnSpc>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rtl="0" eaLnBrk="0">
                        <a:lnSpc>
                          <a:spcPct val="136000"/>
                        </a:lnSpc>
                      </a:pPr>
                      <a:endParaRPr sz="200" dirty="0">
                        <a:latin typeface="Arial" panose="020B0604020202020204"/>
                        <a:ea typeface="Arial" panose="020B0604020202020204"/>
                        <a:cs typeface="Arial" panose="020B0604020202020204"/>
                      </a:endParaRPr>
                    </a:p>
                    <a:p>
                      <a:pPr marL="788670" algn="l" rtl="0" eaLnBrk="0">
                        <a:lnSpc>
                          <a:spcPct val="92000"/>
                        </a:lnSpc>
                      </a:pPr>
                      <a:r>
                        <a:rPr sz="1500" kern="0" spc="40" dirty="0">
                          <a:solidFill>
                            <a:srgbClr val="000000">
                              <a:alpha val="100000"/>
                            </a:srgbClr>
                          </a:solidFill>
                          <a:latin typeface="等线" panose="02010600030101010101" charset="-122"/>
                          <a:ea typeface="等线" panose="02010600030101010101" charset="-122"/>
                          <a:cs typeface="等线" panose="02010600030101010101" charset="-122"/>
                        </a:rPr>
                        <a:t>不变</a:t>
                      </a:r>
                      <a:endParaRPr sz="1500" dirty="0">
                        <a:latin typeface="等线" panose="02010600030101010101" charset="-122"/>
                        <a:ea typeface="等线" panose="02010600030101010101" charset="-122"/>
                        <a:cs typeface="等线" panose="0201060003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0" name="table 320"/>
          <p:cNvGraphicFramePr>
            <a:graphicFrameLocks noGrp="1"/>
          </p:cNvGraphicFramePr>
          <p:nvPr/>
        </p:nvGraphicFramePr>
        <p:xfrm>
          <a:off x="60832" y="66928"/>
          <a:ext cx="9018905" cy="6699248"/>
        </p:xfrm>
        <a:graphic>
          <a:graphicData uri="http://schemas.openxmlformats.org/drawingml/2006/table">
            <a:tbl>
              <a:tblPr/>
              <a:tblGrid>
                <a:gridCol w="9018905"/>
              </a:tblGrid>
              <a:tr h="5658484">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968375" algn="l" rtl="0" eaLnBrk="0">
                        <a:lnSpc>
                          <a:spcPct val="84000"/>
                        </a:lnSpc>
                        <a:spcBef>
                          <a:spcPts val="5"/>
                        </a:spcBef>
                      </a:pPr>
                      <a:r>
                        <a:rPr sz="22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3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b="1" kern="0" spc="-50" dirty="0">
                          <a:solidFill>
                            <a:srgbClr val="000000">
                              <a:alpha val="100000"/>
                            </a:srgbClr>
                          </a:solidFill>
                          <a:latin typeface="楷体" panose="02010609060101010101" charset="-122"/>
                          <a:ea typeface="楷体" panose="02010609060101010101" charset="-122"/>
                          <a:cs typeface="楷体" panose="02010609060101010101" charset="-122"/>
                        </a:rPr>
                        <a:t>（二）函数形式的选择</a:t>
                      </a:r>
                      <a:endParaRPr sz="2600" dirty="0">
                        <a:latin typeface="楷体" panose="02010609060101010101" charset="-122"/>
                        <a:ea typeface="楷体" panose="02010609060101010101" charset="-122"/>
                        <a:cs typeface="楷体" panose="02010609060101010101" charset="-122"/>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所有计量分析</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的起点都是经济理论：</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1234440" indent="-269240" algn="l" rtl="0" eaLnBrk="0">
                        <a:lnSpc>
                          <a:spcPct val="127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给</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定其他条件不变，经济学家真正阐述的食品支出与收</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入的关系是什么？</a:t>
                      </a:r>
                      <a:endParaRPr sz="2100" dirty="0">
                        <a:latin typeface="楷体" panose="02010609060101010101" charset="-122"/>
                        <a:ea typeface="楷体" panose="02010609060101010101" charset="-122"/>
                        <a:cs typeface="楷体" panose="02010609060101010101" charset="-122"/>
                      </a:endParaRPr>
                    </a:p>
                    <a:p>
                      <a:pPr algn="l" rtl="0" eaLnBrk="0">
                        <a:lnSpc>
                          <a:spcPct val="125000"/>
                        </a:lnSpc>
                      </a:pPr>
                      <a:endParaRPr sz="1000" dirty="0">
                        <a:latin typeface="Arial" panose="020B0604020202020204"/>
                        <a:ea typeface="Arial" panose="020B0604020202020204"/>
                        <a:cs typeface="Arial" panose="020B0604020202020204"/>
                      </a:endParaRPr>
                    </a:p>
                    <a:p>
                      <a:pPr marL="1242060" indent="-276860" algn="l" rtl="0" eaLnBrk="0">
                        <a:lnSpc>
                          <a:spcPct val="127000"/>
                        </a:lnSpc>
                        <a:spcBef>
                          <a:spcPts val="64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我们预</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期这些变量间存在正相关关系，因为食品是正常</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商品；</a:t>
                      </a:r>
                      <a:endParaRPr sz="2100" dirty="0">
                        <a:latin typeface="楷体" panose="02010609060101010101" charset="-122"/>
                        <a:ea typeface="楷体" panose="02010609060101010101" charset="-122"/>
                        <a:cs typeface="楷体" panose="02010609060101010101" charset="-122"/>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但这一关系没有必要一定是线性的。</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40764">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4" name="table 324"/>
          <p:cNvGraphicFramePr>
            <a:graphicFrameLocks noGrp="1"/>
          </p:cNvGraphicFramePr>
          <p:nvPr/>
        </p:nvGraphicFramePr>
        <p:xfrm>
          <a:off x="60832" y="66928"/>
          <a:ext cx="9018905" cy="6699249"/>
        </p:xfrm>
        <a:graphic>
          <a:graphicData uri="http://schemas.openxmlformats.org/drawingml/2006/table">
            <a:tbl>
              <a:tblPr/>
              <a:tblGrid>
                <a:gridCol w="1143000"/>
                <a:gridCol w="7875905"/>
              </a:tblGrid>
              <a:tr h="1735454">
                <a:tc gridSpan="2">
                  <a:txBody>
                    <a:bodyPr/>
                    <a:lstStyle/>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marL="878205" algn="l" rtl="0" eaLnBrk="0">
                        <a:lnSpc>
                          <a:spcPct val="87000"/>
                        </a:lnSpc>
                        <a:spcBef>
                          <a:spcPts val="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10" dirty="0">
                          <a:solidFill>
                            <a:srgbClr val="000000">
                              <a:alpha val="100000"/>
                            </a:srgbClr>
                          </a:solidFill>
                          <a:latin typeface="楷体" panose="02010609060101010101" charset="-122"/>
                          <a:ea typeface="楷体" panose="02010609060101010101" charset="-122"/>
                          <a:cs typeface="楷体" panose="02010609060101010101" charset="-122"/>
                        </a:rPr>
                        <a:t>变量非线性模型</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878205" algn="l" rtl="0" eaLnBrk="0">
                        <a:lnSpc>
                          <a:spcPct val="87000"/>
                        </a:lnSpc>
                        <a:spcBef>
                          <a:spcPts val="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解释变量变动的</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边际效应</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由曲线上某一点的斜率来衡量</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4963795">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272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326" name="table 326"/>
          <p:cNvGraphicFramePr>
            <a:graphicFrameLocks noGrp="1"/>
          </p:cNvGraphicFramePr>
          <p:nvPr/>
        </p:nvGraphicFramePr>
        <p:xfrm>
          <a:off x="1804161" y="2127250"/>
          <a:ext cx="5819140" cy="3879850"/>
        </p:xfrm>
        <a:graphic>
          <a:graphicData uri="http://schemas.openxmlformats.org/drawingml/2006/table">
            <a:tbl>
              <a:tblPr/>
              <a:tblGrid>
                <a:gridCol w="5819140"/>
              </a:tblGrid>
              <a:tr h="38798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328" name="picture 328"/>
          <p:cNvPicPr>
            <a:picLocks noChangeAspect="1"/>
          </p:cNvPicPr>
          <p:nvPr/>
        </p:nvPicPr>
        <p:blipFill>
          <a:blip r:embed="rId1"/>
          <a:stretch>
            <a:fillRect/>
          </a:stretch>
        </p:blipFill>
        <p:spPr>
          <a:xfrm rot="21600000">
            <a:off x="1810511" y="2133600"/>
            <a:ext cx="5803900" cy="38735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2" name="table 332"/>
          <p:cNvGraphicFramePr>
            <a:graphicFrameLocks noGrp="1"/>
          </p:cNvGraphicFramePr>
          <p:nvPr/>
        </p:nvGraphicFramePr>
        <p:xfrm>
          <a:off x="60832" y="66928"/>
          <a:ext cx="9018905" cy="6699250"/>
        </p:xfrm>
        <a:graphic>
          <a:graphicData uri="http://schemas.openxmlformats.org/drawingml/2006/table">
            <a:tbl>
              <a:tblPr/>
              <a:tblGrid>
                <a:gridCol w="638175"/>
                <a:gridCol w="8380730"/>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342265" algn="l" rtl="0" eaLnBrk="0">
                        <a:lnSpc>
                          <a:spcPct val="85000"/>
                        </a:lnSpc>
                        <a:spcBef>
                          <a:spcPts val="0"/>
                        </a:spcBef>
                      </a:pPr>
                      <a:r>
                        <a:rPr sz="2400" b="1" kern="0" spc="-70" dirty="0">
                          <a:solidFill>
                            <a:srgbClr val="000000">
                              <a:alpha val="100000"/>
                            </a:srgbClr>
                          </a:solidFill>
                          <a:latin typeface="楷体" panose="02010609060101010101" charset="-122"/>
                          <a:ea typeface="楷体" panose="02010609060101010101" charset="-122"/>
                          <a:cs typeface="楷体" panose="02010609060101010101" charset="-122"/>
                        </a:rPr>
                        <a:t>线性转换</a:t>
                      </a:r>
                      <a:endParaRPr sz="2400" dirty="0">
                        <a:latin typeface="楷体" panose="02010609060101010101" charset="-122"/>
                        <a:ea typeface="楷体" panose="02010609060101010101" charset="-122"/>
                        <a:cs typeface="楷体" panose="02010609060101010101" charset="-122"/>
                      </a:endParaRPr>
                    </a:p>
                    <a:p>
                      <a:pPr algn="l" rtl="0" eaLnBrk="0">
                        <a:lnSpc>
                          <a:spcPct val="159000"/>
                        </a:lnSpc>
                      </a:pPr>
                      <a:endParaRPr sz="1000" dirty="0">
                        <a:latin typeface="Arial" panose="020B0604020202020204"/>
                        <a:ea typeface="Arial" panose="020B0604020202020204"/>
                        <a:cs typeface="Arial" panose="020B0604020202020204"/>
                      </a:endParaRPr>
                    </a:p>
                    <a:p>
                      <a:pPr marL="361950" indent="-266065" algn="l" rtl="0" eaLnBrk="0">
                        <a:lnSpc>
                          <a:spcPct val="122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通过对变量</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进行线性转</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换，</a:t>
                      </a:r>
                      <a:r>
                        <a:rPr sz="2100" kern="0" spc="-30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我们可以用线性回归模型表示</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许多曲线的、非线性关系。</a:t>
                      </a:r>
                      <a:endParaRPr sz="2100" dirty="0">
                        <a:latin typeface="楷体" panose="02010609060101010101" charset="-122"/>
                        <a:ea typeface="楷体" panose="02010609060101010101" charset="-122"/>
                        <a:cs typeface="楷体" panose="0201060906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363220" indent="-267335" algn="l" rtl="0" eaLnBrk="0">
                        <a:lnSpc>
                          <a:spcPct val="123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为变量间的关系选择一个函数形式，意味着选择原始变量的转</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换形式</a:t>
                      </a:r>
                      <a:endParaRPr sz="2100" dirty="0">
                        <a:latin typeface="楷体" panose="02010609060101010101" charset="-122"/>
                        <a:ea typeface="楷体" panose="02010609060101010101" charset="-122"/>
                        <a:cs typeface="楷体" panose="02010609060101010101" charset="-122"/>
                      </a:endParaRPr>
                    </a:p>
                    <a:p>
                      <a:pPr marL="95885" algn="l" rtl="0" eaLnBrk="0">
                        <a:lnSpc>
                          <a:spcPct val="87000"/>
                        </a:lnSpc>
                        <a:spcBef>
                          <a:spcPts val="181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最常用的转换是：</a:t>
                      </a:r>
                      <a:endParaRPr sz="2100" dirty="0">
                        <a:latin typeface="楷体" panose="02010609060101010101" charset="-122"/>
                        <a:ea typeface="楷体" panose="02010609060101010101" charset="-122"/>
                        <a:cs typeface="楷体" panose="02010609060101010101" charset="-122"/>
                      </a:endParaRPr>
                    </a:p>
                    <a:p>
                      <a:pPr algn="l" rtl="0" eaLnBrk="0">
                        <a:lnSpc>
                          <a:spcPct val="134000"/>
                        </a:lnSpc>
                      </a:pPr>
                      <a:endParaRPr sz="1000" dirty="0">
                        <a:latin typeface="Arial" panose="020B0604020202020204"/>
                        <a:ea typeface="Arial" panose="020B0604020202020204"/>
                        <a:cs typeface="Arial" panose="020B0604020202020204"/>
                      </a:endParaRPr>
                    </a:p>
                    <a:p>
                      <a:pPr marL="95885" algn="l" rtl="0" eaLnBrk="0">
                        <a:lnSpc>
                          <a:spcPct val="84000"/>
                        </a:lnSpc>
                        <a:spcBef>
                          <a:spcPts val="73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乘方：如果</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是一个变量，</a:t>
                      </a:r>
                      <a:r>
                        <a:rPr sz="2100" kern="0" spc="-260" dirty="0">
                          <a:solidFill>
                            <a:srgbClr val="000000">
                              <a:alpha val="100000"/>
                            </a:srgbClr>
                          </a:solidFill>
                          <a:latin typeface="楷体" panose="02010609060101010101" charset="-122"/>
                          <a:ea typeface="楷体" panose="02010609060101010101" charset="-122"/>
                          <a:cs typeface="楷体" panose="02010609060101010101" charset="-122"/>
                        </a:rPr>
                        <a:t> </a:t>
                      </a: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1500" i="1" kern="0" spc="0" dirty="0">
                          <a:solidFill>
                            <a:srgbClr val="000000">
                              <a:alpha val="100000"/>
                            </a:srgbClr>
                          </a:solidFill>
                          <a:latin typeface="Times New Roman" panose="02020603050405020304"/>
                          <a:ea typeface="Times New Roman" panose="02020603050405020304"/>
                          <a:cs typeface="Times New Roman" panose="02020603050405020304"/>
                        </a:rPr>
                        <a:t>p</a:t>
                      </a:r>
                      <a:r>
                        <a:rPr sz="1500" i="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意味着将</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扩大</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p</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倍；</a:t>
                      </a:r>
                      <a:endParaRPr sz="2100" dirty="0">
                        <a:latin typeface="楷体" panose="02010609060101010101" charset="-122"/>
                        <a:ea typeface="楷体" panose="02010609060101010101" charset="-122"/>
                        <a:cs typeface="楷体" panose="02010609060101010101" charset="-122"/>
                      </a:endParaRPr>
                    </a:p>
                    <a:p>
                      <a:pPr algn="l" rtl="0" eaLnBrk="0">
                        <a:lnSpc>
                          <a:spcPct val="124000"/>
                        </a:lnSpc>
                      </a:pPr>
                      <a:endParaRPr sz="1000" dirty="0">
                        <a:latin typeface="Arial" panose="020B0604020202020204"/>
                        <a:ea typeface="Arial" panose="020B0604020202020204"/>
                        <a:cs typeface="Arial" panose="020B0604020202020204"/>
                      </a:endParaRPr>
                    </a:p>
                    <a:p>
                      <a:pPr marL="95885" algn="l" rtl="0" eaLnBrk="0">
                        <a:lnSpc>
                          <a:spcPct val="84000"/>
                        </a:lnSpc>
                        <a:spcBef>
                          <a:spcPts val="725"/>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平方</a:t>
                      </a:r>
                      <a:r>
                        <a:rPr sz="2100" kern="0" spc="-39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30" baseline="7000" dirty="0">
                          <a:solidFill>
                            <a:srgbClr val="000000">
                              <a:alpha val="100000"/>
                            </a:srgbClr>
                          </a:solidFill>
                          <a:latin typeface="Times New Roman" panose="02020603050405020304"/>
                          <a:ea typeface="Times New Roman" panose="02020603050405020304"/>
                          <a:cs typeface="Times New Roman" panose="02020603050405020304"/>
                        </a:rPr>
                        <a:t>2</a:t>
                      </a:r>
                      <a:r>
                        <a:rPr sz="3300" kern="0" spc="-30" baseline="5000" dirty="0">
                          <a:solidFill>
                            <a:srgbClr val="000000">
                              <a:alpha val="100000"/>
                            </a:srgbClr>
                          </a:solidFill>
                          <a:latin typeface="Times New Roman" panose="02020603050405020304"/>
                          <a:ea typeface="Times New Roman" panose="02020603050405020304"/>
                          <a:cs typeface="Times New Roman" panose="02020603050405020304"/>
                        </a:rPr>
                        <a:t>)</a:t>
                      </a:r>
                      <a:endParaRPr sz="3300" baseline="5000" dirty="0">
                        <a:latin typeface="Times New Roman" panose="02020603050405020304"/>
                        <a:ea typeface="Times New Roman" panose="02020603050405020304"/>
                        <a:cs typeface="Times New Roman" panose="02020603050405020304"/>
                      </a:endParaRPr>
                    </a:p>
                    <a:p>
                      <a:pPr algn="l" rtl="0" eaLnBrk="0">
                        <a:lnSpc>
                          <a:spcPct val="124000"/>
                        </a:lnSpc>
                      </a:pPr>
                      <a:endParaRPr sz="1000" dirty="0">
                        <a:latin typeface="Arial" panose="020B0604020202020204"/>
                        <a:ea typeface="Arial" panose="020B0604020202020204"/>
                        <a:cs typeface="Arial" panose="020B0604020202020204"/>
                      </a:endParaRPr>
                    </a:p>
                    <a:p>
                      <a:pPr marL="95885" algn="l" rtl="0" eaLnBrk="0">
                        <a:lnSpc>
                          <a:spcPct val="84000"/>
                        </a:lnSpc>
                        <a:spcBef>
                          <a:spcPts val="725"/>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立方</a:t>
                      </a:r>
                      <a:r>
                        <a:rPr sz="2100" kern="0" spc="-38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20" baseline="7000" dirty="0">
                          <a:solidFill>
                            <a:srgbClr val="000000">
                              <a:alpha val="100000"/>
                            </a:srgbClr>
                          </a:solidFill>
                          <a:latin typeface="Times New Roman" panose="02020603050405020304"/>
                          <a:ea typeface="Times New Roman" panose="02020603050405020304"/>
                          <a:cs typeface="Times New Roman" panose="02020603050405020304"/>
                        </a:rPr>
                        <a:t>3</a:t>
                      </a:r>
                      <a:r>
                        <a:rPr sz="3300" kern="0" spc="-20" baseline="5000" dirty="0">
                          <a:solidFill>
                            <a:srgbClr val="000000">
                              <a:alpha val="100000"/>
                            </a:srgbClr>
                          </a:solidFill>
                          <a:latin typeface="Times New Roman" panose="02020603050405020304"/>
                          <a:ea typeface="Times New Roman" panose="02020603050405020304"/>
                          <a:cs typeface="Times New Roman" panose="02020603050405020304"/>
                        </a:rPr>
                        <a:t>)</a:t>
                      </a:r>
                      <a:endParaRPr sz="3300" baseline="5000" dirty="0">
                        <a:latin typeface="Times New Roman" panose="02020603050405020304"/>
                        <a:ea typeface="Times New Roman" panose="02020603050405020304"/>
                        <a:cs typeface="Times New Roman" panose="020206030504050203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5885" algn="l" rtl="0" eaLnBrk="0">
                        <a:lnSpc>
                          <a:spcPct val="94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自然对数</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如果</a:t>
                      </a:r>
                      <a:r>
                        <a:rPr sz="2100" kern="0" spc="-4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x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是一个变量</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，其自然对数为</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6" name="table 336"/>
          <p:cNvGraphicFramePr>
            <a:graphicFrameLocks noGrp="1"/>
          </p:cNvGraphicFramePr>
          <p:nvPr/>
        </p:nvGraphicFramePr>
        <p:xfrm>
          <a:off x="60832" y="66928"/>
          <a:ext cx="9018905" cy="6699250"/>
        </p:xfrm>
        <a:graphic>
          <a:graphicData uri="http://schemas.openxmlformats.org/drawingml/2006/table">
            <a:tbl>
              <a:tblPr/>
              <a:tblGrid>
                <a:gridCol w="1104900"/>
                <a:gridCol w="7914005"/>
              </a:tblGrid>
              <a:tr h="1003935">
                <a:tc gridSpan="2">
                  <a:txBody>
                    <a:bodyPr/>
                    <a:lstStyle/>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51865" algn="l" rtl="0" eaLnBrk="0">
                        <a:lnSpc>
                          <a:spcPct val="83000"/>
                        </a:lnSpc>
                      </a:pPr>
                      <a:r>
                        <a:rPr sz="20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6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70" dirty="0">
                          <a:solidFill>
                            <a:srgbClr val="000000">
                              <a:alpha val="100000"/>
                            </a:srgbClr>
                          </a:solidFill>
                          <a:latin typeface="楷体" panose="02010609060101010101" charset="-122"/>
                          <a:ea typeface="楷体" panose="02010609060101010101" charset="-122"/>
                          <a:cs typeface="楷体" panose="02010609060101010101" charset="-122"/>
                        </a:rPr>
                        <a:t>不同的函数形式</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695315">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272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338" name="table 338"/>
          <p:cNvGraphicFramePr>
            <a:graphicFrameLocks noGrp="1"/>
          </p:cNvGraphicFramePr>
          <p:nvPr/>
        </p:nvGraphicFramePr>
        <p:xfrm>
          <a:off x="1727961" y="1334770"/>
          <a:ext cx="5687694" cy="5276215"/>
        </p:xfrm>
        <a:graphic>
          <a:graphicData uri="http://schemas.openxmlformats.org/drawingml/2006/table">
            <a:tbl>
              <a:tblPr/>
              <a:tblGrid>
                <a:gridCol w="5687694"/>
              </a:tblGrid>
              <a:tr h="5276215">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340" name="picture 340"/>
          <p:cNvPicPr>
            <a:picLocks noChangeAspect="1"/>
          </p:cNvPicPr>
          <p:nvPr/>
        </p:nvPicPr>
        <p:blipFill>
          <a:blip r:embed="rId1"/>
          <a:stretch>
            <a:fillRect/>
          </a:stretch>
        </p:blipFill>
        <p:spPr>
          <a:xfrm rot="21600000">
            <a:off x="1734311" y="1341120"/>
            <a:ext cx="5675375" cy="5269991"/>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4" name="table 344"/>
          <p:cNvGraphicFramePr>
            <a:graphicFrameLocks noGrp="1"/>
          </p:cNvGraphicFramePr>
          <p:nvPr/>
        </p:nvGraphicFramePr>
        <p:xfrm>
          <a:off x="60832" y="66928"/>
          <a:ext cx="9018905" cy="6699248"/>
        </p:xfrm>
        <a:graphic>
          <a:graphicData uri="http://schemas.openxmlformats.org/drawingml/2006/table">
            <a:tbl>
              <a:tblPr/>
              <a:tblGrid>
                <a:gridCol w="9018905"/>
              </a:tblGrid>
              <a:tr h="5539104">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966470" algn="l" rtl="0" eaLnBrk="0">
                        <a:lnSpc>
                          <a:spcPct val="85000"/>
                        </a:lnSpc>
                      </a:pPr>
                      <a:r>
                        <a:rPr sz="20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50" dirty="0">
                          <a:solidFill>
                            <a:srgbClr val="000000">
                              <a:alpha val="100000"/>
                            </a:srgbClr>
                          </a:solidFill>
                          <a:latin typeface="楷体" panose="02010609060101010101" charset="-122"/>
                          <a:ea typeface="楷体" panose="02010609060101010101" charset="-122"/>
                          <a:cs typeface="楷体" panose="02010609060101010101" charset="-122"/>
                        </a:rPr>
                        <a:t>总结三种可能的构</a:t>
                      </a:r>
                      <a:r>
                        <a:rPr sz="2400" kern="0" spc="-160" dirty="0">
                          <a:solidFill>
                            <a:srgbClr val="000000">
                              <a:alpha val="100000"/>
                            </a:srgbClr>
                          </a:solidFill>
                          <a:latin typeface="楷体" panose="02010609060101010101" charset="-122"/>
                          <a:ea typeface="楷体" panose="02010609060101010101" charset="-122"/>
                          <a:cs typeface="楷体" panose="02010609060101010101" charset="-122"/>
                        </a:rPr>
                        <a:t>造：</a:t>
                      </a:r>
                      <a:endParaRPr sz="24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1297305" indent="-330835" algn="l" rtl="0" eaLnBrk="0">
                        <a:lnSpc>
                          <a:spcPct val="121000"/>
                        </a:lnSpc>
                        <a:spcBef>
                          <a:spcPts val="725"/>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在双对数模型中，解释</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变量和被解释变量都实施</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自然对数转换：参数</a:t>
                      </a:r>
                      <a:r>
                        <a:rPr sz="2400" kern="0" spc="-46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β2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是</a:t>
                      </a:r>
                      <a:r>
                        <a:rPr sz="2400" kern="0" spc="-59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y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对</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的弹性。</a:t>
                      </a:r>
                      <a:endParaRPr sz="2400" dirty="0">
                        <a:latin typeface="楷体" panose="02010609060101010101" charset="-122"/>
                        <a:ea typeface="楷体" panose="02010609060101010101" charset="-122"/>
                        <a:cs typeface="楷体" panose="02010609060101010101" charset="-122"/>
                      </a:endParaRPr>
                    </a:p>
                    <a:p>
                      <a:pPr algn="l" rtl="0" eaLnBrk="0">
                        <a:lnSpc>
                          <a:spcPct val="132000"/>
                        </a:lnSpc>
                      </a:pPr>
                      <a:endParaRPr sz="1000" dirty="0">
                        <a:latin typeface="Arial" panose="020B0604020202020204"/>
                        <a:ea typeface="Arial" panose="020B0604020202020204"/>
                        <a:cs typeface="Arial" panose="020B0604020202020204"/>
                      </a:endParaRPr>
                    </a:p>
                    <a:p>
                      <a:pPr marL="1228090" indent="-261620" algn="l" rtl="0" eaLnBrk="0">
                        <a:lnSpc>
                          <a:spcPct val="122000"/>
                        </a:lnSpc>
                        <a:spcBef>
                          <a:spcPts val="725"/>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在对数-线性模型中，只有</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被解释变量转换为自然</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对数形式。</a:t>
                      </a:r>
                      <a:endParaRPr sz="2400" dirty="0">
                        <a:latin typeface="楷体" panose="02010609060101010101" charset="-122"/>
                        <a:ea typeface="楷体" panose="02010609060101010101" charset="-122"/>
                        <a:cs typeface="楷体" panose="02010609060101010101" charset="-122"/>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1228090" indent="-261620" algn="l" rtl="0" eaLnBrk="0">
                        <a:lnSpc>
                          <a:spcPct val="122000"/>
                        </a:lnSpc>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在线性-对数模型中，只有解</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释变量</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转换为自然</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70" dirty="0">
                          <a:solidFill>
                            <a:srgbClr val="000000">
                              <a:alpha val="100000"/>
                            </a:srgbClr>
                          </a:solidFill>
                          <a:latin typeface="楷体" panose="02010609060101010101" charset="-122"/>
                          <a:ea typeface="楷体" panose="02010609060101010101" charset="-122"/>
                          <a:cs typeface="楷体" panose="02010609060101010101" charset="-122"/>
                        </a:rPr>
                        <a:t>对数形式。</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160144">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1272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4" name="table 354"/>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38</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marL="214630" algn="l" rtl="0" eaLnBrk="0">
                        <a:lnSpc>
                          <a:spcPct val="86000"/>
                        </a:lnSpc>
                        <a:spcBef>
                          <a:spcPts val="0"/>
                        </a:spcBef>
                      </a:pPr>
                      <a:r>
                        <a:rPr sz="22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6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b="1" kern="0" spc="-70" dirty="0">
                          <a:solidFill>
                            <a:srgbClr val="000000">
                              <a:alpha val="100000"/>
                            </a:srgbClr>
                          </a:solidFill>
                          <a:latin typeface="楷体" panose="02010609060101010101" charset="-122"/>
                          <a:ea typeface="楷体" panose="02010609060101010101" charset="-122"/>
                          <a:cs typeface="楷体" panose="02010609060101010101" charset="-122"/>
                        </a:rPr>
                        <a:t>线性-对数模型的例子</a:t>
                      </a:r>
                      <a:endParaRPr sz="2600" dirty="0">
                        <a:latin typeface="楷体" panose="02010609060101010101" charset="-122"/>
                        <a:ea typeface="楷体" panose="02010609060101010101" charset="-122"/>
                        <a:cs typeface="楷体" panose="02010609060101010101" charset="-122"/>
                      </a:endParaRPr>
                    </a:p>
                    <a:p>
                      <a:pPr algn="l" rtl="0" eaLnBrk="0">
                        <a:lnSpc>
                          <a:spcPct val="125000"/>
                        </a:lnSpc>
                      </a:pPr>
                      <a:endParaRPr sz="1000" dirty="0">
                        <a:latin typeface="Arial" panose="020B0604020202020204"/>
                        <a:ea typeface="Arial" panose="020B0604020202020204"/>
                        <a:cs typeface="Arial" panose="020B0604020202020204"/>
                      </a:endParaRPr>
                    </a:p>
                    <a:p>
                      <a:pPr marL="474345" indent="-262890" algn="l" rtl="0" eaLnBrk="0">
                        <a:lnSpc>
                          <a:spcPct val="123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线性-对数方程的被解释变量不作转换，对解释</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变量作自然</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对数转换：</a:t>
                      </a:r>
                      <a:endParaRPr sz="2100" dirty="0">
                        <a:latin typeface="楷体" panose="02010609060101010101" charset="-122"/>
                        <a:ea typeface="楷体" panose="02010609060101010101" charset="-122"/>
                        <a:cs typeface="楷体" panose="02010609060101010101" charset="-122"/>
                      </a:endParaRPr>
                    </a:p>
                    <a:p>
                      <a:pPr algn="l" rtl="0" eaLnBrk="0">
                        <a:lnSpc>
                          <a:spcPct val="125000"/>
                        </a:lnSpc>
                      </a:pPr>
                      <a:endParaRPr sz="1000" dirty="0">
                        <a:latin typeface="Arial" panose="020B0604020202020204"/>
                        <a:ea typeface="Arial" panose="020B0604020202020204"/>
                        <a:cs typeface="Arial" panose="020B0604020202020204"/>
                      </a:endParaRPr>
                    </a:p>
                    <a:p>
                      <a:pPr marL="2633345" algn="l" rtl="0" eaLnBrk="0">
                        <a:lnSpc>
                          <a:spcPct val="95000"/>
                        </a:lnSpc>
                        <a:spcBef>
                          <a:spcPts val="635"/>
                        </a:spcBef>
                      </a:pP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y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0" baseline="-21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0" baseline="-2100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marL="211455" algn="l" rtl="0" eaLnBrk="0">
                        <a:lnSpc>
                          <a:spcPct val="98000"/>
                        </a:lnSpc>
                        <a:spcBef>
                          <a:spcPts val="1560"/>
                        </a:spcBef>
                      </a:pPr>
                      <a:r>
                        <a:rPr sz="1700" kern="0" spc="-13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b="1" kern="0" spc="-130" dirty="0">
                          <a:solidFill>
                            <a:srgbClr val="000000">
                              <a:alpha val="100000"/>
                            </a:srgbClr>
                          </a:solidFill>
                          <a:latin typeface="Times New Roman" panose="02020603050405020304"/>
                          <a:ea typeface="Times New Roman" panose="02020603050405020304"/>
                          <a:cs typeface="Times New Roman" panose="02020603050405020304"/>
                        </a:rPr>
                        <a:t>1.</a:t>
                      </a:r>
                      <a:r>
                        <a:rPr sz="2000" b="1" kern="0" spc="-130" dirty="0">
                          <a:solidFill>
                            <a:srgbClr val="000000">
                              <a:alpha val="100000"/>
                            </a:srgbClr>
                          </a:solidFill>
                          <a:latin typeface="楷体" panose="02010609060101010101" charset="-122"/>
                          <a:ea typeface="楷体" panose="02010609060101010101" charset="-122"/>
                          <a:cs typeface="楷体" panose="02010609060101010101" charset="-122"/>
                        </a:rPr>
                        <a:t>斜率：</a:t>
                      </a:r>
                      <a:endParaRPr sz="2000" dirty="0">
                        <a:latin typeface="楷体" panose="02010609060101010101" charset="-122"/>
                        <a:ea typeface="楷体" panose="02010609060101010101" charset="-122"/>
                        <a:cs typeface="楷体" panose="0201060906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2764155" algn="l" rtl="0" eaLnBrk="0">
                        <a:lnSpc>
                          <a:spcPts val="5575"/>
                        </a:lnSpc>
                        <a:spcBef>
                          <a:spcPts val="300"/>
                        </a:spcBef>
                        <a:tabLst>
                          <a:tab pos="47402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532765" algn="l" rtl="0" eaLnBrk="0">
                        <a:lnSpc>
                          <a:spcPct val="90000"/>
                        </a:lnSpc>
                        <a:spcBef>
                          <a:spcPts val="720"/>
                        </a:spcBef>
                      </a:pPr>
                      <a:r>
                        <a:rPr sz="2000" kern="0" spc="-12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2000" kern="0" spc="44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100(Δ</a:t>
                      </a:r>
                      <a:r>
                        <a:rPr sz="2400" i="1" kern="0" spc="-1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a:t>
                      </a:r>
                      <a:r>
                        <a:rPr sz="2400" i="1" kern="0" spc="-1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20" dirty="0">
                          <a:solidFill>
                            <a:srgbClr val="000000">
                              <a:alpha val="100000"/>
                            </a:srgbClr>
                          </a:solidFill>
                          <a:latin typeface="楷体" panose="02010609060101010101" charset="-122"/>
                          <a:ea typeface="楷体" panose="02010609060101010101" charset="-122"/>
                          <a:cs typeface="楷体" panose="02010609060101010101" charset="-122"/>
                        </a:rPr>
                        <a:t>为</a:t>
                      </a:r>
                      <a:r>
                        <a:rPr sz="2400" kern="0" spc="-1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120" dirty="0">
                          <a:solidFill>
                            <a:srgbClr val="000000">
                              <a:alpha val="100000"/>
                            </a:srgbClr>
                          </a:solidFill>
                          <a:latin typeface="楷体" panose="02010609060101010101" charset="-122"/>
                          <a:ea typeface="楷体" panose="02010609060101010101" charset="-122"/>
                          <a:cs typeface="楷体" panose="02010609060101010101" charset="-122"/>
                        </a:rPr>
                        <a:t>的变动百分比；</a:t>
                      </a:r>
                      <a:endParaRPr sz="2400" dirty="0">
                        <a:latin typeface="楷体" panose="02010609060101010101" charset="-122"/>
                        <a:ea typeface="楷体" panose="02010609060101010101" charset="-122"/>
                        <a:cs typeface="楷体" panose="02010609060101010101" charset="-122"/>
                      </a:endParaRPr>
                    </a:p>
                    <a:p>
                      <a:pPr algn="l" rtl="0" eaLnBrk="0">
                        <a:lnSpc>
                          <a:spcPct val="101000"/>
                        </a:lnSpc>
                      </a:pPr>
                      <a:endParaRPr sz="15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755650" indent="-222885" algn="l" rtl="0" eaLnBrk="0">
                        <a:lnSpc>
                          <a:spcPct val="123000"/>
                        </a:lnSpc>
                      </a:pPr>
                      <a:r>
                        <a:rPr sz="2000" kern="0" spc="-1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在线性-对数模型中，可以说：</a:t>
                      </a:r>
                      <a:r>
                        <a:rPr sz="2400" kern="0" spc="-57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x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增加</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导致</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y</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变动</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50" dirty="0">
                          <a:solidFill>
                            <a:srgbClr val="000000">
                              <a:alpha val="100000"/>
                            </a:srgbClr>
                          </a:solidFill>
                          <a:latin typeface="Times New Roman" panose="02020603050405020304"/>
                          <a:ea typeface="Times New Roman" panose="02020603050405020304"/>
                          <a:cs typeface="Times New Roman" panose="02020603050405020304"/>
                        </a:rPr>
                        <a:t>β</a:t>
                      </a:r>
                      <a:r>
                        <a:rPr sz="2400" kern="0" spc="-30" baseline="-24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30" dirty="0">
                          <a:solidFill>
                            <a:srgbClr val="000000">
                              <a:alpha val="100000"/>
                            </a:srgbClr>
                          </a:solidFill>
                          <a:latin typeface="Times New Roman" panose="02020603050405020304"/>
                          <a:ea typeface="Times New Roman" panose="02020603050405020304"/>
                          <a:cs typeface="Times New Roman" panose="02020603050405020304"/>
                        </a:rPr>
                        <a:t>/100</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单位。</a:t>
                      </a:r>
                      <a:endParaRPr sz="24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56" name="picture 356"/>
          <p:cNvPicPr>
            <a:picLocks noChangeAspect="1"/>
          </p:cNvPicPr>
          <p:nvPr/>
        </p:nvPicPr>
        <p:blipFill>
          <a:blip r:embed="rId1"/>
          <a:stretch>
            <a:fillRect/>
          </a:stretch>
        </p:blipFill>
        <p:spPr>
          <a:xfrm rot="21600000">
            <a:off x="3578743" y="3319102"/>
            <a:ext cx="1977313" cy="708143"/>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0" name="table 360"/>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1455" algn="l" rtl="0" eaLnBrk="0">
                        <a:lnSpc>
                          <a:spcPct val="8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一个方便的解释是：</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2277745" indent="-355600" algn="l" rtl="0" eaLnBrk="0">
                        <a:lnSpc>
                          <a:spcPct val="412000"/>
                        </a:lnSpc>
                        <a:spcBef>
                          <a:spcPts val="305"/>
                        </a:spcBef>
                        <a:tabLst>
                          <a:tab pos="3747770" algn="l"/>
                          <a:tab pos="5351145" algn="l"/>
                          <a:tab pos="5576570" algn="l"/>
                        </a:tabLst>
                      </a:pP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marL="482600" indent="-269875" algn="l" rtl="0" eaLnBrk="0">
                        <a:lnSpc>
                          <a:spcPct val="127000"/>
                        </a:lnSpc>
                        <a:spcBef>
                          <a:spcPts val="730"/>
                        </a:spcBef>
                      </a:pPr>
                      <a:r>
                        <a:rPr sz="20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的变化由其度量单位表示</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，大致等于</a:t>
                      </a:r>
                      <a:r>
                        <a:rPr sz="2400"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变化的百分比</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乘以</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2400" kern="0" spc="-10" baseline="-24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2400" kern="0" spc="-10" dirty="0">
                          <a:solidFill>
                            <a:srgbClr val="000000">
                              <a:alpha val="100000"/>
                            </a:srgbClr>
                          </a:solidFill>
                          <a:latin typeface="Times New Roman" panose="02020603050405020304"/>
                          <a:ea typeface="Times New Roman" panose="02020603050405020304"/>
                          <a:cs typeface="Times New Roman" panose="02020603050405020304"/>
                        </a:rPr>
                        <a:t>100</a:t>
                      </a:r>
                      <a:endParaRPr sz="2400" dirty="0">
                        <a:latin typeface="Times New Roman" panose="02020603050405020304"/>
                        <a:ea typeface="Times New Roman" panose="02020603050405020304"/>
                        <a:cs typeface="Times New Roman" panose="02020603050405020304"/>
                      </a:endParaRPr>
                    </a:p>
                    <a:p>
                      <a:pPr marL="212725" algn="l" rtl="0" eaLnBrk="0">
                        <a:lnSpc>
                          <a:spcPct val="100000"/>
                        </a:lnSpc>
                        <a:spcBef>
                          <a:spcPts val="1895"/>
                        </a:spcBef>
                      </a:pPr>
                      <a:r>
                        <a:rPr sz="20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140" dirty="0">
                          <a:solidFill>
                            <a:srgbClr val="000000">
                              <a:alpha val="100000"/>
                            </a:srgbClr>
                          </a:solidFill>
                          <a:latin typeface="Perpetua" panose="02020502060401020303"/>
                          <a:ea typeface="Perpetua" panose="02020502060401020303"/>
                          <a:cs typeface="Perpetua" panose="02020502060401020303"/>
                        </a:rPr>
                        <a:t>2. y</a:t>
                      </a:r>
                      <a:r>
                        <a:rPr sz="2400" b="1" kern="0" spc="-140" dirty="0">
                          <a:solidFill>
                            <a:srgbClr val="000000">
                              <a:alpha val="100000"/>
                            </a:srgbClr>
                          </a:solidFill>
                          <a:latin typeface="楷体" panose="02010609060101010101" charset="-122"/>
                          <a:ea typeface="楷体" panose="02010609060101010101" charset="-122"/>
                          <a:cs typeface="楷体" panose="02010609060101010101" charset="-122"/>
                        </a:rPr>
                        <a:t>对</a:t>
                      </a:r>
                      <a:r>
                        <a:rPr sz="2400" b="1" kern="0" spc="-140" dirty="0">
                          <a:solidFill>
                            <a:srgbClr val="000000">
                              <a:alpha val="100000"/>
                            </a:srgbClr>
                          </a:solidFill>
                          <a:latin typeface="Perpetua" panose="02020502060401020303"/>
                          <a:ea typeface="Perpetua" panose="02020502060401020303"/>
                          <a:cs typeface="Perpetua" panose="02020502060401020303"/>
                        </a:rPr>
                        <a:t>x</a:t>
                      </a:r>
                      <a:r>
                        <a:rPr sz="2400" b="1" kern="0" spc="-140" dirty="0">
                          <a:solidFill>
                            <a:srgbClr val="000000">
                              <a:alpha val="100000"/>
                            </a:srgbClr>
                          </a:solidFill>
                          <a:latin typeface="楷体" panose="02010609060101010101" charset="-122"/>
                          <a:ea typeface="楷体" panose="02010609060101010101" charset="-122"/>
                          <a:cs typeface="楷体" panose="02010609060101010101" charset="-122"/>
                        </a:rPr>
                        <a:t>的弹性是：</a:t>
                      </a:r>
                      <a:endParaRPr sz="24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600" dirty="0">
                        <a:latin typeface="Arial" panose="020B0604020202020204"/>
                        <a:ea typeface="Arial" panose="020B0604020202020204"/>
                        <a:cs typeface="Arial" panose="020B0604020202020204"/>
                      </a:endParaRPr>
                    </a:p>
                    <a:p>
                      <a:pPr marL="2374265" algn="l" rtl="0" eaLnBrk="0">
                        <a:lnSpc>
                          <a:spcPct val="100000"/>
                        </a:lnSpc>
                        <a:spcBef>
                          <a:spcPts val="5"/>
                        </a:spcBef>
                      </a:pPr>
                      <a:r>
                        <a:rPr sz="2500" kern="0" spc="110" dirty="0">
                          <a:solidFill>
                            <a:srgbClr val="000000">
                              <a:alpha val="100000"/>
                            </a:srgbClr>
                          </a:solidFill>
                          <a:latin typeface="Arial" panose="020B0604020202020204"/>
                          <a:ea typeface="Arial" panose="020B0604020202020204"/>
                          <a:cs typeface="Arial" panose="020B0604020202020204"/>
                        </a:rPr>
                        <a:t>ε</a:t>
                      </a:r>
                      <a:r>
                        <a:rPr sz="2500" kern="0" spc="-280" dirty="0">
                          <a:solidFill>
                            <a:srgbClr val="000000">
                              <a:alpha val="100000"/>
                            </a:srgbClr>
                          </a:solidFill>
                          <a:latin typeface="Arial" panose="020B0604020202020204"/>
                          <a:ea typeface="Arial" panose="020B0604020202020204"/>
                          <a:cs typeface="Arial" panose="020B0604020202020204"/>
                        </a:rPr>
                        <a:t> </a:t>
                      </a:r>
                      <a:r>
                        <a:rPr sz="2300" kern="0" spc="110" dirty="0">
                          <a:solidFill>
                            <a:srgbClr val="000000">
                              <a:alpha val="100000"/>
                            </a:srgbClr>
                          </a:solidFill>
                          <a:latin typeface="Arial" panose="020B0604020202020204"/>
                          <a:ea typeface="Arial" panose="020B0604020202020204"/>
                          <a:cs typeface="Arial" panose="020B0604020202020204"/>
                        </a:rPr>
                        <a:t>= </a:t>
                      </a:r>
                      <a:r>
                        <a:rPr sz="2300" kern="0" spc="0" dirty="0">
                          <a:solidFill>
                            <a:srgbClr val="000000">
                              <a:alpha val="100000"/>
                            </a:srgbClr>
                          </a:solidFill>
                          <a:latin typeface="Times New Roman" panose="02020603050405020304"/>
                          <a:ea typeface="Times New Roman" panose="02020603050405020304"/>
                          <a:cs typeface="Times New Roman" panose="02020603050405020304"/>
                        </a:rPr>
                        <a:t>slope</a:t>
                      </a:r>
                      <a:r>
                        <a:rPr sz="23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10" dirty="0">
                          <a:solidFill>
                            <a:srgbClr val="000000">
                              <a:alpha val="100000"/>
                            </a:srgbClr>
                          </a:solidFill>
                          <a:latin typeface="Arial" panose="020B0604020202020204"/>
                          <a:ea typeface="Arial" panose="020B0604020202020204"/>
                          <a:cs typeface="Arial" panose="020B0604020202020204"/>
                        </a:rPr>
                        <a:t>×</a:t>
                      </a:r>
                      <a:r>
                        <a:rPr sz="2300" kern="0" spc="-270" dirty="0">
                          <a:solidFill>
                            <a:srgbClr val="000000">
                              <a:alpha val="100000"/>
                            </a:srgbClr>
                          </a:solidFill>
                          <a:latin typeface="Arial" panose="020B0604020202020204"/>
                          <a:ea typeface="Arial" panose="020B0604020202020204"/>
                          <a:cs typeface="Arial" panose="020B06040202020202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10" dirty="0">
                          <a:solidFill>
                            <a:srgbClr val="000000">
                              <a:alpha val="100000"/>
                            </a:srgbClr>
                          </a:solidFill>
                          <a:latin typeface="Arial" panose="020B0604020202020204"/>
                          <a:ea typeface="Arial" panose="020B0604020202020204"/>
                          <a:cs typeface="Arial" panose="020B0604020202020204"/>
                        </a:rPr>
                        <a:t>= </a:t>
                      </a:r>
                      <a:r>
                        <a:rPr sz="2300" kern="0" spc="11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4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10" baseline="-30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110" dirty="0">
                          <a:solidFill>
                            <a:srgbClr val="000000">
                              <a:alpha val="100000"/>
                            </a:srgbClr>
                          </a:solidFill>
                          <a:latin typeface="Times New Roman" panose="02020603050405020304"/>
                          <a:ea typeface="Times New Roman" panose="02020603050405020304"/>
                          <a:cs typeface="Times New Roman" panose="02020603050405020304"/>
                        </a:rPr>
                        <a:t>y</a:t>
                      </a:r>
                      <a:endParaRPr sz="23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62" name="path 362"/>
          <p:cNvSpPr/>
          <p:nvPr/>
        </p:nvSpPr>
        <p:spPr>
          <a:xfrm>
            <a:off x="5639750" y="5624406"/>
            <a:ext cx="113510" cy="323845"/>
          </a:xfrm>
          <a:custGeom>
            <a:avLst/>
            <a:gdLst/>
            <a:ahLst/>
            <a:cxnLst/>
            <a:rect l="0" t="0" r="0" b="0"/>
            <a:pathLst>
              <a:path w="178" h="509">
                <a:moveTo>
                  <a:pt x="168" y="10"/>
                </a:moveTo>
                <a:lnTo>
                  <a:pt x="10" y="499"/>
                </a:lnTo>
              </a:path>
            </a:pathLst>
          </a:custGeom>
          <a:noFill/>
          <a:ln w="12814" cap="sq">
            <a:solidFill>
              <a:srgbClr val="000000"/>
            </a:solidFill>
            <a:prstDash val="solid"/>
            <a:round/>
          </a:ln>
        </p:spPr>
        <p:txBody>
          <a:bodyPr rtlCol="0"/>
          <a:lstStyle/>
          <a:p>
            <a:pPr algn="ctr"/>
            <a:endParaRPr lang="zh-CN" altLang="en-US"/>
          </a:p>
        </p:txBody>
      </p:sp>
      <p:sp>
        <p:nvSpPr>
          <p:cNvPr id="364" name="path 364"/>
          <p:cNvSpPr/>
          <p:nvPr/>
        </p:nvSpPr>
        <p:spPr>
          <a:xfrm>
            <a:off x="4704458" y="5624406"/>
            <a:ext cx="111000" cy="316538"/>
          </a:xfrm>
          <a:custGeom>
            <a:avLst/>
            <a:gdLst/>
            <a:ahLst/>
            <a:cxnLst/>
            <a:rect l="0" t="0" r="0" b="0"/>
            <a:pathLst>
              <a:path w="174" h="498">
                <a:moveTo>
                  <a:pt x="164" y="10"/>
                </a:moveTo>
                <a:lnTo>
                  <a:pt x="10" y="488"/>
                </a:lnTo>
              </a:path>
            </a:pathLst>
          </a:custGeom>
          <a:noFill/>
          <a:ln w="12814" cap="sq">
            <a:solidFill>
              <a:srgbClr val="000000"/>
            </a:solidFill>
            <a:prstDash val="solid"/>
            <a:round/>
          </a:ln>
        </p:spPr>
        <p:txBody>
          <a:bodyPr rtlCol="0"/>
          <a:lstStyle/>
          <a:p>
            <a:pPr algn="ctr"/>
            <a:endParaRPr lang="zh-CN" altLang="en-US"/>
          </a:p>
        </p:txBody>
      </p:sp>
      <p:pic>
        <p:nvPicPr>
          <p:cNvPr id="366" name="picture 366"/>
          <p:cNvPicPr>
            <a:picLocks noChangeAspect="1"/>
          </p:cNvPicPr>
          <p:nvPr/>
        </p:nvPicPr>
        <p:blipFill>
          <a:blip r:embed="rId1"/>
          <a:stretch>
            <a:fillRect/>
          </a:stretch>
        </p:blipFill>
        <p:spPr>
          <a:xfrm rot="21600000">
            <a:off x="3095005" y="2580064"/>
            <a:ext cx="1468114" cy="628722"/>
          </a:xfrm>
          <a:prstGeom prst="rect">
            <a:avLst/>
          </a:prstGeom>
        </p:spPr>
      </p:pic>
      <p:pic>
        <p:nvPicPr>
          <p:cNvPr id="368" name="picture 368"/>
          <p:cNvPicPr>
            <a:picLocks noChangeAspect="1"/>
          </p:cNvPicPr>
          <p:nvPr/>
        </p:nvPicPr>
        <p:blipFill>
          <a:blip r:embed="rId2"/>
          <a:stretch>
            <a:fillRect/>
          </a:stretch>
        </p:blipFill>
        <p:spPr>
          <a:xfrm rot="21600000">
            <a:off x="3093111" y="1853653"/>
            <a:ext cx="3072984" cy="628738"/>
          </a:xfrm>
          <a:prstGeom prst="rect">
            <a:avLst/>
          </a:prstGeom>
        </p:spPr>
      </p:pic>
      <p:pic>
        <p:nvPicPr>
          <p:cNvPr id="370" name="picture 370"/>
          <p:cNvPicPr>
            <a:picLocks noChangeAspect="1"/>
          </p:cNvPicPr>
          <p:nvPr/>
        </p:nvPicPr>
        <p:blipFill>
          <a:blip r:embed="rId3"/>
          <a:stretch>
            <a:fillRect/>
          </a:stretch>
        </p:blipFill>
        <p:spPr>
          <a:xfrm rot="21600000">
            <a:off x="2737098" y="1326332"/>
            <a:ext cx="3654065" cy="375727"/>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4" name="table 374"/>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40</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2725" algn="l" rtl="0" eaLnBrk="0">
                        <a:lnSpc>
                          <a:spcPct val="86000"/>
                        </a:lnSpc>
                      </a:pPr>
                      <a:r>
                        <a:rPr sz="20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50" dirty="0">
                          <a:solidFill>
                            <a:srgbClr val="000000">
                              <a:alpha val="100000"/>
                            </a:srgbClr>
                          </a:solidFill>
                          <a:latin typeface="楷体" panose="02010609060101010101" charset="-122"/>
                          <a:ea typeface="楷体" panose="02010609060101010101" charset="-122"/>
                          <a:cs typeface="楷体" panose="02010609060101010101" charset="-122"/>
                        </a:rPr>
                        <a:t>食品支出为例</a:t>
                      </a:r>
                      <a:endParaRPr sz="24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0"/>
                        </a:spcBef>
                      </a:pP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食品支出模型的线性－对数形式：</a:t>
                      </a:r>
                      <a:endParaRPr sz="2100" dirty="0">
                        <a:latin typeface="楷体" panose="02010609060101010101" charset="-122"/>
                        <a:ea typeface="楷体" panose="02010609060101010101" charset="-122"/>
                        <a:cs typeface="楷体" panose="02010609060101010101" charset="-122"/>
                      </a:endParaRPr>
                    </a:p>
                    <a:p>
                      <a:pPr algn="l" rtl="0" eaLnBrk="0">
                        <a:lnSpc>
                          <a:spcPct val="110000"/>
                        </a:lnSpc>
                      </a:pPr>
                      <a:endParaRPr sz="1000" dirty="0">
                        <a:latin typeface="Arial" panose="020B0604020202020204"/>
                        <a:ea typeface="Arial" panose="020B0604020202020204"/>
                        <a:cs typeface="Arial" panose="020B0604020202020204"/>
                      </a:endParaRPr>
                    </a:p>
                    <a:p>
                      <a:pPr marL="1639570" algn="l" rtl="0" eaLnBrk="0">
                        <a:lnSpc>
                          <a:spcPct val="95000"/>
                        </a:lnSpc>
                        <a:spcBef>
                          <a:spcPts val="790"/>
                        </a:spcBef>
                      </a:pP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FOOD</a:t>
                      </a:r>
                      <a:r>
                        <a:rPr sz="20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_</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EXP </a:t>
                      </a:r>
                      <a:r>
                        <a:rPr sz="2000" kern="0" spc="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1800" kern="0" spc="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Arial" panose="020B0604020202020204"/>
                          <a:ea typeface="Arial" panose="020B0604020202020204"/>
                          <a:cs typeface="Arial" panose="020B0604020202020204"/>
                        </a:rPr>
                        <a:t>+</a:t>
                      </a:r>
                      <a:r>
                        <a:rPr sz="2000" kern="0" spc="-16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1800" kern="0" spc="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0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Arial" panose="020B0604020202020204"/>
                          <a:ea typeface="Arial" panose="020B0604020202020204"/>
                          <a:cs typeface="Arial" panose="020B0604020202020204"/>
                        </a:rPr>
                        <a:t>(</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2000" i="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Arial" panose="020B0604020202020204"/>
                          <a:ea typeface="Arial" panose="020B0604020202020204"/>
                          <a:cs typeface="Arial" panose="020B0604020202020204"/>
                        </a:rPr>
                        <a:t>)</a:t>
                      </a:r>
                      <a:r>
                        <a:rPr sz="2600" kern="0" spc="-380" dirty="0">
                          <a:solidFill>
                            <a:srgbClr val="000000">
                              <a:alpha val="100000"/>
                            </a:srgbClr>
                          </a:solidFill>
                          <a:latin typeface="Arial" panose="020B0604020202020204"/>
                          <a:ea typeface="Arial" panose="020B0604020202020204"/>
                          <a:cs typeface="Arial" panose="020B0604020202020204"/>
                        </a:rPr>
                        <a:t> </a:t>
                      </a:r>
                      <a:r>
                        <a:rPr sz="2000" kern="0" spc="0" dirty="0">
                          <a:solidFill>
                            <a:srgbClr val="000000">
                              <a:alpha val="100000"/>
                            </a:srgbClr>
                          </a:solidFill>
                          <a:latin typeface="Arial" panose="020B0604020202020204"/>
                          <a:ea typeface="Arial" panose="020B0604020202020204"/>
                          <a:cs typeface="Arial" panose="020B0604020202020204"/>
                        </a:rPr>
                        <a:t>+</a:t>
                      </a:r>
                      <a:r>
                        <a:rPr sz="2000" kern="0" spc="-150" dirty="0">
                          <a:solidFill>
                            <a:srgbClr val="000000">
                              <a:alpha val="100000"/>
                            </a:srgbClr>
                          </a:solidFill>
                          <a:latin typeface="Arial" panose="020B0604020202020204"/>
                          <a:ea typeface="Arial" panose="020B0604020202020204"/>
                          <a:cs typeface="Arial" panose="020B0604020202020204"/>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e</a:t>
                      </a:r>
                      <a:endParaRPr sz="2000" dirty="0">
                        <a:latin typeface="Times New Roman" panose="02020603050405020304"/>
                        <a:ea typeface="Times New Roman" panose="02020603050405020304"/>
                        <a:cs typeface="Times New Roman" panose="02020603050405020304"/>
                      </a:endParaRPr>
                    </a:p>
                    <a:p>
                      <a:pPr algn="l" rtl="0" eaLnBrk="0">
                        <a:lnSpc>
                          <a:spcPct val="102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0"/>
                        </a:spcBef>
                      </a:pPr>
                      <a:r>
                        <a:rPr sz="1800" kern="0" spc="-10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估计方程为：</a:t>
                      </a:r>
                      <a:endParaRPr sz="2100" dirty="0">
                        <a:latin typeface="楷体" panose="02010609060101010101" charset="-122"/>
                        <a:ea typeface="楷体" panose="02010609060101010101" charset="-122"/>
                        <a:cs typeface="楷体" panose="02010609060101010101" charset="-122"/>
                      </a:endParaRPr>
                    </a:p>
                    <a:p>
                      <a:pPr marL="1472565" algn="l" rtl="0" eaLnBrk="0">
                        <a:lnSpc>
                          <a:spcPts val="610"/>
                        </a:lnSpc>
                        <a:spcBef>
                          <a:spcPts val="1410"/>
                        </a:spcBef>
                      </a:pPr>
                      <a:r>
                        <a:rPr sz="1100" kern="0" spc="-20" dirty="0">
                          <a:solidFill>
                            <a:srgbClr val="000000">
                              <a:alpha val="100000"/>
                            </a:srgbClr>
                          </a:solidFill>
                          <a:latin typeface="Arial" panose="020B0604020202020204"/>
                          <a:ea typeface="Arial" panose="020B0604020202020204"/>
                          <a:cs typeface="Arial" panose="020B0604020202020204"/>
                        </a:rPr>
                        <a:t>Λ</a:t>
                      </a:r>
                      <a:endParaRPr sz="1100" dirty="0">
                        <a:latin typeface="Arial" panose="020B0604020202020204"/>
                        <a:ea typeface="Arial" panose="020B0604020202020204"/>
                        <a:cs typeface="Arial" panose="020B0604020202020204"/>
                      </a:endParaRPr>
                    </a:p>
                    <a:p>
                      <a:pPr marL="843915" algn="l" rtl="0" eaLnBrk="0">
                        <a:lnSpc>
                          <a:spcPct val="76000"/>
                        </a:lnSpc>
                        <a:spcBef>
                          <a:spcPts val="20"/>
                        </a:spcBef>
                      </a:pP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FOOD</a:t>
                      </a:r>
                      <a:r>
                        <a:rPr sz="18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60" dirty="0">
                          <a:solidFill>
                            <a:srgbClr val="000000">
                              <a:alpha val="100000"/>
                            </a:srgbClr>
                          </a:solidFill>
                          <a:latin typeface="Times New Roman" panose="02020603050405020304"/>
                          <a:ea typeface="Times New Roman" panose="02020603050405020304"/>
                          <a:cs typeface="Times New Roman" panose="02020603050405020304"/>
                        </a:rPr>
                        <a:t>_</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EXP</a:t>
                      </a:r>
                      <a:r>
                        <a:rPr sz="18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60" dirty="0">
                          <a:solidFill>
                            <a:srgbClr val="000000">
                              <a:alpha val="100000"/>
                            </a:srgbClr>
                          </a:solidFill>
                          <a:latin typeface="Arial" panose="020B0604020202020204"/>
                          <a:ea typeface="Arial" panose="020B0604020202020204"/>
                          <a:cs typeface="Arial" panose="020B0604020202020204"/>
                        </a:rPr>
                        <a:t>= </a:t>
                      </a:r>
                      <a:r>
                        <a:rPr sz="1800" kern="0" spc="60" dirty="0">
                          <a:solidFill>
                            <a:srgbClr val="000000">
                              <a:alpha val="100000"/>
                            </a:srgbClr>
                          </a:solidFill>
                          <a:latin typeface="Times New Roman" panose="02020603050405020304"/>
                          <a:ea typeface="Times New Roman" panose="02020603050405020304"/>
                          <a:cs typeface="Times New Roman" panose="02020603050405020304"/>
                        </a:rPr>
                        <a:t>-97.19</a:t>
                      </a:r>
                      <a:r>
                        <a:rPr sz="18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60" dirty="0">
                          <a:solidFill>
                            <a:srgbClr val="000000">
                              <a:alpha val="100000"/>
                            </a:srgbClr>
                          </a:solidFill>
                          <a:latin typeface="Arial" panose="020B0604020202020204"/>
                          <a:ea typeface="Arial" panose="020B0604020202020204"/>
                          <a:cs typeface="Arial" panose="020B0604020202020204"/>
                        </a:rPr>
                        <a:t>+</a:t>
                      </a:r>
                      <a:r>
                        <a:rPr sz="1800" kern="0" spc="60" dirty="0">
                          <a:solidFill>
                            <a:srgbClr val="000000">
                              <a:alpha val="100000"/>
                            </a:srgbClr>
                          </a:solidFill>
                          <a:latin typeface="Times New Roman" panose="02020603050405020304"/>
                          <a:ea typeface="Times New Roman" panose="02020603050405020304"/>
                          <a:cs typeface="Times New Roman" panose="02020603050405020304"/>
                        </a:rPr>
                        <a:t>132.17</a:t>
                      </a:r>
                      <a:r>
                        <a:rPr sz="18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60" dirty="0">
                          <a:solidFill>
                            <a:srgbClr val="000000">
                              <a:alpha val="100000"/>
                            </a:srgbClr>
                          </a:solidFill>
                          <a:latin typeface="Arial" panose="020B0604020202020204"/>
                          <a:ea typeface="Arial" panose="020B0604020202020204"/>
                          <a:cs typeface="Arial" panose="020B0604020202020204"/>
                        </a:rPr>
                        <a:t>(</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1800" i="1"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3800" kern="0" spc="60" baseline="-3000" dirty="0">
                          <a:solidFill>
                            <a:srgbClr val="000000">
                              <a:alpha val="100000"/>
                            </a:srgbClr>
                          </a:solidFill>
                          <a:latin typeface="Arial" panose="020B0604020202020204"/>
                          <a:ea typeface="Arial" panose="020B0604020202020204"/>
                          <a:cs typeface="Arial" panose="020B0604020202020204"/>
                        </a:rPr>
                        <a:t>)</a:t>
                      </a:r>
                      <a:r>
                        <a:rPr sz="2400" kern="0" spc="200" dirty="0">
                          <a:solidFill>
                            <a:srgbClr val="000000">
                              <a:alpha val="100000"/>
                            </a:srgbClr>
                          </a:solidFill>
                          <a:latin typeface="Arial" panose="020B0604020202020204"/>
                          <a:ea typeface="Arial" panose="020B0604020202020204"/>
                          <a:cs typeface="Arial" panose="020B0604020202020204"/>
                        </a:rPr>
                        <a:t>   </a:t>
                      </a:r>
                      <a:r>
                        <a:rPr sz="1800" i="1" kern="0" spc="60" dirty="0">
                          <a:solidFill>
                            <a:srgbClr val="000000">
                              <a:alpha val="100000"/>
                            </a:srgbClr>
                          </a:solidFill>
                          <a:latin typeface="Times New Roman" panose="02020603050405020304"/>
                          <a:ea typeface="Times New Roman" panose="02020603050405020304"/>
                          <a:cs typeface="Times New Roman" panose="02020603050405020304"/>
                        </a:rPr>
                        <a:t>R</a:t>
                      </a:r>
                      <a:r>
                        <a:rPr sz="1600" kern="0" spc="50" baseline="55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50" dirty="0">
                          <a:solidFill>
                            <a:srgbClr val="000000">
                              <a:alpha val="100000"/>
                            </a:srgbClr>
                          </a:solidFill>
                          <a:latin typeface="Arial" panose="020B0604020202020204"/>
                          <a:ea typeface="Arial" panose="020B0604020202020204"/>
                          <a:cs typeface="Arial" panose="020B0604020202020204"/>
                        </a:rPr>
                        <a:t>= </a:t>
                      </a:r>
                      <a:r>
                        <a:rPr sz="1800" kern="0" spc="50" dirty="0">
                          <a:solidFill>
                            <a:srgbClr val="000000">
                              <a:alpha val="100000"/>
                            </a:srgbClr>
                          </a:solidFill>
                          <a:latin typeface="Times New Roman" panose="02020603050405020304"/>
                          <a:ea typeface="Times New Roman" panose="02020603050405020304"/>
                          <a:cs typeface="Times New Roman" panose="02020603050405020304"/>
                        </a:rPr>
                        <a:t>0.357</a:t>
                      </a:r>
                      <a:endParaRPr sz="1800" dirty="0">
                        <a:latin typeface="Times New Roman" panose="02020603050405020304"/>
                        <a:ea typeface="Times New Roman" panose="02020603050405020304"/>
                        <a:cs typeface="Times New Roman" panose="02020603050405020304"/>
                      </a:endParaRPr>
                    </a:p>
                    <a:p>
                      <a:pPr marL="1372870" algn="l" rtl="0" eaLnBrk="0">
                        <a:lnSpc>
                          <a:spcPts val="3625"/>
                        </a:lnSpc>
                      </a:pPr>
                      <a:r>
                        <a:rPr sz="25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se</a:t>
                      </a:r>
                      <a:r>
                        <a:rPr sz="2500" kern="0" spc="-20" dirty="0">
                          <a:solidFill>
                            <a:srgbClr val="000000">
                              <a:alpha val="100000"/>
                            </a:srgbClr>
                          </a:solidFill>
                          <a:latin typeface="Arial" panose="020B0604020202020204"/>
                          <a:ea typeface="Arial" panose="020B0604020202020204"/>
                          <a:cs typeface="Arial" panose="020B0604020202020204"/>
                        </a:rPr>
                        <a:t>)</a:t>
                      </a:r>
                      <a:r>
                        <a:rPr sz="2500" kern="0" spc="70" dirty="0">
                          <a:solidFill>
                            <a:srgbClr val="000000">
                              <a:alpha val="100000"/>
                            </a:srgbClr>
                          </a:solidFill>
                          <a:latin typeface="Arial" panose="020B0604020202020204"/>
                          <a:ea typeface="Arial" panose="020B0604020202020204"/>
                          <a:cs typeface="Arial" panose="020B0604020202020204"/>
                        </a:rPr>
                        <a:t>       </a:t>
                      </a:r>
                      <a:r>
                        <a:rPr sz="25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84.24</a:t>
                      </a:r>
                      <a:r>
                        <a:rPr sz="2500" kern="0" spc="-20" dirty="0">
                          <a:solidFill>
                            <a:srgbClr val="000000">
                              <a:alpha val="100000"/>
                            </a:srgbClr>
                          </a:solidFill>
                          <a:latin typeface="Arial" panose="020B0604020202020204"/>
                          <a:ea typeface="Arial" panose="020B0604020202020204"/>
                          <a:cs typeface="Arial" panose="020B0604020202020204"/>
                        </a:rPr>
                        <a:t>)</a:t>
                      </a:r>
                      <a:r>
                        <a:rPr sz="2500" kern="0" spc="410" dirty="0">
                          <a:solidFill>
                            <a:srgbClr val="000000">
                              <a:alpha val="100000"/>
                            </a:srgbClr>
                          </a:solidFill>
                          <a:latin typeface="Arial" panose="020B0604020202020204"/>
                          <a:ea typeface="Arial" panose="020B0604020202020204"/>
                          <a:cs typeface="Arial" panose="020B0604020202020204"/>
                        </a:rPr>
                        <a:t> </a:t>
                      </a:r>
                      <a:r>
                        <a:rPr sz="25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28.80</a:t>
                      </a:r>
                      <a:r>
                        <a:rPr sz="2500" kern="0" spc="-20" dirty="0">
                          <a:solidFill>
                            <a:srgbClr val="000000">
                              <a:alpha val="100000"/>
                            </a:srgbClr>
                          </a:solidFill>
                          <a:latin typeface="Arial" panose="020B0604020202020204"/>
                          <a:ea typeface="Arial" panose="020B0604020202020204"/>
                          <a:cs typeface="Arial" panose="020B0604020202020204"/>
                        </a:rPr>
                        <a:t>)</a:t>
                      </a:r>
                      <a:r>
                        <a:rPr sz="1600" kern="0" spc="-20" baseline="70000" dirty="0">
                          <a:solidFill>
                            <a:srgbClr val="000000">
                              <a:alpha val="100000"/>
                            </a:srgbClr>
                          </a:solidFill>
                          <a:latin typeface="Times New Roman" panose="02020603050405020304"/>
                          <a:ea typeface="Times New Roman" panose="02020603050405020304"/>
                          <a:cs typeface="Times New Roman" panose="02020603050405020304"/>
                        </a:rPr>
                        <a:t>***</a:t>
                      </a:r>
                      <a:endParaRPr sz="1600" baseline="700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6" name="table 376"/>
          <p:cNvGraphicFramePr>
            <a:graphicFrameLocks noGrp="1"/>
          </p:cNvGraphicFramePr>
          <p:nvPr/>
        </p:nvGraphicFramePr>
        <p:xfrm>
          <a:off x="2180589" y="3910329"/>
          <a:ext cx="4782184" cy="2630170"/>
        </p:xfrm>
        <a:graphic>
          <a:graphicData uri="http://schemas.openxmlformats.org/drawingml/2006/table">
            <a:tbl>
              <a:tblPr/>
              <a:tblGrid>
                <a:gridCol w="4782184"/>
              </a:tblGrid>
              <a:tr h="263017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378" name="picture 378"/>
          <p:cNvPicPr>
            <a:picLocks noChangeAspect="1"/>
          </p:cNvPicPr>
          <p:nvPr/>
        </p:nvPicPr>
        <p:blipFill>
          <a:blip r:embed="rId1"/>
          <a:stretch>
            <a:fillRect/>
          </a:stretch>
        </p:blipFill>
        <p:spPr>
          <a:xfrm rot="21600000">
            <a:off x="2186939" y="3916679"/>
            <a:ext cx="4770119" cy="2624328"/>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2" name="table 382"/>
          <p:cNvGraphicFramePr>
            <a:graphicFrameLocks noGrp="1"/>
          </p:cNvGraphicFramePr>
          <p:nvPr/>
        </p:nvGraphicFramePr>
        <p:xfrm>
          <a:off x="60832" y="66928"/>
          <a:ext cx="9018905" cy="6699250"/>
        </p:xfrm>
        <a:graphic>
          <a:graphicData uri="http://schemas.openxmlformats.org/drawingml/2006/table">
            <a:tbl>
              <a:tblPr/>
              <a:tblGrid>
                <a:gridCol w="745490"/>
                <a:gridCol w="8273415"/>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907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41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32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02565" algn="l" rtl="0" eaLnBrk="0">
                        <a:lnSpc>
                          <a:spcPct val="84000"/>
                        </a:lnSpc>
                      </a:pPr>
                      <a:r>
                        <a:rPr sz="17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b="1" kern="0" spc="-140" dirty="0">
                          <a:solidFill>
                            <a:srgbClr val="000000">
                              <a:alpha val="100000"/>
                            </a:srgbClr>
                          </a:solidFill>
                          <a:latin typeface="楷体" panose="02010609060101010101" charset="-122"/>
                          <a:ea typeface="楷体" panose="02010609060101010101" charset="-122"/>
                          <a:cs typeface="楷体" panose="02010609060101010101" charset="-122"/>
                        </a:rPr>
                        <a:t>线性模型中：</a:t>
                      </a:r>
                      <a:endParaRPr sz="2000" dirty="0">
                        <a:latin typeface="楷体" panose="02010609060101010101" charset="-122"/>
                        <a:ea typeface="楷体" panose="02010609060101010101" charset="-122"/>
                        <a:cs typeface="楷体" panose="02010609060101010101" charset="-122"/>
                      </a:endParaRPr>
                    </a:p>
                    <a:p>
                      <a:pPr algn="l" rtl="0" eaLnBrk="0">
                        <a:lnSpc>
                          <a:spcPct val="152000"/>
                        </a:lnSpc>
                      </a:pPr>
                      <a:endParaRPr sz="1000" dirty="0">
                        <a:latin typeface="Arial" panose="020B0604020202020204"/>
                        <a:ea typeface="Arial" panose="020B0604020202020204"/>
                        <a:cs typeface="Arial" panose="020B0604020202020204"/>
                      </a:endParaRPr>
                    </a:p>
                    <a:p>
                      <a:pPr marL="711200" algn="l" rtl="0" eaLnBrk="0">
                        <a:lnSpc>
                          <a:spcPct val="90000"/>
                        </a:lnSpc>
                        <a:spcBef>
                          <a:spcPts val="605"/>
                        </a:spcBef>
                      </a:pP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收入变化</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100</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美元，导致所有收入水平的家户</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食品支出改变</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10.21</a:t>
                      </a:r>
                      <a:endParaRPr sz="2000" dirty="0">
                        <a:latin typeface="Times New Roman" panose="02020603050405020304"/>
                        <a:ea typeface="Times New Roman" panose="02020603050405020304"/>
                        <a:cs typeface="Times New Roman" panose="02020603050405020304"/>
                      </a:endParaRPr>
                    </a:p>
                    <a:p>
                      <a:pPr marL="210820" algn="l" rtl="0" eaLnBrk="0">
                        <a:lnSpc>
                          <a:spcPts val="3690"/>
                        </a:lnSpc>
                      </a:pPr>
                      <a:r>
                        <a:rPr sz="1800" kern="0" spc="-13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1800" dirty="0">
                        <a:latin typeface="楷体" panose="02010609060101010101" charset="-122"/>
                        <a:ea typeface="楷体" panose="02010609060101010101" charset="-122"/>
                        <a:cs typeface="楷体" panose="02010609060101010101" charset="-122"/>
                      </a:endParaRPr>
                    </a:p>
                    <a:p>
                      <a:pPr algn="l" rtl="0" eaLnBrk="0">
                        <a:lnSpc>
                          <a:spcPct val="153000"/>
                        </a:lnSpc>
                      </a:pPr>
                      <a:endParaRPr sz="1000" dirty="0">
                        <a:latin typeface="Arial" panose="020B0604020202020204"/>
                        <a:ea typeface="Arial" panose="020B0604020202020204"/>
                        <a:cs typeface="Arial" panose="020B0604020202020204"/>
                      </a:endParaRPr>
                    </a:p>
                    <a:p>
                      <a:pPr marL="202565" algn="l" rtl="0" eaLnBrk="0">
                        <a:lnSpc>
                          <a:spcPct val="85000"/>
                        </a:lnSpc>
                        <a:spcBef>
                          <a:spcPts val="605"/>
                        </a:spcBef>
                      </a:pPr>
                      <a:r>
                        <a:rPr sz="17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2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b="1" kern="0" spc="-70" dirty="0">
                          <a:solidFill>
                            <a:srgbClr val="000000">
                              <a:alpha val="100000"/>
                            </a:srgbClr>
                          </a:solidFill>
                          <a:latin typeface="楷体" panose="02010609060101010101" charset="-122"/>
                          <a:ea typeface="楷体" panose="02010609060101010101" charset="-122"/>
                          <a:cs typeface="楷体" panose="02010609060101010101" charset="-122"/>
                        </a:rPr>
                        <a:t>线性对数模型中：</a:t>
                      </a:r>
                      <a:endParaRPr sz="2000" dirty="0">
                        <a:latin typeface="楷体" panose="02010609060101010101" charset="-122"/>
                        <a:ea typeface="楷体" panose="02010609060101010101" charset="-122"/>
                        <a:cs typeface="楷体" panose="02010609060101010101" charset="-122"/>
                      </a:endParaRPr>
                    </a:p>
                    <a:p>
                      <a:pPr algn="l" rtl="0" eaLnBrk="0">
                        <a:lnSpc>
                          <a:spcPct val="149000"/>
                        </a:lnSpc>
                      </a:pPr>
                      <a:endParaRPr sz="1000" dirty="0">
                        <a:latin typeface="Arial" panose="020B0604020202020204"/>
                        <a:ea typeface="Arial" panose="020B0604020202020204"/>
                        <a:cs typeface="Arial" panose="020B0604020202020204"/>
                      </a:endParaRPr>
                    </a:p>
                    <a:p>
                      <a:pPr marL="637540" algn="l" rtl="0" eaLnBrk="0">
                        <a:lnSpc>
                          <a:spcPct val="90000"/>
                        </a:lnSpc>
                        <a:spcBef>
                          <a:spcPts val="600"/>
                        </a:spcBef>
                      </a:pP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周收入为</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1000</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美元的家户在额外获得</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100</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美元收入后，将</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额外花</a:t>
                      </a:r>
                      <a:endParaRPr sz="2000" dirty="0">
                        <a:latin typeface="楷体" panose="02010609060101010101" charset="-122"/>
                        <a:ea typeface="楷体" panose="02010609060101010101" charset="-122"/>
                        <a:cs typeface="楷体" panose="02010609060101010101" charset="-122"/>
                      </a:endParaRPr>
                    </a:p>
                    <a:p>
                      <a:pPr marL="221615" algn="l" rtl="0" eaLnBrk="0">
                        <a:lnSpc>
                          <a:spcPts val="3840"/>
                        </a:lnSpc>
                      </a:pPr>
                      <a:r>
                        <a:rPr sz="2000" kern="0" spc="-80" dirty="0">
                          <a:solidFill>
                            <a:srgbClr val="000000">
                              <a:alpha val="100000"/>
                            </a:srgbClr>
                          </a:solidFill>
                          <a:latin typeface="楷体" panose="02010609060101010101" charset="-122"/>
                          <a:ea typeface="楷体" panose="02010609060101010101" charset="-122"/>
                          <a:cs typeface="楷体" panose="02010609060101010101" charset="-122"/>
                        </a:rPr>
                        <a:t>费</a:t>
                      </a:r>
                      <a:r>
                        <a:rPr sz="2000" kern="0" spc="-80" dirty="0">
                          <a:solidFill>
                            <a:srgbClr val="000000">
                              <a:alpha val="100000"/>
                            </a:srgbClr>
                          </a:solidFill>
                          <a:latin typeface="Times New Roman" panose="02020603050405020304"/>
                          <a:ea typeface="Times New Roman" panose="02020603050405020304"/>
                          <a:cs typeface="Times New Roman" panose="02020603050405020304"/>
                        </a:rPr>
                        <a:t>13.22</a:t>
                      </a:r>
                      <a:r>
                        <a:rPr sz="2000" kern="0" spc="-80" dirty="0">
                          <a:solidFill>
                            <a:srgbClr val="000000">
                              <a:alpha val="100000"/>
                            </a:srgbClr>
                          </a:solidFill>
                          <a:latin typeface="楷体" panose="02010609060101010101" charset="-122"/>
                          <a:ea typeface="楷体" panose="02010609060101010101" charset="-122"/>
                          <a:cs typeface="楷体" panose="02010609060101010101" charset="-122"/>
                        </a:rPr>
                        <a:t>美元用</a:t>
                      </a:r>
                      <a:r>
                        <a:rPr sz="2000" kern="0" spc="-90" dirty="0">
                          <a:solidFill>
                            <a:srgbClr val="000000">
                              <a:alpha val="100000"/>
                            </a:srgbClr>
                          </a:solidFill>
                          <a:latin typeface="楷体" panose="02010609060101010101" charset="-122"/>
                          <a:ea typeface="楷体" panose="02010609060101010101" charset="-122"/>
                          <a:cs typeface="楷体" panose="02010609060101010101" charset="-122"/>
                        </a:rPr>
                        <a:t>于食品支出。</a:t>
                      </a:r>
                      <a:endParaRPr sz="2000" dirty="0">
                        <a:latin typeface="楷体" panose="02010609060101010101" charset="-122"/>
                        <a:ea typeface="楷体" panose="02010609060101010101" charset="-122"/>
                        <a:cs typeface="楷体" panose="02010609060101010101" charset="-122"/>
                      </a:endParaRPr>
                    </a:p>
                    <a:p>
                      <a:pPr algn="l" rtl="0" eaLnBrk="0">
                        <a:lnSpc>
                          <a:spcPct val="140000"/>
                        </a:lnSpc>
                      </a:pPr>
                      <a:endParaRPr sz="1000" dirty="0">
                        <a:latin typeface="Arial" panose="020B0604020202020204"/>
                        <a:ea typeface="Arial" panose="020B0604020202020204"/>
                        <a:cs typeface="Arial" panose="020B0604020202020204"/>
                      </a:endParaRPr>
                    </a:p>
                    <a:p>
                      <a:pPr marL="573405" algn="l" rtl="0" eaLnBrk="0">
                        <a:lnSpc>
                          <a:spcPct val="90000"/>
                        </a:lnSpc>
                        <a:spcBef>
                          <a:spcPts val="605"/>
                        </a:spcBef>
                      </a:pP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周收入为</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2000</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美元的家户在获得额外</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100</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美元后，额外花费</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6.</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61</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美</a:t>
                      </a:r>
                      <a:endParaRPr sz="2000" dirty="0">
                        <a:latin typeface="楷体" panose="02010609060101010101" charset="-122"/>
                        <a:ea typeface="楷体" panose="02010609060101010101" charset="-122"/>
                        <a:cs typeface="楷体" panose="02010609060101010101" charset="-122"/>
                      </a:endParaRPr>
                    </a:p>
                    <a:p>
                      <a:pPr marL="207645" algn="l" rtl="0" eaLnBrk="0">
                        <a:lnSpc>
                          <a:spcPts val="3690"/>
                        </a:lnSpc>
                      </a:pPr>
                      <a:r>
                        <a:rPr sz="2000" kern="0" spc="-140" dirty="0">
                          <a:solidFill>
                            <a:srgbClr val="000000">
                              <a:alpha val="100000"/>
                            </a:srgbClr>
                          </a:solidFill>
                          <a:latin typeface="楷体" panose="02010609060101010101" charset="-122"/>
                          <a:ea typeface="楷体" panose="02010609060101010101" charset="-122"/>
                          <a:cs typeface="楷体" panose="02010609060101010101" charset="-122"/>
                        </a:rPr>
                        <a:t>元用于食品支出；</a:t>
                      </a:r>
                      <a:endParaRPr sz="2000" dirty="0">
                        <a:latin typeface="楷体" panose="02010609060101010101" charset="-122"/>
                        <a:ea typeface="楷体" panose="02010609060101010101" charset="-122"/>
                        <a:cs typeface="楷体" panose="02010609060101010101" charset="-122"/>
                      </a:endParaRPr>
                    </a:p>
                    <a:p>
                      <a:pPr algn="l" rtl="0" eaLnBrk="0">
                        <a:lnSpc>
                          <a:spcPct val="136000"/>
                        </a:lnSpc>
                      </a:pPr>
                      <a:endParaRPr sz="1000" dirty="0">
                        <a:latin typeface="Arial" panose="020B0604020202020204"/>
                        <a:ea typeface="Arial" panose="020B0604020202020204"/>
                        <a:cs typeface="Arial" panose="020B0604020202020204"/>
                      </a:endParaRPr>
                    </a:p>
                    <a:p>
                      <a:pPr marL="502285" algn="l" rtl="0" eaLnBrk="0">
                        <a:lnSpc>
                          <a:spcPct val="85000"/>
                        </a:lnSpc>
                        <a:spcBef>
                          <a:spcPts val="60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收入越高，收入对食品</a:t>
                      </a:r>
                      <a:r>
                        <a:rPr sz="2000" kern="0" spc="-30" dirty="0">
                          <a:solidFill>
                            <a:srgbClr val="000000">
                              <a:alpha val="100000"/>
                            </a:srgbClr>
                          </a:solidFill>
                          <a:latin typeface="楷体" panose="02010609060101010101" charset="-122"/>
                          <a:ea typeface="楷体" panose="02010609060101010101" charset="-122"/>
                          <a:cs typeface="楷体" panose="02010609060101010101" charset="-122"/>
                        </a:rPr>
                        <a:t>支出的边际效应越小。</a:t>
                      </a:r>
                      <a:endParaRPr sz="2000" dirty="0">
                        <a:latin typeface="楷体" panose="02010609060101010101" charset="-122"/>
                        <a:ea typeface="楷体" panose="02010609060101010101" charset="-122"/>
                        <a:cs typeface="楷体" panose="02010609060101010101" charset="-122"/>
                      </a:endParaRPr>
                    </a:p>
                    <a:p>
                      <a:pPr algn="l" rtl="0" eaLnBrk="0">
                        <a:lnSpc>
                          <a:spcPct val="133000"/>
                        </a:lnSpc>
                      </a:pPr>
                      <a:endParaRPr sz="1000" dirty="0">
                        <a:latin typeface="Arial" panose="020B0604020202020204"/>
                        <a:ea typeface="Arial" panose="020B0604020202020204"/>
                        <a:cs typeface="Arial" panose="020B0604020202020204"/>
                      </a:endParaRPr>
                    </a:p>
                    <a:p>
                      <a:pPr marL="502285" algn="l" rtl="0" eaLnBrk="0">
                        <a:lnSpc>
                          <a:spcPct val="90000"/>
                        </a:lnSpc>
                        <a:spcBef>
                          <a:spcPts val="605"/>
                        </a:spcBef>
                      </a:pPr>
                      <a:r>
                        <a:rPr sz="20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收入增加</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导致每周食品支出增加近</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1.32</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美元，或收入增加</a:t>
                      </a:r>
                      <a:endParaRPr sz="2000" dirty="0">
                        <a:latin typeface="楷体" panose="02010609060101010101" charset="-122"/>
                        <a:ea typeface="楷体" panose="02010609060101010101" charset="-122"/>
                        <a:cs typeface="楷体" panose="02010609060101010101" charset="-122"/>
                      </a:endParaRPr>
                    </a:p>
                    <a:p>
                      <a:pPr marL="534670" algn="l" rtl="0" eaLnBrk="0">
                        <a:lnSpc>
                          <a:spcPts val="3840"/>
                        </a:lnSpc>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10%</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导致食品支出大致增加</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13.22</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0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6" name="table 386"/>
          <p:cNvGraphicFramePr>
            <a:graphicFrameLocks noGrp="1"/>
          </p:cNvGraphicFramePr>
          <p:nvPr/>
        </p:nvGraphicFramePr>
        <p:xfrm>
          <a:off x="60832" y="66928"/>
          <a:ext cx="9018905" cy="6699248"/>
        </p:xfrm>
        <a:graphic>
          <a:graphicData uri="http://schemas.openxmlformats.org/drawingml/2006/table">
            <a:tbl>
              <a:tblPr/>
              <a:tblGrid>
                <a:gridCol w="9018905"/>
              </a:tblGrid>
              <a:tr h="5775959">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959735" algn="l" rtl="0" eaLnBrk="0">
                        <a:lnSpc>
                          <a:spcPct val="87000"/>
                        </a:lnSpc>
                      </a:pPr>
                      <a:r>
                        <a:rPr sz="2100" b="1" kern="0" spc="90" dirty="0">
                          <a:solidFill>
                            <a:srgbClr val="000000">
                              <a:alpha val="100000"/>
                            </a:srgbClr>
                          </a:solidFill>
                          <a:latin typeface="楷体" panose="02010609060101010101" charset="-122"/>
                          <a:ea typeface="楷体" panose="02010609060101010101" charset="-122"/>
                          <a:cs typeface="楷体" panose="02010609060101010101" charset="-122"/>
                        </a:rPr>
                        <a:t>模型函数形式选择的准则</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23289">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0"/>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388" name="textbox 388"/>
          <p:cNvSpPr/>
          <p:nvPr/>
        </p:nvSpPr>
        <p:spPr>
          <a:xfrm>
            <a:off x="1143000" y="2421636"/>
            <a:ext cx="6858000" cy="3048000"/>
          </a:xfrm>
          <a:prstGeom prst="roundRect">
            <a:avLst>
              <a:gd name="adj" fmla="val 17012"/>
            </a:avLst>
          </a:prstGeom>
          <a:solidFill>
            <a:srgbClr val="E1E0E0">
              <a:alpha val="100000"/>
            </a:srgbClr>
          </a:solidFill>
          <a:ln w="12700" cap="flat">
            <a:solidFill>
              <a:srgbClr val="9B320E"/>
            </a:solidFill>
            <a:prstDash val="solid"/>
            <a:miter lim="0"/>
          </a:ln>
        </p:spPr>
        <p:txBody>
          <a:bodyPr vert="horz" wrap="square" lIns="0" tIns="0" rIns="0" bIns="0"/>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574675" indent="-451485" algn="l" rtl="0" eaLnBrk="0">
              <a:lnSpc>
                <a:spcPct val="86000"/>
              </a:lnSpc>
            </a:pPr>
            <a:r>
              <a:rPr sz="2400" kern="0" spc="0" dirty="0">
                <a:solidFill>
                  <a:srgbClr val="000000">
                    <a:alpha val="100000"/>
                  </a:srgbClr>
                </a:solidFill>
                <a:latin typeface="Perpetua" panose="02020502060401020303"/>
                <a:ea typeface="Perpetua" panose="02020502060401020303"/>
                <a:cs typeface="Perpetua" panose="02020502060401020303"/>
              </a:rPr>
              <a:t>1.   </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选择一个与经济理</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论阐明的变量间关系一致  </a:t>
            </a:r>
            <a:r>
              <a:rPr sz="2400" kern="0" spc="-100" dirty="0">
                <a:solidFill>
                  <a:srgbClr val="000000">
                    <a:alpha val="100000"/>
                  </a:srgbClr>
                </a:solidFill>
                <a:latin typeface="楷体" panose="02010609060101010101" charset="-122"/>
                <a:ea typeface="楷体" panose="02010609060101010101" charset="-122"/>
                <a:cs typeface="楷体" panose="02010609060101010101" charset="-122"/>
              </a:rPr>
              <a:t>的曲线形状；</a:t>
            </a:r>
            <a:endParaRPr sz="2400" dirty="0">
              <a:latin typeface="楷体" panose="02010609060101010101" charset="-122"/>
              <a:ea typeface="楷体" panose="02010609060101010101" charset="-122"/>
              <a:cs typeface="楷体" panose="02010609060101010101" charset="-122"/>
            </a:endParaRPr>
          </a:p>
          <a:p>
            <a:pPr marL="559435" indent="-453390" algn="l" rtl="0" eaLnBrk="0">
              <a:lnSpc>
                <a:spcPct val="86000"/>
              </a:lnSpc>
              <a:spcBef>
                <a:spcPts val="805"/>
              </a:spcBef>
            </a:pPr>
            <a:r>
              <a:rPr sz="2400" kern="0" spc="0" dirty="0">
                <a:solidFill>
                  <a:srgbClr val="000000">
                    <a:alpha val="100000"/>
                  </a:srgbClr>
                </a:solidFill>
                <a:latin typeface="Perpetua" panose="02020502060401020303"/>
                <a:ea typeface="Perpetua" panose="02020502060401020303"/>
                <a:cs typeface="Perpetua" panose="02020502060401020303"/>
              </a:rPr>
              <a:t>2.   </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选择一个具有充分弹性能够拟合数据的曲线</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30" dirty="0">
                <a:solidFill>
                  <a:srgbClr val="000000">
                    <a:alpha val="100000"/>
                  </a:srgbClr>
                </a:solidFill>
                <a:latin typeface="楷体" panose="02010609060101010101" charset="-122"/>
                <a:ea typeface="楷体" panose="02010609060101010101" charset="-122"/>
                <a:cs typeface="楷体" panose="02010609060101010101" charset="-122"/>
              </a:rPr>
              <a:t>形状；</a:t>
            </a:r>
            <a:endParaRPr sz="2400" dirty="0">
              <a:latin typeface="楷体" panose="02010609060101010101" charset="-122"/>
              <a:ea typeface="楷体" panose="02010609060101010101" charset="-122"/>
              <a:cs typeface="楷体" panose="02010609060101010101" charset="-122"/>
            </a:endParaRPr>
          </a:p>
          <a:p>
            <a:pPr marL="581660" indent="-473710" algn="l" rtl="0" eaLnBrk="0">
              <a:lnSpc>
                <a:spcPct val="92000"/>
              </a:lnSpc>
              <a:spcBef>
                <a:spcPts val="465"/>
              </a:spcBef>
            </a:pPr>
            <a:r>
              <a:rPr sz="2400" kern="0" spc="0" dirty="0">
                <a:solidFill>
                  <a:srgbClr val="000000">
                    <a:alpha val="100000"/>
                  </a:srgbClr>
                </a:solidFill>
                <a:latin typeface="Perpetua" panose="02020502060401020303"/>
                <a:ea typeface="Perpetua" panose="02020502060401020303"/>
                <a:cs typeface="Perpetua" panose="02020502060401020303"/>
              </a:rPr>
              <a:t>3.   </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选择一个能使</a:t>
            </a:r>
            <a:r>
              <a:rPr sz="2400" kern="0" spc="0" dirty="0">
                <a:solidFill>
                  <a:srgbClr val="000000">
                    <a:alpha val="100000"/>
                  </a:srgbClr>
                </a:solidFill>
                <a:latin typeface="Perpetua" panose="02020502060401020303"/>
                <a:ea typeface="Perpetua" panose="02020502060401020303"/>
                <a:cs typeface="Perpetua" panose="02020502060401020303"/>
              </a:rPr>
              <a:t>SR1-SR6</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假设满足，从而确保最</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小二乘估计量具有合意特征的曲</a:t>
            </a:r>
            <a:r>
              <a:rPr sz="2400" kern="0" spc="-40" dirty="0">
                <a:solidFill>
                  <a:srgbClr val="000000">
                    <a:alpha val="100000"/>
                  </a:srgbClr>
                </a:solidFill>
                <a:latin typeface="楷体" panose="02010609060101010101" charset="-122"/>
                <a:ea typeface="楷体" panose="02010609060101010101" charset="-122"/>
                <a:cs typeface="楷体" panose="02010609060101010101" charset="-122"/>
              </a:rPr>
              <a:t>线形状。</a:t>
            </a:r>
            <a:endParaRPr sz="24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2" name="table 392"/>
          <p:cNvGraphicFramePr>
            <a:graphicFrameLocks noGrp="1"/>
          </p:cNvGraphicFramePr>
          <p:nvPr/>
        </p:nvGraphicFramePr>
        <p:xfrm>
          <a:off x="60832" y="66928"/>
          <a:ext cx="9018905" cy="6699250"/>
        </p:xfrm>
        <a:graphic>
          <a:graphicData uri="http://schemas.openxmlformats.org/drawingml/2006/table">
            <a:tbl>
              <a:tblPr/>
              <a:tblGrid>
                <a:gridCol w="9018905"/>
              </a:tblGrid>
              <a:tr h="5542915">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968375" algn="l" rtl="0" eaLnBrk="0">
                        <a:lnSpc>
                          <a:spcPct val="84000"/>
                        </a:lnSpc>
                        <a:spcBef>
                          <a:spcPts val="5"/>
                        </a:spcBef>
                      </a:pPr>
                      <a:r>
                        <a:rPr sz="22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2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b="1" kern="0" spc="-50" dirty="0">
                          <a:solidFill>
                            <a:srgbClr val="000000">
                              <a:alpha val="100000"/>
                            </a:srgbClr>
                          </a:solidFill>
                          <a:latin typeface="楷体" panose="02010609060101010101" charset="-122"/>
                          <a:ea typeface="楷体" panose="02010609060101010101" charset="-122"/>
                          <a:cs typeface="楷体" panose="02010609060101010101" charset="-122"/>
                        </a:rPr>
                        <a:t>（三）模型设定检验</a:t>
                      </a:r>
                      <a:endParaRPr sz="2600" dirty="0">
                        <a:latin typeface="楷体" panose="02010609060101010101" charset="-122"/>
                        <a:ea typeface="楷体" panose="02010609060101010101" charset="-122"/>
                        <a:cs typeface="楷体" panose="02010609060101010101" charset="-122"/>
                      </a:endParaRPr>
                    </a:p>
                    <a:p>
                      <a:pPr algn="l" rtl="0" eaLnBrk="0">
                        <a:lnSpc>
                          <a:spcPct val="152000"/>
                        </a:lnSpc>
                      </a:pPr>
                      <a:endParaRPr sz="1000" dirty="0">
                        <a:latin typeface="Arial" panose="020B0604020202020204"/>
                        <a:ea typeface="Arial" panose="020B0604020202020204"/>
                        <a:cs typeface="Arial" panose="020B0604020202020204"/>
                      </a:endParaRPr>
                    </a:p>
                    <a:p>
                      <a:pPr marL="1224915" indent="-259715" algn="l" rtl="0" eaLnBrk="0">
                        <a:lnSpc>
                          <a:spcPct val="129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在设定模型时，有可能选择不合意或不正确的</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函数形式，</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如何检验：</a:t>
                      </a:r>
                      <a:endParaRPr sz="2100" dirty="0">
                        <a:latin typeface="楷体" panose="02010609060101010101" charset="-122"/>
                        <a:ea typeface="楷体" panose="02010609060101010101" charset="-122"/>
                        <a:cs typeface="楷体" panose="02010609060101010101" charset="-122"/>
                      </a:endParaRPr>
                    </a:p>
                    <a:p>
                      <a:pPr algn="l" rtl="0" eaLnBrk="0">
                        <a:lnSpc>
                          <a:spcPct val="116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1.检验回归结果</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存在正式的检验统计量去检验：</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—同方差</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序列相关</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2.利用残差图</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156335">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0"/>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 name="picture 396"/>
          <p:cNvPicPr>
            <a:picLocks noChangeAspect="1"/>
          </p:cNvPicPr>
          <p:nvPr/>
        </p:nvPicPr>
        <p:blipFill>
          <a:blip r:embed="rId1"/>
          <a:stretch>
            <a:fillRect/>
          </a:stretch>
        </p:blipFill>
        <p:spPr>
          <a:xfrm rot="21600000">
            <a:off x="374904" y="2177796"/>
            <a:ext cx="6954011" cy="4032503"/>
          </a:xfrm>
          <a:prstGeom prst="rect">
            <a:avLst/>
          </a:prstGeom>
        </p:spPr>
      </p:pic>
      <p:graphicFrame>
        <p:nvGraphicFramePr>
          <p:cNvPr id="398" name="table 398"/>
          <p:cNvGraphicFramePr>
            <a:graphicFrameLocks noGrp="1"/>
          </p:cNvGraphicFramePr>
          <p:nvPr/>
        </p:nvGraphicFramePr>
        <p:xfrm>
          <a:off x="60832" y="66928"/>
          <a:ext cx="9018905" cy="6699249"/>
        </p:xfrm>
        <a:graphic>
          <a:graphicData uri="http://schemas.openxmlformats.org/drawingml/2006/table">
            <a:tbl>
              <a:tblPr/>
              <a:tblGrid>
                <a:gridCol w="9018905"/>
              </a:tblGrid>
              <a:tr h="1680845">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3370580" algn="l" rtl="0" eaLnBrk="0">
                        <a:lnSpc>
                          <a:spcPct val="87000"/>
                        </a:lnSpc>
                        <a:spcBef>
                          <a:spcPts val="5"/>
                        </a:spcBef>
                      </a:pP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残差的随机散点图</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018404">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7037705" indent="-168910" algn="l" rtl="0" eaLnBrk="0">
                        <a:lnSpc>
                          <a:spcPct val="87000"/>
                        </a:lnSpc>
                        <a:spcBef>
                          <a:spcPts val="0"/>
                        </a:spcBef>
                      </a:pPr>
                      <a:r>
                        <a:rPr sz="1800" kern="0" spc="-10" dirty="0">
                          <a:solidFill>
                            <a:srgbClr val="000000">
                              <a:alpha val="100000"/>
                            </a:srgbClr>
                          </a:solidFill>
                          <a:latin typeface="Arial" panose="020B0604020202020204"/>
                          <a:ea typeface="Arial" panose="020B0604020202020204"/>
                          <a:cs typeface="Arial" panose="020B0604020202020204"/>
                        </a:rPr>
                        <a:t>Ch4sim1.d</a:t>
                      </a:r>
                      <a:r>
                        <a:rPr sz="1800" kern="0" spc="-20" dirty="0">
                          <a:solidFill>
                            <a:srgbClr val="000000">
                              <a:alpha val="100000"/>
                            </a:srgbClr>
                          </a:solidFill>
                          <a:latin typeface="Arial" panose="020B0604020202020204"/>
                          <a:ea typeface="Arial" panose="020B0604020202020204"/>
                          <a:cs typeface="Arial" panose="020B0604020202020204"/>
                        </a:rPr>
                        <a:t>at</a:t>
                      </a:r>
                      <a:r>
                        <a:rPr sz="1800" kern="0" spc="0" dirty="0">
                          <a:solidFill>
                            <a:srgbClr val="000000">
                              <a:alpha val="100000"/>
                            </a:srgbClr>
                          </a:solidFill>
                          <a:latin typeface="Arial" panose="020B0604020202020204"/>
                          <a:ea typeface="Arial" panose="020B0604020202020204"/>
                          <a:cs typeface="Arial" panose="020B0604020202020204"/>
                        </a:rPr>
                        <a:t>               </a:t>
                      </a:r>
                      <a:r>
                        <a:rPr sz="1800" kern="0" spc="-10" dirty="0">
                          <a:solidFill>
                            <a:srgbClr val="000000">
                              <a:alpha val="100000"/>
                            </a:srgbClr>
                          </a:solidFill>
                          <a:latin typeface="Arial" panose="020B0604020202020204"/>
                          <a:ea typeface="Arial" panose="020B0604020202020204"/>
                          <a:cs typeface="Arial" panose="020B0604020202020204"/>
                        </a:rPr>
                        <a:t>Y=1+x+e</a:t>
                      </a:r>
                      <a:endParaRPr sz="18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17000"/>
                        </a:lnSpc>
                      </a:pPr>
                      <a:endParaRPr sz="300" dirty="0">
                        <a:latin typeface="Arial" panose="020B0604020202020204"/>
                        <a:ea typeface="Arial" panose="020B0604020202020204"/>
                        <a:cs typeface="Arial" panose="020B0604020202020204"/>
                      </a:endParaRPr>
                    </a:p>
                    <a:p>
                      <a:pPr marL="213360" algn="l" rtl="0" eaLnBrk="0">
                        <a:lnSpc>
                          <a:spcPct val="75000"/>
                        </a:lnSpc>
                        <a:spcBef>
                          <a:spcPts val="0"/>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2" name="table 402"/>
          <p:cNvGraphicFramePr>
            <a:graphicFrameLocks noGrp="1"/>
          </p:cNvGraphicFramePr>
          <p:nvPr/>
        </p:nvGraphicFramePr>
        <p:xfrm>
          <a:off x="60832" y="66928"/>
          <a:ext cx="9018904" cy="6699250"/>
        </p:xfrm>
        <a:graphic>
          <a:graphicData uri="http://schemas.openxmlformats.org/drawingml/2006/table">
            <a:tbl>
              <a:tblPr/>
              <a:tblGrid>
                <a:gridCol w="880110"/>
                <a:gridCol w="8138794"/>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884045" algn="l" rtl="0" eaLnBrk="0">
                        <a:lnSpc>
                          <a:spcPct val="87000"/>
                        </a:lnSpc>
                        <a:spcBef>
                          <a:spcPts val="5"/>
                        </a:spcBef>
                      </a:pP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对数线性模型的残差散点图</a:t>
                      </a:r>
                      <a:endParaRPr sz="24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404" name="picture 404"/>
          <p:cNvPicPr>
            <a:picLocks noChangeAspect="1"/>
          </p:cNvPicPr>
          <p:nvPr/>
        </p:nvPicPr>
        <p:blipFill>
          <a:blip r:embed="rId1"/>
          <a:stretch>
            <a:fillRect/>
          </a:stretch>
        </p:blipFill>
        <p:spPr>
          <a:xfrm rot="21600000">
            <a:off x="1278636" y="1786128"/>
            <a:ext cx="6586727" cy="4424171"/>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8" name="picture 408"/>
          <p:cNvPicPr>
            <a:picLocks noChangeAspect="1"/>
          </p:cNvPicPr>
          <p:nvPr/>
        </p:nvPicPr>
        <p:blipFill>
          <a:blip r:embed="rId1"/>
          <a:stretch>
            <a:fillRect/>
          </a:stretch>
        </p:blipFill>
        <p:spPr>
          <a:xfrm rot="21600000">
            <a:off x="1339596" y="2061972"/>
            <a:ext cx="6838188" cy="3814571"/>
          </a:xfrm>
          <a:prstGeom prst="rect">
            <a:avLst/>
          </a:prstGeom>
        </p:spPr>
      </p:pic>
      <p:graphicFrame>
        <p:nvGraphicFramePr>
          <p:cNvPr id="410" name="table 410"/>
          <p:cNvGraphicFramePr>
            <a:graphicFrameLocks noGrp="1"/>
          </p:cNvGraphicFramePr>
          <p:nvPr/>
        </p:nvGraphicFramePr>
        <p:xfrm>
          <a:off x="60832" y="66928"/>
          <a:ext cx="9018905" cy="6699250"/>
        </p:xfrm>
        <a:graphic>
          <a:graphicData uri="http://schemas.openxmlformats.org/drawingml/2006/table">
            <a:tbl>
              <a:tblPr/>
              <a:tblGrid>
                <a:gridCol w="973455"/>
                <a:gridCol w="8045450"/>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marL="902335" algn="l" rtl="0" eaLnBrk="0">
                        <a:lnSpc>
                          <a:spcPct val="87000"/>
                        </a:lnSpc>
                        <a:spcBef>
                          <a:spcPts val="5"/>
                        </a:spcBef>
                      </a:pP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线性模型拟合二次函数得到的残差散点图</a:t>
                      </a:r>
                      <a:endParaRPr sz="2400" dirty="0">
                        <a:latin typeface="楷体" panose="02010609060101010101" charset="-122"/>
                        <a:ea typeface="楷体" panose="02010609060101010101" charset="-122"/>
                        <a:cs typeface="楷体" panose="02010609060101010101"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430530" algn="l" rtl="0" eaLnBrk="0">
                        <a:lnSpc>
                          <a:spcPct val="86000"/>
                        </a:lnSpc>
                        <a:spcBef>
                          <a:spcPts val="660"/>
                        </a:spcBef>
                      </a:pPr>
                      <a:r>
                        <a:rPr sz="2200" kern="0" spc="20" dirty="0">
                          <a:solidFill>
                            <a:srgbClr val="000000">
                              <a:alpha val="100000"/>
                            </a:srgbClr>
                          </a:solidFill>
                          <a:latin typeface="Arial" panose="020B0604020202020204"/>
                          <a:ea typeface="Arial" panose="020B0604020202020204"/>
                          <a:cs typeface="Arial" panose="020B0604020202020204"/>
                        </a:rPr>
                        <a:t>y=15-4x+</a:t>
                      </a:r>
                      <a:r>
                        <a:rPr sz="2200" kern="0" spc="0" dirty="0">
                          <a:solidFill>
                            <a:srgbClr val="000000">
                              <a:alpha val="100000"/>
                            </a:srgbClr>
                          </a:solidFill>
                          <a:latin typeface="Arial" panose="020B0604020202020204"/>
                          <a:ea typeface="Arial" panose="020B0604020202020204"/>
                          <a:cs typeface="Arial" panose="020B0604020202020204"/>
                        </a:rPr>
                        <a:t>e</a:t>
                      </a:r>
                      <a:r>
                        <a:rPr sz="2200" kern="0" spc="10" dirty="0">
                          <a:solidFill>
                            <a:srgbClr val="000000">
                              <a:alpha val="100000"/>
                            </a:srgbClr>
                          </a:solidFill>
                          <a:latin typeface="Arial" panose="020B0604020202020204"/>
                          <a:ea typeface="Arial" panose="020B0604020202020204"/>
                          <a:cs typeface="Arial" panose="020B0604020202020204"/>
                        </a:rPr>
                        <a:t>                                                </a:t>
                      </a:r>
                      <a:r>
                        <a:rPr sz="2200" kern="0" spc="0" dirty="0">
                          <a:solidFill>
                            <a:srgbClr val="000000">
                              <a:alpha val="100000"/>
                            </a:srgbClr>
                          </a:solidFill>
                          <a:latin typeface="Arial" panose="020B0604020202020204"/>
                          <a:ea typeface="Arial" panose="020B0604020202020204"/>
                          <a:cs typeface="Arial" panose="020B0604020202020204"/>
                        </a:rPr>
                        <a:t>       </a:t>
                      </a:r>
                      <a:r>
                        <a:rPr sz="1800" kern="0" spc="0" dirty="0">
                          <a:solidFill>
                            <a:srgbClr val="000000">
                              <a:alpha val="100000"/>
                            </a:srgbClr>
                          </a:solidFill>
                          <a:latin typeface="Arial" panose="020B0604020202020204"/>
                          <a:ea typeface="Arial" panose="020B0604020202020204"/>
                          <a:cs typeface="Arial" panose="020B0604020202020204"/>
                        </a:rPr>
                        <a:t>Ch</a:t>
                      </a:r>
                      <a:r>
                        <a:rPr sz="1800" kern="0" spc="20" dirty="0">
                          <a:solidFill>
                            <a:srgbClr val="000000">
                              <a:alpha val="100000"/>
                            </a:srgbClr>
                          </a:solidFill>
                          <a:latin typeface="Arial" panose="020B0604020202020204"/>
                          <a:ea typeface="Arial" panose="020B0604020202020204"/>
                          <a:cs typeface="Arial" panose="020B0604020202020204"/>
                        </a:rPr>
                        <a:t>4</a:t>
                      </a:r>
                      <a:r>
                        <a:rPr sz="1800" kern="0" spc="0" dirty="0">
                          <a:solidFill>
                            <a:srgbClr val="000000">
                              <a:alpha val="100000"/>
                            </a:srgbClr>
                          </a:solidFill>
                          <a:latin typeface="Arial" panose="020B0604020202020204"/>
                          <a:ea typeface="Arial" panose="020B0604020202020204"/>
                          <a:cs typeface="Arial" panose="020B0604020202020204"/>
                        </a:rPr>
                        <a:t>sim</a:t>
                      </a:r>
                      <a:r>
                        <a:rPr sz="1800" kern="0" spc="20" dirty="0">
                          <a:solidFill>
                            <a:srgbClr val="000000">
                              <a:alpha val="100000"/>
                            </a:srgbClr>
                          </a:solidFill>
                          <a:latin typeface="Arial" panose="020B0604020202020204"/>
                          <a:ea typeface="Arial" panose="020B0604020202020204"/>
                          <a:cs typeface="Arial" panose="020B0604020202020204"/>
                        </a:rPr>
                        <a:t>2.</a:t>
                      </a:r>
                      <a:r>
                        <a:rPr sz="1800" kern="0" spc="0" dirty="0">
                          <a:solidFill>
                            <a:srgbClr val="000000">
                              <a:alpha val="100000"/>
                            </a:srgbClr>
                          </a:solidFill>
                          <a:latin typeface="Arial" panose="020B0604020202020204"/>
                          <a:ea typeface="Arial" panose="020B0604020202020204"/>
                          <a:cs typeface="Arial" panose="020B0604020202020204"/>
                        </a:rPr>
                        <a:t>dat</a:t>
                      </a:r>
                      <a:endParaRPr sz="18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5601970" algn="l" rtl="0" eaLnBrk="0">
                        <a:lnSpc>
                          <a:spcPct val="93000"/>
                        </a:lnSpc>
                        <a:spcBef>
                          <a:spcPts val="545"/>
                        </a:spcBef>
                      </a:pPr>
                      <a:r>
                        <a:rPr sz="1800" kern="0" spc="-10" dirty="0">
                          <a:solidFill>
                            <a:srgbClr val="000000">
                              <a:alpha val="100000"/>
                            </a:srgbClr>
                          </a:solidFill>
                          <a:latin typeface="Perpetua" panose="02020502060401020303"/>
                          <a:ea typeface="Perpetua" panose="02020502060401020303"/>
                          <a:cs typeface="Perpetua" panose="02020502060401020303"/>
                        </a:rPr>
                        <a:t>=NORMINV(RAND(),0,1)</a:t>
                      </a:r>
                      <a:r>
                        <a:rPr sz="1800" kern="0" spc="0" dirty="0">
                          <a:solidFill>
                            <a:srgbClr val="000000">
                              <a:alpha val="100000"/>
                            </a:srgbClr>
                          </a:solidFill>
                          <a:latin typeface="Perpetua" panose="02020502060401020303"/>
                          <a:ea typeface="Perpetua" panose="02020502060401020303"/>
                          <a:cs typeface="Perpetua" panose="02020502060401020303"/>
                        </a:rPr>
                        <a:t>   </a:t>
                      </a:r>
                      <a:r>
                        <a:rPr sz="1800" kern="0" spc="-10" dirty="0">
                          <a:solidFill>
                            <a:srgbClr val="000000">
                              <a:alpha val="100000"/>
                            </a:srgbClr>
                          </a:solidFill>
                          <a:latin typeface="Perpetua" panose="02020502060401020303"/>
                          <a:ea typeface="Perpetua" panose="02020502060401020303"/>
                          <a:cs typeface="Perpetua" panose="02020502060401020303"/>
                        </a:rPr>
                        <a:t>=RAND()*(2.5+2.5)-2.5</a:t>
                      </a:r>
                      <a:endParaRPr sz="1800" dirty="0">
                        <a:latin typeface="Perpetua" panose="02020502060401020303"/>
                        <a:ea typeface="Perpetua" panose="02020502060401020303"/>
                        <a:cs typeface="Perpetua" panose="02020502060401020303"/>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708025" algn="l" rtl="0" eaLnBrk="0">
                        <a:lnSpc>
                          <a:spcPct val="83000"/>
                        </a:lnSpc>
                        <a:spcBef>
                          <a:spcPts val="545"/>
                        </a:spcBef>
                      </a:pPr>
                      <a:r>
                        <a:rPr sz="1800" kern="0" spc="0" dirty="0">
                          <a:solidFill>
                            <a:srgbClr val="000000">
                              <a:alpha val="100000"/>
                            </a:srgbClr>
                          </a:solidFill>
                          <a:latin typeface="楷体" panose="02010609060101010101" charset="-122"/>
                          <a:ea typeface="楷体" panose="02010609060101010101" charset="-122"/>
                          <a:cs typeface="楷体" panose="02010609060101010101" charset="-122"/>
                        </a:rPr>
                        <a:t>最小二乘残差明显的</a:t>
                      </a:r>
                      <a:r>
                        <a:rPr sz="1800" kern="0" spc="-10" dirty="0">
                          <a:solidFill>
                            <a:srgbClr val="000000">
                              <a:alpha val="100000"/>
                            </a:srgbClr>
                          </a:solidFill>
                          <a:latin typeface="楷体" panose="02010609060101010101" charset="-122"/>
                          <a:ea typeface="楷体" panose="02010609060101010101" charset="-122"/>
                          <a:cs typeface="楷体" panose="02010609060101010101" charset="-122"/>
                        </a:rPr>
                        <a:t>二次函数形状，表明线性模型设定是错</a:t>
                      </a:r>
                      <a:endParaRPr sz="1800" dirty="0">
                        <a:latin typeface="楷体" panose="02010609060101010101" charset="-122"/>
                        <a:ea typeface="楷体" panose="02010609060101010101" charset="-122"/>
                        <a:cs typeface="楷体" panose="02010609060101010101" charset="-122"/>
                      </a:endParaRPr>
                    </a:p>
                    <a:p>
                      <a:pPr marL="695325" algn="l" rtl="0" eaLnBrk="0">
                        <a:lnSpc>
                          <a:spcPts val="3240"/>
                        </a:lnSpc>
                      </a:pPr>
                      <a:r>
                        <a:rPr sz="1800" kern="0" spc="-50" dirty="0">
                          <a:solidFill>
                            <a:srgbClr val="000000">
                              <a:alpha val="100000"/>
                            </a:srgbClr>
                          </a:solidFill>
                          <a:latin typeface="楷体" panose="02010609060101010101" charset="-122"/>
                          <a:ea typeface="楷体" panose="02010609060101010101" charset="-122"/>
                          <a:cs typeface="楷体" panose="02010609060101010101" charset="-122"/>
                        </a:rPr>
                        <a:t>误的：线性模型遗漏了变</a:t>
                      </a:r>
                      <a:r>
                        <a:rPr sz="1800" kern="0" spc="-60" dirty="0">
                          <a:solidFill>
                            <a:srgbClr val="000000">
                              <a:alpha val="100000"/>
                            </a:srgbClr>
                          </a:solidFill>
                          <a:latin typeface="楷体" panose="02010609060101010101" charset="-122"/>
                          <a:ea typeface="楷体" panose="02010609060101010101" charset="-122"/>
                          <a:cs typeface="楷体" panose="02010609060101010101" charset="-122"/>
                        </a:rPr>
                        <a:t>量间关系的曲线方面。</a:t>
                      </a:r>
                      <a:endParaRPr sz="18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6" name="table 446"/>
          <p:cNvGraphicFramePr>
            <a:graphicFrameLocks noGrp="1"/>
          </p:cNvGraphicFramePr>
          <p:nvPr/>
        </p:nvGraphicFramePr>
        <p:xfrm>
          <a:off x="60832" y="66928"/>
          <a:ext cx="9018905" cy="6699250"/>
        </p:xfrm>
        <a:graphic>
          <a:graphicData uri="http://schemas.openxmlformats.org/drawingml/2006/table">
            <a:tbl>
              <a:tblPr/>
              <a:tblGrid>
                <a:gridCol w="643255"/>
                <a:gridCol w="8375650"/>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4000"/>
                        </a:lnSpc>
                      </a:pPr>
                      <a:endParaRPr sz="1000" dirty="0">
                        <a:latin typeface="Arial" panose="020B0604020202020204"/>
                        <a:ea typeface="Arial" panose="020B0604020202020204"/>
                        <a:cs typeface="Arial" panose="020B0604020202020204"/>
                      </a:endParaRPr>
                    </a:p>
                    <a:p>
                      <a:pPr marL="325120" algn="l" rtl="0" eaLnBrk="0">
                        <a:lnSpc>
                          <a:spcPct val="87000"/>
                        </a:lnSpc>
                        <a:spcBef>
                          <a:spcPts val="0"/>
                        </a:spcBef>
                      </a:pPr>
                      <a:r>
                        <a:rPr sz="22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3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b="1" kern="0" spc="-50" dirty="0">
                          <a:solidFill>
                            <a:srgbClr val="000000">
                              <a:alpha val="100000"/>
                            </a:srgbClr>
                          </a:solidFill>
                          <a:latin typeface="楷体" panose="02010609060101010101" charset="-122"/>
                          <a:ea typeface="楷体" panose="02010609060101010101" charset="-122"/>
                          <a:cs typeface="楷体" panose="02010609060101010101" charset="-122"/>
                        </a:rPr>
                        <a:t>（</a:t>
                      </a:r>
                      <a:r>
                        <a:rPr lang="zh-CN" altLang="en-US" sz="2600" b="1" kern="0" spc="-50" dirty="0">
                          <a:solidFill>
                            <a:srgbClr val="000000">
                              <a:alpha val="100000"/>
                            </a:srgbClr>
                          </a:solidFill>
                          <a:latin typeface="楷体" panose="02010609060101010101" charset="-122"/>
                          <a:ea typeface="楷体" panose="02010609060101010101" charset="-122"/>
                          <a:cs typeface="楷体" panose="02010609060101010101" charset="-122"/>
                        </a:rPr>
                        <a:t>四</a:t>
                      </a:r>
                      <a:r>
                        <a:rPr sz="2600" b="1" kern="0" spc="-50" dirty="0">
                          <a:solidFill>
                            <a:srgbClr val="000000">
                              <a:alpha val="100000"/>
                            </a:srgbClr>
                          </a:solidFill>
                          <a:latin typeface="楷体" panose="02010609060101010101" charset="-122"/>
                          <a:ea typeface="楷体" panose="02010609060101010101" charset="-122"/>
                          <a:cs typeface="楷体" panose="02010609060101010101" charset="-122"/>
                        </a:rPr>
                        <a:t>）识别“异常值”</a:t>
                      </a:r>
                      <a:endParaRPr sz="26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448" name="picture 448"/>
          <p:cNvPicPr>
            <a:picLocks noChangeAspect="1"/>
          </p:cNvPicPr>
          <p:nvPr/>
        </p:nvPicPr>
        <p:blipFill>
          <a:blip r:embed="rId1"/>
          <a:stretch>
            <a:fillRect/>
          </a:stretch>
        </p:blipFill>
        <p:spPr>
          <a:xfrm rot="21600000">
            <a:off x="1324355" y="1100328"/>
            <a:ext cx="5977128" cy="5605271"/>
          </a:xfrm>
          <a:prstGeom prst="rect">
            <a:avLst/>
          </a:prstGeom>
        </p:spPr>
      </p:pic>
      <p:sp>
        <p:nvSpPr>
          <p:cNvPr id="450" name="textbox 450"/>
          <p:cNvSpPr/>
          <p:nvPr/>
        </p:nvSpPr>
        <p:spPr>
          <a:xfrm>
            <a:off x="782158" y="2382367"/>
            <a:ext cx="261620" cy="2508250"/>
          </a:xfrm>
          <a:prstGeom prst="rect">
            <a:avLst/>
          </a:prstGeom>
          <a:noFill/>
          <a:ln w="0" cap="flat">
            <a:noFill/>
            <a:prstDash val="solid"/>
            <a:miter lim="0"/>
          </a:ln>
        </p:spPr>
        <p:txBody>
          <a:bodyPr vert="eaVert" wrap="square" lIns="0" tIns="0" rIns="0" bIns="0"/>
          <a:lstStyle/>
          <a:p>
            <a:pPr algn="l" rtl="0" eaLnBrk="0">
              <a:lnSpc>
                <a:spcPct val="74000"/>
              </a:lnSpc>
            </a:pPr>
            <a:endParaRPr sz="100" dirty="0">
              <a:latin typeface="Arial" panose="020B0604020202020204"/>
              <a:ea typeface="Arial" panose="020B0604020202020204"/>
              <a:cs typeface="Arial" panose="020B0604020202020204"/>
            </a:endParaRPr>
          </a:p>
          <a:p>
            <a:pPr marL="12700" algn="l" rtl="0" eaLnBrk="0">
              <a:lnSpc>
                <a:spcPct val="85000"/>
              </a:lnSpc>
            </a:pPr>
            <a:r>
              <a:rPr sz="1800" b="1" kern="0" spc="-30" dirty="0">
                <a:solidFill>
                  <a:srgbClr val="000000">
                    <a:alpha val="100000"/>
                  </a:srgbClr>
                </a:solidFill>
                <a:latin typeface="楷体" panose="02010609060101010101" charset="-122"/>
                <a:ea typeface="楷体" panose="02010609060101010101" charset="-122"/>
                <a:cs typeface="楷体" panose="02010609060101010101" charset="-122"/>
              </a:rPr>
              <a:t>异常值的影响</a:t>
            </a:r>
            <a:r>
              <a:rPr sz="2700" b="1" kern="0" spc="-30" baseline="17000" dirty="0">
                <a:solidFill>
                  <a:srgbClr val="000000">
                    <a:alpha val="100000"/>
                  </a:srgbClr>
                </a:solidFill>
                <a:latin typeface="楷体" panose="02010609060101010101" charset="-122"/>
                <a:ea typeface="楷体" panose="02010609060101010101" charset="-122"/>
                <a:cs typeface="楷体" panose="02010609060101010101" charset="-122"/>
              </a:rPr>
              <a:t>：</a:t>
            </a:r>
            <a:r>
              <a:rPr sz="1800" b="1" kern="0" spc="-30" dirty="0">
                <a:solidFill>
                  <a:srgbClr val="000000">
                    <a:alpha val="100000"/>
                  </a:srgbClr>
                </a:solidFill>
                <a:latin typeface="楷体" panose="02010609060101010101" charset="-122"/>
                <a:ea typeface="楷体" panose="02010609060101010101" charset="-122"/>
                <a:cs typeface="楷体" panose="02010609060101010101" charset="-122"/>
              </a:rPr>
              <a:t>估计结</a:t>
            </a:r>
            <a:r>
              <a:rPr sz="1800" b="1" kern="0" spc="-40" dirty="0">
                <a:solidFill>
                  <a:srgbClr val="000000">
                    <a:alpha val="100000"/>
                  </a:srgbClr>
                </a:solidFill>
                <a:latin typeface="楷体" panose="02010609060101010101" charset="-122"/>
                <a:ea typeface="楷体" panose="02010609060101010101" charset="-122"/>
                <a:cs typeface="楷体" panose="02010609060101010101" charset="-122"/>
              </a:rPr>
              <a:t>果</a:t>
            </a:r>
            <a:endParaRPr sz="18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4" name="table 454"/>
          <p:cNvGraphicFramePr>
            <a:graphicFrameLocks noGrp="1"/>
          </p:cNvGraphicFramePr>
          <p:nvPr/>
        </p:nvGraphicFramePr>
        <p:xfrm>
          <a:off x="60832" y="66928"/>
          <a:ext cx="9018903" cy="6699250"/>
        </p:xfrm>
        <a:graphic>
          <a:graphicData uri="http://schemas.openxmlformats.org/drawingml/2006/table">
            <a:tbl>
              <a:tblPr/>
              <a:tblGrid>
                <a:gridCol w="690244"/>
                <a:gridCol w="83286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689225" algn="l" rtl="0" eaLnBrk="0">
                        <a:lnSpc>
                          <a:spcPct val="87000"/>
                        </a:lnSpc>
                      </a:pPr>
                      <a:r>
                        <a:rPr sz="1800" b="1" kern="0" spc="-20" dirty="0">
                          <a:solidFill>
                            <a:srgbClr val="000000">
                              <a:alpha val="100000"/>
                            </a:srgbClr>
                          </a:solidFill>
                          <a:latin typeface="楷体" panose="02010609060101010101" charset="-122"/>
                          <a:ea typeface="楷体" panose="02010609060101010101" charset="-122"/>
                          <a:cs typeface="楷体" panose="02010609060101010101" charset="-122"/>
                        </a:rPr>
                        <a:t>异常值的影响：散点图</a:t>
                      </a:r>
                      <a:endParaRPr sz="18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456" name="picture 456"/>
          <p:cNvPicPr>
            <a:picLocks noChangeAspect="1"/>
          </p:cNvPicPr>
          <p:nvPr/>
        </p:nvPicPr>
        <p:blipFill>
          <a:blip r:embed="rId1"/>
          <a:stretch>
            <a:fillRect/>
          </a:stretch>
        </p:blipFill>
        <p:spPr>
          <a:xfrm rot="21600000">
            <a:off x="899160" y="1557528"/>
            <a:ext cx="7546847" cy="4383023"/>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 name="table 460"/>
          <p:cNvGraphicFramePr>
            <a:graphicFrameLocks noGrp="1"/>
          </p:cNvGraphicFramePr>
          <p:nvPr/>
        </p:nvGraphicFramePr>
        <p:xfrm>
          <a:off x="60832" y="66928"/>
          <a:ext cx="9018905" cy="6699248"/>
        </p:xfrm>
        <a:graphic>
          <a:graphicData uri="http://schemas.openxmlformats.org/drawingml/2006/table">
            <a:tbl>
              <a:tblPr/>
              <a:tblGrid>
                <a:gridCol w="9018905"/>
              </a:tblGrid>
              <a:tr h="5240654">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65200" algn="l" rtl="0" eaLnBrk="0">
                        <a:lnSpc>
                          <a:spcPct val="8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异常值：不寻常或影响非常明显的观测值</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1236980" indent="-271780" algn="l" rtl="0" eaLnBrk="0">
                        <a:lnSpc>
                          <a:spcPct val="127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检测异常值：删除观测值，重新估计模型，将结果与基于完</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整样本得到的结果进</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行比较。</a:t>
                      </a:r>
                      <a:endParaRPr sz="2100" dirty="0">
                        <a:latin typeface="楷体" panose="02010609060101010101" charset="-122"/>
                        <a:ea typeface="楷体" panose="02010609060101010101" charset="-122"/>
                        <a:cs typeface="楷体" panose="02010609060101010101" charset="-122"/>
                      </a:endParaRPr>
                    </a:p>
                    <a:p>
                      <a:pPr algn="l" rtl="0" eaLnBrk="0">
                        <a:lnSpc>
                          <a:spcPct val="124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——识别异常值</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——评估以异常值对估计系</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数和模型预测的影响</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458594">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p:cNvGraphicFramePr>
            <a:graphicFrameLocks noGrp="1"/>
          </p:cNvGraphicFramePr>
          <p:nvPr/>
        </p:nvGraphicFramePr>
        <p:xfrm>
          <a:off x="60832" y="-241604"/>
          <a:ext cx="9018905" cy="7007859"/>
        </p:xfrm>
        <a:graphic>
          <a:graphicData uri="http://schemas.openxmlformats.org/drawingml/2006/table">
            <a:tbl>
              <a:tblPr/>
              <a:tblGrid>
                <a:gridCol w="9018905"/>
              </a:tblGrid>
              <a:tr h="5315584">
                <a:tc>
                  <a:txBody>
                    <a:bodyPr/>
                    <a:lstStyle/>
                    <a:p>
                      <a:pPr algn="l" rtl="0" eaLnBrk="0">
                        <a:lnSpc>
                          <a:spcPct val="7000"/>
                        </a:lnSpc>
                      </a:pPr>
                      <a:endParaRPr sz="100" dirty="0">
                        <a:latin typeface="Arial" panose="020B0604020202020204"/>
                        <a:ea typeface="Arial" panose="020B0604020202020204"/>
                        <a:cs typeface="Arial" panose="020B0604020202020204"/>
                      </a:endParaRPr>
                    </a:p>
                    <a:p>
                      <a:pPr marL="962660" algn="l" rtl="0" eaLnBrk="0">
                        <a:lnSpc>
                          <a:spcPct val="87000"/>
                        </a:lnSpc>
                      </a:pPr>
                      <a:r>
                        <a:rPr sz="3600" b="1" kern="0" spc="-50" dirty="0">
                          <a:solidFill>
                            <a:srgbClr val="FFFFFF">
                              <a:alpha val="100000"/>
                            </a:srgbClr>
                          </a:solidFill>
                          <a:latin typeface="黑体" panose="02010609060101010101" charset="-122"/>
                          <a:ea typeface="黑体" panose="02010609060101010101" charset="-122"/>
                          <a:cs typeface="黑体" panose="02010609060101010101" charset="-122"/>
                        </a:rPr>
                        <a:t>第五章</a:t>
                      </a:r>
                      <a:endParaRPr sz="3600" dirty="0">
                        <a:latin typeface="黑体" panose="02010609060101010101" charset="-122"/>
                        <a:ea typeface="黑体" panose="02010609060101010101" charset="-122"/>
                        <a:cs typeface="黑体" panose="02010609060101010101"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3769360" algn="l" rtl="0" eaLnBrk="0">
                        <a:lnSpc>
                          <a:spcPct val="86000"/>
                        </a:lnSpc>
                        <a:spcBef>
                          <a:spcPts val="1180"/>
                        </a:spcBef>
                      </a:pPr>
                      <a:r>
                        <a:rPr sz="3900" b="1" kern="0" spc="70" dirty="0">
                          <a:solidFill>
                            <a:srgbClr val="000000">
                              <a:alpha val="100000"/>
                            </a:srgbClr>
                          </a:solidFill>
                          <a:latin typeface="幼圆" panose="02010509060101010101" charset="-122"/>
                          <a:ea typeface="幼圆" panose="02010509060101010101" charset="-122"/>
                          <a:cs typeface="幼圆" panose="02010509060101010101" charset="-122"/>
                        </a:rPr>
                        <a:t>第四章</a:t>
                      </a:r>
                      <a:endParaRPr sz="3900" dirty="0">
                        <a:latin typeface="幼圆" panose="02010509060101010101" charset="-122"/>
                        <a:ea typeface="幼圆" panose="02010509060101010101" charset="-122"/>
                        <a:cs typeface="幼圆" panose="02010509060101010101" charset="-122"/>
                      </a:endParaRPr>
                    </a:p>
                    <a:p>
                      <a:pPr algn="l" rtl="0" eaLnBrk="0">
                        <a:lnSpc>
                          <a:spcPct val="170000"/>
                        </a:lnSpc>
                      </a:pPr>
                      <a:endParaRPr sz="1000" dirty="0">
                        <a:latin typeface="Arial" panose="020B0604020202020204"/>
                        <a:ea typeface="Arial" panose="020B0604020202020204"/>
                        <a:cs typeface="Arial" panose="020B0604020202020204"/>
                      </a:endParaRPr>
                    </a:p>
                    <a:p>
                      <a:pPr algn="l" rtl="0" eaLnBrk="0">
                        <a:lnSpc>
                          <a:spcPct val="108000"/>
                        </a:lnSpc>
                      </a:pPr>
                      <a:endParaRPr sz="9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561590" algn="l" rtl="0" eaLnBrk="0">
                        <a:lnSpc>
                          <a:spcPct val="86000"/>
                        </a:lnSpc>
                      </a:pPr>
                      <a:r>
                        <a:rPr sz="3900" b="1" kern="0" spc="80" dirty="0">
                          <a:solidFill>
                            <a:srgbClr val="000000">
                              <a:alpha val="100000"/>
                            </a:srgbClr>
                          </a:solidFill>
                          <a:latin typeface="幼圆" panose="02010509060101010101" charset="-122"/>
                          <a:ea typeface="幼圆" panose="02010509060101010101" charset="-122"/>
                          <a:cs typeface="幼圆" panose="02010509060101010101" charset="-122"/>
                        </a:rPr>
                        <a:t>多元线性回归模型</a:t>
                      </a:r>
                      <a:endParaRPr sz="3900" dirty="0">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92275">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70510"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4"/>
          <p:cNvGraphicFramePr>
            <a:graphicFrameLocks noGrp="1"/>
          </p:cNvGraphicFramePr>
          <p:nvPr/>
        </p:nvGraphicFramePr>
        <p:xfrm>
          <a:off x="60832" y="66928"/>
          <a:ext cx="9018905" cy="6699248"/>
        </p:xfrm>
        <a:graphic>
          <a:graphicData uri="http://schemas.openxmlformats.org/drawingml/2006/table">
            <a:tbl>
              <a:tblPr/>
              <a:tblGrid>
                <a:gridCol w="9018905"/>
              </a:tblGrid>
              <a:tr h="5688329">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3846830" algn="l" rtl="0" eaLnBrk="0">
                        <a:lnSpc>
                          <a:spcPct val="86000"/>
                        </a:lnSpc>
                      </a:pPr>
                      <a:r>
                        <a:rPr sz="3600" b="1" kern="0" spc="-120" dirty="0">
                          <a:solidFill>
                            <a:srgbClr val="000000">
                              <a:alpha val="100000"/>
                            </a:srgbClr>
                          </a:solidFill>
                          <a:latin typeface="黑体" panose="02010609060101010101" charset="-122"/>
                          <a:ea typeface="黑体" panose="02010609060101010101" charset="-122"/>
                          <a:cs typeface="黑体" panose="02010609060101010101" charset="-122"/>
                        </a:rPr>
                        <a:t>一、导言</a:t>
                      </a:r>
                      <a:endParaRPr sz="3600" dirty="0">
                        <a:latin typeface="黑体" panose="02010609060101010101" charset="-122"/>
                        <a:ea typeface="黑体" panose="02010609060101010101" charset="-122"/>
                        <a:cs typeface="黑体" panose="02010609060101010101" charset="-122"/>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1251585" indent="-286385" algn="l" rtl="0" eaLnBrk="0">
                        <a:lnSpc>
                          <a:spcPct val="129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构建一个计量经济模型，</a:t>
                      </a:r>
                      <a:r>
                        <a:rPr sz="2100" kern="0" spc="-4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其中销售收入取决于一到多个</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解释</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变量：</a:t>
                      </a:r>
                      <a:endParaRPr sz="2100" dirty="0">
                        <a:latin typeface="楷体" panose="02010609060101010101" charset="-122"/>
                        <a:ea typeface="楷体" panose="02010609060101010101" charset="-122"/>
                        <a:cs typeface="楷体" panose="02010609060101010101" charset="-122"/>
                      </a:endParaRPr>
                    </a:p>
                    <a:p>
                      <a:pPr algn="l" rtl="0" eaLnBrk="0">
                        <a:lnSpc>
                          <a:spcPct val="114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首</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先假设销售收入与价格和广告支出线性相关。</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经济模型</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为:</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1000"/>
                        </a:lnSpc>
                      </a:pPr>
                      <a:endParaRPr sz="600" dirty="0">
                        <a:latin typeface="Arial" panose="020B0604020202020204"/>
                        <a:ea typeface="Arial" panose="020B0604020202020204"/>
                        <a:cs typeface="Arial" panose="020B0604020202020204"/>
                      </a:endParaRPr>
                    </a:p>
                    <a:p>
                      <a:pPr marL="2124710" algn="l" rtl="0" eaLnBrk="0">
                        <a:lnSpc>
                          <a:spcPct val="97000"/>
                        </a:lnSpc>
                        <a:spcBef>
                          <a:spcPts val="5"/>
                        </a:spcBef>
                      </a:pP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4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50" dirty="0">
                          <a:solidFill>
                            <a:srgbClr val="000000">
                              <a:alpha val="100000"/>
                            </a:srgbClr>
                          </a:solidFill>
                          <a:latin typeface="Arial" panose="020B0604020202020204"/>
                          <a:ea typeface="Arial" panose="020B0604020202020204"/>
                          <a:cs typeface="Arial" panose="020B0604020202020204"/>
                        </a:rPr>
                        <a:t>= β</a:t>
                      </a:r>
                      <a:r>
                        <a:rPr sz="2100" kern="0" spc="5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50" dirty="0">
                          <a:solidFill>
                            <a:srgbClr val="000000">
                              <a:alpha val="100000"/>
                            </a:srgbClr>
                          </a:solidFill>
                          <a:latin typeface="Arial" panose="020B0604020202020204"/>
                          <a:ea typeface="Arial" panose="020B0604020202020204"/>
                          <a:cs typeface="Arial" panose="020B0604020202020204"/>
                        </a:rPr>
                        <a:t>+</a:t>
                      </a:r>
                      <a:r>
                        <a:rPr sz="2400" kern="0" spc="-70" dirty="0">
                          <a:solidFill>
                            <a:srgbClr val="000000">
                              <a:alpha val="100000"/>
                            </a:srgbClr>
                          </a:solidFill>
                          <a:latin typeface="Arial" panose="020B0604020202020204"/>
                          <a:ea typeface="Arial" panose="020B0604020202020204"/>
                          <a:cs typeface="Arial" panose="020B0604020202020204"/>
                        </a:rPr>
                        <a:t> </a:t>
                      </a:r>
                      <a:r>
                        <a:rPr sz="2400" kern="0" spc="50" dirty="0">
                          <a:solidFill>
                            <a:srgbClr val="000000">
                              <a:alpha val="100000"/>
                            </a:srgbClr>
                          </a:solidFill>
                          <a:latin typeface="Arial" panose="020B0604020202020204"/>
                          <a:ea typeface="Arial" panose="020B0604020202020204"/>
                          <a:cs typeface="Arial" panose="020B0604020202020204"/>
                        </a:rPr>
                        <a:t>β</a:t>
                      </a:r>
                      <a:r>
                        <a:rPr sz="2100" kern="0" spc="5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4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50" dirty="0">
                          <a:solidFill>
                            <a:srgbClr val="000000">
                              <a:alpha val="100000"/>
                            </a:srgbClr>
                          </a:solidFill>
                          <a:latin typeface="Arial" panose="020B0604020202020204"/>
                          <a:ea typeface="Arial" panose="020B0604020202020204"/>
                          <a:cs typeface="Arial" panose="020B0604020202020204"/>
                        </a:rPr>
                        <a:t>+</a:t>
                      </a:r>
                      <a:r>
                        <a:rPr sz="2400" kern="0" spc="-130" dirty="0">
                          <a:solidFill>
                            <a:srgbClr val="000000">
                              <a:alpha val="100000"/>
                            </a:srgbClr>
                          </a:solidFill>
                          <a:latin typeface="Arial" panose="020B0604020202020204"/>
                          <a:ea typeface="Arial" panose="020B0604020202020204"/>
                          <a:cs typeface="Arial" panose="020B0604020202020204"/>
                        </a:rPr>
                        <a:t> </a:t>
                      </a:r>
                      <a:r>
                        <a:rPr sz="2400" kern="0" spc="50" dirty="0">
                          <a:solidFill>
                            <a:srgbClr val="000000">
                              <a:alpha val="100000"/>
                            </a:srgbClr>
                          </a:solidFill>
                          <a:latin typeface="Arial" panose="020B0604020202020204"/>
                          <a:ea typeface="Arial" panose="020B0604020202020204"/>
                          <a:cs typeface="Arial" panose="020B0604020202020204"/>
                        </a:rPr>
                        <a:t>β</a:t>
                      </a:r>
                      <a:r>
                        <a:rPr sz="2100" kern="0" spc="50" baseline="-27000" dirty="0">
                          <a:solidFill>
                            <a:srgbClr val="000000">
                              <a:alpha val="100000"/>
                            </a:srgbClr>
                          </a:solidFill>
                          <a:latin typeface="Times New Roman" panose="02020603050405020304"/>
                          <a:ea typeface="Times New Roman" panose="02020603050405020304"/>
                          <a:cs typeface="Times New Roman" panose="02020603050405020304"/>
                        </a:rPr>
                        <a:t>3</a:t>
                      </a:r>
                      <a:r>
                        <a:rPr sz="13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400" i="1" kern="0" spc="0" dirty="0">
                          <a:solidFill>
                            <a:srgbClr val="000000">
                              <a:alpha val="100000"/>
                            </a:srgbClr>
                          </a:solidFill>
                          <a:latin typeface="Times New Roman" panose="02020603050405020304"/>
                          <a:ea typeface="Times New Roman" panose="02020603050405020304"/>
                          <a:cs typeface="Times New Roman" panose="02020603050405020304"/>
                        </a:rPr>
                        <a:t>ADVERT</a:t>
                      </a:r>
                      <a:endParaRPr sz="24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10919">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6606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8"/>
          <p:cNvGraphicFramePr>
            <a:graphicFrameLocks noGrp="1"/>
          </p:cNvGraphicFramePr>
          <p:nvPr/>
        </p:nvGraphicFramePr>
        <p:xfrm>
          <a:off x="60832" y="66928"/>
          <a:ext cx="9018905" cy="6699248"/>
        </p:xfrm>
        <a:graphic>
          <a:graphicData uri="http://schemas.openxmlformats.org/drawingml/2006/table">
            <a:tbl>
              <a:tblPr/>
              <a:tblGrid>
                <a:gridCol w="9018905"/>
              </a:tblGrid>
              <a:tr h="5455284">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大部分经济模型中包含两个或两个</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以上的解释变量</a:t>
                      </a:r>
                      <a:endParaRPr sz="2100" dirty="0">
                        <a:latin typeface="楷体" panose="02010609060101010101" charset="-122"/>
                        <a:ea typeface="楷体" panose="02010609060101010101" charset="-122"/>
                        <a:cs typeface="楷体" panose="02010609060101010101" charset="-122"/>
                      </a:endParaRPr>
                    </a:p>
                    <a:p>
                      <a:pPr algn="l" rtl="0" eaLnBrk="0">
                        <a:lnSpc>
                          <a:spcPct val="146000"/>
                        </a:lnSpc>
                      </a:pPr>
                      <a:endParaRPr sz="1000" dirty="0">
                        <a:latin typeface="Arial" panose="020B0604020202020204"/>
                        <a:ea typeface="Arial" panose="020B0604020202020204"/>
                        <a:cs typeface="Arial" panose="020B0604020202020204"/>
                      </a:endParaRPr>
                    </a:p>
                    <a:p>
                      <a:pPr marL="1247775" indent="-282575" algn="l" rtl="0" eaLnBrk="0">
                        <a:lnSpc>
                          <a:spcPct val="126000"/>
                        </a:lnSpc>
                        <a:spcBef>
                          <a:spcPts val="63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当我们将包含多个解释变量的经济模型转化为对应的计量经</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济模型时，我们称之为</a:t>
                      </a:r>
                      <a:r>
                        <a:rPr sz="2100" b="1" kern="0" spc="80" dirty="0">
                          <a:solidFill>
                            <a:srgbClr val="000000">
                              <a:alpha val="100000"/>
                            </a:srgbClr>
                          </a:solidFill>
                          <a:latin typeface="楷体" panose="02010609060101010101" charset="-122"/>
                          <a:ea typeface="楷体" panose="02010609060101010101" charset="-122"/>
                          <a:cs typeface="楷体" panose="02010609060101010101" charset="-122"/>
                        </a:rPr>
                        <a:t>多元回归模</a:t>
                      </a:r>
                      <a:r>
                        <a:rPr sz="2100" b="1" kern="0" spc="70" dirty="0">
                          <a:solidFill>
                            <a:srgbClr val="000000">
                              <a:alpha val="100000"/>
                            </a:srgbClr>
                          </a:solidFill>
                          <a:latin typeface="楷体" panose="02010609060101010101" charset="-122"/>
                          <a:ea typeface="楷体" panose="02010609060101010101" charset="-122"/>
                          <a:cs typeface="楷体" panose="02010609060101010101" charset="-122"/>
                        </a:rPr>
                        <a:t>型</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marL="1243330" indent="-278130" algn="l" rtl="0" eaLnBrk="0">
                        <a:lnSpc>
                          <a:spcPct val="127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简单一元回归模型中</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的大部分结果可以自然地扩展到多元的</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情形中。</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1348105" indent="-382905" algn="l" rtl="0" eaLnBrk="0">
                        <a:lnSpc>
                          <a:spcPct val="127000"/>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与一元回归相比，多元回归最主要的区别在于参数的解释从</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“全导数”变为“偏导数”！</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243964">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66700"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6860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11455" algn="l" rtl="0" eaLnBrk="0">
                        <a:lnSpc>
                          <a:spcPts val="2745"/>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80" baseline="-1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为给定广告支出</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ADVERT</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不变时，价格指数</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增加一</a:t>
                      </a:r>
                      <a:endParaRPr sz="2100" dirty="0">
                        <a:latin typeface="楷体" panose="02010609060101010101" charset="-122"/>
                        <a:ea typeface="楷体" panose="02010609060101010101" charset="-122"/>
                        <a:cs typeface="楷体" panose="02010609060101010101" charset="-122"/>
                      </a:endParaRPr>
                    </a:p>
                    <a:p>
                      <a:pPr marL="471170" algn="l" rtl="0" eaLnBrk="0">
                        <a:lnSpc>
                          <a:spcPts val="3575"/>
                        </a:lnSpc>
                      </a:pP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个单位，月度销售额</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 ($1000)</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的变动量：</a:t>
                      </a:r>
                      <a:endParaRPr sz="2100" dirty="0">
                        <a:latin typeface="楷体" panose="02010609060101010101" charset="-122"/>
                        <a:ea typeface="楷体" panose="02010609060101010101" charset="-122"/>
                        <a:cs typeface="楷体" panose="02010609060101010101" charset="-122"/>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2753995" indent="-327660" algn="l" rtl="0" eaLnBrk="0">
                        <a:lnSpc>
                          <a:spcPct val="448000"/>
                        </a:lnSpc>
                        <a:spcBef>
                          <a:spcPts val="310"/>
                        </a:spcBef>
                        <a:tabLst>
                          <a:tab pos="3873500" algn="l"/>
                          <a:tab pos="5533390" algn="l"/>
                        </a:tabLst>
                      </a:pP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211455" algn="l" rtl="0" eaLnBrk="0">
                        <a:lnSpc>
                          <a:spcPts val="2740"/>
                        </a:lnSpc>
                        <a:spcBef>
                          <a:spcPts val="64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70" baseline="-14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为给定价格指数</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不变时，广告支出增加</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个单位</a:t>
                      </a:r>
                      <a:endParaRPr sz="2100" dirty="0">
                        <a:latin typeface="楷体" panose="02010609060101010101" charset="-122"/>
                        <a:ea typeface="楷体" panose="02010609060101010101" charset="-122"/>
                        <a:cs typeface="楷体" panose="02010609060101010101" charset="-122"/>
                      </a:endParaRPr>
                    </a:p>
                    <a:p>
                      <a:pPr marL="476885" algn="l" rtl="0" eaLnBrk="0">
                        <a:lnSpc>
                          <a:spcPts val="3575"/>
                        </a:lnSpc>
                      </a:pPr>
                      <a:r>
                        <a:rPr sz="2100" kern="0" spc="20" dirty="0">
                          <a:solidFill>
                            <a:srgbClr val="000000">
                              <a:alpha val="100000"/>
                            </a:srgbClr>
                          </a:solidFill>
                          <a:latin typeface="Times New Roman" panose="02020603050405020304"/>
                          <a:ea typeface="Times New Roman" panose="02020603050405020304"/>
                          <a:cs typeface="Times New Roman" panose="02020603050405020304"/>
                        </a:rPr>
                        <a:t>($1000)</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，月度销售额</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($1000)</a:t>
                      </a:r>
                      <a:r>
                        <a:rPr sz="21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的变动量：</a:t>
                      </a:r>
                      <a:endParaRPr sz="2100" dirty="0">
                        <a:latin typeface="楷体" panose="02010609060101010101" charset="-122"/>
                        <a:ea typeface="楷体" panose="02010609060101010101" charset="-122"/>
                        <a:cs typeface="楷体" panose="02010609060101010101"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26000"/>
                        </a:lnSpc>
                      </a:pPr>
                      <a:endParaRPr sz="200" dirty="0">
                        <a:latin typeface="Arial" panose="020B0604020202020204"/>
                        <a:ea typeface="Arial" panose="020B0604020202020204"/>
                        <a:cs typeface="Arial" panose="020B0604020202020204"/>
                      </a:endParaRPr>
                    </a:p>
                    <a:p>
                      <a:pPr marL="2471420" indent="-318135" algn="l" rtl="0" eaLnBrk="0">
                        <a:lnSpc>
                          <a:spcPct val="448000"/>
                        </a:lnSpc>
                        <a:spcBef>
                          <a:spcPts val="0"/>
                        </a:spcBef>
                        <a:tabLst>
                          <a:tab pos="3843020" algn="l"/>
                          <a:tab pos="5349875" algn="l"/>
                        </a:tabLst>
                      </a:pP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 name="picture 24"/>
          <p:cNvPicPr>
            <a:picLocks noChangeAspect="1"/>
          </p:cNvPicPr>
          <p:nvPr/>
        </p:nvPicPr>
        <p:blipFill>
          <a:blip r:embed="rId1"/>
          <a:stretch>
            <a:fillRect/>
          </a:stretch>
        </p:blipFill>
        <p:spPr>
          <a:xfrm rot="21600000">
            <a:off x="3286881" y="5597297"/>
            <a:ext cx="1371088" cy="612032"/>
          </a:xfrm>
          <a:prstGeom prst="rect">
            <a:avLst/>
          </a:prstGeom>
        </p:spPr>
      </p:pic>
      <p:pic>
        <p:nvPicPr>
          <p:cNvPr id="26" name="picture 26"/>
          <p:cNvPicPr>
            <a:picLocks noChangeAspect="1"/>
          </p:cNvPicPr>
          <p:nvPr/>
        </p:nvPicPr>
        <p:blipFill>
          <a:blip r:embed="rId2"/>
          <a:stretch>
            <a:fillRect/>
          </a:stretch>
        </p:blipFill>
        <p:spPr>
          <a:xfrm rot="21600000">
            <a:off x="2968155" y="4844432"/>
            <a:ext cx="3197121" cy="600431"/>
          </a:xfrm>
          <a:prstGeom prst="rect">
            <a:avLst/>
          </a:prstGeom>
        </p:spPr>
      </p:pic>
      <p:pic>
        <p:nvPicPr>
          <p:cNvPr id="28" name="picture 28"/>
          <p:cNvPicPr>
            <a:picLocks noChangeAspect="1"/>
          </p:cNvPicPr>
          <p:nvPr/>
        </p:nvPicPr>
        <p:blipFill>
          <a:blip r:embed="rId3"/>
          <a:stretch>
            <a:fillRect/>
          </a:stretch>
        </p:blipFill>
        <p:spPr>
          <a:xfrm rot="21600000">
            <a:off x="3569251" y="2815997"/>
            <a:ext cx="1119437" cy="612032"/>
          </a:xfrm>
          <a:prstGeom prst="rect">
            <a:avLst/>
          </a:prstGeom>
        </p:spPr>
      </p:pic>
      <p:pic>
        <p:nvPicPr>
          <p:cNvPr id="30" name="picture 30"/>
          <p:cNvPicPr>
            <a:picLocks noChangeAspect="1"/>
          </p:cNvPicPr>
          <p:nvPr/>
        </p:nvPicPr>
        <p:blipFill>
          <a:blip r:embed="rId4"/>
          <a:stretch>
            <a:fillRect/>
          </a:stretch>
        </p:blipFill>
        <p:spPr>
          <a:xfrm rot="21600000">
            <a:off x="3240957" y="2063132"/>
            <a:ext cx="3107259" cy="609937"/>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table 34"/>
          <p:cNvGraphicFramePr>
            <a:graphicFrameLocks noGrp="1"/>
          </p:cNvGraphicFramePr>
          <p:nvPr/>
        </p:nvGraphicFramePr>
        <p:xfrm>
          <a:off x="60832" y="66928"/>
          <a:ext cx="9018905" cy="6699250"/>
        </p:xfrm>
        <a:graphic>
          <a:graphicData uri="http://schemas.openxmlformats.org/drawingml/2006/table">
            <a:tbl>
              <a:tblPr/>
              <a:tblGrid>
                <a:gridCol w="9018905"/>
              </a:tblGrid>
              <a:tr h="5603240">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计量模型为:</a:t>
                      </a:r>
                      <a:endParaRPr sz="2100" dirty="0">
                        <a:latin typeface="楷体" panose="02010609060101010101" charset="-122"/>
                        <a:ea typeface="楷体" panose="02010609060101010101" charset="-122"/>
                        <a:cs typeface="楷体" panose="020106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2179955" algn="l" rtl="0" eaLnBrk="0">
                        <a:lnSpc>
                          <a:spcPct val="100000"/>
                        </a:lnSpc>
                        <a:spcBef>
                          <a:spcPts val="640"/>
                        </a:spcBef>
                      </a:pP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0" dirty="0">
                          <a:solidFill>
                            <a:srgbClr val="000000">
                              <a:alpha val="100000"/>
                            </a:srgbClr>
                          </a:solidFill>
                          <a:latin typeface="Arial" panose="020B0604020202020204"/>
                          <a:ea typeface="Arial" panose="020B0604020202020204"/>
                          <a:cs typeface="Arial" panose="020B0604020202020204"/>
                        </a:rPr>
                        <a:t>= </a:t>
                      </a:r>
                      <a:r>
                        <a:rPr sz="2100" kern="0" spc="10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42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10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10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9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90" baseline="-27000" dirty="0">
                          <a:solidFill>
                            <a:srgbClr val="000000">
                              <a:alpha val="100000"/>
                            </a:srgbClr>
                          </a:solidFill>
                          <a:latin typeface="Times New Roman" panose="02020603050405020304"/>
                          <a:ea typeface="Times New Roman" panose="02020603050405020304"/>
                          <a:cs typeface="Times New Roman" panose="02020603050405020304"/>
                        </a:rPr>
                        <a:t>3</a:t>
                      </a:r>
                      <a:r>
                        <a:rPr sz="12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ADVERT</a:t>
                      </a:r>
                      <a:endParaRPr sz="2100" dirty="0">
                        <a:latin typeface="Times New Roman" panose="02020603050405020304"/>
                        <a:ea typeface="Times New Roman" panose="02020603050405020304"/>
                        <a:cs typeface="Times New Roman" panose="02020603050405020304"/>
                      </a:endParaRPr>
                    </a:p>
                    <a:p>
                      <a:pPr algn="l" rtl="0" eaLnBrk="0">
                        <a:lnSpc>
                          <a:spcPct val="142000"/>
                        </a:lnSpc>
                      </a:pPr>
                      <a:endParaRPr sz="1000" dirty="0">
                        <a:latin typeface="Arial" panose="020B0604020202020204"/>
                        <a:ea typeface="Arial" panose="020B0604020202020204"/>
                        <a:cs typeface="Arial" panose="020B0604020202020204"/>
                      </a:endParaRPr>
                    </a:p>
                    <a:p>
                      <a:pPr algn="l" rtl="0" eaLnBrk="0">
                        <a:lnSpc>
                          <a:spcPct val="142000"/>
                        </a:lnSpc>
                      </a:pPr>
                      <a:endParaRPr sz="1000" dirty="0">
                        <a:latin typeface="Arial" panose="020B0604020202020204"/>
                        <a:ea typeface="Arial" panose="020B0604020202020204"/>
                        <a:cs typeface="Arial" panose="020B0604020202020204"/>
                      </a:endParaRPr>
                    </a:p>
                    <a:p>
                      <a:pPr marL="1234440" indent="-269240" algn="l" rtl="0" eaLnBrk="0">
                        <a:lnSpc>
                          <a:spcPct val="127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为考虑观测到的销售收入与其期望值之间的差异，我们增加</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一个随机误差项。</a:t>
                      </a:r>
                      <a:endParaRPr sz="2100" dirty="0">
                        <a:latin typeface="楷体" panose="02010609060101010101" charset="-122"/>
                        <a:ea typeface="楷体" panose="02010609060101010101" charset="-122"/>
                        <a:cs typeface="楷体" panose="02010609060101010101" charset="-122"/>
                      </a:endParaRPr>
                    </a:p>
                    <a:p>
                      <a:pPr algn="l" rtl="0" eaLnBrk="0">
                        <a:lnSpc>
                          <a:spcPct val="153000"/>
                        </a:lnSpc>
                      </a:pPr>
                      <a:endParaRPr sz="1000" dirty="0">
                        <a:latin typeface="Arial" panose="020B0604020202020204"/>
                        <a:ea typeface="Arial" panose="020B0604020202020204"/>
                        <a:cs typeface="Arial" panose="020B0604020202020204"/>
                      </a:endParaRPr>
                    </a:p>
                    <a:p>
                      <a:pPr marL="3261995" algn="l" rtl="0" eaLnBrk="0">
                        <a:lnSpc>
                          <a:spcPct val="87000"/>
                        </a:lnSpc>
                        <a:spcBef>
                          <a:spcPts val="635"/>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e =</a:t>
                      </a:r>
                      <a:r>
                        <a:rPr sz="2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1000"/>
                        </a:lnSpc>
                      </a:pPr>
                      <a:endParaRPr sz="700" dirty="0">
                        <a:latin typeface="Arial" panose="020B0604020202020204"/>
                        <a:ea typeface="Arial" panose="020B0604020202020204"/>
                        <a:cs typeface="Arial" panose="020B0604020202020204"/>
                      </a:endParaRPr>
                    </a:p>
                    <a:p>
                      <a:pPr marL="1139190" algn="l" rtl="0" eaLnBrk="0">
                        <a:lnSpc>
                          <a:spcPct val="100000"/>
                        </a:lnSpc>
                        <a:spcBef>
                          <a:spcPts val="5"/>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 </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40" dirty="0">
                          <a:solidFill>
                            <a:srgbClr val="000000">
                              <a:alpha val="100000"/>
                            </a:srgbClr>
                          </a:solidFill>
                          <a:latin typeface="Arial" panose="020B0604020202020204"/>
                          <a:ea typeface="Arial" panose="020B0604020202020204"/>
                          <a:cs typeface="Arial" panose="020B06040202020202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SALES</a:t>
                      </a:r>
                      <a:r>
                        <a:rPr sz="2100" i="1"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40" dirty="0">
                          <a:solidFill>
                            <a:srgbClr val="000000">
                              <a:alpha val="100000"/>
                            </a:srgbClr>
                          </a:solidFill>
                          <a:latin typeface="Arial" panose="020B0604020202020204"/>
                          <a:ea typeface="Arial" panose="020B0604020202020204"/>
                          <a:cs typeface="Arial" panose="020B0604020202020204"/>
                        </a:rPr>
                        <a:t>)</a:t>
                      </a:r>
                      <a:r>
                        <a:rPr sz="2800" kern="0" spc="-41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460" dirty="0">
                          <a:solidFill>
                            <a:srgbClr val="000000">
                              <a:alpha val="100000"/>
                            </a:srgbClr>
                          </a:solidFill>
                          <a:latin typeface="Arial" panose="020B0604020202020204"/>
                          <a:ea typeface="Arial" panose="020B0604020202020204"/>
                          <a:cs typeface="Arial" panose="020B0604020202020204"/>
                        </a:rPr>
                        <a:t> </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e  </a:t>
                      </a:r>
                      <a:r>
                        <a:rPr sz="2100" kern="0" spc="4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4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4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40" baseline="-27000" dirty="0">
                          <a:solidFill>
                            <a:srgbClr val="000000">
                              <a:alpha val="100000"/>
                            </a:srgbClr>
                          </a:solidFill>
                          <a:latin typeface="Times New Roman" panose="02020603050405020304"/>
                          <a:ea typeface="Times New Roman" panose="02020603050405020304"/>
                          <a:cs typeface="Times New Roman" panose="02020603050405020304"/>
                        </a:rPr>
                        <a:t>3</a:t>
                      </a:r>
                      <a:r>
                        <a:rPr sz="12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ADVERT</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60" dirty="0">
                          <a:solidFill>
                            <a:srgbClr val="000000">
                              <a:alpha val="100000"/>
                            </a:srgbClr>
                          </a:solidFill>
                          <a:latin typeface="Arial" panose="020B0604020202020204"/>
                          <a:ea typeface="Arial" panose="020B0604020202020204"/>
                          <a:cs typeface="Arial" panose="020B0604020202020204"/>
                        </a:rPr>
                        <a:t> </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e</a:t>
                      </a:r>
                      <a:endParaRPr sz="21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96010">
                <a:tc>
                  <a:txBody>
                    <a:bodyPr/>
                    <a:lstStyle/>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marL="26987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able 38"/>
          <p:cNvGraphicFramePr>
            <a:graphicFrameLocks noGrp="1"/>
          </p:cNvGraphicFramePr>
          <p:nvPr/>
        </p:nvGraphicFramePr>
        <p:xfrm>
          <a:off x="60832" y="66928"/>
          <a:ext cx="9018905" cy="6699248"/>
        </p:xfrm>
        <a:graphic>
          <a:graphicData uri="http://schemas.openxmlformats.org/drawingml/2006/table">
            <a:tbl>
              <a:tblPr/>
              <a:tblGrid>
                <a:gridCol w="1011555"/>
                <a:gridCol w="8007350"/>
              </a:tblGrid>
              <a:tr h="1496694">
                <a:tc gridSpan="2">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1832610" algn="l" rtl="0" eaLnBrk="0">
                        <a:lnSpc>
                          <a:spcPct val="87000"/>
                        </a:lnSpc>
                      </a:pPr>
                      <a:r>
                        <a:rPr sz="2400" b="1" kern="0" spc="-90" dirty="0">
                          <a:solidFill>
                            <a:srgbClr val="000000">
                              <a:alpha val="100000"/>
                            </a:srgbClr>
                          </a:solidFill>
                          <a:latin typeface="楷体" panose="02010609060101010101" charset="-122"/>
                          <a:ea typeface="楷体" panose="02010609060101010101" charset="-122"/>
                          <a:cs typeface="楷体" panose="02010609060101010101" charset="-122"/>
                        </a:rPr>
                        <a:t>多元线性回归的散点图（多元回归平面）</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202554">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7305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7</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40" name="table 40"/>
          <p:cNvGraphicFramePr>
            <a:graphicFrameLocks noGrp="1"/>
          </p:cNvGraphicFramePr>
          <p:nvPr/>
        </p:nvGraphicFramePr>
        <p:xfrm>
          <a:off x="1542033" y="1887982"/>
          <a:ext cx="6224270" cy="4298950"/>
        </p:xfrm>
        <a:graphic>
          <a:graphicData uri="http://schemas.openxmlformats.org/drawingml/2006/table">
            <a:tbl>
              <a:tblPr/>
              <a:tblGrid>
                <a:gridCol w="6224270"/>
              </a:tblGrid>
              <a:tr h="429895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42" name="picture 42"/>
          <p:cNvPicPr>
            <a:picLocks noChangeAspect="1"/>
          </p:cNvPicPr>
          <p:nvPr/>
        </p:nvPicPr>
        <p:blipFill>
          <a:blip r:embed="rId1"/>
          <a:stretch>
            <a:fillRect/>
          </a:stretch>
        </p:blipFill>
        <p:spPr>
          <a:xfrm rot="21600000">
            <a:off x="1548383" y="2261589"/>
            <a:ext cx="6199172" cy="3925851"/>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table 46"/>
          <p:cNvGraphicFramePr>
            <a:graphicFrameLocks noGrp="1"/>
          </p:cNvGraphicFramePr>
          <p:nvPr/>
        </p:nvGraphicFramePr>
        <p:xfrm>
          <a:off x="60832" y="66928"/>
          <a:ext cx="9018905" cy="6699248"/>
        </p:xfrm>
        <a:graphic>
          <a:graphicData uri="http://schemas.openxmlformats.org/drawingml/2006/table">
            <a:tbl>
              <a:tblPr/>
              <a:tblGrid>
                <a:gridCol w="9018905"/>
              </a:tblGrid>
              <a:tr h="6082029">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1878965" algn="l" rtl="0" eaLnBrk="0">
                        <a:lnSpc>
                          <a:spcPct val="86000"/>
                        </a:lnSpc>
                      </a:pPr>
                      <a:r>
                        <a:rPr sz="2000" b="1" kern="0" spc="-40" dirty="0">
                          <a:solidFill>
                            <a:srgbClr val="000000">
                              <a:alpha val="100000"/>
                            </a:srgbClr>
                          </a:solidFill>
                          <a:latin typeface="楷体" panose="02010609060101010101" charset="-122"/>
                          <a:ea typeface="楷体" panose="02010609060101010101" charset="-122"/>
                          <a:cs typeface="楷体" panose="02010609060101010101" charset="-122"/>
                        </a:rPr>
                        <a:t>一元回归</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                      </a:t>
                      </a:r>
                      <a:r>
                        <a:rPr sz="2000" b="1" kern="0" spc="-40" dirty="0">
                          <a:solidFill>
                            <a:srgbClr val="000000">
                              <a:alpha val="100000"/>
                            </a:srgbClr>
                          </a:solidFill>
                          <a:latin typeface="楷体" panose="02010609060101010101" charset="-122"/>
                          <a:ea typeface="楷体" panose="02010609060101010101" charset="-122"/>
                          <a:cs typeface="楷体" panose="02010609060101010101" charset="-122"/>
                        </a:rPr>
                        <a:t>多元回归</a:t>
                      </a:r>
                      <a:endParaRPr sz="2000" dirty="0">
                        <a:latin typeface="楷体" panose="02010609060101010101" charset="-122"/>
                        <a:ea typeface="楷体" panose="02010609060101010101" charset="-122"/>
                        <a:cs typeface="楷体" panose="02010609060101010101" charset="-122"/>
                      </a:endParaRPr>
                    </a:p>
                    <a:p>
                      <a:pPr algn="l" rtl="0" eaLnBrk="0">
                        <a:lnSpc>
                          <a:spcPct val="136000"/>
                        </a:lnSpc>
                      </a:pPr>
                      <a:endParaRPr sz="1000" dirty="0">
                        <a:latin typeface="Arial" panose="020B0604020202020204"/>
                        <a:ea typeface="Arial" panose="020B0604020202020204"/>
                        <a:cs typeface="Arial" panose="020B0604020202020204"/>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3094990" algn="l" rtl="0" eaLnBrk="0">
                        <a:lnSpc>
                          <a:spcPct val="83000"/>
                        </a:lnSpc>
                        <a:spcBef>
                          <a:spcPts val="5"/>
                        </a:spcBef>
                      </a:pPr>
                      <a:r>
                        <a:rPr sz="2400" b="1" kern="0" spc="-10" dirty="0">
                          <a:solidFill>
                            <a:srgbClr val="000000">
                              <a:alpha val="100000"/>
                            </a:srgbClr>
                          </a:solidFill>
                          <a:latin typeface="楷体" panose="02010609060101010101" charset="-122"/>
                          <a:ea typeface="楷体" panose="02010609060101010101" charset="-122"/>
                          <a:cs typeface="楷体" panose="02010609060101010101" charset="-122"/>
                        </a:rPr>
                        <a:t>OLS回归的维恩图</a:t>
                      </a:r>
                      <a:endParaRPr sz="24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617219">
                <a:tc>
                  <a:txBody>
                    <a:bodyPr/>
                    <a:lstStyle/>
                    <a:p>
                      <a:pPr algn="l" rtl="0" eaLnBrk="0">
                        <a:lnSpc>
                          <a:spcPct val="151000"/>
                        </a:lnSpc>
                      </a:pPr>
                      <a:endParaRPr sz="1000" dirty="0">
                        <a:latin typeface="Arial" panose="020B0604020202020204"/>
                        <a:ea typeface="Arial" panose="020B0604020202020204"/>
                        <a:cs typeface="Arial" panose="020B0604020202020204"/>
                      </a:endParaRPr>
                    </a:p>
                    <a:p>
                      <a:pPr marL="26733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8</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graphicFrame>
        <p:nvGraphicFramePr>
          <p:cNvPr id="48" name="table 48"/>
          <p:cNvGraphicFramePr>
            <a:graphicFrameLocks noGrp="1"/>
          </p:cNvGraphicFramePr>
          <p:nvPr/>
        </p:nvGraphicFramePr>
        <p:xfrm>
          <a:off x="566547" y="1159319"/>
          <a:ext cx="7777479" cy="3723640"/>
        </p:xfrm>
        <a:graphic>
          <a:graphicData uri="http://schemas.openxmlformats.org/drawingml/2006/table">
            <a:tbl>
              <a:tblPr/>
              <a:tblGrid>
                <a:gridCol w="3755389"/>
                <a:gridCol w="4022090"/>
              </a:tblGrid>
              <a:tr h="3723640">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D34817"/>
                      </a:solidFill>
                      <a:prstDash val="solid"/>
                      <a:round/>
                      <a:headEnd type="none" w="med" len="med"/>
                      <a:tailEnd type="none" w="med" len="med"/>
                    </a:lnL>
                    <a:lnR w="9525" cap="flat" cmpd="sng" algn="ctr">
                      <a:solidFill>
                        <a:srgbClr val="D34817"/>
                      </a:solidFill>
                      <a:prstDash val="solid"/>
                      <a:round/>
                      <a:headEnd type="none" w="med" len="med"/>
                      <a:tailEnd type="none" w="med" len="med"/>
                    </a:lnR>
                    <a:lnT w="9525" cap="flat" cmpd="sng" algn="ctr">
                      <a:solidFill>
                        <a:srgbClr val="D34817"/>
                      </a:solidFill>
                      <a:prstDash val="solid"/>
                      <a:round/>
                      <a:headEnd type="none" w="med" len="med"/>
                      <a:tailEnd type="none" w="med" len="med"/>
                    </a:lnT>
                    <a:lnB w="9525" cap="flat" cmpd="sng" algn="ctr">
                      <a:solidFill>
                        <a:srgbClr val="D34817"/>
                      </a:solidFill>
                      <a:prstDash val="solid"/>
                      <a:round/>
                      <a:headEnd type="none" w="med" len="med"/>
                      <a:tailEnd type="none" w="med" len="med"/>
                    </a:lnB>
                  </a:tcPr>
                </a:tc>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9525" cap="flat" cmpd="sng" algn="ctr">
                      <a:solidFill>
                        <a:srgbClr val="D34817"/>
                      </a:solidFill>
                      <a:prstDash val="solid"/>
                      <a:round/>
                      <a:headEnd type="none" w="med" len="med"/>
                      <a:tailEnd type="none" w="med" len="med"/>
                    </a:lnL>
                    <a:lnR w="9525" cap="flat" cmpd="sng" algn="ctr">
                      <a:solidFill>
                        <a:srgbClr val="D34817"/>
                      </a:solidFill>
                      <a:prstDash val="solid"/>
                      <a:round/>
                      <a:headEnd type="none" w="med" len="med"/>
                      <a:tailEnd type="none" w="med" len="med"/>
                    </a:lnR>
                    <a:lnT w="9525" cap="flat" cmpd="sng" algn="ctr">
                      <a:solidFill>
                        <a:srgbClr val="D34817"/>
                      </a:solidFill>
                      <a:prstDash val="solid"/>
                      <a:round/>
                      <a:headEnd type="none" w="med" len="med"/>
                      <a:tailEnd type="none" w="med" len="med"/>
                    </a:lnT>
                    <a:lnB w="9525" cap="flat" cmpd="sng" algn="ctr">
                      <a:solidFill>
                        <a:srgbClr val="D34817"/>
                      </a:solidFill>
                      <a:prstDash val="solid"/>
                      <a:round/>
                      <a:headEnd type="none" w="med" len="med"/>
                      <a:tailEnd type="none" w="med" len="med"/>
                    </a:lnB>
                  </a:tcPr>
                </a:tc>
              </a:tr>
            </a:tbl>
          </a:graphicData>
        </a:graphic>
      </p:graphicFrame>
      <p:pic>
        <p:nvPicPr>
          <p:cNvPr id="50" name="picture 50"/>
          <p:cNvPicPr>
            <a:picLocks noChangeAspect="1"/>
          </p:cNvPicPr>
          <p:nvPr/>
        </p:nvPicPr>
        <p:blipFill>
          <a:blip r:embed="rId1"/>
          <a:stretch>
            <a:fillRect/>
          </a:stretch>
        </p:blipFill>
        <p:spPr>
          <a:xfrm rot="21600000">
            <a:off x="4334255" y="1168880"/>
            <a:ext cx="3989238" cy="3704871"/>
          </a:xfrm>
          <a:prstGeom prst="rect">
            <a:avLst/>
          </a:prstGeom>
        </p:spPr>
      </p:pic>
      <p:pic>
        <p:nvPicPr>
          <p:cNvPr id="52" name="picture 52"/>
          <p:cNvPicPr>
            <a:picLocks noChangeAspect="1"/>
          </p:cNvPicPr>
          <p:nvPr/>
        </p:nvPicPr>
        <p:blipFill>
          <a:blip r:embed="rId2"/>
          <a:stretch>
            <a:fillRect/>
          </a:stretch>
        </p:blipFill>
        <p:spPr>
          <a:xfrm rot="21600000">
            <a:off x="576071" y="1173441"/>
            <a:ext cx="3721882" cy="3699993"/>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 name="table 56"/>
          <p:cNvGraphicFramePr>
            <a:graphicFrameLocks noGrp="1"/>
          </p:cNvGraphicFramePr>
          <p:nvPr/>
        </p:nvGraphicFramePr>
        <p:xfrm>
          <a:off x="60832" y="66928"/>
          <a:ext cx="9018905" cy="6699248"/>
        </p:xfrm>
        <a:graphic>
          <a:graphicData uri="http://schemas.openxmlformats.org/drawingml/2006/table">
            <a:tbl>
              <a:tblPr/>
              <a:tblGrid>
                <a:gridCol w="9018905"/>
              </a:tblGrid>
              <a:tr h="6107429">
                <a:tc>
                  <a:txBody>
                    <a:bodyPr/>
                    <a:lstStyle/>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972185" algn="l" rtl="0" eaLnBrk="0">
                        <a:lnSpc>
                          <a:spcPct val="87000"/>
                        </a:lnSpc>
                      </a:pPr>
                      <a:r>
                        <a:rPr sz="2600" b="1" kern="0" spc="-30" dirty="0">
                          <a:solidFill>
                            <a:srgbClr val="000000">
                              <a:alpha val="100000"/>
                            </a:srgbClr>
                          </a:solidFill>
                          <a:latin typeface="楷体" panose="02010609060101010101" charset="-122"/>
                          <a:ea typeface="楷体" panose="02010609060101010101" charset="-122"/>
                          <a:cs typeface="楷体" panose="02010609060101010101" charset="-122"/>
                        </a:rPr>
                        <a:t>多元回归模型的一般形式</a:t>
                      </a:r>
                      <a:endParaRPr sz="2600" dirty="0">
                        <a:latin typeface="楷体" panose="02010609060101010101" charset="-122"/>
                        <a:ea typeface="楷体" panose="02010609060101010101" charset="-122"/>
                        <a:cs typeface="楷体" panose="02010609060101010101" charset="-122"/>
                      </a:endParaRPr>
                    </a:p>
                    <a:p>
                      <a:pPr algn="l" rtl="0" eaLnBrk="0">
                        <a:lnSpc>
                          <a:spcPct val="147000"/>
                        </a:lnSpc>
                      </a:pPr>
                      <a:endParaRPr sz="1000" dirty="0">
                        <a:latin typeface="Arial" panose="020B0604020202020204"/>
                        <a:ea typeface="Arial" panose="020B0604020202020204"/>
                        <a:cs typeface="Arial" panose="020B0604020202020204"/>
                      </a:endParaRPr>
                    </a:p>
                    <a:p>
                      <a:pPr algn="l" rtl="0" eaLnBrk="0">
                        <a:lnSpc>
                          <a:spcPct val="148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在一般的多元回归模型中，被解释变量y通过一个线性</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方程</a:t>
                      </a:r>
                      <a:endParaRPr sz="2100" dirty="0">
                        <a:latin typeface="楷体" panose="02010609060101010101" charset="-122"/>
                        <a:ea typeface="楷体" panose="02010609060101010101" charset="-122"/>
                        <a:cs typeface="楷体" panose="02010609060101010101" charset="-122"/>
                      </a:endParaRPr>
                    </a:p>
                    <a:p>
                      <a:pPr marL="1244600" algn="l" rtl="0" eaLnBrk="0">
                        <a:lnSpc>
                          <a:spcPts val="4510"/>
                        </a:lnSpc>
                      </a:pP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与一系列解释变量</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0" baseline="-19000" dirty="0">
                          <a:solidFill>
                            <a:srgbClr val="000000">
                              <a:alpha val="100000"/>
                            </a:srgbClr>
                          </a:solidFill>
                          <a:latin typeface="Times New Roman" panose="02020603050405020304"/>
                          <a:ea typeface="Times New Roman" panose="02020603050405020304"/>
                          <a:cs typeface="Times New Roman" panose="02020603050405020304"/>
                        </a:rPr>
                        <a:t>2</a:t>
                      </a:r>
                      <a:r>
                        <a:rPr sz="3300" kern="0" spc="0" baseline="-1300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10" baseline="-2400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10" baseline="-24000" dirty="0">
                          <a:solidFill>
                            <a:srgbClr val="000000">
                              <a:alpha val="100000"/>
                            </a:srgbClr>
                          </a:solidFill>
                          <a:latin typeface="Times New Roman" panose="02020603050405020304"/>
                          <a:ea typeface="Times New Roman" panose="02020603050405020304"/>
                          <a:cs typeface="Times New Roman" panose="02020603050405020304"/>
                        </a:rPr>
                        <a:t>K</a:t>
                      </a:r>
                      <a:r>
                        <a:rPr sz="14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相关：</a:t>
                      </a:r>
                      <a:endParaRPr sz="2100" dirty="0">
                        <a:latin typeface="楷体" panose="02010609060101010101" charset="-122"/>
                        <a:ea typeface="楷体" panose="02010609060101010101" charset="-122"/>
                        <a:cs typeface="楷体" panose="02010609060101010101" charset="-122"/>
                      </a:endParaRPr>
                    </a:p>
                    <a:p>
                      <a:pPr algn="l" rtl="0" eaLnBrk="0">
                        <a:lnSpc>
                          <a:spcPct val="133000"/>
                        </a:lnSpc>
                      </a:pPr>
                      <a:endParaRPr sz="1000" dirty="0">
                        <a:latin typeface="Arial" panose="020B0604020202020204"/>
                        <a:ea typeface="Arial" panose="020B0604020202020204"/>
                        <a:cs typeface="Arial" panose="020B0604020202020204"/>
                      </a:endParaRPr>
                    </a:p>
                    <a:p>
                      <a:pPr algn="l" rtl="0" eaLnBrk="0">
                        <a:lnSpc>
                          <a:spcPct val="133000"/>
                        </a:lnSpc>
                      </a:pPr>
                      <a:endParaRPr sz="1000" dirty="0">
                        <a:latin typeface="Arial" panose="020B0604020202020204"/>
                        <a:ea typeface="Arial" panose="020B0604020202020204"/>
                        <a:cs typeface="Arial" panose="020B0604020202020204"/>
                      </a:endParaRPr>
                    </a:p>
                    <a:p>
                      <a:pPr marL="2454910" algn="l" rtl="0" eaLnBrk="0">
                        <a:lnSpc>
                          <a:spcPct val="93000"/>
                        </a:lnSpc>
                        <a:spcBef>
                          <a:spcPts val="690"/>
                        </a:spcBef>
                      </a:pP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y </a:t>
                      </a:r>
                      <a:r>
                        <a:rPr sz="2300" kern="0" spc="2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4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18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19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1300"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7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16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160" dirty="0">
                          <a:solidFill>
                            <a:srgbClr val="000000">
                              <a:alpha val="100000"/>
                            </a:srgbClr>
                          </a:solidFill>
                          <a:latin typeface="Arial" panose="020B0604020202020204"/>
                          <a:ea typeface="Arial" panose="020B0604020202020204"/>
                          <a:cs typeface="Arial" panose="020B0604020202020204"/>
                        </a:rPr>
                        <a:t> </a:t>
                      </a: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sz="2300" dirty="0">
                        <a:latin typeface="Times New Roman" panose="02020603050405020304"/>
                        <a:ea typeface="Times New Roman" panose="02020603050405020304"/>
                        <a:cs typeface="Times New Roman" panose="020206030504050203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1504315" algn="l" rtl="0" eaLnBrk="0">
                        <a:lnSpc>
                          <a:spcPts val="2740"/>
                        </a:lnSpc>
                        <a:spcBef>
                          <a:spcPts val="640"/>
                        </a:spcBef>
                      </a:pP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—单个系数</a:t>
                      </a:r>
                      <a:r>
                        <a:rPr sz="2100" kern="0" spc="-4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30" baseline="-15000" dirty="0">
                          <a:solidFill>
                            <a:srgbClr val="000000">
                              <a:alpha val="100000"/>
                            </a:srgbClr>
                          </a:solidFill>
                          <a:latin typeface="Times New Roman" panose="02020603050405020304"/>
                          <a:ea typeface="Times New Roman" panose="02020603050405020304"/>
                          <a:cs typeface="Times New Roman" panose="02020603050405020304"/>
                        </a:rPr>
                        <a:t>k</a:t>
                      </a:r>
                      <a:r>
                        <a:rPr sz="1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测度的是：</a:t>
                      </a:r>
                      <a:endParaRPr sz="2100" dirty="0">
                        <a:latin typeface="楷体" panose="02010609060101010101" charset="-122"/>
                        <a:ea typeface="楷体" panose="02010609060101010101" charset="-122"/>
                        <a:cs typeface="楷体" panose="02010609060101010101" charset="-122"/>
                      </a:endParaRPr>
                    </a:p>
                    <a:p>
                      <a:pPr marL="1522730" algn="l" rtl="0" eaLnBrk="0">
                        <a:lnSpc>
                          <a:spcPts val="2740"/>
                        </a:lnSpc>
                        <a:spcBef>
                          <a:spcPts val="1815"/>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给定其他所有变量不变，</a:t>
                      </a:r>
                      <a:r>
                        <a:rPr sz="2100" kern="0" spc="-57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变量</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0" baseline="-13000" dirty="0">
                          <a:solidFill>
                            <a:srgbClr val="000000">
                              <a:alpha val="100000"/>
                            </a:srgbClr>
                          </a:solidFill>
                          <a:latin typeface="Times New Roman" panose="02020603050405020304"/>
                          <a:ea typeface="Times New Roman" panose="02020603050405020304"/>
                          <a:cs typeface="Times New Roman" panose="02020603050405020304"/>
                        </a:rPr>
                        <a:t>k</a:t>
                      </a:r>
                      <a:r>
                        <a:rPr sz="14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的变</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化对</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的期望值的影</a:t>
                      </a:r>
                      <a:endParaRPr sz="2100" dirty="0">
                        <a:latin typeface="楷体" panose="02010609060101010101" charset="-122"/>
                        <a:ea typeface="楷体" panose="02010609060101010101" charset="-122"/>
                        <a:cs typeface="楷体" panose="02010609060101010101" charset="-122"/>
                      </a:endParaRPr>
                    </a:p>
                    <a:p>
                      <a:pPr marL="962660" algn="l" rtl="0" eaLnBrk="0">
                        <a:lnSpc>
                          <a:spcPts val="3415"/>
                        </a:lnSpc>
                      </a:pPr>
                      <a:r>
                        <a:rPr sz="2100" kern="0" spc="-200" dirty="0">
                          <a:solidFill>
                            <a:srgbClr val="000000">
                              <a:alpha val="100000"/>
                            </a:srgbClr>
                          </a:solidFill>
                          <a:latin typeface="楷体" panose="02010609060101010101" charset="-122"/>
                          <a:ea typeface="楷体" panose="02010609060101010101" charset="-122"/>
                          <a:cs typeface="楷体" panose="02010609060101010101" charset="-122"/>
                        </a:rPr>
                        <a:t>响效应。</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1504315" algn="l" rtl="0" eaLnBrk="0">
                        <a:lnSpc>
                          <a:spcPct val="93000"/>
                        </a:lnSpc>
                        <a:spcBef>
                          <a:spcPts val="640"/>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—参数</a:t>
                      </a:r>
                      <a:r>
                        <a:rPr sz="2100" kern="0" spc="-40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β</a:t>
                      </a:r>
                      <a:r>
                        <a:rPr sz="14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为截距项：</a:t>
                      </a:r>
                      <a:endParaRPr sz="2100" dirty="0">
                        <a:latin typeface="楷体" panose="02010609060101010101" charset="-122"/>
                        <a:ea typeface="楷体" panose="02010609060101010101" charset="-122"/>
                        <a:cs typeface="楷体" panose="02010609060101010101" charset="-122"/>
                      </a:endParaRPr>
                    </a:p>
                    <a:p>
                      <a:pPr algn="l" rtl="0" eaLnBrk="0">
                        <a:lnSpc>
                          <a:spcPct val="131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1525905" algn="l" rtl="0" eaLnBrk="0">
                        <a:lnSpc>
                          <a:spcPts val="2740"/>
                        </a:lnSpc>
                        <a:spcBef>
                          <a:spcPts val="5"/>
                        </a:spcBef>
                      </a:pP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可以将其看做是取值</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为</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的变量</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40" baseline="-14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的系数，</a:t>
                      </a:r>
                      <a:r>
                        <a:rPr sz="2100" kern="0" spc="-5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即</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40" baseline="-14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1</a:t>
                      </a:r>
                      <a:endParaRPr sz="21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91819">
                <a:tc>
                  <a:txBody>
                    <a:bodyPr/>
                    <a:lstStyle/>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6860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58" name="picture 58"/>
          <p:cNvPicPr>
            <a:picLocks noChangeAspect="1"/>
          </p:cNvPicPr>
          <p:nvPr/>
        </p:nvPicPr>
        <p:blipFill>
          <a:blip r:embed="rId1"/>
          <a:stretch>
            <a:fillRect/>
          </a:stretch>
        </p:blipFill>
        <p:spPr>
          <a:xfrm rot="21600000">
            <a:off x="5127673" y="2822651"/>
            <a:ext cx="237412" cy="49098"/>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2"/>
          <p:cNvPicPr>
            <a:picLocks noChangeAspect="1"/>
          </p:cNvPicPr>
          <p:nvPr/>
        </p:nvPicPr>
        <p:blipFill>
          <a:blip r:embed="rId1"/>
          <a:stretch>
            <a:fillRect/>
          </a:stretch>
        </p:blipFill>
        <p:spPr>
          <a:xfrm rot="21600000">
            <a:off x="3470049" y="1829263"/>
            <a:ext cx="2262183" cy="96057"/>
          </a:xfrm>
          <a:prstGeom prst="rect">
            <a:avLst/>
          </a:prstGeom>
        </p:spPr>
      </p:pic>
      <p:graphicFrame>
        <p:nvGraphicFramePr>
          <p:cNvPr id="64" name="table 64"/>
          <p:cNvGraphicFramePr>
            <a:graphicFrameLocks noGrp="1"/>
          </p:cNvGraphicFramePr>
          <p:nvPr/>
        </p:nvGraphicFramePr>
        <p:xfrm>
          <a:off x="60832" y="66928"/>
          <a:ext cx="9018905" cy="6699248"/>
        </p:xfrm>
        <a:graphic>
          <a:graphicData uri="http://schemas.openxmlformats.org/drawingml/2006/table">
            <a:tbl>
              <a:tblPr/>
              <a:tblGrid>
                <a:gridCol w="9018905"/>
              </a:tblGrid>
              <a:tr h="5583554">
                <a:tc>
                  <a:txBody>
                    <a:bodyPr/>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3045460" algn="l" rtl="0" eaLnBrk="0">
                        <a:lnSpc>
                          <a:spcPct val="87000"/>
                        </a:lnSpc>
                        <a:spcBef>
                          <a:spcPts val="5"/>
                        </a:spcBef>
                      </a:pPr>
                      <a:r>
                        <a:rPr sz="2400" b="1" kern="0" spc="-30" dirty="0">
                          <a:solidFill>
                            <a:srgbClr val="000000">
                              <a:alpha val="100000"/>
                            </a:srgbClr>
                          </a:solidFill>
                          <a:latin typeface="楷体" panose="02010609060101010101" charset="-122"/>
                          <a:ea typeface="楷体" panose="02010609060101010101" charset="-122"/>
                          <a:cs typeface="楷体" panose="02010609060101010101" charset="-122"/>
                        </a:rPr>
                        <a:t>多元回归模型的假设</a:t>
                      </a:r>
                      <a:endParaRPr sz="2400" dirty="0">
                        <a:latin typeface="楷体" panose="02010609060101010101" charset="-122"/>
                        <a:ea typeface="楷体" panose="02010609060101010101" charset="-122"/>
                        <a:cs typeface="楷体" panose="02010609060101010101" charset="-122"/>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marL="913765" algn="l" rtl="0" eaLnBrk="0">
                        <a:lnSpc>
                          <a:spcPct val="89000"/>
                        </a:lnSpc>
                        <a:spcBef>
                          <a:spcPts val="645"/>
                        </a:spcBef>
                      </a:pPr>
                      <a:r>
                        <a:rPr sz="3300" kern="0" spc="-70" baseline="-6000" dirty="0">
                          <a:solidFill>
                            <a:srgbClr val="000000">
                              <a:alpha val="100000"/>
                            </a:srgbClr>
                          </a:solidFill>
                          <a:latin typeface="Perpetua" panose="02020502060401020303"/>
                          <a:ea typeface="Perpetua" panose="02020502060401020303"/>
                          <a:cs typeface="Perpetua" panose="02020502060401020303"/>
                        </a:rPr>
                        <a:t>MR1</a:t>
                      </a:r>
                      <a:r>
                        <a:rPr sz="2100" kern="0" spc="-260" dirty="0">
                          <a:solidFill>
                            <a:srgbClr val="000000">
                              <a:alpha val="100000"/>
                            </a:srgbClr>
                          </a:solidFill>
                          <a:latin typeface="Perpetua" panose="02020502060401020303"/>
                          <a:ea typeface="Perpetua" panose="02020502060401020303"/>
                          <a:cs typeface="Perpetua" panose="02020502060401020303"/>
                        </a:rPr>
                        <a:t> </a:t>
                      </a:r>
                      <a:r>
                        <a:rPr sz="3300" kern="0" spc="-70" baseline="-6000" dirty="0">
                          <a:solidFill>
                            <a:srgbClr val="000000">
                              <a:alpha val="100000"/>
                            </a:srgbClr>
                          </a:solidFill>
                          <a:latin typeface="Perpetua" panose="02020502060401020303"/>
                          <a:ea typeface="Perpetua" panose="02020502060401020303"/>
                          <a:cs typeface="Perpetua" panose="02020502060401020303"/>
                        </a:rPr>
                        <a:t>.</a:t>
                      </a:r>
                      <a:r>
                        <a:rPr sz="2100" kern="0" spc="20" dirty="0">
                          <a:solidFill>
                            <a:srgbClr val="000000">
                              <a:alpha val="100000"/>
                            </a:srgbClr>
                          </a:solidFill>
                          <a:latin typeface="Perpetua" panose="02020502060401020303"/>
                          <a:ea typeface="Perpetua" panose="02020502060401020303"/>
                          <a:cs typeface="Perpetua" panose="02020502060401020303"/>
                        </a:rPr>
                        <a:t>     </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y</a:t>
                      </a:r>
                      <a:r>
                        <a:rPr sz="1800" i="1" kern="0" spc="-7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Arial" panose="020B0604020202020204"/>
                          <a:ea typeface="Arial" panose="020B0604020202020204"/>
                          <a:cs typeface="Arial" panose="020B0604020202020204"/>
                        </a:rPr>
                        <a:t>=</a:t>
                      </a:r>
                      <a:r>
                        <a:rPr sz="2100" kern="0" spc="-120" dirty="0">
                          <a:solidFill>
                            <a:srgbClr val="000000">
                              <a:alpha val="100000"/>
                            </a:srgbClr>
                          </a:solidFill>
                          <a:latin typeface="Arial" panose="020B0604020202020204"/>
                          <a:ea typeface="Arial" panose="020B0604020202020204"/>
                          <a:cs typeface="Arial" panose="020B0604020202020204"/>
                        </a:rPr>
                        <a:t> </a:t>
                      </a:r>
                      <a:r>
                        <a:rPr sz="2100" kern="0" spc="-70" dirty="0">
                          <a:solidFill>
                            <a:srgbClr val="000000">
                              <a:alpha val="100000"/>
                            </a:srgbClr>
                          </a:solidFill>
                          <a:latin typeface="Arial" panose="020B0604020202020204"/>
                          <a:ea typeface="Arial" panose="020B0604020202020204"/>
                          <a:cs typeface="Arial" panose="020B0604020202020204"/>
                        </a:rPr>
                        <a:t>β</a:t>
                      </a:r>
                      <a:r>
                        <a:rPr sz="1800" kern="0" spc="-7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50" dirty="0">
                          <a:solidFill>
                            <a:srgbClr val="000000">
                              <a:alpha val="100000"/>
                            </a:srgbClr>
                          </a:solidFill>
                          <a:latin typeface="Arial" panose="020B0604020202020204"/>
                          <a:ea typeface="Arial" panose="020B0604020202020204"/>
                          <a:cs typeface="Arial" panose="020B0604020202020204"/>
                        </a:rPr>
                        <a:t>+</a:t>
                      </a:r>
                      <a:r>
                        <a:rPr sz="2100" kern="0" spc="-190" dirty="0">
                          <a:solidFill>
                            <a:srgbClr val="000000">
                              <a:alpha val="100000"/>
                            </a:srgbClr>
                          </a:solidFill>
                          <a:latin typeface="Arial" panose="020B0604020202020204"/>
                          <a:ea typeface="Arial" panose="020B0604020202020204"/>
                          <a:cs typeface="Arial" panose="020B0604020202020204"/>
                        </a:rPr>
                        <a:t> </a:t>
                      </a:r>
                      <a:r>
                        <a:rPr sz="2100" kern="0" spc="-150" dirty="0">
                          <a:solidFill>
                            <a:srgbClr val="000000">
                              <a:alpha val="100000"/>
                            </a:srgbClr>
                          </a:solidFill>
                          <a:latin typeface="Arial" panose="020B0604020202020204"/>
                          <a:ea typeface="Arial" panose="020B0604020202020204"/>
                          <a:cs typeface="Arial" panose="020B0604020202020204"/>
                        </a:rPr>
                        <a:t>β</a:t>
                      </a:r>
                      <a:r>
                        <a:rPr sz="1800" kern="0" spc="-3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800" i="1" kern="0" spc="-3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800" kern="0" spc="-3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Arial" panose="020B0604020202020204"/>
                          <a:ea typeface="Arial" panose="020B0604020202020204"/>
                          <a:cs typeface="Arial" panose="020B0604020202020204"/>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60" dirty="0">
                          <a:solidFill>
                            <a:srgbClr val="000000">
                              <a:alpha val="100000"/>
                            </a:srgbClr>
                          </a:solidFill>
                          <a:latin typeface="Arial" panose="020B0604020202020204"/>
                          <a:ea typeface="Arial" panose="020B0604020202020204"/>
                          <a:cs typeface="Arial" panose="020B0604020202020204"/>
                        </a:rPr>
                        <a:t>β</a:t>
                      </a:r>
                      <a:r>
                        <a:rPr sz="1800" i="1" kern="0" spc="-60" baseline="-26000" dirty="0">
                          <a:solidFill>
                            <a:srgbClr val="000000">
                              <a:alpha val="100000"/>
                            </a:srgbClr>
                          </a:solidFill>
                          <a:latin typeface="Times New Roman" panose="02020603050405020304"/>
                          <a:ea typeface="Times New Roman" panose="02020603050405020304"/>
                          <a:cs typeface="Times New Roman" panose="02020603050405020304"/>
                        </a:rPr>
                        <a:t>K</a:t>
                      </a:r>
                      <a:r>
                        <a:rPr sz="21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1800" i="1" kern="0" spc="-60" baseline="-26000" dirty="0">
                          <a:solidFill>
                            <a:srgbClr val="000000">
                              <a:alpha val="100000"/>
                            </a:srgbClr>
                          </a:solidFill>
                          <a:latin typeface="Times New Roman" panose="02020603050405020304"/>
                          <a:ea typeface="Times New Roman" panose="02020603050405020304"/>
                          <a:cs typeface="Times New Roman" panose="02020603050405020304"/>
                        </a:rPr>
                        <a:t>iK</a:t>
                      </a:r>
                      <a:r>
                        <a:rPr sz="11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Arial" panose="020B0604020202020204"/>
                          <a:ea typeface="Arial" panose="020B0604020202020204"/>
                          <a:cs typeface="Arial" panose="020B0604020202020204"/>
                        </a:rPr>
                        <a:t>+</a:t>
                      </a:r>
                      <a:r>
                        <a:rPr sz="2100" kern="0" spc="-180" dirty="0">
                          <a:solidFill>
                            <a:srgbClr val="000000">
                              <a:alpha val="100000"/>
                            </a:srgbClr>
                          </a:solidFill>
                          <a:latin typeface="Arial" panose="020B0604020202020204"/>
                          <a:ea typeface="Arial" panose="020B0604020202020204"/>
                          <a:cs typeface="Arial" panose="020B0604020202020204"/>
                        </a:rPr>
                        <a:t> </a:t>
                      </a:r>
                      <a:r>
                        <a:rPr sz="2100" i="1" kern="0" spc="-60" dirty="0">
                          <a:solidFill>
                            <a:srgbClr val="000000">
                              <a:alpha val="100000"/>
                            </a:srgbClr>
                          </a:solidFill>
                          <a:latin typeface="Times New Roman" panose="02020603050405020304"/>
                          <a:ea typeface="Times New Roman" panose="02020603050405020304"/>
                          <a:cs typeface="Times New Roman" panose="02020603050405020304"/>
                        </a:rPr>
                        <a:t>e</a:t>
                      </a:r>
                      <a:r>
                        <a:rPr sz="1800" i="1" kern="0" spc="-6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45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i</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Arial" panose="020B0604020202020204"/>
                          <a:ea typeface="Arial" panose="020B0604020202020204"/>
                          <a:cs typeface="Arial" panose="020B0604020202020204"/>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70" dirty="0">
                          <a:solidFill>
                            <a:srgbClr val="000000">
                              <a:alpha val="100000"/>
                            </a:srgbClr>
                          </a:solidFill>
                          <a:latin typeface="Times New Roman" panose="02020603050405020304"/>
                          <a:ea typeface="Times New Roman" panose="02020603050405020304"/>
                          <a:cs typeface="Times New Roman" panose="02020603050405020304"/>
                        </a:rPr>
                        <a:t>N</a:t>
                      </a:r>
                      <a:endParaRPr sz="2100" dirty="0">
                        <a:latin typeface="Times New Roman" panose="02020603050405020304"/>
                        <a:ea typeface="Times New Roman" panose="02020603050405020304"/>
                        <a:cs typeface="Times New Roman" panose="02020603050405020304"/>
                      </a:endParaRPr>
                    </a:p>
                    <a:p>
                      <a:pPr algn="l" rtl="0" eaLnBrk="0">
                        <a:lnSpc>
                          <a:spcPct val="106000"/>
                        </a:lnSpc>
                      </a:pPr>
                      <a:endParaRPr sz="1000" dirty="0">
                        <a:latin typeface="Arial" panose="020B0604020202020204"/>
                        <a:ea typeface="Arial" panose="020B0604020202020204"/>
                        <a:cs typeface="Arial" panose="020B0604020202020204"/>
                      </a:endParaRPr>
                    </a:p>
                    <a:p>
                      <a:pPr marL="913765" algn="l" rtl="0" eaLnBrk="0">
                        <a:lnSpc>
                          <a:spcPct val="91000"/>
                        </a:lnSpc>
                        <a:spcBef>
                          <a:spcPts val="635"/>
                        </a:spcBef>
                      </a:pPr>
                      <a:r>
                        <a:rPr sz="2100" kern="0" spc="-30" dirty="0">
                          <a:solidFill>
                            <a:srgbClr val="000000">
                              <a:alpha val="100000"/>
                            </a:srgbClr>
                          </a:solidFill>
                          <a:latin typeface="Perpetua" panose="02020502060401020303"/>
                          <a:ea typeface="Perpetua" panose="02020502060401020303"/>
                          <a:cs typeface="Perpetua" panose="02020502060401020303"/>
                        </a:rPr>
                        <a:t>MR2</a:t>
                      </a:r>
                      <a:r>
                        <a:rPr sz="2100" kern="0" spc="-260" dirty="0">
                          <a:solidFill>
                            <a:srgbClr val="000000">
                              <a:alpha val="100000"/>
                            </a:srgbClr>
                          </a:solidFill>
                          <a:latin typeface="Perpetua" panose="02020502060401020303"/>
                          <a:ea typeface="Perpetua" panose="02020502060401020303"/>
                          <a:cs typeface="Perpetua" panose="02020502060401020303"/>
                        </a:rPr>
                        <a:t> </a:t>
                      </a:r>
                      <a:r>
                        <a:rPr sz="2100" kern="0" spc="-30" dirty="0">
                          <a:solidFill>
                            <a:srgbClr val="000000">
                              <a:alpha val="100000"/>
                            </a:srgbClr>
                          </a:solidFill>
                          <a:latin typeface="Perpetua" panose="02020502060401020303"/>
                          <a:ea typeface="Perpetua" panose="02020502060401020303"/>
                          <a:cs typeface="Perpetua" panose="02020502060401020303"/>
                        </a:rPr>
                        <a:t>.     </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y</a:t>
                      </a:r>
                      <a:r>
                        <a:rPr sz="1800" i="1" kern="0" spc="-4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3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Arial" panose="020B0604020202020204"/>
                          <a:ea typeface="Arial" panose="020B0604020202020204"/>
                          <a:cs typeface="Arial" panose="020B0604020202020204"/>
                        </a:rPr>
                        <a:t>β</a:t>
                      </a:r>
                      <a:r>
                        <a:rPr sz="1800" kern="0" spc="-4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90" dirty="0">
                          <a:solidFill>
                            <a:srgbClr val="000000">
                              <a:alpha val="100000"/>
                            </a:srgbClr>
                          </a:solidFill>
                          <a:latin typeface="Arial" panose="020B0604020202020204"/>
                          <a:ea typeface="Arial" panose="020B0604020202020204"/>
                          <a:cs typeface="Arial" panose="020B0604020202020204"/>
                        </a:rPr>
                        <a:t> </a:t>
                      </a:r>
                      <a:r>
                        <a:rPr sz="2100" kern="0" spc="-170" dirty="0">
                          <a:solidFill>
                            <a:srgbClr val="000000">
                              <a:alpha val="100000"/>
                            </a:srgbClr>
                          </a:solidFill>
                          <a:latin typeface="Arial" panose="020B0604020202020204"/>
                          <a:ea typeface="Arial" panose="020B0604020202020204"/>
                          <a:cs typeface="Arial" panose="020B0604020202020204"/>
                        </a:rPr>
                        <a:t>β</a:t>
                      </a:r>
                      <a:r>
                        <a:rPr sz="1800" kern="0" spc="-3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800" i="1" kern="0" spc="-3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800" kern="0" spc="-3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Arial" panose="020B0604020202020204"/>
                          <a:ea typeface="Arial" panose="020B0604020202020204"/>
                          <a:cs typeface="Arial" panose="020B0604020202020204"/>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Arial" panose="020B0604020202020204"/>
                          <a:ea typeface="Arial" panose="020B0604020202020204"/>
                          <a:cs typeface="Arial" panose="020B0604020202020204"/>
                        </a:rPr>
                        <a:t>β</a:t>
                      </a:r>
                      <a:r>
                        <a:rPr sz="1800" i="1" kern="0" spc="-10" baseline="-26000" dirty="0">
                          <a:solidFill>
                            <a:srgbClr val="000000">
                              <a:alpha val="100000"/>
                            </a:srgbClr>
                          </a:solidFill>
                          <a:latin typeface="Times New Roman" panose="02020603050405020304"/>
                          <a:ea typeface="Times New Roman" panose="02020603050405020304"/>
                          <a:cs typeface="Times New Roman" panose="02020603050405020304"/>
                        </a:rPr>
                        <a:t>K</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800" i="1" kern="0" spc="-10" baseline="-26000" dirty="0">
                          <a:solidFill>
                            <a:srgbClr val="000000">
                              <a:alpha val="100000"/>
                            </a:srgbClr>
                          </a:solidFill>
                          <a:latin typeface="Times New Roman" panose="02020603050405020304"/>
                          <a:ea typeface="Times New Roman" panose="02020603050405020304"/>
                          <a:cs typeface="Times New Roman" panose="02020603050405020304"/>
                        </a:rPr>
                        <a:t>iK</a:t>
                      </a:r>
                      <a:r>
                        <a:rPr sz="11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1800" i="1" kern="0" spc="-20" baseline="-26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Arial" panose="020B0604020202020204"/>
                          <a:ea typeface="Arial" panose="020B0604020202020204"/>
                          <a:cs typeface="Arial" panose="020B06040202020202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0</a:t>
                      </a:r>
                      <a:endParaRPr sz="2100" dirty="0">
                        <a:latin typeface="Times New Roman" panose="02020603050405020304"/>
                        <a:ea typeface="Times New Roman" panose="02020603050405020304"/>
                        <a:cs typeface="Times New Roman" panose="02020603050405020304"/>
                      </a:endParaRPr>
                    </a:p>
                    <a:p>
                      <a:pPr marL="913765" algn="l" rtl="0" eaLnBrk="0">
                        <a:lnSpc>
                          <a:spcPts val="2665"/>
                        </a:lnSpc>
                        <a:spcBef>
                          <a:spcPts val="940"/>
                        </a:spcBef>
                      </a:pPr>
                      <a:r>
                        <a:rPr sz="3300" kern="0" spc="-50" baseline="-8000" dirty="0">
                          <a:solidFill>
                            <a:srgbClr val="000000">
                              <a:alpha val="100000"/>
                            </a:srgbClr>
                          </a:solidFill>
                          <a:latin typeface="Perpetua" panose="02020502060401020303"/>
                          <a:ea typeface="Perpetua" panose="02020502060401020303"/>
                          <a:cs typeface="Perpetua" panose="02020502060401020303"/>
                        </a:rPr>
                        <a:t>MR3</a:t>
                      </a:r>
                      <a:r>
                        <a:rPr sz="2100" kern="0" spc="-260" dirty="0">
                          <a:solidFill>
                            <a:srgbClr val="000000">
                              <a:alpha val="100000"/>
                            </a:srgbClr>
                          </a:solidFill>
                          <a:latin typeface="Perpetua" panose="02020502060401020303"/>
                          <a:ea typeface="Perpetua" panose="02020502060401020303"/>
                          <a:cs typeface="Perpetua" panose="02020502060401020303"/>
                        </a:rPr>
                        <a:t> </a:t>
                      </a:r>
                      <a:r>
                        <a:rPr sz="3300" kern="0" spc="-50" baseline="-8000" dirty="0">
                          <a:solidFill>
                            <a:srgbClr val="000000">
                              <a:alpha val="100000"/>
                            </a:srgbClr>
                          </a:solidFill>
                          <a:latin typeface="Perpetua" panose="02020502060401020303"/>
                          <a:ea typeface="Perpetua" panose="02020502060401020303"/>
                          <a:cs typeface="Perpetua" panose="02020502060401020303"/>
                        </a:rPr>
                        <a:t>.</a:t>
                      </a:r>
                      <a:r>
                        <a:rPr sz="2100" kern="0" spc="40" dirty="0">
                          <a:solidFill>
                            <a:srgbClr val="000000">
                              <a:alpha val="100000"/>
                            </a:srgbClr>
                          </a:solidFill>
                          <a:latin typeface="Perpetua" panose="02020502060401020303"/>
                          <a:ea typeface="Perpetua" panose="02020502060401020303"/>
                          <a:cs typeface="Perpetua" panose="02020502060401020303"/>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var(</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y</a:t>
                      </a:r>
                      <a:r>
                        <a:rPr sz="1900" i="1" kern="0" spc="-5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2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var(</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e</a:t>
                      </a:r>
                      <a:r>
                        <a:rPr sz="1900" i="1" kern="0" spc="-5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2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 σ</a:t>
                      </a:r>
                      <a:r>
                        <a:rPr sz="1900" kern="0" spc="20" baseline="62000" dirty="0">
                          <a:solidFill>
                            <a:srgbClr val="000000">
                              <a:alpha val="100000"/>
                            </a:srgbClr>
                          </a:solidFill>
                          <a:latin typeface="Times New Roman" panose="02020603050405020304"/>
                          <a:ea typeface="Times New Roman" panose="02020603050405020304"/>
                          <a:cs typeface="Times New Roman" panose="02020603050405020304"/>
                        </a:rPr>
                        <a:t>2</a:t>
                      </a:r>
                      <a:endParaRPr sz="1900" baseline="62000" dirty="0">
                        <a:latin typeface="Times New Roman" panose="02020603050405020304"/>
                        <a:ea typeface="Times New Roman" panose="02020603050405020304"/>
                        <a:cs typeface="Times New Roman" panose="02020603050405020304"/>
                      </a:endParaRPr>
                    </a:p>
                    <a:p>
                      <a:pPr marL="913765" algn="l" rtl="0" eaLnBrk="0">
                        <a:lnSpc>
                          <a:spcPct val="100000"/>
                        </a:lnSpc>
                        <a:spcBef>
                          <a:spcPts val="1840"/>
                        </a:spcBef>
                      </a:pPr>
                      <a:r>
                        <a:rPr sz="3300" kern="0" spc="-20" baseline="-5000" dirty="0">
                          <a:solidFill>
                            <a:srgbClr val="000000">
                              <a:alpha val="100000"/>
                            </a:srgbClr>
                          </a:solidFill>
                          <a:latin typeface="Perpetua" panose="02020502060401020303"/>
                          <a:ea typeface="Perpetua" panose="02020502060401020303"/>
                          <a:cs typeface="Perpetua" panose="02020502060401020303"/>
                        </a:rPr>
                        <a:t>MR4</a:t>
                      </a:r>
                      <a:r>
                        <a:rPr sz="2100" kern="0" spc="-260" dirty="0">
                          <a:solidFill>
                            <a:srgbClr val="000000">
                              <a:alpha val="100000"/>
                            </a:srgbClr>
                          </a:solidFill>
                          <a:latin typeface="Perpetua" panose="02020502060401020303"/>
                          <a:ea typeface="Perpetua" panose="02020502060401020303"/>
                          <a:cs typeface="Perpetua" panose="02020502060401020303"/>
                        </a:rPr>
                        <a:t> </a:t>
                      </a:r>
                      <a:r>
                        <a:rPr sz="3300" kern="0" spc="-20" baseline="-5000" dirty="0">
                          <a:solidFill>
                            <a:srgbClr val="000000">
                              <a:alpha val="100000"/>
                            </a:srgbClr>
                          </a:solidFill>
                          <a:latin typeface="Perpetua" panose="02020502060401020303"/>
                          <a:ea typeface="Perpetua" panose="02020502060401020303"/>
                          <a:cs typeface="Perpetua" panose="02020502060401020303"/>
                        </a:rPr>
                        <a:t>.</a:t>
                      </a:r>
                      <a:r>
                        <a:rPr sz="2100" kern="0" spc="40" dirty="0">
                          <a:solidFill>
                            <a:srgbClr val="000000">
                              <a:alpha val="100000"/>
                            </a:srgbClr>
                          </a:solidFill>
                          <a:latin typeface="Perpetua" panose="02020502060401020303"/>
                          <a:ea typeface="Perpetua" panose="02020502060401020303"/>
                          <a:cs typeface="Perpetua" panose="02020502060401020303"/>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cov(</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1900" i="1" kern="0" spc="-20" baseline="-19000" dirty="0">
                          <a:solidFill>
                            <a:srgbClr val="000000">
                              <a:alpha val="100000"/>
                            </a:srgbClr>
                          </a:solidFill>
                          <a:latin typeface="Times New Roman" panose="02020603050405020304"/>
                          <a:ea typeface="Times New Roman" panose="02020603050405020304"/>
                          <a:cs typeface="Times New Roman" panose="02020603050405020304"/>
                        </a:rPr>
                        <a:t>i</a:t>
                      </a:r>
                      <a:r>
                        <a:rPr sz="3200" kern="0" spc="-20" baseline="-11000" dirty="0">
                          <a:solidFill>
                            <a:srgbClr val="000000">
                              <a:alpha val="100000"/>
                            </a:srgbClr>
                          </a:solidFill>
                          <a:latin typeface="Times New Roman" panose="02020603050405020304"/>
                          <a:ea typeface="Times New Roman" panose="02020603050405020304"/>
                          <a:cs typeface="Times New Roman" panose="02020603050405020304"/>
                        </a:rPr>
                        <a:t>,</a:t>
                      </a:r>
                      <a:r>
                        <a:rPr sz="20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y</a:t>
                      </a:r>
                      <a:r>
                        <a:rPr sz="1900" i="1" kern="0" spc="-20" baseline="-25000" dirty="0">
                          <a:solidFill>
                            <a:srgbClr val="000000">
                              <a:alpha val="100000"/>
                            </a:srgbClr>
                          </a:solidFill>
                          <a:latin typeface="Times New Roman" panose="02020603050405020304"/>
                          <a:ea typeface="Times New Roman" panose="02020603050405020304"/>
                          <a:cs typeface="Times New Roman" panose="02020603050405020304"/>
                        </a:rPr>
                        <a:t>j</a:t>
                      </a:r>
                      <a:r>
                        <a:rPr sz="12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120" dirty="0">
                          <a:solidFill>
                            <a:srgbClr val="000000">
                              <a:alpha val="100000"/>
                            </a:srgbClr>
                          </a:solidFill>
                          <a:latin typeface="Arial" panose="020B0604020202020204"/>
                          <a:ea typeface="Arial" panose="020B0604020202020204"/>
                          <a:cs typeface="Arial" panose="020B06040202020202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cov(</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e</a:t>
                      </a:r>
                      <a:r>
                        <a:rPr sz="1900" i="1" kern="0" spc="-20" baseline="-19000" dirty="0">
                          <a:solidFill>
                            <a:srgbClr val="000000">
                              <a:alpha val="100000"/>
                            </a:srgbClr>
                          </a:solidFill>
                          <a:latin typeface="Times New Roman" panose="02020603050405020304"/>
                          <a:ea typeface="Times New Roman" panose="02020603050405020304"/>
                          <a:cs typeface="Times New Roman" panose="02020603050405020304"/>
                        </a:rPr>
                        <a:t>i</a:t>
                      </a:r>
                      <a:r>
                        <a:rPr sz="3200" kern="0" spc="-20" baseline="-11000" dirty="0">
                          <a:solidFill>
                            <a:srgbClr val="000000">
                              <a:alpha val="100000"/>
                            </a:srgbClr>
                          </a:solidFill>
                          <a:latin typeface="Times New Roman" panose="02020603050405020304"/>
                          <a:ea typeface="Times New Roman" panose="02020603050405020304"/>
                          <a:cs typeface="Times New Roman" panose="02020603050405020304"/>
                        </a:rPr>
                        <a:t>,</a:t>
                      </a:r>
                      <a:r>
                        <a:rPr sz="20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e</a:t>
                      </a:r>
                      <a:r>
                        <a:rPr sz="1900" i="1" kern="0" spc="-20" baseline="-25000" dirty="0">
                          <a:solidFill>
                            <a:srgbClr val="000000">
                              <a:alpha val="100000"/>
                            </a:srgbClr>
                          </a:solidFill>
                          <a:latin typeface="Times New Roman" panose="02020603050405020304"/>
                          <a:ea typeface="Times New Roman" panose="02020603050405020304"/>
                          <a:cs typeface="Times New Roman" panose="02020603050405020304"/>
                        </a:rPr>
                        <a:t>j</a:t>
                      </a:r>
                      <a:r>
                        <a:rPr sz="12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30" dirty="0">
                          <a:solidFill>
                            <a:srgbClr val="000000">
                              <a:alpha val="100000"/>
                            </a:srgbClr>
                          </a:solidFill>
                          <a:latin typeface="Arial" panose="020B0604020202020204"/>
                          <a:ea typeface="Arial" panose="020B0604020202020204"/>
                          <a:cs typeface="Arial" panose="020B06040202020202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0</a:t>
                      </a:r>
                      <a:endParaRPr sz="2100" dirty="0">
                        <a:latin typeface="Times New Roman" panose="02020603050405020304"/>
                        <a:ea typeface="Times New Roman" panose="02020603050405020304"/>
                        <a:cs typeface="Times New Roman" panose="02020603050405020304"/>
                      </a:endParaRPr>
                    </a:p>
                    <a:p>
                      <a:pPr marL="913765" algn="l" rtl="0" eaLnBrk="0">
                        <a:lnSpc>
                          <a:spcPts val="2870"/>
                        </a:lnSpc>
                        <a:spcBef>
                          <a:spcPts val="1330"/>
                        </a:spcBef>
                      </a:pPr>
                      <a:r>
                        <a:rPr sz="2100" kern="0" spc="0" dirty="0">
                          <a:solidFill>
                            <a:srgbClr val="000000">
                              <a:alpha val="100000"/>
                            </a:srgbClr>
                          </a:solidFill>
                          <a:latin typeface="Perpetua" panose="02020502060401020303"/>
                          <a:ea typeface="Perpetua" panose="02020502060401020303"/>
                          <a:cs typeface="Perpetua" panose="02020502060401020303"/>
                        </a:rPr>
                        <a:t>MR</a:t>
                      </a:r>
                      <a:r>
                        <a:rPr sz="2100" kern="0" spc="80" dirty="0">
                          <a:solidFill>
                            <a:srgbClr val="000000">
                              <a:alpha val="100000"/>
                            </a:srgbClr>
                          </a:solidFill>
                          <a:latin typeface="Perpetua" panose="02020502060401020303"/>
                          <a:ea typeface="Perpetua" panose="02020502060401020303"/>
                          <a:cs typeface="Perpetua" panose="02020502060401020303"/>
                        </a:rPr>
                        <a:t>5</a:t>
                      </a:r>
                      <a:r>
                        <a:rPr sz="2100" kern="0" spc="-260" dirty="0">
                          <a:solidFill>
                            <a:srgbClr val="000000">
                              <a:alpha val="100000"/>
                            </a:srgbClr>
                          </a:solidFill>
                          <a:latin typeface="Perpetua" panose="02020502060401020303"/>
                          <a:ea typeface="Perpetua" panose="02020502060401020303"/>
                          <a:cs typeface="Perpetua" panose="02020502060401020303"/>
                        </a:rPr>
                        <a:t> </a:t>
                      </a:r>
                      <a:r>
                        <a:rPr sz="2100" kern="0" spc="80" dirty="0">
                          <a:solidFill>
                            <a:srgbClr val="000000">
                              <a:alpha val="100000"/>
                            </a:srgbClr>
                          </a:solidFill>
                          <a:latin typeface="Perpetua" panose="02020502060401020303"/>
                          <a:ea typeface="Perpetua" panose="02020502060401020303"/>
                          <a:cs typeface="Perpetua" panose="02020502060401020303"/>
                        </a:rPr>
                        <a:t>.</a:t>
                      </a:r>
                      <a:r>
                        <a:rPr sz="2100" kern="0" spc="10" dirty="0">
                          <a:solidFill>
                            <a:srgbClr val="000000">
                              <a:alpha val="100000"/>
                            </a:srgbClr>
                          </a:solidFill>
                          <a:latin typeface="Perpetua" panose="02020502060401020303"/>
                          <a:ea typeface="Perpetua" panose="02020502060401020303"/>
                          <a:cs typeface="Perpetua" panose="02020502060401020303"/>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每个</a:t>
                      </a:r>
                      <a:r>
                        <a:rPr sz="2100" kern="0" spc="-5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0" dirty="0">
                          <a:solidFill>
                            <a:srgbClr val="000000">
                              <a:alpha val="100000"/>
                            </a:srgbClr>
                          </a:solidFill>
                          <a:latin typeface="Perpetua" panose="02020502060401020303"/>
                          <a:ea typeface="Perpetua" panose="02020502060401020303"/>
                          <a:cs typeface="Perpetua" panose="02020502060401020303"/>
                        </a:rPr>
                        <a:t>x</a:t>
                      </a:r>
                      <a:r>
                        <a:rPr sz="2200" i="1" kern="0" spc="0" baseline="-12000" dirty="0">
                          <a:solidFill>
                            <a:srgbClr val="000000">
                              <a:alpha val="100000"/>
                            </a:srgbClr>
                          </a:solidFill>
                          <a:latin typeface="Perpetua" panose="02020502060401020303"/>
                          <a:ea typeface="Perpetua" panose="02020502060401020303"/>
                          <a:cs typeface="Perpetua" panose="02020502060401020303"/>
                        </a:rPr>
                        <a:t>ik</a:t>
                      </a:r>
                      <a:r>
                        <a:rPr sz="1400" i="1" kern="0" spc="80" dirty="0">
                          <a:solidFill>
                            <a:srgbClr val="000000">
                              <a:alpha val="100000"/>
                            </a:srgbClr>
                          </a:solidFill>
                          <a:latin typeface="Perpetua" panose="02020502060401020303"/>
                          <a:ea typeface="Perpetua" panose="02020502060401020303"/>
                          <a:cs typeface="Perpetua" panose="02020502060401020303"/>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的值是非随机的，解释变量间</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不存在完全的</a:t>
                      </a:r>
                      <a:endParaRPr sz="2100" dirty="0">
                        <a:latin typeface="楷体" panose="02010609060101010101" charset="-122"/>
                        <a:ea typeface="楷体" panose="02010609060101010101" charset="-122"/>
                        <a:cs typeface="楷体" panose="02010609060101010101" charset="-122"/>
                      </a:endParaRPr>
                    </a:p>
                    <a:p>
                      <a:pPr marL="939800" algn="l" rtl="0" eaLnBrk="0">
                        <a:lnSpc>
                          <a:spcPts val="3290"/>
                        </a:lnSpc>
                      </a:pP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线性函数关系。</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200" dirty="0">
                        <a:latin typeface="Arial" panose="020B0604020202020204"/>
                        <a:ea typeface="Arial" panose="020B0604020202020204"/>
                        <a:cs typeface="Arial" panose="020B0604020202020204"/>
                      </a:endParaRPr>
                    </a:p>
                    <a:p>
                      <a:pPr marL="913765" algn="l" rtl="0" eaLnBrk="0">
                        <a:lnSpc>
                          <a:spcPts val="2670"/>
                        </a:lnSpc>
                        <a:spcBef>
                          <a:spcPts val="5"/>
                        </a:spcBef>
                      </a:pPr>
                      <a:r>
                        <a:rPr sz="3300" kern="0" spc="-10" baseline="-1000" dirty="0">
                          <a:solidFill>
                            <a:srgbClr val="000000">
                              <a:alpha val="100000"/>
                            </a:srgbClr>
                          </a:solidFill>
                          <a:latin typeface="Perpetua" panose="02020502060401020303"/>
                          <a:ea typeface="Perpetua" panose="02020502060401020303"/>
                          <a:cs typeface="Perpetua" panose="02020502060401020303"/>
                        </a:rPr>
                        <a:t>MR6</a:t>
                      </a:r>
                      <a:r>
                        <a:rPr sz="2100" kern="0" spc="-270" dirty="0">
                          <a:solidFill>
                            <a:srgbClr val="000000">
                              <a:alpha val="100000"/>
                            </a:srgbClr>
                          </a:solidFill>
                          <a:latin typeface="Perpetua" panose="02020502060401020303"/>
                          <a:ea typeface="Perpetua" panose="02020502060401020303"/>
                          <a:cs typeface="Perpetua" panose="02020502060401020303"/>
                        </a:rPr>
                        <a:t> </a:t>
                      </a:r>
                      <a:r>
                        <a:rPr sz="3300" kern="0" spc="-10" baseline="-1000" dirty="0">
                          <a:solidFill>
                            <a:srgbClr val="000000">
                              <a:alpha val="100000"/>
                            </a:srgbClr>
                          </a:solidFill>
                          <a:latin typeface="Perpetua" panose="02020502060401020303"/>
                          <a:ea typeface="Perpetua" panose="02020502060401020303"/>
                          <a:cs typeface="Perpetua" panose="02020502060401020303"/>
                        </a:rPr>
                        <a:t>.</a:t>
                      </a:r>
                      <a:r>
                        <a:rPr sz="2100" kern="0" spc="-10" dirty="0">
                          <a:solidFill>
                            <a:srgbClr val="000000">
                              <a:alpha val="100000"/>
                            </a:srgbClr>
                          </a:solidFill>
                          <a:latin typeface="Perpetua" panose="02020502060401020303"/>
                          <a:ea typeface="Perpetua" panose="02020502060401020303"/>
                          <a:cs typeface="Perpetua" panose="02020502060401020303"/>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1900" i="1" kern="0" spc="-1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2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N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0" dirty="0">
                          <a:solidFill>
                            <a:srgbClr val="000000">
                              <a:alpha val="100000"/>
                            </a:srgbClr>
                          </a:solidFill>
                          <a:latin typeface="Arial" panose="020B0604020202020204"/>
                          <a:ea typeface="Arial" panose="020B0604020202020204"/>
                          <a:cs typeface="Arial" panose="020B0604020202020204"/>
                        </a:rPr>
                        <a:t>β</a:t>
                      </a:r>
                      <a:r>
                        <a:rPr sz="1900" kern="0" spc="-1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Arial" panose="020B0604020202020204"/>
                          <a:ea typeface="Arial" panose="020B0604020202020204"/>
                          <a:cs typeface="Arial" panose="020B0604020202020204"/>
                        </a:rPr>
                        <a:t>+</a:t>
                      </a:r>
                      <a:r>
                        <a:rPr sz="2100" kern="0" spc="-19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Arial" panose="020B0604020202020204"/>
                          <a:ea typeface="Arial" panose="020B0604020202020204"/>
                          <a:cs typeface="Arial" panose="020B0604020202020204"/>
                        </a:rPr>
                        <a:t>β</a:t>
                      </a:r>
                      <a:r>
                        <a:rPr sz="1900" kern="0" spc="-1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900" i="1" kern="0" spc="-1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900" kern="0" spc="-1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Arial" panose="020B0604020202020204"/>
                          <a:ea typeface="Arial" panose="020B0604020202020204"/>
                          <a:cs typeface="Arial" panose="020B0604020202020204"/>
                        </a:rPr>
                        <a:t>+</a:t>
                      </a:r>
                      <a:r>
                        <a:rPr sz="2100" kern="0" spc="-19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Arial" panose="020B0604020202020204"/>
                          <a:ea typeface="Arial" panose="020B0604020202020204"/>
                          <a:cs typeface="Arial" panose="020B0604020202020204"/>
                        </a:rPr>
                        <a:t>β</a:t>
                      </a:r>
                      <a:r>
                        <a:rPr sz="1900" i="1" kern="0" spc="-1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900" i="1" kern="0" spc="-10" baseline="-20000" dirty="0">
                          <a:solidFill>
                            <a:srgbClr val="000000">
                              <a:alpha val="100000"/>
                            </a:srgbClr>
                          </a:solidFill>
                          <a:latin typeface="Times New Roman" panose="02020603050405020304"/>
                          <a:ea typeface="Times New Roman" panose="02020603050405020304"/>
                          <a:cs typeface="Times New Roman" panose="02020603050405020304"/>
                        </a:rPr>
                        <a:t>iK</a:t>
                      </a:r>
                      <a:r>
                        <a:rPr sz="12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Arial" panose="020B0604020202020204"/>
                          <a:ea typeface="Arial" panose="020B0604020202020204"/>
                          <a:cs typeface="Arial" panose="020B0604020202020204"/>
                        </a:rPr>
                        <a:t>σ</a:t>
                      </a:r>
                      <a:r>
                        <a:rPr sz="1900" kern="0" spc="-10" baseline="63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e</a:t>
                      </a:r>
                      <a:r>
                        <a:rPr sz="1900" i="1" kern="0" spc="-20" baseline="-20000" dirty="0">
                          <a:solidFill>
                            <a:srgbClr val="000000">
                              <a:alpha val="100000"/>
                            </a:srgbClr>
                          </a:solidFill>
                          <a:latin typeface="Times New Roman" panose="02020603050405020304"/>
                          <a:ea typeface="Times New Roman" panose="02020603050405020304"/>
                          <a:cs typeface="Times New Roman" panose="02020603050405020304"/>
                        </a:rPr>
                        <a:t>i</a:t>
                      </a:r>
                      <a:r>
                        <a:rPr sz="12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N</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20" dirty="0">
                          <a:solidFill>
                            <a:srgbClr val="000000">
                              <a:alpha val="100000"/>
                            </a:srgbClr>
                          </a:solidFill>
                          <a:latin typeface="Arial" panose="020B0604020202020204"/>
                          <a:ea typeface="Arial" panose="020B0604020202020204"/>
                          <a:cs typeface="Arial" panose="020B0604020202020204"/>
                        </a:rPr>
                        <a:t>σ</a:t>
                      </a:r>
                      <a:r>
                        <a:rPr sz="1900" kern="0" spc="-20" baseline="63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115694">
                <a:tc>
                  <a:txBody>
                    <a:bodyPr/>
                    <a:lstStyle/>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10</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66" name="picture 66"/>
          <p:cNvPicPr>
            <a:picLocks noChangeAspect="1"/>
          </p:cNvPicPr>
          <p:nvPr/>
        </p:nvPicPr>
        <p:blipFill>
          <a:blip r:embed="rId2"/>
          <a:stretch>
            <a:fillRect/>
          </a:stretch>
        </p:blipFill>
        <p:spPr>
          <a:xfrm rot="21600000">
            <a:off x="5569394" y="4769416"/>
            <a:ext cx="258946" cy="250062"/>
          </a:xfrm>
          <a:prstGeom prst="rect">
            <a:avLst/>
          </a:prstGeom>
        </p:spPr>
      </p:pic>
      <p:pic>
        <p:nvPicPr>
          <p:cNvPr id="68" name="picture 68"/>
          <p:cNvPicPr>
            <a:picLocks noChangeAspect="1"/>
          </p:cNvPicPr>
          <p:nvPr/>
        </p:nvPicPr>
        <p:blipFill>
          <a:blip r:embed="rId3"/>
          <a:stretch>
            <a:fillRect/>
          </a:stretch>
        </p:blipFill>
        <p:spPr>
          <a:xfrm rot="21600000">
            <a:off x="5407904" y="4688275"/>
            <a:ext cx="94844" cy="402312"/>
          </a:xfrm>
          <a:prstGeom prst="rect">
            <a:avLst/>
          </a:prstGeom>
        </p:spPr>
      </p:pic>
      <p:pic>
        <p:nvPicPr>
          <p:cNvPr id="70" name="picture 70"/>
          <p:cNvPicPr>
            <a:picLocks noChangeAspect="1"/>
          </p:cNvPicPr>
          <p:nvPr/>
        </p:nvPicPr>
        <p:blipFill>
          <a:blip r:embed="rId4"/>
          <a:stretch>
            <a:fillRect/>
          </a:stretch>
        </p:blipFill>
        <p:spPr>
          <a:xfrm rot="21600000">
            <a:off x="3881788" y="4866926"/>
            <a:ext cx="212675" cy="37438"/>
          </a:xfrm>
          <a:prstGeom prst="rect">
            <a:avLst/>
          </a:prstGeom>
        </p:spPr>
      </p:pic>
      <p:pic>
        <p:nvPicPr>
          <p:cNvPr id="72" name="picture 72"/>
          <p:cNvPicPr>
            <a:picLocks noChangeAspect="1"/>
          </p:cNvPicPr>
          <p:nvPr/>
        </p:nvPicPr>
        <p:blipFill>
          <a:blip r:embed="rId5"/>
          <a:stretch>
            <a:fillRect/>
          </a:stretch>
        </p:blipFill>
        <p:spPr>
          <a:xfrm rot="21600000">
            <a:off x="2463617" y="4688275"/>
            <a:ext cx="99237" cy="402312"/>
          </a:xfrm>
          <a:prstGeom prst="rect">
            <a:avLst/>
          </a:prstGeom>
        </p:spPr>
      </p:pic>
      <p:pic>
        <p:nvPicPr>
          <p:cNvPr id="74" name="picture 74"/>
          <p:cNvPicPr>
            <a:picLocks noChangeAspect="1"/>
          </p:cNvPicPr>
          <p:nvPr/>
        </p:nvPicPr>
        <p:blipFill>
          <a:blip r:embed="rId6"/>
          <a:stretch>
            <a:fillRect/>
          </a:stretch>
        </p:blipFill>
        <p:spPr>
          <a:xfrm rot="21600000">
            <a:off x="4838350" y="2276385"/>
            <a:ext cx="253287" cy="244713"/>
          </a:xfrm>
          <a:prstGeom prst="rect">
            <a:avLst/>
          </a:prstGeom>
        </p:spPr>
      </p:pic>
      <p:pic>
        <p:nvPicPr>
          <p:cNvPr id="76" name="picture 76"/>
          <p:cNvPicPr>
            <a:picLocks noChangeAspect="1"/>
          </p:cNvPicPr>
          <p:nvPr/>
        </p:nvPicPr>
        <p:blipFill>
          <a:blip r:embed="rId7"/>
          <a:stretch>
            <a:fillRect/>
          </a:stretch>
        </p:blipFill>
        <p:spPr>
          <a:xfrm rot="21600000">
            <a:off x="3778639" y="2379488"/>
            <a:ext cx="211980" cy="3729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box 86"/>
          <p:cNvSpPr/>
          <p:nvPr/>
        </p:nvSpPr>
        <p:spPr>
          <a:xfrm>
            <a:off x="85725" y="57150"/>
            <a:ext cx="9004300" cy="6730365"/>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693545" algn="l" rtl="0" eaLnBrk="0">
              <a:lnSpc>
                <a:spcPct val="86000"/>
              </a:lnSpc>
            </a:pPr>
            <a:r>
              <a:rPr sz="3600" b="1" kern="0" spc="-20" dirty="0">
                <a:solidFill>
                  <a:srgbClr val="000000">
                    <a:alpha val="100000"/>
                  </a:srgbClr>
                </a:solidFill>
                <a:latin typeface="黑体" panose="02010609060101010101" charset="-122"/>
                <a:ea typeface="黑体" panose="02010609060101010101" charset="-122"/>
                <a:cs typeface="黑体" panose="02010609060101010101" charset="-122"/>
              </a:rPr>
              <a:t>二、估计多元回归模型的参数</a:t>
            </a:r>
            <a:endParaRPr sz="3600" dirty="0">
              <a:latin typeface="黑体" panose="02010609060101010101" charset="-122"/>
              <a:ea typeface="黑体" panose="02010609060101010101" charset="-122"/>
              <a:cs typeface="黑体" panose="02010609060101010101" charset="-122"/>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875665" algn="l" rtl="0" eaLnBrk="0">
              <a:lnSpc>
                <a:spcPct val="87000"/>
              </a:lnSpc>
              <a:spcBef>
                <a:spcPts val="63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50" dirty="0">
                <a:solidFill>
                  <a:srgbClr val="000000">
                    <a:alpha val="100000"/>
                  </a:srgbClr>
                </a:solidFill>
                <a:latin typeface="楷体" panose="02010609060101010101" charset="-122"/>
                <a:ea typeface="楷体" panose="02010609060101010101" charset="-122"/>
                <a:cs typeface="楷体" panose="02010609060101010101" charset="-122"/>
              </a:rPr>
              <a:t>（一）两个解释变量的特例</a:t>
            </a:r>
            <a:endParaRPr sz="2100" dirty="0">
              <a:latin typeface="楷体" panose="02010609060101010101" charset="-122"/>
              <a:ea typeface="楷体" panose="02010609060101010101" charset="-122"/>
              <a:cs typeface="楷体" panose="02010609060101010101" charset="-122"/>
            </a:endParaRPr>
          </a:p>
          <a:p>
            <a:pPr algn="l" rtl="0" eaLnBrk="0">
              <a:lnSpc>
                <a:spcPct val="116000"/>
              </a:lnSpc>
            </a:pPr>
            <a:endParaRPr sz="1000" dirty="0">
              <a:latin typeface="Arial" panose="020B0604020202020204"/>
              <a:ea typeface="Arial" panose="020B0604020202020204"/>
              <a:cs typeface="Arial" panose="020B0604020202020204"/>
            </a:endParaRPr>
          </a:p>
          <a:p>
            <a:pPr marL="875665" algn="l" rtl="0" eaLnBrk="0">
              <a:lnSpc>
                <a:spcPct val="86000"/>
              </a:lnSpc>
              <a:spcBef>
                <a:spcPts val="69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我们包含两个解释变量的模型的估计，</a:t>
            </a:r>
            <a:r>
              <a:rPr sz="2100" kern="0" spc="-6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其</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中</a:t>
            </a:r>
            <a:r>
              <a:rPr sz="2100" kern="0" spc="-4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i</a:t>
            </a:r>
            <a:r>
              <a:rPr sz="2100" i="1"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定义第</a:t>
            </a:r>
            <a:r>
              <a:rPr sz="2100" kern="0" spc="-4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i</a:t>
            </a:r>
            <a:r>
              <a:rPr sz="2100" i="1"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30" dirty="0">
                <a:solidFill>
                  <a:srgbClr val="000000">
                    <a:alpha val="100000"/>
                  </a:srgbClr>
                </a:solidFill>
                <a:latin typeface="楷体" panose="02010609060101010101" charset="-122"/>
                <a:ea typeface="楷体" panose="02010609060101010101" charset="-122"/>
                <a:cs typeface="楷体" panose="02010609060101010101" charset="-122"/>
              </a:rPr>
              <a:t>个观</a:t>
            </a:r>
            <a:endParaRPr sz="2300" dirty="0">
              <a:latin typeface="楷体" panose="02010609060101010101" charset="-122"/>
              <a:ea typeface="楷体" panose="02010609060101010101" charset="-122"/>
              <a:cs typeface="楷体" panose="02010609060101010101" charset="-122"/>
            </a:endParaRPr>
          </a:p>
          <a:p>
            <a:pPr marL="1186815" algn="l" rtl="0" eaLnBrk="0">
              <a:lnSpc>
                <a:spcPct val="87000"/>
              </a:lnSpc>
              <a:spcBef>
                <a:spcPts val="1340"/>
              </a:spcBef>
            </a:pPr>
            <a:r>
              <a:rPr sz="2100" i="1" kern="0" spc="-190" dirty="0">
                <a:solidFill>
                  <a:srgbClr val="000000">
                    <a:alpha val="100000"/>
                  </a:srgbClr>
                </a:solidFill>
                <a:latin typeface="楷体" panose="02010609060101010101" charset="-122"/>
                <a:ea typeface="楷体" panose="02010609060101010101" charset="-122"/>
                <a:cs typeface="楷体" panose="02010609060101010101" charset="-122"/>
              </a:rPr>
              <a:t>测值：</a:t>
            </a:r>
            <a:endParaRPr sz="2100" dirty="0">
              <a:latin typeface="楷体" panose="02010609060101010101" charset="-122"/>
              <a:ea typeface="楷体" panose="02010609060101010101" charset="-122"/>
              <a:cs typeface="楷体" panose="02010609060101010101" charset="-122"/>
            </a:endParaRPr>
          </a:p>
          <a:p>
            <a:pPr marL="2995295" algn="l" rtl="0" eaLnBrk="0">
              <a:lnSpc>
                <a:spcPct val="91000"/>
              </a:lnSpc>
              <a:spcBef>
                <a:spcPts val="55"/>
              </a:spcBef>
            </a:pP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0" baseline="3000" dirty="0">
                <a:solidFill>
                  <a:srgbClr val="000000">
                    <a:alpha val="100000"/>
                  </a:srgbClr>
                </a:solidFill>
                <a:latin typeface="Arial" panose="020B0604020202020204"/>
                <a:ea typeface="Arial" panose="020B0604020202020204"/>
                <a:cs typeface="Arial" panose="020B0604020202020204"/>
              </a:rPr>
              <a:t>=</a:t>
            </a:r>
            <a:r>
              <a:rPr sz="2200" kern="0" spc="0" dirty="0">
                <a:solidFill>
                  <a:srgbClr val="000000">
                    <a:alpha val="100000"/>
                  </a:srgbClr>
                </a:solidFill>
                <a:latin typeface="Arial" panose="020B0604020202020204"/>
                <a:ea typeface="Arial" panose="020B0604020202020204"/>
                <a:cs typeface="Arial" panose="020B0604020202020204"/>
              </a:rPr>
              <a:t> </a:t>
            </a:r>
            <a:r>
              <a:rPr sz="3500" kern="0" spc="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0" baseline="3000" dirty="0">
                <a:solidFill>
                  <a:srgbClr val="000000">
                    <a:alpha val="100000"/>
                  </a:srgbClr>
                </a:solidFill>
                <a:latin typeface="Arial" panose="020B0604020202020204"/>
                <a:ea typeface="Arial" panose="020B0604020202020204"/>
                <a:cs typeface="Arial" panose="020B0604020202020204"/>
              </a:rPr>
              <a:t>+</a:t>
            </a:r>
            <a:r>
              <a:rPr sz="2200" kern="0" spc="-170" dirty="0">
                <a:solidFill>
                  <a:srgbClr val="000000">
                    <a:alpha val="100000"/>
                  </a:srgbClr>
                </a:solidFill>
                <a:latin typeface="Arial" panose="020B0604020202020204"/>
                <a:ea typeface="Arial" panose="020B0604020202020204"/>
                <a:cs typeface="Arial" panose="020B0604020202020204"/>
              </a:rPr>
              <a:t> </a:t>
            </a:r>
            <a:r>
              <a:rPr sz="3500" kern="0" spc="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0" baseline="3000" dirty="0">
                <a:solidFill>
                  <a:srgbClr val="000000">
                    <a:alpha val="100000"/>
                  </a:srgbClr>
                </a:solidFill>
                <a:latin typeface="Arial" panose="020B0604020202020204"/>
                <a:ea typeface="Arial" panose="020B0604020202020204"/>
                <a:cs typeface="Arial" panose="020B0604020202020204"/>
              </a:rPr>
              <a:t>+</a:t>
            </a:r>
            <a:r>
              <a:rPr sz="2200" kern="0" spc="-170" dirty="0">
                <a:solidFill>
                  <a:srgbClr val="000000">
                    <a:alpha val="100000"/>
                  </a:srgbClr>
                </a:solidFill>
                <a:latin typeface="Arial" panose="020B0604020202020204"/>
                <a:ea typeface="Arial" panose="020B0604020202020204"/>
                <a:cs typeface="Arial" panose="020B0604020202020204"/>
              </a:rPr>
              <a:t> </a:t>
            </a:r>
            <a:r>
              <a:rPr sz="3500" kern="0" spc="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13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0" baseline="3000" dirty="0">
                <a:solidFill>
                  <a:srgbClr val="000000">
                    <a:alpha val="100000"/>
                  </a:srgbClr>
                </a:solidFill>
                <a:latin typeface="Arial" panose="020B0604020202020204"/>
                <a:ea typeface="Arial" panose="020B0604020202020204"/>
                <a:cs typeface="Arial" panose="020B0604020202020204"/>
              </a:rPr>
              <a:t>+</a:t>
            </a:r>
            <a:r>
              <a:rPr sz="2200" kern="0" spc="-150" dirty="0">
                <a:solidFill>
                  <a:srgbClr val="000000">
                    <a:alpha val="100000"/>
                  </a:srgbClr>
                </a:solidFill>
                <a:latin typeface="Arial" panose="020B0604020202020204"/>
                <a:ea typeface="Arial" panose="020B0604020202020204"/>
                <a:cs typeface="Arial" panose="020B0604020202020204"/>
              </a:rPr>
              <a:t> </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endParaRPr sz="2000" baseline="-23000" dirty="0">
              <a:latin typeface="Times New Roman" panose="02020603050405020304"/>
              <a:ea typeface="Times New Roman" panose="02020603050405020304"/>
              <a:cs typeface="Times New Roman" panose="02020603050405020304"/>
            </a:endParaRPr>
          </a:p>
          <a:p>
            <a:pPr algn="l" rtl="0" eaLnBrk="0">
              <a:lnSpc>
                <a:spcPct val="133000"/>
              </a:lnSpc>
            </a:pP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marL="1134110" indent="-258445" algn="l" rtl="0" eaLnBrk="0">
              <a:lnSpc>
                <a:spcPct val="123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这一模型与完整模型比更为简单，但这一模型的所有结果经</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微小调整后可应用于一般情况。</a:t>
            </a:r>
            <a:endParaRPr sz="2100" dirty="0">
              <a:latin typeface="楷体" panose="02010609060101010101" charset="-122"/>
              <a:ea typeface="楷体" panose="02010609060101010101" charset="-122"/>
              <a:cs typeface="楷体" panose="02010609060101010101" charset="-122"/>
            </a:endParaRPr>
          </a:p>
          <a:p>
            <a:pPr marL="1176655" indent="-300990" algn="l" rtl="0" eaLnBrk="0">
              <a:lnSpc>
                <a:spcPct val="120000"/>
              </a:lnSpc>
              <a:spcBef>
                <a:spcPts val="181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数学推导上，</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我们最小化平方和函数</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S</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50" baseline="-19000" dirty="0">
                <a:solidFill>
                  <a:srgbClr val="000000">
                    <a:alpha val="100000"/>
                  </a:srgbClr>
                </a:solidFill>
                <a:latin typeface="Times New Roman" panose="02020603050405020304"/>
                <a:ea typeface="Times New Roman" panose="02020603050405020304"/>
                <a:cs typeface="Times New Roman" panose="02020603050405020304"/>
              </a:rPr>
              <a:t>1</a:t>
            </a:r>
            <a:r>
              <a:rPr sz="3300" kern="0" spc="50" baseline="-1300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 β</a:t>
            </a:r>
            <a:r>
              <a:rPr sz="2200" kern="0" spc="50" baseline="-19000" dirty="0">
                <a:solidFill>
                  <a:srgbClr val="000000">
                    <a:alpha val="100000"/>
                  </a:srgbClr>
                </a:solidFill>
                <a:latin typeface="Times New Roman" panose="02020603050405020304"/>
                <a:ea typeface="Times New Roman" panose="02020603050405020304"/>
                <a:cs typeface="Times New Roman" panose="02020603050405020304"/>
              </a:rPr>
              <a:t>2</a:t>
            </a:r>
            <a:r>
              <a:rPr sz="3300" kern="0" spc="50" baseline="-1300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50" baseline="-2400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给定数据</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已知，它是未知参数的函数：</a:t>
            </a:r>
            <a:endParaRPr sz="2100" dirty="0">
              <a:latin typeface="楷体" panose="02010609060101010101" charset="-122"/>
              <a:ea typeface="楷体" panose="02010609060101010101" charset="-122"/>
              <a:cs typeface="楷体" panose="02010609060101010101" charset="-122"/>
            </a:endParaRPr>
          </a:p>
          <a:p>
            <a:pPr marL="2317750" algn="l" rtl="0" eaLnBrk="0">
              <a:lnSpc>
                <a:spcPts val="5055"/>
              </a:lnSpc>
              <a:spcBef>
                <a:spcPts val="705"/>
              </a:spcBef>
              <a:tabLst>
                <a:tab pos="546862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16000"/>
              </a:lnSpc>
            </a:pPr>
            <a:endParaRPr sz="300" dirty="0">
              <a:latin typeface="Arial" panose="020B0604020202020204"/>
              <a:ea typeface="Arial" panose="020B0604020202020204"/>
              <a:cs typeface="Arial" panose="020B0604020202020204"/>
            </a:endParaRPr>
          </a:p>
          <a:p>
            <a:pPr marL="134620" algn="l" rtl="0" eaLnBrk="0">
              <a:lnSpc>
                <a:spcPct val="69000"/>
              </a:lnSpc>
              <a:spcBef>
                <a:spcPts val="5"/>
              </a:spcBef>
            </a:pPr>
            <a:r>
              <a:rPr sz="2100" b="1" kern="0" spc="-60" baseline="-5000" dirty="0">
                <a:solidFill>
                  <a:srgbClr val="FFFFFF">
                    <a:alpha val="100000"/>
                  </a:srgbClr>
                </a:solidFill>
                <a:latin typeface="Franklin Gothic Book" panose="020B0503020102020204"/>
                <a:ea typeface="Franklin Gothic Book" panose="020B0503020102020204"/>
                <a:cs typeface="Franklin Gothic Book" panose="020B0503020102020204"/>
              </a:rPr>
              <a:t>2</a:t>
            </a:r>
            <a:r>
              <a:rPr sz="1300" kern="0" spc="0" dirty="0">
                <a:solidFill>
                  <a:srgbClr val="FFFFFF">
                    <a:alpha val="100000"/>
                  </a:srgbClr>
                </a:solidFill>
                <a:latin typeface="Franklin Gothic Book" panose="020B0503020102020204"/>
                <a:ea typeface="Franklin Gothic Book" panose="020B0503020102020204"/>
                <a:cs typeface="Franklin Gothic Book" panose="020B0503020102020204"/>
              </a:rPr>
              <a:t>                                                                                </a:t>
            </a:r>
            <a:endParaRPr sz="1300" dirty="0">
              <a:latin typeface="Franklin Gothic Book" panose="020B0503020102020204"/>
              <a:ea typeface="Franklin Gothic Book" panose="020B0503020102020204"/>
              <a:cs typeface="Franklin Gothic Book" panose="020B0503020102020204"/>
            </a:endParaRPr>
          </a:p>
        </p:txBody>
      </p:sp>
      <p:pic>
        <p:nvPicPr>
          <p:cNvPr id="88" name="picture 88"/>
          <p:cNvPicPr>
            <a:picLocks noChangeAspect="1"/>
          </p:cNvPicPr>
          <p:nvPr/>
        </p:nvPicPr>
        <p:blipFill>
          <a:blip r:embed="rId1"/>
          <a:stretch>
            <a:fillRect/>
          </a:stretch>
        </p:blipFill>
        <p:spPr>
          <a:xfrm rot="21600000">
            <a:off x="3763272" y="6097600"/>
            <a:ext cx="2874823" cy="579836"/>
          </a:xfrm>
          <a:prstGeom prst="rect">
            <a:avLst/>
          </a:prstGeom>
        </p:spPr>
      </p:pic>
      <p:pic>
        <p:nvPicPr>
          <p:cNvPr id="90" name="picture 90"/>
          <p:cNvPicPr>
            <a:picLocks noChangeAspect="1"/>
          </p:cNvPicPr>
          <p:nvPr/>
        </p:nvPicPr>
        <p:blipFill>
          <a:blip r:embed="rId2"/>
          <a:stretch>
            <a:fillRect/>
          </a:stretch>
        </p:blipFill>
        <p:spPr>
          <a:xfrm rot="21600000">
            <a:off x="2468185" y="5341673"/>
            <a:ext cx="3151065" cy="641735"/>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 name="table 9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542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89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5"/>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对未知参数求导：</a:t>
                      </a:r>
                      <a:endParaRPr sz="2100" dirty="0">
                        <a:latin typeface="楷体" panose="02010609060101010101" charset="-122"/>
                        <a:ea typeface="楷体" panose="02010609060101010101" charset="-122"/>
                        <a:cs typeface="楷体" panose="02010609060101010101" charset="-122"/>
                      </a:endParaRPr>
                    </a:p>
                    <a:p>
                      <a:pPr algn="l" rtl="0" eaLnBrk="0">
                        <a:lnSpc>
                          <a:spcPct val="157000"/>
                        </a:lnSpc>
                      </a:pPr>
                      <a:endParaRPr sz="1000" dirty="0">
                        <a:latin typeface="Arial" panose="020B0604020202020204"/>
                        <a:ea typeface="Arial" panose="020B0604020202020204"/>
                        <a:cs typeface="Arial" panose="020B0604020202020204"/>
                      </a:endParaRPr>
                    </a:p>
                    <a:p>
                      <a:pPr marL="1311275" algn="l" rtl="0" eaLnBrk="0">
                        <a:lnSpc>
                          <a:spcPts val="4695"/>
                        </a:lnSpc>
                        <a:spcBef>
                          <a:spcPts val="300"/>
                        </a:spcBef>
                        <a:tabLst>
                          <a:tab pos="53574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1311275" algn="l" rtl="0" eaLnBrk="0">
                        <a:lnSpc>
                          <a:spcPts val="4695"/>
                        </a:lnSpc>
                        <a:spcBef>
                          <a:spcPts val="305"/>
                        </a:spcBef>
                        <a:tabLst>
                          <a:tab pos="61690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1311275" algn="l" rtl="0" eaLnBrk="0">
                        <a:lnSpc>
                          <a:spcPts val="4695"/>
                        </a:lnSpc>
                        <a:spcBef>
                          <a:spcPts val="305"/>
                        </a:spcBef>
                        <a:tabLst>
                          <a:tab pos="613664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得到三个联立的正则方程：</a:t>
                      </a:r>
                      <a:endParaRPr sz="2100" dirty="0">
                        <a:latin typeface="楷体" panose="02010609060101010101" charset="-122"/>
                        <a:ea typeface="楷体" panose="02010609060101010101" charset="-122"/>
                        <a:cs typeface="楷体" panose="02010609060101010101" charset="-122"/>
                      </a:endParaRPr>
                    </a:p>
                    <a:p>
                      <a:pPr algn="l" rtl="0" eaLnBrk="0">
                        <a:lnSpc>
                          <a:spcPct val="165000"/>
                        </a:lnSpc>
                      </a:pPr>
                      <a:endParaRPr sz="1000" dirty="0">
                        <a:latin typeface="Arial" panose="020B0604020202020204"/>
                        <a:ea typeface="Arial" panose="020B0604020202020204"/>
                        <a:cs typeface="Arial" panose="020B0604020202020204"/>
                      </a:endParaRPr>
                    </a:p>
                    <a:p>
                      <a:pPr marL="2304415" algn="l" rtl="0" eaLnBrk="0">
                        <a:lnSpc>
                          <a:spcPts val="2635"/>
                        </a:lnSpc>
                        <a:spcBef>
                          <a:spcPts val="300"/>
                        </a:spcBef>
                        <a:tabLst>
                          <a:tab pos="555434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1650365" algn="l" rtl="0" eaLnBrk="0">
                        <a:lnSpc>
                          <a:spcPts val="2870"/>
                        </a:lnSpc>
                        <a:spcBef>
                          <a:spcPts val="310"/>
                        </a:spcBef>
                        <a:tabLst>
                          <a:tab pos="58388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29000"/>
                        </a:lnSpc>
                      </a:pPr>
                      <a:endParaRPr sz="200" dirty="0">
                        <a:latin typeface="Arial" panose="020B0604020202020204"/>
                        <a:ea typeface="Arial" panose="020B0604020202020204"/>
                        <a:cs typeface="Arial" panose="020B0604020202020204"/>
                      </a:endParaRPr>
                    </a:p>
                    <a:p>
                      <a:pPr marL="1669415" algn="l" rtl="0" eaLnBrk="0">
                        <a:lnSpc>
                          <a:spcPts val="2865"/>
                        </a:lnSpc>
                        <a:spcBef>
                          <a:spcPts val="0"/>
                        </a:spcBef>
                        <a:tabLst>
                          <a:tab pos="582866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94" name="picture 94"/>
          <p:cNvPicPr>
            <a:picLocks noChangeAspect="1"/>
          </p:cNvPicPr>
          <p:nvPr/>
        </p:nvPicPr>
        <p:blipFill>
          <a:blip r:embed="rId1"/>
          <a:stretch>
            <a:fillRect/>
          </a:stretch>
        </p:blipFill>
        <p:spPr>
          <a:xfrm rot="21600000">
            <a:off x="2484113" y="5679653"/>
            <a:ext cx="4159644" cy="363827"/>
          </a:xfrm>
          <a:prstGeom prst="rect">
            <a:avLst/>
          </a:prstGeom>
        </p:spPr>
      </p:pic>
      <p:pic>
        <p:nvPicPr>
          <p:cNvPr id="96" name="picture 96"/>
          <p:cNvPicPr>
            <a:picLocks noChangeAspect="1"/>
          </p:cNvPicPr>
          <p:nvPr/>
        </p:nvPicPr>
        <p:blipFill>
          <a:blip r:embed="rId2"/>
          <a:stretch>
            <a:fillRect/>
          </a:stretch>
        </p:blipFill>
        <p:spPr>
          <a:xfrm rot="21600000">
            <a:off x="2465251" y="4932907"/>
            <a:ext cx="4188390" cy="364425"/>
          </a:xfrm>
          <a:prstGeom prst="rect">
            <a:avLst/>
          </a:prstGeom>
        </p:spPr>
      </p:pic>
      <p:pic>
        <p:nvPicPr>
          <p:cNvPr id="98" name="picture 98"/>
          <p:cNvPicPr>
            <a:picLocks noChangeAspect="1"/>
          </p:cNvPicPr>
          <p:nvPr/>
        </p:nvPicPr>
        <p:blipFill>
          <a:blip r:embed="rId3"/>
          <a:stretch>
            <a:fillRect/>
          </a:stretch>
        </p:blipFill>
        <p:spPr>
          <a:xfrm rot="21600000">
            <a:off x="3119381" y="4216170"/>
            <a:ext cx="3250534" cy="334391"/>
          </a:xfrm>
          <a:prstGeom prst="rect">
            <a:avLst/>
          </a:prstGeom>
        </p:spPr>
      </p:pic>
      <p:pic>
        <p:nvPicPr>
          <p:cNvPr id="100" name="picture 100"/>
          <p:cNvPicPr>
            <a:picLocks noChangeAspect="1"/>
          </p:cNvPicPr>
          <p:nvPr/>
        </p:nvPicPr>
        <p:blipFill>
          <a:blip r:embed="rId4"/>
          <a:stretch>
            <a:fillRect/>
          </a:stretch>
        </p:blipFill>
        <p:spPr>
          <a:xfrm rot="21600000">
            <a:off x="2125902" y="2802604"/>
            <a:ext cx="4825917" cy="596194"/>
          </a:xfrm>
          <a:prstGeom prst="rect">
            <a:avLst/>
          </a:prstGeom>
        </p:spPr>
      </p:pic>
      <p:pic>
        <p:nvPicPr>
          <p:cNvPr id="102" name="picture 102"/>
          <p:cNvPicPr>
            <a:picLocks noChangeAspect="1"/>
          </p:cNvPicPr>
          <p:nvPr/>
        </p:nvPicPr>
        <p:blipFill>
          <a:blip r:embed="rId5"/>
          <a:stretch>
            <a:fillRect/>
          </a:stretch>
        </p:blipFill>
        <p:spPr>
          <a:xfrm rot="21600000">
            <a:off x="2125902" y="1857122"/>
            <a:ext cx="4858614" cy="596173"/>
          </a:xfrm>
          <a:prstGeom prst="rect">
            <a:avLst/>
          </a:prstGeom>
        </p:spPr>
      </p:pic>
      <p:pic>
        <p:nvPicPr>
          <p:cNvPr id="104" name="picture 104"/>
          <p:cNvPicPr>
            <a:picLocks noChangeAspect="1"/>
          </p:cNvPicPr>
          <p:nvPr/>
        </p:nvPicPr>
        <p:blipFill>
          <a:blip r:embed="rId6"/>
          <a:stretch>
            <a:fillRect/>
          </a:stretch>
        </p:blipFill>
        <p:spPr>
          <a:xfrm rot="21600000">
            <a:off x="2125902" y="911574"/>
            <a:ext cx="4046200" cy="596238"/>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ath 108"/>
          <p:cNvSpPr/>
          <p:nvPr/>
        </p:nvSpPr>
        <p:spPr>
          <a:xfrm>
            <a:off x="3164377" y="1186571"/>
            <a:ext cx="166657" cy="14425"/>
          </a:xfrm>
          <a:custGeom>
            <a:avLst/>
            <a:gdLst/>
            <a:ahLst/>
            <a:cxnLst/>
            <a:rect l="0" t="0" r="0" b="0"/>
            <a:pathLst>
              <a:path w="262" h="22">
                <a:moveTo>
                  <a:pt x="11" y="11"/>
                </a:moveTo>
                <a:lnTo>
                  <a:pt x="250" y="11"/>
                </a:lnTo>
              </a:path>
            </a:pathLst>
          </a:custGeom>
          <a:noFill/>
          <a:ln w="14545" cap="sq">
            <a:solidFill>
              <a:srgbClr val="000000"/>
            </a:solidFill>
            <a:prstDash val="solid"/>
            <a:round/>
          </a:ln>
        </p:spPr>
        <p:txBody>
          <a:bodyPr rtlCol="0"/>
          <a:lstStyle/>
          <a:p>
            <a:pPr algn="ctr"/>
            <a:endParaRPr lang="zh-CN" altLang="en-US"/>
          </a:p>
        </p:txBody>
      </p:sp>
      <p:sp>
        <p:nvSpPr>
          <p:cNvPr id="110" name="path 110"/>
          <p:cNvSpPr/>
          <p:nvPr/>
        </p:nvSpPr>
        <p:spPr>
          <a:xfrm>
            <a:off x="3826330" y="2878899"/>
            <a:ext cx="153397" cy="13460"/>
          </a:xfrm>
          <a:custGeom>
            <a:avLst/>
            <a:gdLst/>
            <a:ahLst/>
            <a:cxnLst/>
            <a:rect l="0" t="0" r="0" b="0"/>
            <a:pathLst>
              <a:path w="241" h="21">
                <a:moveTo>
                  <a:pt x="10" y="10"/>
                </a:moveTo>
                <a:lnTo>
                  <a:pt x="230" y="10"/>
                </a:lnTo>
              </a:path>
            </a:pathLst>
          </a:custGeom>
          <a:noFill/>
          <a:ln w="13479" cap="sq">
            <a:solidFill>
              <a:srgbClr val="000000"/>
            </a:solidFill>
            <a:prstDash val="solid"/>
            <a:round/>
          </a:ln>
        </p:spPr>
        <p:txBody>
          <a:bodyPr rtlCol="0"/>
          <a:lstStyle/>
          <a:p>
            <a:pPr algn="ctr"/>
            <a:endParaRPr lang="zh-CN" altLang="en-US"/>
          </a:p>
        </p:txBody>
      </p:sp>
      <p:sp>
        <p:nvSpPr>
          <p:cNvPr id="112" name="path 112"/>
          <p:cNvSpPr/>
          <p:nvPr/>
        </p:nvSpPr>
        <p:spPr>
          <a:xfrm>
            <a:off x="5035711" y="1186571"/>
            <a:ext cx="166547" cy="14425"/>
          </a:xfrm>
          <a:custGeom>
            <a:avLst/>
            <a:gdLst/>
            <a:ahLst/>
            <a:cxnLst/>
            <a:rect l="0" t="0" r="0" b="0"/>
            <a:pathLst>
              <a:path w="262" h="22">
                <a:moveTo>
                  <a:pt x="11" y="11"/>
                </a:moveTo>
                <a:lnTo>
                  <a:pt x="250" y="11"/>
                </a:lnTo>
              </a:path>
            </a:pathLst>
          </a:custGeom>
          <a:noFill/>
          <a:ln w="14545" cap="sq">
            <a:solidFill>
              <a:srgbClr val="000000"/>
            </a:solidFill>
            <a:prstDash val="solid"/>
            <a:round/>
          </a:ln>
        </p:spPr>
        <p:txBody>
          <a:bodyPr rtlCol="0"/>
          <a:lstStyle/>
          <a:p>
            <a:pPr algn="ctr"/>
            <a:endParaRPr lang="zh-CN" altLang="en-US"/>
          </a:p>
        </p:txBody>
      </p:sp>
      <p:sp>
        <p:nvSpPr>
          <p:cNvPr id="114" name="path 114"/>
          <p:cNvSpPr/>
          <p:nvPr/>
        </p:nvSpPr>
        <p:spPr>
          <a:xfrm>
            <a:off x="3133562" y="2878899"/>
            <a:ext cx="153397" cy="13460"/>
          </a:xfrm>
          <a:custGeom>
            <a:avLst/>
            <a:gdLst/>
            <a:ahLst/>
            <a:cxnLst/>
            <a:rect l="0" t="0" r="0" b="0"/>
            <a:pathLst>
              <a:path w="241" h="21">
                <a:moveTo>
                  <a:pt x="10" y="10"/>
                </a:moveTo>
                <a:lnTo>
                  <a:pt x="230" y="10"/>
                </a:lnTo>
              </a:path>
            </a:pathLst>
          </a:custGeom>
          <a:noFill/>
          <a:ln w="13479" cap="sq">
            <a:solidFill>
              <a:srgbClr val="000000"/>
            </a:solidFill>
            <a:prstDash val="solid"/>
            <a:round/>
          </a:ln>
        </p:spPr>
        <p:txBody>
          <a:bodyPr rtlCol="0"/>
          <a:lstStyle/>
          <a:p>
            <a:pPr algn="ctr"/>
            <a:endParaRPr lang="zh-CN" altLang="en-US"/>
          </a:p>
        </p:txBody>
      </p:sp>
      <p:sp>
        <p:nvSpPr>
          <p:cNvPr id="116" name="path 116"/>
          <p:cNvSpPr/>
          <p:nvPr/>
        </p:nvSpPr>
        <p:spPr>
          <a:xfrm>
            <a:off x="6893566" y="1186571"/>
            <a:ext cx="166547" cy="14425"/>
          </a:xfrm>
          <a:custGeom>
            <a:avLst/>
            <a:gdLst/>
            <a:ahLst/>
            <a:cxnLst/>
            <a:rect l="0" t="0" r="0" b="0"/>
            <a:pathLst>
              <a:path w="262" h="22">
                <a:moveTo>
                  <a:pt x="11" y="11"/>
                </a:moveTo>
                <a:lnTo>
                  <a:pt x="250" y="11"/>
                </a:lnTo>
              </a:path>
            </a:pathLst>
          </a:custGeom>
          <a:noFill/>
          <a:ln w="14545" cap="sq">
            <a:solidFill>
              <a:srgbClr val="000000"/>
            </a:solidFill>
            <a:prstDash val="solid"/>
            <a:round/>
          </a:ln>
        </p:spPr>
        <p:txBody>
          <a:bodyPr rtlCol="0"/>
          <a:lstStyle/>
          <a:p>
            <a:pPr algn="ctr"/>
            <a:endParaRPr lang="zh-CN" altLang="en-US"/>
          </a:p>
        </p:txBody>
      </p:sp>
      <p:sp>
        <p:nvSpPr>
          <p:cNvPr id="118" name="path 118"/>
          <p:cNvSpPr/>
          <p:nvPr/>
        </p:nvSpPr>
        <p:spPr>
          <a:xfrm>
            <a:off x="2510161" y="2878899"/>
            <a:ext cx="153397" cy="13460"/>
          </a:xfrm>
          <a:custGeom>
            <a:avLst/>
            <a:gdLst/>
            <a:ahLst/>
            <a:cxnLst/>
            <a:rect l="0" t="0" r="0" b="0"/>
            <a:pathLst>
              <a:path w="241" h="21">
                <a:moveTo>
                  <a:pt x="10" y="10"/>
                </a:moveTo>
                <a:lnTo>
                  <a:pt x="230" y="10"/>
                </a:lnTo>
              </a:path>
            </a:pathLst>
          </a:custGeom>
          <a:noFill/>
          <a:ln w="13479" cap="sq">
            <a:solidFill>
              <a:srgbClr val="000000"/>
            </a:solidFill>
            <a:prstDash val="solid"/>
            <a:round/>
          </a:ln>
        </p:spPr>
        <p:txBody>
          <a:bodyPr rtlCol="0"/>
          <a:lstStyle/>
          <a:p>
            <a:pPr algn="ctr"/>
            <a:endParaRPr lang="zh-CN" altLang="en-US"/>
          </a:p>
        </p:txBody>
      </p:sp>
      <p:graphicFrame>
        <p:nvGraphicFramePr>
          <p:cNvPr id="120" name="table 120"/>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14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11455" algn="l" rtl="0" eaLnBrk="0">
                        <a:lnSpc>
                          <a:spcPct val="96000"/>
                        </a:lnSpc>
                      </a:pPr>
                      <a:r>
                        <a:rPr sz="16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6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900" kern="0" spc="-150" dirty="0">
                          <a:solidFill>
                            <a:srgbClr val="000000">
                              <a:alpha val="100000"/>
                            </a:srgbClr>
                          </a:solidFill>
                          <a:latin typeface="楷体" panose="02010609060101010101" charset="-122"/>
                          <a:ea typeface="楷体" panose="02010609060101010101" charset="-122"/>
                          <a:cs typeface="楷体" panose="02010609060101010101" charset="-122"/>
                        </a:rPr>
                        <a:t>令：</a:t>
                      </a:r>
                      <a:endParaRPr sz="1900" dirty="0">
                        <a:latin typeface="楷体" panose="02010609060101010101" charset="-122"/>
                        <a:ea typeface="楷体" panose="02010609060101010101" charset="-122"/>
                        <a:cs typeface="楷体" panose="02010609060101010101" charset="-122"/>
                      </a:endParaRPr>
                    </a:p>
                    <a:p>
                      <a:pPr marL="1214755" algn="l" rtl="0" eaLnBrk="0">
                        <a:lnSpc>
                          <a:spcPct val="92000"/>
                        </a:lnSpc>
                        <a:spcBef>
                          <a:spcPts val="1415"/>
                        </a:spcBef>
                      </a:pPr>
                      <a:r>
                        <a:rPr sz="2300" i="1" kern="0" spc="3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2300" kern="0" spc="-160" dirty="0">
                          <a:solidFill>
                            <a:srgbClr val="000000">
                              <a:alpha val="100000"/>
                            </a:srgbClr>
                          </a:solidFill>
                          <a:latin typeface="Arial" panose="020B0604020202020204"/>
                          <a:ea typeface="Arial" panose="020B0604020202020204"/>
                          <a:cs typeface="Arial" panose="020B0604020202020204"/>
                        </a:rPr>
                        <a:t> </a:t>
                      </a:r>
                      <a:r>
                        <a:rPr sz="2300" i="1" kern="0" spc="3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2100" kern="0" spc="3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2300" kern="0" spc="-160" dirty="0">
                          <a:solidFill>
                            <a:srgbClr val="000000">
                              <a:alpha val="100000"/>
                            </a:srgbClr>
                          </a:solidFill>
                          <a:latin typeface="Arial" panose="020B0604020202020204"/>
                          <a:ea typeface="Arial" panose="020B0604020202020204"/>
                          <a:cs typeface="Arial" panose="020B0604020202020204"/>
                        </a:rPr>
                        <a:t> </a:t>
                      </a: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160" dirty="0">
                          <a:solidFill>
                            <a:srgbClr val="000000">
                              <a:alpha val="100000"/>
                            </a:srgbClr>
                          </a:solidFill>
                          <a:latin typeface="Arial" panose="020B0604020202020204"/>
                          <a:ea typeface="Arial" panose="020B0604020202020204"/>
                          <a:cs typeface="Arial" panose="020B0604020202020204"/>
                        </a:rPr>
                        <a:t> </a:t>
                      </a: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20" baseline="-25000" dirty="0">
                          <a:solidFill>
                            <a:srgbClr val="000000">
                              <a:alpha val="100000"/>
                            </a:srgbClr>
                          </a:solidFill>
                          <a:latin typeface="Times New Roman" panose="02020603050405020304"/>
                          <a:ea typeface="Times New Roman" panose="02020603050405020304"/>
                          <a:cs typeface="Times New Roman" panose="02020603050405020304"/>
                        </a:rPr>
                        <a:t>3</a:t>
                      </a:r>
                      <a:endParaRPr sz="2100" baseline="-25000" dirty="0">
                        <a:latin typeface="Times New Roman" panose="02020603050405020304"/>
                        <a:ea typeface="Times New Roman" panose="02020603050405020304"/>
                        <a:cs typeface="Times New Roman" panose="020206030504050203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解出最小二乘估计</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量：</a:t>
                      </a:r>
                      <a:endParaRPr sz="2100" dirty="0">
                        <a:latin typeface="楷体" panose="02010609060101010101" charset="-122"/>
                        <a:ea typeface="楷体" panose="02010609060101010101" charset="-122"/>
                        <a:cs typeface="楷体" panose="02010609060101010101" charset="-122"/>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marL="1205230" algn="l" rtl="0" eaLnBrk="0">
                        <a:lnSpc>
                          <a:spcPct val="92000"/>
                        </a:lnSpc>
                        <a:spcBef>
                          <a:spcPts val="650"/>
                        </a:spcBef>
                      </a:pPr>
                      <a:r>
                        <a:rPr sz="3300" i="1" kern="0" spc="-4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900" kern="0" spc="0" baseline="-22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3300" kern="0" spc="0" baseline="3000" dirty="0">
                          <a:solidFill>
                            <a:srgbClr val="000000">
                              <a:alpha val="100000"/>
                            </a:srgbClr>
                          </a:solidFill>
                          <a:latin typeface="Arial" panose="020B0604020202020204"/>
                          <a:ea typeface="Arial" panose="020B0604020202020204"/>
                          <a:cs typeface="Arial" panose="020B0604020202020204"/>
                        </a:rPr>
                        <a:t>=</a:t>
                      </a:r>
                      <a:r>
                        <a:rPr sz="2100" kern="0" spc="0" dirty="0">
                          <a:solidFill>
                            <a:srgbClr val="000000">
                              <a:alpha val="100000"/>
                            </a:srgbClr>
                          </a:solidFill>
                          <a:latin typeface="Arial" panose="020B0604020202020204"/>
                          <a:ea typeface="Arial" panose="020B0604020202020204"/>
                          <a:cs typeface="Arial" panose="020B0604020202020204"/>
                        </a:rPr>
                        <a:t> </a:t>
                      </a:r>
                      <a:r>
                        <a:rPr sz="3300" i="1" kern="0" spc="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3300" kern="0" spc="0" baseline="3000" dirty="0">
                          <a:solidFill>
                            <a:srgbClr val="000000">
                              <a:alpha val="100000"/>
                            </a:srgbClr>
                          </a:solidFill>
                          <a:latin typeface="Arial" panose="020B0604020202020204"/>
                          <a:ea typeface="Arial" panose="020B0604020202020204"/>
                          <a:cs typeface="Arial" panose="020B0604020202020204"/>
                        </a:rPr>
                        <a:t>−</a:t>
                      </a:r>
                      <a:r>
                        <a:rPr sz="2100" kern="0" spc="-220" dirty="0">
                          <a:solidFill>
                            <a:srgbClr val="000000">
                              <a:alpha val="100000"/>
                            </a:srgbClr>
                          </a:solidFill>
                          <a:latin typeface="Arial" panose="020B0604020202020204"/>
                          <a:ea typeface="Arial" panose="020B0604020202020204"/>
                          <a:cs typeface="Arial" panose="020B0604020202020204"/>
                        </a:rPr>
                        <a:t> </a:t>
                      </a:r>
                      <a:r>
                        <a:rPr sz="3300" i="1" kern="0" spc="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900" kern="0" spc="-1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33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10" baseline="-22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300" kern="0" spc="-10" baseline="3000" dirty="0">
                          <a:solidFill>
                            <a:srgbClr val="000000">
                              <a:alpha val="100000"/>
                            </a:srgbClr>
                          </a:solidFill>
                          <a:latin typeface="Arial" panose="020B0604020202020204"/>
                          <a:ea typeface="Arial" panose="020B0604020202020204"/>
                          <a:cs typeface="Arial" panose="020B0604020202020204"/>
                        </a:rPr>
                        <a:t>−</a:t>
                      </a:r>
                      <a:r>
                        <a:rPr sz="2100" kern="0" spc="-230" dirty="0">
                          <a:solidFill>
                            <a:srgbClr val="000000">
                              <a:alpha val="100000"/>
                            </a:srgbClr>
                          </a:solidFill>
                          <a:latin typeface="Arial" panose="020B0604020202020204"/>
                          <a:ea typeface="Arial" panose="020B0604020202020204"/>
                          <a:cs typeface="Arial" panose="020B0604020202020204"/>
                        </a:rPr>
                        <a:t> </a:t>
                      </a:r>
                      <a:r>
                        <a:rPr sz="33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900" kern="0" spc="-10" baseline="-22000" dirty="0">
                          <a:solidFill>
                            <a:srgbClr val="000000">
                              <a:alpha val="100000"/>
                            </a:srgbClr>
                          </a:solidFill>
                          <a:latin typeface="Times New Roman" panose="02020603050405020304"/>
                          <a:ea typeface="Times New Roman" panose="02020603050405020304"/>
                          <a:cs typeface="Times New Roman" panose="02020603050405020304"/>
                        </a:rPr>
                        <a:t>3</a:t>
                      </a:r>
                      <a:r>
                        <a:rPr sz="33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10" baseline="-22000" dirty="0">
                          <a:solidFill>
                            <a:srgbClr val="000000">
                              <a:alpha val="100000"/>
                            </a:srgbClr>
                          </a:solidFill>
                          <a:latin typeface="Times New Roman" panose="02020603050405020304"/>
                          <a:ea typeface="Times New Roman" panose="02020603050405020304"/>
                          <a:cs typeface="Times New Roman" panose="02020603050405020304"/>
                        </a:rPr>
                        <a:t>3</a:t>
                      </a:r>
                      <a:endParaRPr sz="1900" baseline="-22000" dirty="0">
                        <a:latin typeface="Times New Roman" panose="02020603050405020304"/>
                        <a:ea typeface="Times New Roman" panose="02020603050405020304"/>
                        <a:cs typeface="Times New Roman" panose="020206030504050203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1205230" algn="l" rtl="0" eaLnBrk="0">
                        <a:lnSpc>
                          <a:spcPts val="7310"/>
                        </a:lnSpc>
                        <a:spcBef>
                          <a:spcPts val="310"/>
                        </a:spcBef>
                        <a:tabLst>
                          <a:tab pos="61067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6000"/>
                        </a:lnSpc>
                      </a:pPr>
                      <a:endParaRPr sz="200" dirty="0">
                        <a:latin typeface="Arial" panose="020B0604020202020204"/>
                        <a:ea typeface="Arial" panose="020B0604020202020204"/>
                        <a:cs typeface="Arial" panose="020B0604020202020204"/>
                      </a:endParaRPr>
                    </a:p>
                    <a:p>
                      <a:pPr marL="1205230" algn="l" rtl="0" eaLnBrk="0">
                        <a:lnSpc>
                          <a:spcPts val="7310"/>
                        </a:lnSpc>
                        <a:spcBef>
                          <a:spcPts val="0"/>
                        </a:spcBef>
                        <a:tabLst>
                          <a:tab pos="609727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22" name="picture 122"/>
          <p:cNvPicPr>
            <a:picLocks noChangeAspect="1"/>
          </p:cNvPicPr>
          <p:nvPr/>
        </p:nvPicPr>
        <p:blipFill>
          <a:blip r:embed="rId1"/>
          <a:stretch>
            <a:fillRect/>
          </a:stretch>
        </p:blipFill>
        <p:spPr>
          <a:xfrm rot="21600000">
            <a:off x="2020436" y="4892550"/>
            <a:ext cx="4891595" cy="928408"/>
          </a:xfrm>
          <a:prstGeom prst="rect">
            <a:avLst/>
          </a:prstGeom>
        </p:spPr>
      </p:pic>
      <p:pic>
        <p:nvPicPr>
          <p:cNvPr id="124" name="picture 124"/>
          <p:cNvPicPr>
            <a:picLocks noChangeAspect="1"/>
          </p:cNvPicPr>
          <p:nvPr/>
        </p:nvPicPr>
        <p:blipFill>
          <a:blip r:embed="rId2"/>
          <a:stretch>
            <a:fillRect/>
          </a:stretch>
        </p:blipFill>
        <p:spPr>
          <a:xfrm rot="21600000">
            <a:off x="2020436" y="3546154"/>
            <a:ext cx="4900982" cy="928395"/>
          </a:xfrm>
          <a:prstGeom prst="rect">
            <a:avLst/>
          </a:prstGeom>
        </p:spPr>
      </p:pic>
      <p:sp>
        <p:nvSpPr>
          <p:cNvPr id="126" name="textbox 126"/>
          <p:cNvSpPr/>
          <p:nvPr/>
        </p:nvSpPr>
        <p:spPr>
          <a:xfrm>
            <a:off x="5797923" y="1324757"/>
            <a:ext cx="170179" cy="18415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i="1" kern="0" spc="50" dirty="0">
                <a:solidFill>
                  <a:srgbClr val="000000">
                    <a:alpha val="100000"/>
                  </a:srgbClr>
                </a:solidFill>
                <a:latin typeface="Times New Roman" panose="02020603050405020304"/>
                <a:ea typeface="Times New Roman" panose="02020603050405020304"/>
                <a:cs typeface="Times New Roman" panose="02020603050405020304"/>
              </a:rPr>
              <a:t>i</a:t>
            </a:r>
            <a:r>
              <a:rPr sz="1300" kern="0" spc="50" dirty="0">
                <a:solidFill>
                  <a:srgbClr val="000000">
                    <a:alpha val="100000"/>
                  </a:srgbClr>
                </a:solidFill>
                <a:latin typeface="Times New Roman" panose="02020603050405020304"/>
                <a:ea typeface="Times New Roman" panose="02020603050405020304"/>
                <a:cs typeface="Times New Roman" panose="02020603050405020304"/>
              </a:rPr>
              <a:t>3</a:t>
            </a:r>
            <a:endParaRPr sz="1300" dirty="0">
              <a:latin typeface="Times New Roman" panose="02020603050405020304"/>
              <a:ea typeface="Times New Roman" panose="02020603050405020304"/>
              <a:cs typeface="Times New Roman" panose="02020603050405020304"/>
            </a:endParaRPr>
          </a:p>
        </p:txBody>
      </p:sp>
      <p:sp>
        <p:nvSpPr>
          <p:cNvPr id="128" name="textbox 128"/>
          <p:cNvSpPr/>
          <p:nvPr/>
        </p:nvSpPr>
        <p:spPr>
          <a:xfrm>
            <a:off x="5805077" y="1113237"/>
            <a:ext cx="101600" cy="18351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kern="0" spc="80" dirty="0">
                <a:solidFill>
                  <a:srgbClr val="000000">
                    <a:alpha val="100000"/>
                  </a:srgbClr>
                </a:solidFill>
                <a:latin typeface="Arial" panose="020B0604020202020204"/>
                <a:ea typeface="Arial" panose="020B0604020202020204"/>
                <a:cs typeface="Arial" panose="020B0604020202020204"/>
              </a:rPr>
              <a:t>*</a:t>
            </a:r>
            <a:endParaRPr sz="1300" dirty="0">
              <a:latin typeface="Arial" panose="020B0604020202020204"/>
              <a:ea typeface="Arial" panose="020B0604020202020204"/>
              <a:cs typeface="Arial" panose="020B0604020202020204"/>
            </a:endParaRPr>
          </a:p>
        </p:txBody>
      </p:sp>
      <p:sp>
        <p:nvSpPr>
          <p:cNvPr id="130" name="textbox 130"/>
          <p:cNvSpPr/>
          <p:nvPr/>
        </p:nvSpPr>
        <p:spPr>
          <a:xfrm>
            <a:off x="3919686" y="1324757"/>
            <a:ext cx="67310" cy="18415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i="1" kern="0" spc="-20" dirty="0">
                <a:solidFill>
                  <a:srgbClr val="000000">
                    <a:alpha val="100000"/>
                  </a:srgbClr>
                </a:solidFill>
                <a:latin typeface="Times New Roman" panose="02020603050405020304"/>
                <a:ea typeface="Times New Roman" panose="02020603050405020304"/>
                <a:cs typeface="Times New Roman" panose="02020603050405020304"/>
              </a:rPr>
              <a:t>i</a:t>
            </a:r>
            <a:endParaRPr sz="1300" dirty="0">
              <a:latin typeface="Times New Roman" panose="02020603050405020304"/>
              <a:ea typeface="Times New Roman" panose="02020603050405020304"/>
              <a:cs typeface="Times New Roman" panose="02020603050405020304"/>
            </a:endParaRPr>
          </a:p>
        </p:txBody>
      </p:sp>
      <p:sp>
        <p:nvSpPr>
          <p:cNvPr id="132" name="textbox 132"/>
          <p:cNvSpPr/>
          <p:nvPr/>
        </p:nvSpPr>
        <p:spPr>
          <a:xfrm>
            <a:off x="3895538" y="1113237"/>
            <a:ext cx="101600" cy="18351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kern="0" spc="80" dirty="0">
                <a:solidFill>
                  <a:srgbClr val="000000">
                    <a:alpha val="100000"/>
                  </a:srgbClr>
                </a:solidFill>
                <a:latin typeface="Arial" panose="020B0604020202020204"/>
                <a:ea typeface="Arial" panose="020B0604020202020204"/>
                <a:cs typeface="Arial" panose="020B0604020202020204"/>
              </a:rPr>
              <a:t>*</a:t>
            </a:r>
            <a:endParaRPr sz="1300" dirty="0">
              <a:latin typeface="Arial" panose="020B0604020202020204"/>
              <a:ea typeface="Arial" panose="020B0604020202020204"/>
              <a:cs typeface="Arial" panose="020B0604020202020204"/>
            </a:endParaRPr>
          </a:p>
        </p:txBody>
      </p:sp>
      <p:sp>
        <p:nvSpPr>
          <p:cNvPr id="134" name="textbox 134"/>
          <p:cNvSpPr/>
          <p:nvPr/>
        </p:nvSpPr>
        <p:spPr>
          <a:xfrm>
            <a:off x="2180657" y="1324757"/>
            <a:ext cx="67310" cy="184150"/>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i="1" kern="0" spc="-20" dirty="0">
                <a:solidFill>
                  <a:srgbClr val="000000">
                    <a:alpha val="100000"/>
                  </a:srgbClr>
                </a:solidFill>
                <a:latin typeface="Times New Roman" panose="02020603050405020304"/>
                <a:ea typeface="Times New Roman" panose="02020603050405020304"/>
                <a:cs typeface="Times New Roman" panose="02020603050405020304"/>
              </a:rPr>
              <a:t>i</a:t>
            </a:r>
            <a:endParaRPr sz="1300" dirty="0">
              <a:latin typeface="Times New Roman" panose="02020603050405020304"/>
              <a:ea typeface="Times New Roman" panose="02020603050405020304"/>
              <a:cs typeface="Times New Roman" panose="02020603050405020304"/>
            </a:endParaRPr>
          </a:p>
        </p:txBody>
      </p:sp>
      <p:sp>
        <p:nvSpPr>
          <p:cNvPr id="136" name="textbox 136"/>
          <p:cNvSpPr/>
          <p:nvPr/>
        </p:nvSpPr>
        <p:spPr>
          <a:xfrm>
            <a:off x="2168013" y="1113237"/>
            <a:ext cx="101600" cy="18351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kern="0" spc="80" dirty="0">
                <a:solidFill>
                  <a:srgbClr val="000000">
                    <a:alpha val="100000"/>
                  </a:srgbClr>
                </a:solidFill>
                <a:latin typeface="Arial" panose="020B0604020202020204"/>
                <a:ea typeface="Arial" panose="020B0604020202020204"/>
                <a:cs typeface="Arial" panose="020B0604020202020204"/>
              </a:rPr>
              <a:t>*</a:t>
            </a:r>
            <a:endParaRPr sz="1300" dirty="0">
              <a:latin typeface="Arial" panose="020B0604020202020204"/>
              <a:ea typeface="Arial" panose="020B0604020202020204"/>
              <a:cs typeface="Arial" panose="020B0604020202020204"/>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0" name="table 140"/>
          <p:cNvGraphicFramePr>
            <a:graphicFrameLocks noGrp="1"/>
          </p:cNvGraphicFramePr>
          <p:nvPr/>
        </p:nvGraphicFramePr>
        <p:xfrm>
          <a:off x="60832" y="66928"/>
          <a:ext cx="9018905" cy="6699249"/>
        </p:xfrm>
        <a:graphic>
          <a:graphicData uri="http://schemas.openxmlformats.org/drawingml/2006/table">
            <a:tbl>
              <a:tblPr/>
              <a:tblGrid>
                <a:gridCol w="9018905"/>
              </a:tblGrid>
              <a:tr h="5075554">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069975" algn="l" rtl="0" eaLnBrk="0">
                        <a:lnSpc>
                          <a:spcPts val="2870"/>
                        </a:lnSpc>
                        <a:spcBef>
                          <a:spcPts val="0"/>
                        </a:spcBef>
                      </a:pPr>
                      <a:r>
                        <a:rPr sz="2100" kern="0" spc="70" dirty="0">
                          <a:solidFill>
                            <a:srgbClr val="000000">
                              <a:alpha val="100000"/>
                            </a:srgbClr>
                          </a:solidFill>
                          <a:latin typeface="Perpetua" panose="02020502060401020303"/>
                          <a:ea typeface="Perpetua" panose="02020502060401020303"/>
                          <a:cs typeface="Perpetua" panose="02020502060401020303"/>
                        </a:rPr>
                        <a:t>——</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通过以上计算程序，得到</a:t>
                      </a:r>
                      <a:r>
                        <a:rPr sz="2100" kern="0" spc="70" dirty="0">
                          <a:solidFill>
                            <a:srgbClr val="000000">
                              <a:alpha val="100000"/>
                            </a:srgbClr>
                          </a:solidFill>
                          <a:latin typeface="Perpetua" panose="02020502060401020303"/>
                          <a:ea typeface="Perpetua" panose="02020502060401020303"/>
                          <a:cs typeface="Perpetua" panose="02020502060401020303"/>
                        </a:rPr>
                        <a:t>b</a:t>
                      </a:r>
                      <a:r>
                        <a:rPr sz="2200" kern="0" spc="70" baseline="-11000" dirty="0">
                          <a:solidFill>
                            <a:srgbClr val="000000">
                              <a:alpha val="100000"/>
                            </a:srgbClr>
                          </a:solidFill>
                          <a:latin typeface="Perpetua" panose="02020502060401020303"/>
                          <a:ea typeface="Perpetua" panose="02020502060401020303"/>
                          <a:cs typeface="Perpetua" panose="02020502060401020303"/>
                        </a:rPr>
                        <a:t>1</a:t>
                      </a:r>
                      <a:r>
                        <a:rPr sz="1400" kern="0" spc="-80" dirty="0">
                          <a:solidFill>
                            <a:srgbClr val="000000">
                              <a:alpha val="100000"/>
                            </a:srgbClr>
                          </a:solidFill>
                          <a:latin typeface="Perpetua" panose="02020502060401020303"/>
                          <a:ea typeface="Perpetua" panose="02020502060401020303"/>
                          <a:cs typeface="Perpetua" panose="02020502060401020303"/>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70" dirty="0">
                          <a:solidFill>
                            <a:srgbClr val="000000">
                              <a:alpha val="100000"/>
                            </a:srgbClr>
                          </a:solidFill>
                          <a:latin typeface="Perpetua" panose="02020502060401020303"/>
                          <a:ea typeface="Perpetua" panose="02020502060401020303"/>
                          <a:cs typeface="Perpetua" panose="02020502060401020303"/>
                        </a:rPr>
                        <a:t>b</a:t>
                      </a:r>
                      <a:r>
                        <a:rPr sz="2200" kern="0" spc="70" baseline="-11000" dirty="0">
                          <a:solidFill>
                            <a:srgbClr val="000000">
                              <a:alpha val="100000"/>
                            </a:srgbClr>
                          </a:solidFill>
                          <a:latin typeface="Perpetua" panose="02020502060401020303"/>
                          <a:ea typeface="Perpetua" panose="02020502060401020303"/>
                          <a:cs typeface="Perpetua" panose="02020502060401020303"/>
                        </a:rPr>
                        <a:t>2</a:t>
                      </a:r>
                      <a:r>
                        <a:rPr sz="1400" kern="0" spc="220" dirty="0">
                          <a:solidFill>
                            <a:srgbClr val="000000">
                              <a:alpha val="100000"/>
                            </a:srgbClr>
                          </a:solidFill>
                          <a:latin typeface="Perpetua" panose="02020502060401020303"/>
                          <a:ea typeface="Perpetua" panose="02020502060401020303"/>
                          <a:cs typeface="Perpetua" panose="02020502060401020303"/>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55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Perpetua" panose="02020502060401020303"/>
                          <a:ea typeface="Perpetua" panose="02020502060401020303"/>
                          <a:cs typeface="Perpetua" panose="02020502060401020303"/>
                        </a:rPr>
                        <a:t>b</a:t>
                      </a:r>
                      <a:r>
                        <a:rPr sz="2200" kern="0" spc="70" baseline="-11000" dirty="0">
                          <a:solidFill>
                            <a:srgbClr val="000000">
                              <a:alpha val="100000"/>
                            </a:srgbClr>
                          </a:solidFill>
                          <a:latin typeface="Perpetua" panose="02020502060401020303"/>
                          <a:ea typeface="Perpetua" panose="02020502060401020303"/>
                          <a:cs typeface="Perpetua" panose="02020502060401020303"/>
                        </a:rPr>
                        <a:t>3</a:t>
                      </a:r>
                      <a:r>
                        <a:rPr sz="1400" kern="0" spc="70" dirty="0">
                          <a:solidFill>
                            <a:srgbClr val="000000">
                              <a:alpha val="100000"/>
                            </a:srgbClr>
                          </a:solidFill>
                          <a:latin typeface="Perpetua" panose="02020502060401020303"/>
                          <a:ea typeface="Perpetua" panose="02020502060401020303"/>
                          <a:cs typeface="Perpetua" panose="02020502060401020303"/>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的公</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式，相当于估</a:t>
                      </a:r>
                      <a:endParaRPr sz="2100" dirty="0">
                        <a:latin typeface="楷体" panose="02010609060101010101" charset="-122"/>
                        <a:ea typeface="楷体" panose="02010609060101010101" charset="-122"/>
                        <a:cs typeface="楷体" panose="02010609060101010101" charset="-122"/>
                      </a:endParaRPr>
                    </a:p>
                    <a:p>
                      <a:pPr marL="960120" algn="l" rtl="0" eaLnBrk="0">
                        <a:lnSpc>
                          <a:spcPts val="3290"/>
                        </a:lnSpc>
                      </a:pP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计程序。称之为未知参数的最小二</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乘估计量。</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943610" algn="l" rtl="0" eaLnBrk="0">
                        <a:lnSpc>
                          <a:spcPct val="87000"/>
                        </a:lnSpc>
                        <a:spcBef>
                          <a:spcPts val="640"/>
                        </a:spcBef>
                      </a:pPr>
                      <a:r>
                        <a:rPr sz="2100" kern="0" spc="90" dirty="0">
                          <a:solidFill>
                            <a:srgbClr val="000000">
                              <a:alpha val="100000"/>
                            </a:srgbClr>
                          </a:solidFill>
                          <a:latin typeface="Perpetua" panose="02020502060401020303"/>
                          <a:ea typeface="Perpetua" panose="02020502060401020303"/>
                          <a:cs typeface="Perpetua" panose="02020502060401020303"/>
                        </a:rPr>
                        <a:t>——</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一般来说，</a:t>
                      </a:r>
                      <a:r>
                        <a:rPr sz="2100" kern="0" spc="-6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由于在数据</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被观测和计算之前，估计量的值是</a:t>
                      </a:r>
                      <a:endParaRPr sz="2100" dirty="0">
                        <a:latin typeface="楷体" panose="02010609060101010101" charset="-122"/>
                        <a:ea typeface="楷体" panose="02010609060101010101" charset="-122"/>
                        <a:cs typeface="楷体" panose="02010609060101010101" charset="-122"/>
                      </a:endParaRPr>
                    </a:p>
                    <a:p>
                      <a:pPr marL="967740" algn="l" rtl="0" eaLnBrk="0">
                        <a:lnSpc>
                          <a:spcPts val="3960"/>
                        </a:lnSpc>
                      </a:pP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未知的，</a:t>
                      </a:r>
                      <a:r>
                        <a:rPr sz="2100" kern="0" spc="-5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最小二乘估计量是随机变量。</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23695">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25425" algn="l" rtl="0" eaLnBrk="0">
                        <a:lnSpc>
                          <a:spcPct val="75000"/>
                        </a:lnSpc>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 name="table 144"/>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16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（二）一般情形</a:t>
                      </a:r>
                      <a:endParaRPr sz="2100" dirty="0">
                        <a:latin typeface="楷体" panose="02010609060101010101" charset="-122"/>
                        <a:ea typeface="楷体" panose="02010609060101010101" charset="-122"/>
                        <a:cs typeface="楷体" panose="02010609060101010101" charset="-122"/>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1556385" algn="l" rtl="0" eaLnBrk="0">
                        <a:lnSpc>
                          <a:spcPct val="93000"/>
                        </a:lnSpc>
                        <a:spcBef>
                          <a:spcPts val="685"/>
                        </a:spcBef>
                      </a:pP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10" baseline="3000" dirty="0">
                          <a:solidFill>
                            <a:srgbClr val="000000">
                              <a:alpha val="100000"/>
                            </a:srgbClr>
                          </a:solidFill>
                          <a:latin typeface="Arial" panose="020B0604020202020204"/>
                          <a:ea typeface="Arial" panose="020B0604020202020204"/>
                          <a:cs typeface="Arial" panose="020B0604020202020204"/>
                        </a:rPr>
                        <a:t>=</a:t>
                      </a:r>
                      <a:r>
                        <a:rPr sz="2200" kern="0" spc="10" dirty="0">
                          <a:solidFill>
                            <a:srgbClr val="000000">
                              <a:alpha val="100000"/>
                            </a:srgbClr>
                          </a:solidFill>
                          <a:latin typeface="Arial" panose="020B0604020202020204"/>
                          <a:ea typeface="Arial" panose="020B0604020202020204"/>
                          <a:cs typeface="Arial" panose="020B0604020202020204"/>
                        </a:rPr>
                        <a:t> </a:t>
                      </a:r>
                      <a:r>
                        <a:rPr sz="3500" kern="0" spc="1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4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10" baseline="3000" dirty="0">
                          <a:solidFill>
                            <a:srgbClr val="000000">
                              <a:alpha val="100000"/>
                            </a:srgbClr>
                          </a:solidFill>
                          <a:latin typeface="Arial" panose="020B0604020202020204"/>
                          <a:ea typeface="Arial" panose="020B0604020202020204"/>
                          <a:cs typeface="Arial" panose="020B0604020202020204"/>
                        </a:rPr>
                        <a:t>+</a:t>
                      </a:r>
                      <a:r>
                        <a:rPr sz="2200" kern="0" spc="-160" dirty="0">
                          <a:solidFill>
                            <a:srgbClr val="000000">
                              <a:alpha val="100000"/>
                            </a:srgbClr>
                          </a:solidFill>
                          <a:latin typeface="Arial" panose="020B0604020202020204"/>
                          <a:ea typeface="Arial" panose="020B0604020202020204"/>
                          <a:cs typeface="Arial" panose="020B0604020202020204"/>
                        </a:rPr>
                        <a:t> </a:t>
                      </a:r>
                      <a:r>
                        <a:rPr sz="3500" kern="0" spc="1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1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2000" kern="0" spc="1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10" baseline="3000" dirty="0">
                          <a:solidFill>
                            <a:srgbClr val="000000">
                              <a:alpha val="100000"/>
                            </a:srgbClr>
                          </a:solidFill>
                          <a:latin typeface="Arial" panose="020B0604020202020204"/>
                          <a:ea typeface="Arial" panose="020B0604020202020204"/>
                          <a:cs typeface="Arial" panose="020B0604020202020204"/>
                        </a:rPr>
                        <a:t>+</a:t>
                      </a:r>
                      <a:r>
                        <a:rPr sz="2200" kern="0" spc="-160" dirty="0">
                          <a:solidFill>
                            <a:srgbClr val="000000">
                              <a:alpha val="100000"/>
                            </a:srgbClr>
                          </a:solidFill>
                          <a:latin typeface="Arial" panose="020B0604020202020204"/>
                          <a:ea typeface="Arial" panose="020B0604020202020204"/>
                          <a:cs typeface="Arial" panose="020B0604020202020204"/>
                        </a:rPr>
                        <a:t> </a:t>
                      </a:r>
                      <a:r>
                        <a:rPr sz="3500" kern="0" spc="1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1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2000" kern="0" spc="1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13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10" baseline="3000" dirty="0">
                          <a:solidFill>
                            <a:srgbClr val="000000">
                              <a:alpha val="100000"/>
                            </a:srgbClr>
                          </a:solidFill>
                          <a:latin typeface="Arial" panose="020B0604020202020204"/>
                          <a:ea typeface="Arial" panose="020B0604020202020204"/>
                          <a:cs typeface="Arial" panose="020B0604020202020204"/>
                        </a:rPr>
                        <a:t>+</a:t>
                      </a:r>
                      <a:r>
                        <a:rPr sz="2200" kern="0" spc="-160" dirty="0">
                          <a:solidFill>
                            <a:srgbClr val="000000">
                              <a:alpha val="100000"/>
                            </a:srgbClr>
                          </a:solidFill>
                          <a:latin typeface="Arial" panose="020B0604020202020204"/>
                          <a:ea typeface="Arial" panose="020B0604020202020204"/>
                          <a:cs typeface="Arial" panose="020B0604020202020204"/>
                        </a:rPr>
                        <a:t> </a:t>
                      </a:r>
                      <a:r>
                        <a:rPr sz="3500" kern="0" spc="0" baseline="3000" dirty="0">
                          <a:solidFill>
                            <a:srgbClr val="000000">
                              <a:alpha val="100000"/>
                            </a:srgbClr>
                          </a:solidFill>
                          <a:latin typeface="Times New Roman" panose="02020603050405020304"/>
                          <a:ea typeface="Times New Roman" panose="02020603050405020304"/>
                          <a:cs typeface="Times New Roman" panose="02020603050405020304"/>
                        </a:rPr>
                        <a:t>......</a:t>
                      </a:r>
                      <a:r>
                        <a:rPr sz="22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0" baseline="3000" dirty="0">
                          <a:solidFill>
                            <a:srgbClr val="000000">
                              <a:alpha val="100000"/>
                            </a:srgbClr>
                          </a:solidFill>
                          <a:latin typeface="Arial" panose="020B0604020202020204"/>
                          <a:ea typeface="Arial" panose="020B0604020202020204"/>
                          <a:cs typeface="Arial" panose="020B0604020202020204"/>
                        </a:rPr>
                        <a:t>+</a:t>
                      </a:r>
                      <a:r>
                        <a:rPr sz="2200" kern="0" spc="-160" dirty="0">
                          <a:solidFill>
                            <a:srgbClr val="000000">
                              <a:alpha val="100000"/>
                            </a:srgbClr>
                          </a:solidFill>
                          <a:latin typeface="Arial" panose="020B0604020202020204"/>
                          <a:ea typeface="Arial" panose="020B0604020202020204"/>
                          <a:cs typeface="Arial" panose="020B0604020202020204"/>
                        </a:rPr>
                        <a:t> </a:t>
                      </a:r>
                      <a:r>
                        <a:rPr sz="3500" kern="0" spc="0" baseline="300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iK</a:t>
                      </a:r>
                      <a:r>
                        <a:rPr sz="13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3500" kern="0" spc="0" baseline="3000" dirty="0">
                          <a:solidFill>
                            <a:srgbClr val="000000">
                              <a:alpha val="100000"/>
                            </a:srgbClr>
                          </a:solidFill>
                          <a:latin typeface="Arial" panose="020B0604020202020204"/>
                          <a:ea typeface="Arial" panose="020B0604020202020204"/>
                          <a:cs typeface="Arial" panose="020B0604020202020204"/>
                        </a:rPr>
                        <a:t>+</a:t>
                      </a:r>
                      <a:r>
                        <a:rPr sz="2200" kern="0" spc="-140" dirty="0">
                          <a:solidFill>
                            <a:srgbClr val="000000">
                              <a:alpha val="100000"/>
                            </a:srgbClr>
                          </a:solidFill>
                          <a:latin typeface="Arial" panose="020B0604020202020204"/>
                          <a:ea typeface="Arial" panose="020B0604020202020204"/>
                          <a:cs typeface="Arial" panose="020B0604020202020204"/>
                        </a:rPr>
                        <a:t> </a:t>
                      </a:r>
                      <a:r>
                        <a:rPr sz="3500" i="1" kern="0" spc="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20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endParaRPr sz="2000" baseline="-23000" dirty="0">
                        <a:latin typeface="Times New Roman" panose="02020603050405020304"/>
                        <a:ea typeface="Times New Roman" panose="02020603050405020304"/>
                        <a:cs typeface="Times New Roman" panose="02020603050405020304"/>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38000"/>
                        </a:lnSpc>
                      </a:pPr>
                      <a:endParaRPr sz="1000" dirty="0">
                        <a:latin typeface="Arial" panose="020B0604020202020204"/>
                        <a:ea typeface="Arial" panose="020B0604020202020204"/>
                        <a:cs typeface="Arial" panose="020B0604020202020204"/>
                      </a:endParaRPr>
                    </a:p>
                    <a:p>
                      <a:pPr marL="1546225" algn="l" rtl="0" eaLnBrk="0">
                        <a:lnSpc>
                          <a:spcPts val="4690"/>
                        </a:lnSpc>
                        <a:spcBef>
                          <a:spcPts val="305"/>
                        </a:spcBef>
                        <a:tabLst>
                          <a:tab pos="655828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1976755" algn="l" rtl="0" eaLnBrk="0">
                        <a:lnSpc>
                          <a:spcPts val="4350"/>
                        </a:lnSpc>
                        <a:spcBef>
                          <a:spcPts val="300"/>
                        </a:spcBef>
                        <a:tabLst>
                          <a:tab pos="525399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976755" algn="l" rtl="0" eaLnBrk="0">
                        <a:lnSpc>
                          <a:spcPts val="4350"/>
                        </a:lnSpc>
                        <a:spcBef>
                          <a:spcPts val="775"/>
                        </a:spcBef>
                        <a:tabLst>
                          <a:tab pos="55245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976755" algn="l" rtl="0" eaLnBrk="0">
                        <a:lnSpc>
                          <a:spcPts val="4350"/>
                        </a:lnSpc>
                        <a:spcBef>
                          <a:spcPts val="775"/>
                        </a:spcBef>
                        <a:tabLst>
                          <a:tab pos="551624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8000"/>
                        </a:lnSpc>
                      </a:pPr>
                      <a:endParaRPr sz="200" dirty="0">
                        <a:latin typeface="Arial" panose="020B0604020202020204"/>
                        <a:ea typeface="Arial" panose="020B0604020202020204"/>
                        <a:cs typeface="Arial" panose="020B0604020202020204"/>
                      </a:endParaRPr>
                    </a:p>
                    <a:p>
                      <a:pPr marL="1976755" algn="l" rtl="0" eaLnBrk="0">
                        <a:lnSpc>
                          <a:spcPts val="4350"/>
                        </a:lnSpc>
                        <a:spcBef>
                          <a:spcPts val="0"/>
                        </a:spcBef>
                        <a:tabLst>
                          <a:tab pos="55479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46" name="picture 146"/>
          <p:cNvPicPr>
            <a:picLocks noChangeAspect="1"/>
          </p:cNvPicPr>
          <p:nvPr/>
        </p:nvPicPr>
        <p:blipFill>
          <a:blip r:embed="rId1"/>
          <a:stretch>
            <a:fillRect/>
          </a:stretch>
        </p:blipFill>
        <p:spPr>
          <a:xfrm rot="21600000">
            <a:off x="2791497" y="5421842"/>
            <a:ext cx="3571078" cy="552537"/>
          </a:xfrm>
          <a:prstGeom prst="rect">
            <a:avLst/>
          </a:prstGeom>
        </p:spPr>
      </p:pic>
      <p:pic>
        <p:nvPicPr>
          <p:cNvPr id="148" name="picture 148"/>
          <p:cNvPicPr>
            <a:picLocks noChangeAspect="1"/>
          </p:cNvPicPr>
          <p:nvPr/>
        </p:nvPicPr>
        <p:blipFill>
          <a:blip r:embed="rId2"/>
          <a:stretch>
            <a:fillRect/>
          </a:stretch>
        </p:blipFill>
        <p:spPr>
          <a:xfrm rot="21600000">
            <a:off x="2791497" y="4437001"/>
            <a:ext cx="3539769" cy="552506"/>
          </a:xfrm>
          <a:prstGeom prst="rect">
            <a:avLst/>
          </a:prstGeom>
        </p:spPr>
      </p:pic>
      <p:pic>
        <p:nvPicPr>
          <p:cNvPr id="150" name="picture 150"/>
          <p:cNvPicPr>
            <a:picLocks noChangeAspect="1"/>
          </p:cNvPicPr>
          <p:nvPr/>
        </p:nvPicPr>
        <p:blipFill>
          <a:blip r:embed="rId3"/>
          <a:stretch>
            <a:fillRect/>
          </a:stretch>
        </p:blipFill>
        <p:spPr>
          <a:xfrm rot="21600000">
            <a:off x="2791497" y="3786035"/>
            <a:ext cx="3547984" cy="552506"/>
          </a:xfrm>
          <a:prstGeom prst="rect">
            <a:avLst/>
          </a:prstGeom>
        </p:spPr>
      </p:pic>
      <p:pic>
        <p:nvPicPr>
          <p:cNvPr id="152" name="picture 152"/>
          <p:cNvPicPr>
            <a:picLocks noChangeAspect="1"/>
          </p:cNvPicPr>
          <p:nvPr/>
        </p:nvPicPr>
        <p:blipFill>
          <a:blip r:embed="rId4"/>
          <a:stretch>
            <a:fillRect/>
          </a:stretch>
        </p:blipFill>
        <p:spPr>
          <a:xfrm rot="21600000">
            <a:off x="2791497" y="3135081"/>
            <a:ext cx="3277082" cy="552506"/>
          </a:xfrm>
          <a:prstGeom prst="rect">
            <a:avLst/>
          </a:prstGeom>
        </p:spPr>
      </p:pic>
      <p:pic>
        <p:nvPicPr>
          <p:cNvPr id="154" name="picture 154"/>
          <p:cNvPicPr>
            <a:picLocks noChangeAspect="1"/>
          </p:cNvPicPr>
          <p:nvPr/>
        </p:nvPicPr>
        <p:blipFill>
          <a:blip r:embed="rId5"/>
          <a:stretch>
            <a:fillRect/>
          </a:stretch>
        </p:blipFill>
        <p:spPr>
          <a:xfrm rot="21600000">
            <a:off x="2361171" y="2134971"/>
            <a:ext cx="5011715" cy="596007"/>
          </a:xfrm>
          <a:prstGeom prst="rect">
            <a:avLst/>
          </a:prstGeom>
        </p:spPr>
      </p:pic>
      <p:pic>
        <p:nvPicPr>
          <p:cNvPr id="158" name="picture 158"/>
          <p:cNvPicPr>
            <a:picLocks noChangeAspect="1"/>
          </p:cNvPicPr>
          <p:nvPr/>
        </p:nvPicPr>
        <p:blipFill>
          <a:blip r:embed="rId6"/>
          <a:stretch>
            <a:fillRect/>
          </a:stretch>
        </p:blipFill>
        <p:spPr>
          <a:xfrm rot="21600000">
            <a:off x="4443693" y="5074635"/>
            <a:ext cx="37105" cy="172856"/>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 name="table 186"/>
          <p:cNvGraphicFramePr>
            <a:graphicFrameLocks noGrp="1"/>
          </p:cNvGraphicFramePr>
          <p:nvPr/>
        </p:nvGraphicFramePr>
        <p:xfrm>
          <a:off x="60832" y="66928"/>
          <a:ext cx="9018904" cy="6699250"/>
        </p:xfrm>
        <a:graphic>
          <a:graphicData uri="http://schemas.openxmlformats.org/drawingml/2006/table">
            <a:tbl>
              <a:tblPr/>
              <a:tblGrid>
                <a:gridCol w="746125"/>
                <a:gridCol w="827277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542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03835" algn="l" rtl="0" eaLnBrk="0">
                        <a:lnSpc>
                          <a:spcPct val="87000"/>
                        </a:lnSpc>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40" dirty="0" err="1">
                          <a:solidFill>
                            <a:srgbClr val="000000">
                              <a:alpha val="100000"/>
                            </a:srgbClr>
                          </a:solidFill>
                          <a:latin typeface="楷体" panose="02010609060101010101" charset="-122"/>
                          <a:ea typeface="楷体" panose="02010609060101010101" charset="-122"/>
                          <a:cs typeface="楷体" panose="02010609060101010101" charset="-122"/>
                        </a:rPr>
                        <a:t>汉堡包店的例子</a:t>
                      </a:r>
                      <a:endParaRPr sz="2100" dirty="0">
                        <a:latin typeface="楷体" panose="02010609060101010101" charset="-122"/>
                        <a:ea typeface="楷体" panose="02010609060101010101" charset="-122"/>
                        <a:cs typeface="楷体" panose="02010609060101010101" charset="-122"/>
                      </a:endParaRPr>
                    </a:p>
                    <a:p>
                      <a:pPr algn="l" rtl="0" eaLnBrk="0">
                        <a:lnSpc>
                          <a:spcPct val="160000"/>
                        </a:lnSpc>
                      </a:pPr>
                      <a:endParaRPr sz="1000" dirty="0">
                        <a:latin typeface="Arial" panose="020B0604020202020204"/>
                        <a:ea typeface="Arial" panose="020B0604020202020204"/>
                        <a:cs typeface="Arial" panose="020B0604020202020204"/>
                      </a:endParaRPr>
                    </a:p>
                    <a:p>
                      <a:pPr marL="203835" algn="l" rtl="0" eaLnBrk="0">
                        <a:lnSpc>
                          <a:spcPct val="77000"/>
                        </a:lnSpc>
                        <a:spcBef>
                          <a:spcPts val="72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1.以估计方程的形</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式汇报估计结果、标准误和</a:t>
                      </a:r>
                      <a:r>
                        <a:rPr sz="2400" i="1" kern="0" spc="60" dirty="0">
                          <a:solidFill>
                            <a:srgbClr val="000000">
                              <a:alpha val="100000"/>
                            </a:srgbClr>
                          </a:solidFill>
                          <a:latin typeface="Times New Roman" panose="02020603050405020304"/>
                          <a:ea typeface="Times New Roman" panose="02020603050405020304"/>
                          <a:cs typeface="Times New Roman" panose="02020603050405020304"/>
                        </a:rPr>
                        <a:t>R</a:t>
                      </a:r>
                      <a:r>
                        <a:rPr sz="2400" kern="0" spc="60" baseline="30000" dirty="0">
                          <a:solidFill>
                            <a:srgbClr val="000000">
                              <a:alpha val="100000"/>
                            </a:srgbClr>
                          </a:solidFill>
                          <a:latin typeface="Times New Roman" panose="02020603050405020304"/>
                          <a:ea typeface="Times New Roman" panose="02020603050405020304"/>
                          <a:cs typeface="Times New Roman" panose="02020603050405020304"/>
                        </a:rPr>
                        <a:t>2</a:t>
                      </a:r>
                      <a:endParaRPr sz="2400" baseline="30000" dirty="0">
                        <a:latin typeface="Times New Roman" panose="02020603050405020304"/>
                        <a:ea typeface="Times New Roman" panose="02020603050405020304"/>
                        <a:cs typeface="Times New Roman" panose="02020603050405020304"/>
                      </a:endParaRPr>
                    </a:p>
                    <a:p>
                      <a:pPr algn="l" rtl="0" eaLnBrk="0">
                        <a:lnSpc>
                          <a:spcPct val="128000"/>
                        </a:lnSpc>
                      </a:pPr>
                      <a:endParaRPr sz="1000" dirty="0">
                        <a:latin typeface="Arial" panose="020B0604020202020204"/>
                        <a:ea typeface="Arial" panose="020B0604020202020204"/>
                        <a:cs typeface="Arial" panose="020B0604020202020204"/>
                      </a:endParaRPr>
                    </a:p>
                    <a:p>
                      <a:pPr marL="989330" algn="l" rtl="0" eaLnBrk="0">
                        <a:lnSpc>
                          <a:spcPts val="575"/>
                        </a:lnSpc>
                        <a:spcBef>
                          <a:spcPts val="300"/>
                        </a:spcBef>
                      </a:pPr>
                      <a:r>
                        <a:rPr sz="1000" kern="0" spc="1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661670" algn="l" rtl="0" eaLnBrk="0">
                        <a:lnSpc>
                          <a:spcPct val="92000"/>
                        </a:lnSpc>
                        <a:spcBef>
                          <a:spcPts val="10"/>
                        </a:spcBef>
                      </a:pPr>
                      <a:r>
                        <a:rPr sz="1700" i="1" kern="0" spc="190" dirty="0">
                          <a:solidFill>
                            <a:srgbClr val="000000">
                              <a:alpha val="100000"/>
                            </a:srgbClr>
                          </a:solidFill>
                          <a:latin typeface="Times New Roman" panose="02020603050405020304"/>
                          <a:ea typeface="Times New Roman" panose="02020603050405020304"/>
                          <a:cs typeface="Times New Roman" panose="02020603050405020304"/>
                        </a:rPr>
                        <a:t>SALES </a:t>
                      </a:r>
                      <a:r>
                        <a:rPr sz="1700" kern="0" spc="190" dirty="0">
                          <a:solidFill>
                            <a:srgbClr val="000000">
                              <a:alpha val="100000"/>
                            </a:srgbClr>
                          </a:solidFill>
                          <a:latin typeface="Arial" panose="020B0604020202020204"/>
                          <a:ea typeface="Arial" panose="020B0604020202020204"/>
                          <a:cs typeface="Arial" panose="020B0604020202020204"/>
                        </a:rPr>
                        <a:t>= </a:t>
                      </a:r>
                      <a:r>
                        <a:rPr sz="1700" kern="0" spc="190" dirty="0">
                          <a:solidFill>
                            <a:srgbClr val="000000">
                              <a:alpha val="100000"/>
                            </a:srgbClr>
                          </a:solidFill>
                          <a:latin typeface="Times New Roman" panose="02020603050405020304"/>
                          <a:ea typeface="Times New Roman" panose="02020603050405020304"/>
                          <a:cs typeface="Times New Roman" panose="02020603050405020304"/>
                        </a:rPr>
                        <a:t>118.91</a:t>
                      </a:r>
                      <a:r>
                        <a:rPr sz="1700" kern="0" spc="190" dirty="0">
                          <a:solidFill>
                            <a:srgbClr val="000000">
                              <a:alpha val="100000"/>
                            </a:srgbClr>
                          </a:solidFill>
                          <a:latin typeface="Arial" panose="020B0604020202020204"/>
                          <a:ea typeface="Arial" panose="020B0604020202020204"/>
                          <a:cs typeface="Arial" panose="020B0604020202020204"/>
                        </a:rPr>
                        <a:t>−</a:t>
                      </a:r>
                      <a:r>
                        <a:rPr sz="1700" kern="0" spc="-90" dirty="0">
                          <a:solidFill>
                            <a:srgbClr val="000000">
                              <a:alpha val="100000"/>
                            </a:srgbClr>
                          </a:solidFill>
                          <a:latin typeface="Arial" panose="020B0604020202020204"/>
                          <a:ea typeface="Arial" panose="020B0604020202020204"/>
                          <a:cs typeface="Arial" panose="020B0604020202020204"/>
                        </a:rPr>
                        <a:t> </a:t>
                      </a:r>
                      <a:r>
                        <a:rPr sz="1700" kern="0" spc="190" dirty="0">
                          <a:solidFill>
                            <a:srgbClr val="000000">
                              <a:alpha val="100000"/>
                            </a:srgbClr>
                          </a:solidFill>
                          <a:latin typeface="Times New Roman" panose="02020603050405020304"/>
                          <a:ea typeface="Times New Roman" panose="02020603050405020304"/>
                          <a:cs typeface="Times New Roman" panose="02020603050405020304"/>
                        </a:rPr>
                        <a:t>7.90</a:t>
                      </a:r>
                      <a:r>
                        <a:rPr sz="1700" kern="0" spc="180" dirty="0">
                          <a:solidFill>
                            <a:srgbClr val="000000">
                              <a:alpha val="100000"/>
                            </a:srgbClr>
                          </a:solidFill>
                          <a:latin typeface="Times New Roman" panose="02020603050405020304"/>
                          <a:ea typeface="Times New Roman" panose="02020603050405020304"/>
                          <a:cs typeface="Times New Roman" panose="02020603050405020304"/>
                        </a:rPr>
                        <a:t>8</a:t>
                      </a:r>
                      <a:r>
                        <a:rPr sz="1700" i="1" kern="0" spc="180" dirty="0">
                          <a:solidFill>
                            <a:srgbClr val="000000">
                              <a:alpha val="100000"/>
                            </a:srgbClr>
                          </a:solidFill>
                          <a:latin typeface="Times New Roman" panose="02020603050405020304"/>
                          <a:ea typeface="Times New Roman" panose="02020603050405020304"/>
                          <a:cs typeface="Times New Roman" panose="02020603050405020304"/>
                        </a:rPr>
                        <a:t>PRICE</a:t>
                      </a:r>
                      <a:r>
                        <a:rPr sz="1700" kern="0" spc="180" dirty="0">
                          <a:solidFill>
                            <a:srgbClr val="000000">
                              <a:alpha val="100000"/>
                            </a:srgbClr>
                          </a:solidFill>
                          <a:latin typeface="Arial" panose="020B0604020202020204"/>
                          <a:ea typeface="Arial" panose="020B0604020202020204"/>
                          <a:cs typeface="Arial" panose="020B0604020202020204"/>
                        </a:rPr>
                        <a:t>+</a:t>
                      </a:r>
                      <a:r>
                        <a:rPr sz="1700" kern="0" spc="180" dirty="0">
                          <a:solidFill>
                            <a:srgbClr val="000000">
                              <a:alpha val="100000"/>
                            </a:srgbClr>
                          </a:solidFill>
                          <a:latin typeface="Times New Roman" panose="02020603050405020304"/>
                          <a:ea typeface="Times New Roman" panose="02020603050405020304"/>
                          <a:cs typeface="Times New Roman" panose="02020603050405020304"/>
                        </a:rPr>
                        <a:t>1863</a:t>
                      </a:r>
                      <a:r>
                        <a:rPr sz="1700" i="1" kern="0" spc="180" dirty="0">
                          <a:solidFill>
                            <a:srgbClr val="000000">
                              <a:alpha val="100000"/>
                            </a:srgbClr>
                          </a:solidFill>
                          <a:latin typeface="Times New Roman" panose="02020603050405020304"/>
                          <a:ea typeface="Times New Roman" panose="02020603050405020304"/>
                          <a:cs typeface="Times New Roman" panose="02020603050405020304"/>
                        </a:rPr>
                        <a:t>ADVERT       R</a:t>
                      </a:r>
                      <a:r>
                        <a:rPr sz="1500" kern="0" spc="180" baseline="52000" dirty="0">
                          <a:solidFill>
                            <a:srgbClr val="000000">
                              <a:alpha val="100000"/>
                            </a:srgbClr>
                          </a:solidFill>
                          <a:latin typeface="Times New Roman" panose="02020603050405020304"/>
                          <a:ea typeface="Times New Roman" panose="02020603050405020304"/>
                          <a:cs typeface="Times New Roman" panose="02020603050405020304"/>
                        </a:rPr>
                        <a:t>2</a:t>
                      </a:r>
                      <a:r>
                        <a:rPr sz="9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80" dirty="0">
                          <a:solidFill>
                            <a:srgbClr val="000000">
                              <a:alpha val="100000"/>
                            </a:srgbClr>
                          </a:solidFill>
                          <a:latin typeface="Arial" panose="020B0604020202020204"/>
                          <a:ea typeface="Arial" panose="020B0604020202020204"/>
                          <a:cs typeface="Arial" panose="020B0604020202020204"/>
                        </a:rPr>
                        <a:t>= </a:t>
                      </a:r>
                      <a:r>
                        <a:rPr sz="1700" kern="0" spc="180" dirty="0">
                          <a:solidFill>
                            <a:srgbClr val="000000">
                              <a:alpha val="100000"/>
                            </a:srgbClr>
                          </a:solidFill>
                          <a:latin typeface="Times New Roman" panose="02020603050405020304"/>
                          <a:ea typeface="Times New Roman" panose="02020603050405020304"/>
                          <a:cs typeface="Times New Roman" panose="02020603050405020304"/>
                        </a:rPr>
                        <a:t>0.448</a:t>
                      </a:r>
                      <a:endParaRPr sz="1700" dirty="0">
                        <a:latin typeface="Times New Roman" panose="02020603050405020304"/>
                        <a:ea typeface="Times New Roman" panose="02020603050405020304"/>
                        <a:cs typeface="Times New Roman" panose="02020603050405020304"/>
                      </a:endParaRPr>
                    </a:p>
                    <a:p>
                      <a:pPr marL="662305" algn="l" rtl="0" eaLnBrk="0">
                        <a:lnSpc>
                          <a:spcPct val="86000"/>
                        </a:lnSpc>
                        <a:spcBef>
                          <a:spcPts val="1060"/>
                        </a:spcBef>
                      </a:pPr>
                      <a:r>
                        <a:rPr sz="1700" kern="0" spc="140" dirty="0">
                          <a:solidFill>
                            <a:srgbClr val="000000">
                              <a:alpha val="100000"/>
                            </a:srgbClr>
                          </a:solidFill>
                          <a:latin typeface="Times New Roman" panose="02020603050405020304"/>
                          <a:ea typeface="Times New Roman" panose="02020603050405020304"/>
                          <a:cs typeface="Times New Roman" panose="02020603050405020304"/>
                        </a:rPr>
                        <a:t>(</a:t>
                      </a:r>
                      <a:r>
                        <a:rPr sz="1700" i="1" kern="0" spc="0" dirty="0">
                          <a:solidFill>
                            <a:srgbClr val="000000">
                              <a:alpha val="100000"/>
                            </a:srgbClr>
                          </a:solidFill>
                          <a:latin typeface="Times New Roman" panose="02020603050405020304"/>
                          <a:ea typeface="Times New Roman" panose="02020603050405020304"/>
                          <a:cs typeface="Times New Roman" panose="02020603050405020304"/>
                        </a:rPr>
                        <a:t>se</a:t>
                      </a:r>
                      <a:r>
                        <a:rPr sz="1700" kern="0" spc="14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40" dirty="0">
                          <a:solidFill>
                            <a:srgbClr val="000000">
                              <a:alpha val="100000"/>
                            </a:srgbClr>
                          </a:solidFill>
                          <a:latin typeface="Times New Roman" panose="02020603050405020304"/>
                          <a:ea typeface="Times New Roman" panose="02020603050405020304"/>
                          <a:cs typeface="Times New Roman" panose="02020603050405020304"/>
                        </a:rPr>
                        <a:t>(6.35)</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40" dirty="0">
                          <a:solidFill>
                            <a:srgbClr val="000000">
                              <a:alpha val="100000"/>
                            </a:srgbClr>
                          </a:solidFill>
                          <a:latin typeface="Times New Roman" panose="02020603050405020304"/>
                          <a:ea typeface="Times New Roman" panose="02020603050405020304"/>
                          <a:cs typeface="Times New Roman" panose="02020603050405020304"/>
                        </a:rPr>
                        <a:t>(1.096)</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40" dirty="0">
                          <a:solidFill>
                            <a:srgbClr val="000000">
                              <a:alpha val="100000"/>
                            </a:srgbClr>
                          </a:solidFill>
                          <a:latin typeface="Times New Roman" panose="02020603050405020304"/>
                          <a:ea typeface="Times New Roman" panose="02020603050405020304"/>
                          <a:cs typeface="Times New Roman" panose="02020603050405020304"/>
                        </a:rPr>
                        <a:t>(0.683)</a:t>
                      </a:r>
                      <a:endParaRPr sz="17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203835" algn="l" rtl="0" eaLnBrk="0">
                        <a:lnSpc>
                          <a:spcPct val="87000"/>
                        </a:lnSpc>
                        <a:spcBef>
                          <a:spcPts val="0"/>
                        </a:spcBef>
                      </a:pP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2.以图表的形式汇报估计结果：</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88" name="table 188"/>
          <p:cNvGraphicFramePr>
            <a:graphicFrameLocks noGrp="1"/>
          </p:cNvGraphicFramePr>
          <p:nvPr/>
        </p:nvGraphicFramePr>
        <p:xfrm>
          <a:off x="1179322" y="4474209"/>
          <a:ext cx="7213600" cy="1735454"/>
        </p:xfrm>
        <a:graphic>
          <a:graphicData uri="http://schemas.openxmlformats.org/drawingml/2006/table">
            <a:tbl>
              <a:tblPr/>
              <a:tblGrid>
                <a:gridCol w="7213600"/>
              </a:tblGrid>
              <a:tr h="1735454">
                <a:tc>
                  <a:txBody>
                    <a:bodyPr/>
                    <a:lstStyle/>
                    <a:p>
                      <a:pPr algn="l" rtl="0" eaLnBrk="0">
                        <a:lnSpc>
                          <a:spcPct val="100000"/>
                        </a:lnSpc>
                      </a:pPr>
                      <a:endParaRPr sz="1000" dirty="0">
                        <a:latin typeface="Arial" panose="020B0604020202020204"/>
                        <a:ea typeface="Arial" panose="020B0604020202020204"/>
                        <a:cs typeface="Arial" panose="020B0604020202020204"/>
                      </a:endParaRPr>
                    </a:p>
                  </a:txBody>
                  <a:tcPr marL="0" marR="0" marT="0" marB="0">
                    <a:lnL w="6350" cap="flat" cmpd="sng" algn="ctr">
                      <a:solidFill>
                        <a:srgbClr val="C00000"/>
                      </a:solidFill>
                      <a:prstDash val="solid"/>
                      <a:round/>
                      <a:headEnd type="none" w="med" len="med"/>
                      <a:tailEnd type="none" w="med" len="med"/>
                    </a:lnL>
                    <a:lnR w="6350" cap="flat" cmpd="sng" algn="ctr">
                      <a:solidFill>
                        <a:srgbClr val="C00000"/>
                      </a:solidFill>
                      <a:prstDash val="solid"/>
                      <a:round/>
                      <a:headEnd type="none" w="med" len="med"/>
                      <a:tailEnd type="none" w="med" len="med"/>
                    </a:lnR>
                    <a:lnT w="6350" cap="flat" cmpd="sng" algn="ctr">
                      <a:solidFill>
                        <a:srgbClr val="C00000"/>
                      </a:solidFill>
                      <a:prstDash val="solid"/>
                      <a:round/>
                      <a:headEnd type="none" w="med" len="med"/>
                      <a:tailEnd type="none" w="med" len="med"/>
                    </a:lnT>
                    <a:lnB w="6350" cap="flat" cmpd="sng" algn="ctr">
                      <a:solidFill>
                        <a:srgbClr val="C00000"/>
                      </a:solidFill>
                      <a:prstDash val="solid"/>
                      <a:round/>
                      <a:headEnd type="none" w="med" len="med"/>
                      <a:tailEnd type="none" w="med" len="med"/>
                    </a:lnB>
                  </a:tcPr>
                </a:tc>
              </a:tr>
            </a:tbl>
          </a:graphicData>
        </a:graphic>
      </p:graphicFrame>
      <p:pic>
        <p:nvPicPr>
          <p:cNvPr id="190" name="picture 190"/>
          <p:cNvPicPr>
            <a:picLocks noChangeAspect="1"/>
          </p:cNvPicPr>
          <p:nvPr/>
        </p:nvPicPr>
        <p:blipFill>
          <a:blip r:embed="rId1"/>
          <a:stretch>
            <a:fillRect/>
          </a:stretch>
        </p:blipFill>
        <p:spPr>
          <a:xfrm rot="21600000">
            <a:off x="1185672" y="4480559"/>
            <a:ext cx="7200900" cy="1729739"/>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 name="table 194"/>
          <p:cNvGraphicFramePr>
            <a:graphicFrameLocks noGrp="1"/>
          </p:cNvGraphicFramePr>
          <p:nvPr/>
        </p:nvGraphicFramePr>
        <p:xfrm>
          <a:off x="60832" y="66928"/>
          <a:ext cx="9018905" cy="6699248"/>
        </p:xfrm>
        <a:graphic>
          <a:graphicData uri="http://schemas.openxmlformats.org/drawingml/2006/table">
            <a:tbl>
              <a:tblPr/>
              <a:tblGrid>
                <a:gridCol w="9018905"/>
              </a:tblGrid>
              <a:tr h="5331459">
                <a:tc>
                  <a:txBody>
                    <a:bodyPr/>
                    <a:lstStyle/>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965200" algn="l" rtl="0" eaLnBrk="0">
                        <a:lnSpc>
                          <a:spcPct val="94000"/>
                        </a:lnSpc>
                        <a:spcBef>
                          <a:spcPts val="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结果解读</a:t>
                      </a:r>
                      <a:endParaRPr sz="2100" dirty="0">
                        <a:latin typeface="楷体" panose="02010609060101010101" charset="-122"/>
                        <a:ea typeface="楷体" panose="02010609060101010101" charset="-122"/>
                        <a:cs typeface="楷体" panose="02010609060101010101" charset="-122"/>
                      </a:endParaRPr>
                    </a:p>
                    <a:p>
                      <a:pPr algn="l" rtl="0" eaLnBrk="0">
                        <a:lnSpc>
                          <a:spcPct val="157000"/>
                        </a:lnSpc>
                      </a:pPr>
                      <a:endParaRPr sz="1000" dirty="0">
                        <a:latin typeface="Arial" panose="020B0604020202020204"/>
                        <a:ea typeface="Arial" panose="020B0604020202020204"/>
                        <a:cs typeface="Arial" panose="020B0604020202020204"/>
                      </a:endParaRPr>
                    </a:p>
                    <a:p>
                      <a:pPr marL="1235710" indent="-270510" algn="l" rtl="0" eaLnBrk="0">
                        <a:lnSpc>
                          <a:spcPct val="13900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）变量</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的系数为负，由此表明：</a:t>
                      </a:r>
                      <a:r>
                        <a:rPr sz="2100" kern="0" spc="-40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需求的价格弹</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性是充分的；给定广告支出不变，平均而言，</a:t>
                      </a:r>
                      <a:r>
                        <a:rPr sz="2100" kern="0" spc="-4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价格提高</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元，导致月销售收入</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降低</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7908</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100" dirty="0">
                        <a:latin typeface="楷体" panose="02010609060101010101" charset="-122"/>
                        <a:ea typeface="楷体" panose="02010609060101010101" charset="-122"/>
                        <a:cs typeface="楷体" panose="02010609060101010101" charset="-122"/>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1234440" indent="-269240" algn="l" rtl="0" eaLnBrk="0">
                        <a:lnSpc>
                          <a:spcPct val="140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）变量</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ADVERT</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的系数为正，</a:t>
                      </a:r>
                      <a:r>
                        <a:rPr sz="2100" kern="0" spc="-40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由此表明：给定价格水</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平不变，广告支出增加</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1000</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美元，平均而言，</a:t>
                      </a:r>
                      <a:r>
                        <a:rPr sz="2100" kern="0" spc="-35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导致月销售收</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入增加</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1863</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367789">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7170"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20</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8" name="table 198"/>
          <p:cNvGraphicFramePr>
            <a:graphicFrameLocks noGrp="1"/>
          </p:cNvGraphicFramePr>
          <p:nvPr/>
        </p:nvGraphicFramePr>
        <p:xfrm>
          <a:off x="60832" y="66928"/>
          <a:ext cx="9018905" cy="6699250"/>
        </p:xfrm>
        <a:graphic>
          <a:graphicData uri="http://schemas.openxmlformats.org/drawingml/2006/table">
            <a:tbl>
              <a:tblPr/>
              <a:tblGrid>
                <a:gridCol w="9018905"/>
              </a:tblGrid>
              <a:tr h="5673090">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965200" algn="l" rtl="0" eaLnBrk="0">
                        <a:lnSpc>
                          <a:spcPct val="94000"/>
                        </a:lnSpc>
                        <a:spcBef>
                          <a:spcPts val="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）截距项</a:t>
                      </a:r>
                      <a:endParaRPr sz="2100" dirty="0">
                        <a:latin typeface="楷体" panose="02010609060101010101" charset="-122"/>
                        <a:ea typeface="楷体" panose="02010609060101010101" charset="-122"/>
                        <a:cs typeface="楷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marL="1229995" indent="-264795" algn="l" rtl="0" eaLnBrk="0">
                        <a:lnSpc>
                          <a:spcPct val="131000"/>
                        </a:lnSpc>
                        <a:spcBef>
                          <a:spcPts val="64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截距项的估计</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结果表明，如果价格和广告支出都为</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，销</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售收入的期望值为</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118914</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965200" algn="l" rtl="0" eaLnBrk="0">
                        <a:lnSpc>
                          <a:spcPct val="94000"/>
                        </a:lnSpc>
                        <a:spcBef>
                          <a:spcPts val="64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这一结果显然是不可能的，</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价格意味着</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销售收入；</a:t>
                      </a:r>
                      <a:endParaRPr sz="2100" dirty="0">
                        <a:latin typeface="楷体" panose="02010609060101010101" charset="-122"/>
                        <a:ea typeface="楷体" panose="02010609060101010101" charset="-122"/>
                        <a:cs typeface="楷体" panose="02010609060101010101" charset="-122"/>
                      </a:endParaRPr>
                    </a:p>
                    <a:p>
                      <a:pPr algn="l" rtl="0" eaLnBrk="0">
                        <a:lnSpc>
                          <a:spcPct val="131000"/>
                        </a:lnSpc>
                      </a:pPr>
                      <a:endParaRPr sz="1000" dirty="0">
                        <a:latin typeface="Arial" panose="020B0604020202020204"/>
                        <a:ea typeface="Arial" panose="020B0604020202020204"/>
                        <a:cs typeface="Arial" panose="020B0604020202020204"/>
                      </a:endParaRPr>
                    </a:p>
                    <a:p>
                      <a:pPr marL="1244600" indent="-279400" algn="l" rtl="0" eaLnBrk="0">
                        <a:lnSpc>
                          <a:spcPct val="127000"/>
                        </a:lnSpc>
                        <a:spcBef>
                          <a:spcPts val="64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本模型与其他模型一样，仅仅是</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所获数据范围内现实情</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况的一个近似；</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1220470" indent="-255270" algn="l" rtl="0" eaLnBrk="0">
                        <a:lnSpc>
                          <a:spcPct val="130000"/>
                        </a:lnSpc>
                        <a:spcBef>
                          <a:spcPts val="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虽然截距项不能直接解释，但模</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型中引入截距项改进了</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模型的这一近似。</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026160">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9710" algn="l" rtl="0" eaLnBrk="0">
                        <a:lnSpc>
                          <a:spcPct val="75000"/>
                        </a:lnSpc>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21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 name="table 202"/>
          <p:cNvGraphicFramePr>
            <a:graphicFrameLocks noGrp="1"/>
          </p:cNvGraphicFramePr>
          <p:nvPr/>
        </p:nvGraphicFramePr>
        <p:xfrm>
          <a:off x="60832" y="66928"/>
          <a:ext cx="9018905" cy="6699248"/>
        </p:xfrm>
        <a:graphic>
          <a:graphicData uri="http://schemas.openxmlformats.org/drawingml/2006/table">
            <a:tbl>
              <a:tblPr/>
              <a:tblGrid>
                <a:gridCol w="9018905"/>
              </a:tblGrid>
              <a:tr h="5831204">
                <a:tc>
                  <a:txBody>
                    <a:bodyPr/>
                    <a:lstStyle/>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65200" algn="l" rtl="0" eaLnBrk="0">
                        <a:lnSpc>
                          <a:spcPct val="94000"/>
                        </a:lnSpc>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4</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）预测</a:t>
                      </a:r>
                      <a:endParaRPr sz="2100" dirty="0">
                        <a:latin typeface="楷体" panose="02010609060101010101" charset="-122"/>
                        <a:ea typeface="楷体" panose="02010609060101010101" charset="-122"/>
                        <a:cs typeface="楷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marL="1234440" indent="-269240" algn="l" rtl="0" eaLnBrk="0">
                        <a:lnSpc>
                          <a:spcPct val="128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如果价格为</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5.5</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美元，广告支出为</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1200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美元，运用这一模</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型预测销售收入：</a:t>
                      </a:r>
                      <a:endParaRPr sz="2100" dirty="0">
                        <a:latin typeface="楷体" panose="02010609060101010101" charset="-122"/>
                        <a:ea typeface="楷体" panose="02010609060101010101" charset="-122"/>
                        <a:cs typeface="楷体" panose="02010609060101010101"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1585595" algn="l" rtl="0" eaLnBrk="0">
                        <a:lnSpc>
                          <a:spcPts val="1980"/>
                        </a:lnSpc>
                        <a:spcBef>
                          <a:spcPts val="305"/>
                        </a:spcBef>
                        <a:tabLst>
                          <a:tab pos="74390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538730" algn="l" rtl="0" eaLnBrk="0">
                        <a:lnSpc>
                          <a:spcPct val="79000"/>
                        </a:lnSpc>
                        <a:spcBef>
                          <a:spcPts val="1280"/>
                        </a:spcBef>
                      </a:pPr>
                      <a:r>
                        <a:rPr sz="2100" kern="0" spc="30" dirty="0">
                          <a:solidFill>
                            <a:srgbClr val="000000">
                              <a:alpha val="100000"/>
                            </a:srgbClr>
                          </a:solidFill>
                          <a:latin typeface="Arial" panose="020B0604020202020204"/>
                          <a:ea typeface="Arial" panose="020B0604020202020204"/>
                          <a:cs typeface="Arial" panose="020B06040202020202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118.914</a:t>
                      </a:r>
                      <a:r>
                        <a:rPr sz="21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7.9079</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240" dirty="0">
                          <a:solidFill>
                            <a:srgbClr val="000000">
                              <a:alpha val="100000"/>
                            </a:srgbClr>
                          </a:solidFill>
                          <a:latin typeface="Arial" panose="020B0604020202020204"/>
                          <a:ea typeface="Arial" panose="020B0604020202020204"/>
                          <a:cs typeface="Arial" panose="020B0604020202020204"/>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5.5</a:t>
                      </a:r>
                      <a:r>
                        <a:rPr sz="21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1.862</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6</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1.2</a:t>
                      </a:r>
                      <a:endParaRPr sz="2100" dirty="0">
                        <a:latin typeface="Times New Roman" panose="02020603050405020304"/>
                        <a:ea typeface="Times New Roman" panose="02020603050405020304"/>
                        <a:cs typeface="Times New Roman" panose="02020603050405020304"/>
                      </a:endParaRPr>
                    </a:p>
                    <a:p>
                      <a:pPr marL="2538730" algn="l" rtl="0" eaLnBrk="0">
                        <a:lnSpc>
                          <a:spcPct val="79000"/>
                        </a:lnSpc>
                        <a:spcBef>
                          <a:spcPts val="1280"/>
                        </a:spcBef>
                      </a:pPr>
                      <a:r>
                        <a:rPr sz="2100" kern="0" spc="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77.656</a:t>
                      </a:r>
                      <a:endParaRPr sz="2100" dirty="0">
                        <a:latin typeface="Times New Roman" panose="02020603050405020304"/>
                        <a:ea typeface="Times New Roman" panose="02020603050405020304"/>
                        <a:cs typeface="Times New Roman" panose="020206030504050203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1229360" indent="-264160" algn="l" rtl="0" eaLnBrk="0">
                        <a:lnSpc>
                          <a:spcPct val="132000"/>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对</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 5.5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6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ADVERT</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=1.2</a:t>
                      </a:r>
                      <a:r>
                        <a:rPr sz="21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，销售收入的预测</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值为</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77656</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68044">
                <a:tc>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7170"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04" name="picture 204"/>
          <p:cNvPicPr>
            <a:picLocks noChangeAspect="1"/>
          </p:cNvPicPr>
          <p:nvPr/>
        </p:nvPicPr>
        <p:blipFill>
          <a:blip r:embed="rId1"/>
          <a:stretch>
            <a:fillRect/>
          </a:stretch>
        </p:blipFill>
        <p:spPr>
          <a:xfrm rot="21600000">
            <a:off x="1646980" y="3060168"/>
            <a:ext cx="5853633" cy="251493"/>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 name="table 208"/>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1455" algn="l" rtl="0" eaLnBrk="0">
                        <a:lnSpc>
                          <a:spcPct val="87000"/>
                        </a:lnSpc>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（5）在解释回归结果时应注意:</a:t>
                      </a:r>
                      <a:endParaRPr sz="2100" dirty="0">
                        <a:latin typeface="楷体" panose="02010609060101010101" charset="-122"/>
                        <a:ea typeface="楷体" panose="02010609060101010101" charset="-122"/>
                        <a:cs typeface="楷体" panose="02010609060101010101" charset="-122"/>
                      </a:endParaRPr>
                    </a:p>
                    <a:p>
                      <a:pPr algn="l" rtl="0" eaLnBrk="0">
                        <a:lnSpc>
                          <a:spcPct val="123000"/>
                        </a:lnSpc>
                      </a:pPr>
                      <a:endParaRPr sz="1000" dirty="0">
                        <a:latin typeface="Arial" panose="020B0604020202020204"/>
                        <a:ea typeface="Arial" panose="020B0604020202020204"/>
                        <a:cs typeface="Arial" panose="020B0604020202020204"/>
                      </a:endParaRPr>
                    </a:p>
                    <a:p>
                      <a:pPr marL="476250" indent="-264795" algn="l" rtl="0" eaLnBrk="0">
                        <a:lnSpc>
                          <a:spcPct val="122000"/>
                        </a:lnSpc>
                        <a:spcBef>
                          <a:spcPts val="63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价格变量的系数符号为负，</a:t>
                      </a:r>
                      <a:r>
                        <a:rPr sz="2100" kern="0" spc="-55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意味着，降低价格会</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提高销</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售收入；</a:t>
                      </a:r>
                      <a:endParaRPr sz="2100" dirty="0">
                        <a:latin typeface="楷体" panose="02010609060101010101" charset="-122"/>
                        <a:ea typeface="楷体" panose="02010609060101010101" charset="-122"/>
                        <a:cs typeface="楷体" panose="0201060906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492760" indent="-281305" algn="l" rtl="0" eaLnBrk="0">
                        <a:lnSpc>
                          <a:spcPct val="124000"/>
                        </a:lnSpc>
                        <a:spcBef>
                          <a:spcPts val="64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为什么不让价格等于0呢？显然价格为0并不会持续增加</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总收入。</a:t>
                      </a:r>
                      <a:endParaRPr sz="2100" dirty="0">
                        <a:latin typeface="楷体" panose="02010609060101010101" charset="-122"/>
                        <a:ea typeface="楷体" panose="02010609060101010101" charset="-122"/>
                        <a:cs typeface="楷体" panose="02010609060101010101" charset="-122"/>
                      </a:endParaRPr>
                    </a:p>
                    <a:p>
                      <a:pPr marL="211455" algn="l" rtl="0" eaLnBrk="0">
                        <a:lnSpc>
                          <a:spcPct val="87000"/>
                        </a:lnSpc>
                        <a:spcBef>
                          <a:spcPts val="173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由此得到以下几个要点：</a:t>
                      </a:r>
                      <a:endParaRPr sz="2100" dirty="0">
                        <a:latin typeface="楷体" panose="02010609060101010101" charset="-122"/>
                        <a:ea typeface="楷体" panose="02010609060101010101" charset="-122"/>
                        <a:cs typeface="楷体" panose="02010609060101010101" charset="-122"/>
                      </a:endParaRPr>
                    </a:p>
                    <a:p>
                      <a:pPr algn="l" rtl="0" eaLnBrk="0">
                        <a:lnSpc>
                          <a:spcPct val="121000"/>
                        </a:lnSpc>
                      </a:pPr>
                      <a:endParaRPr sz="1000" dirty="0">
                        <a:latin typeface="Arial" panose="020B0604020202020204"/>
                        <a:ea typeface="Arial" panose="020B0604020202020204"/>
                        <a:cs typeface="Arial" panose="020B0604020202020204"/>
                      </a:endParaRPr>
                    </a:p>
                    <a:p>
                      <a:pPr marL="474980" indent="-263525" algn="l" rtl="0" eaLnBrk="0">
                        <a:lnSpc>
                          <a:spcPct val="122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①</a:t>
                      </a:r>
                      <a:r>
                        <a:rPr sz="2100" kern="0" spc="70" dirty="0" err="1">
                          <a:solidFill>
                            <a:srgbClr val="000000">
                              <a:alpha val="100000"/>
                            </a:srgbClr>
                          </a:solidFill>
                          <a:latin typeface="楷体" panose="02010609060101010101" charset="-122"/>
                          <a:ea typeface="楷体" panose="02010609060101010101" charset="-122"/>
                          <a:cs typeface="楷体" panose="02010609060101010101" charset="-122"/>
                        </a:rPr>
                        <a:t>估计得</a:t>
                      </a:r>
                      <a:r>
                        <a:rPr sz="2100" kern="0" spc="60" dirty="0" err="1">
                          <a:solidFill>
                            <a:srgbClr val="000000">
                              <a:alpha val="100000"/>
                            </a:srgbClr>
                          </a:solidFill>
                          <a:latin typeface="楷体" panose="02010609060101010101" charset="-122"/>
                          <a:ea typeface="楷体" panose="02010609060101010101" charset="-122"/>
                          <a:cs typeface="楷体" panose="02010609060101010101" charset="-122"/>
                        </a:rPr>
                        <a:t>到的回归模型描述的是变量间的关系</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02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40"/>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②</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推测</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极值的结果通常不是好的想法；</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497840" indent="-286385" algn="l" rtl="0" eaLnBrk="0">
                        <a:lnSpc>
                          <a:spcPct val="121000"/>
                        </a:lnSpc>
                        <a:spcBef>
                          <a:spcPts val="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③</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根据</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与样本值相去甚远的解释变量的值来预测被解释</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变量的值，通常会带来不良后果。</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 name="table 21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1615"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24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1455" algn="l" rtl="0" eaLnBrk="0">
                        <a:lnSpc>
                          <a:spcPts val="2540"/>
                        </a:lnSpc>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（四）误差方差</a:t>
                      </a:r>
                      <a:r>
                        <a:rPr sz="2100" kern="0" spc="40" dirty="0">
                          <a:solidFill>
                            <a:srgbClr val="000000">
                              <a:alpha val="100000"/>
                            </a:srgbClr>
                          </a:solidFill>
                          <a:latin typeface="Cambria Math" panose="02040503050406030204"/>
                          <a:ea typeface="Cambria Math" panose="02040503050406030204"/>
                          <a:cs typeface="Cambria Math" panose="02040503050406030204"/>
                        </a:rPr>
                        <a:t>σ</a:t>
                      </a:r>
                      <a:r>
                        <a:rPr sz="1600" kern="0" spc="40" dirty="0">
                          <a:solidFill>
                            <a:srgbClr val="000000">
                              <a:alpha val="100000"/>
                            </a:srgbClr>
                          </a:solidFill>
                          <a:latin typeface="Cambria Math" panose="02040503050406030204"/>
                          <a:ea typeface="Cambria Math" panose="02040503050406030204"/>
                          <a:cs typeface="Cambria Math" panose="02040503050406030204"/>
                        </a:rPr>
                        <a:t>2 </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的估计</a:t>
                      </a:r>
                      <a:endParaRPr sz="2100" dirty="0">
                        <a:latin typeface="楷体" panose="02010609060101010101" charset="-122"/>
                        <a:ea typeface="楷体" panose="02010609060101010101" charset="-122"/>
                        <a:cs typeface="楷体" panose="02010609060101010101" charset="-122"/>
                      </a:endParaRPr>
                    </a:p>
                    <a:p>
                      <a:pPr algn="l" rtl="0" eaLnBrk="0">
                        <a:lnSpc>
                          <a:spcPct val="131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630"/>
                        </a:spcBef>
                      </a:pP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我们需要估计误差项的方差</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σ</a:t>
                      </a:r>
                      <a:r>
                        <a:rPr sz="2200" kern="0" spc="90" baseline="28000" dirty="0">
                          <a:solidFill>
                            <a:srgbClr val="000000">
                              <a:alpha val="100000"/>
                            </a:srgbClr>
                          </a:solidFill>
                          <a:latin typeface="Times New Roman" panose="02020603050405020304"/>
                          <a:ea typeface="Times New Roman" panose="02020603050405020304"/>
                          <a:cs typeface="Times New Roman" panose="02020603050405020304"/>
                        </a:rPr>
                        <a:t>2</a:t>
                      </a:r>
                      <a:endParaRPr sz="2200" baseline="28000" dirty="0">
                        <a:latin typeface="Times New Roman" panose="02020603050405020304"/>
                        <a:ea typeface="Times New Roman" panose="02020603050405020304"/>
                        <a:cs typeface="Times New Roman" panose="02020603050405020304"/>
                      </a:endParaRPr>
                    </a:p>
                    <a:p>
                      <a:pPr algn="l" rtl="0" eaLnBrk="0">
                        <a:lnSpc>
                          <a:spcPct val="131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—回忆起:</a:t>
                      </a:r>
                      <a:endParaRPr sz="2100" dirty="0">
                        <a:latin typeface="楷体" panose="02010609060101010101" charset="-122"/>
                        <a:ea typeface="楷体" panose="02010609060101010101" charset="-122"/>
                        <a:cs typeface="楷体" panose="02010609060101010101" charset="-122"/>
                      </a:endParaRPr>
                    </a:p>
                    <a:p>
                      <a:pPr algn="l" rtl="0" eaLnBrk="0">
                        <a:lnSpc>
                          <a:spcPct val="195000"/>
                        </a:lnSpc>
                      </a:pPr>
                      <a:endParaRPr sz="1000" dirty="0">
                        <a:latin typeface="Arial" panose="020B0604020202020204"/>
                        <a:ea typeface="Arial" panose="020B0604020202020204"/>
                        <a:cs typeface="Arial" panose="020B0604020202020204"/>
                      </a:endParaRPr>
                    </a:p>
                    <a:p>
                      <a:pPr marL="2489835" algn="l" rtl="0" eaLnBrk="0">
                        <a:lnSpc>
                          <a:spcPct val="100000"/>
                        </a:lnSpc>
                        <a:spcBef>
                          <a:spcPts val="1115"/>
                        </a:spcBef>
                      </a:pPr>
                      <a:r>
                        <a:rPr sz="2400" kern="0" spc="0" dirty="0">
                          <a:solidFill>
                            <a:srgbClr val="000000">
                              <a:alpha val="100000"/>
                            </a:srgbClr>
                          </a:solidFill>
                          <a:latin typeface="Arial" panose="020B0604020202020204"/>
                          <a:ea typeface="Arial" panose="020B0604020202020204"/>
                          <a:cs typeface="Arial" panose="020B0604020202020204"/>
                        </a:rPr>
                        <a:t>σ</a:t>
                      </a:r>
                      <a:r>
                        <a:rPr sz="2100" kern="0" spc="0" baseline="55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0" dirty="0">
                          <a:solidFill>
                            <a:srgbClr val="000000">
                              <a:alpha val="100000"/>
                            </a:srgbClr>
                          </a:solidFill>
                          <a:latin typeface="Arial" panose="020B0604020202020204"/>
                          <a:ea typeface="Arial" panose="020B0604020202020204"/>
                          <a:cs typeface="Arial" panose="020B0604020202020204"/>
                        </a:rPr>
                        <a:t>= </a:t>
                      </a:r>
                      <a:r>
                        <a:rPr sz="2300" kern="0" spc="0" dirty="0">
                          <a:solidFill>
                            <a:srgbClr val="000000">
                              <a:alpha val="100000"/>
                            </a:srgbClr>
                          </a:solidFill>
                          <a:latin typeface="Times New Roman" panose="02020603050405020304"/>
                          <a:ea typeface="Times New Roman" panose="02020603050405020304"/>
                          <a:cs typeface="Times New Roman" panose="02020603050405020304"/>
                        </a:rPr>
                        <a:t>var(</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3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0" dirty="0">
                          <a:solidFill>
                            <a:srgbClr val="000000">
                              <a:alpha val="100000"/>
                            </a:srgbClr>
                          </a:solidFill>
                          <a:latin typeface="Arial" panose="020B0604020202020204"/>
                          <a:ea typeface="Arial" panose="020B0604020202020204"/>
                          <a:cs typeface="Arial" panose="020B0604020202020204"/>
                        </a:rPr>
                        <a:t>= </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5700" kern="0" spc="0" baseline="-4000" dirty="0">
                          <a:solidFill>
                            <a:srgbClr val="000000">
                              <a:alpha val="100000"/>
                            </a:srgbClr>
                          </a:solidFill>
                          <a:latin typeface="Arial" panose="020B0604020202020204"/>
                          <a:ea typeface="Arial" panose="020B0604020202020204"/>
                          <a:cs typeface="Arial" panose="020B0604020202020204"/>
                        </a:rPr>
                        <a:t>(</a:t>
                      </a:r>
                      <a:r>
                        <a:rPr sz="2300" i="1" kern="0" spc="0" dirty="0">
                          <a:solidFill>
                            <a:srgbClr val="000000">
                              <a:alpha val="100000"/>
                            </a:srgbClr>
                          </a:solidFill>
                          <a:latin typeface="Times New Roman" panose="02020603050405020304"/>
                          <a:ea typeface="Times New Roman" panose="02020603050405020304"/>
                          <a:cs typeface="Times New Roman" panose="02020603050405020304"/>
                        </a:rPr>
                        <a:t>e  </a:t>
                      </a:r>
                      <a:r>
                        <a:rPr sz="5700" kern="0" spc="0" baseline="-4000" dirty="0">
                          <a:solidFill>
                            <a:srgbClr val="000000">
                              <a:alpha val="100000"/>
                            </a:srgbClr>
                          </a:solidFill>
                          <a:latin typeface="Arial" panose="020B0604020202020204"/>
                          <a:ea typeface="Arial" panose="020B0604020202020204"/>
                          <a:cs typeface="Arial" panose="020B0604020202020204"/>
                        </a:rPr>
                        <a:t>)</a:t>
                      </a:r>
                      <a:endParaRPr sz="5700" baseline="-4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478790" indent="-267335" algn="l" rtl="0" eaLnBrk="0">
                        <a:lnSpc>
                          <a:spcPct val="132000"/>
                        </a:lnSpc>
                        <a:spcBef>
                          <a:spcPts val="63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—但是误差平方是不可观测的，</a:t>
                      </a:r>
                      <a:r>
                        <a:rPr sz="2100" kern="0" spc="-38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因此我</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们基于最小二乘残差</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开发出</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σ</a:t>
                      </a:r>
                      <a:r>
                        <a:rPr sz="2200" kern="0" spc="2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的估</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计量：</a:t>
                      </a:r>
                      <a:endParaRPr sz="2100" dirty="0">
                        <a:latin typeface="楷体" panose="02010609060101010101" charset="-122"/>
                        <a:ea typeface="楷体" panose="02010609060101010101" charset="-122"/>
                        <a:cs typeface="楷体" panose="02010609060101010101" charset="-122"/>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40000"/>
                        </a:lnSpc>
                      </a:pPr>
                      <a:endParaRPr sz="1000" dirty="0">
                        <a:latin typeface="Arial" panose="020B0604020202020204"/>
                        <a:ea typeface="Arial" panose="020B0604020202020204"/>
                        <a:cs typeface="Arial" panose="020B0604020202020204"/>
                      </a:endParaRPr>
                    </a:p>
                    <a:p>
                      <a:pPr marL="1498600" algn="l" rtl="0" eaLnBrk="0">
                        <a:lnSpc>
                          <a:spcPts val="830"/>
                        </a:lnSpc>
                        <a:spcBef>
                          <a:spcPts val="460"/>
                        </a:spcBef>
                      </a:pPr>
                      <a:r>
                        <a:rPr sz="1500" kern="0" spc="-10" dirty="0">
                          <a:solidFill>
                            <a:srgbClr val="000000">
                              <a:alpha val="100000"/>
                            </a:srgbClr>
                          </a:solidFill>
                          <a:latin typeface="Arial" panose="020B0604020202020204"/>
                          <a:ea typeface="Arial" panose="020B0604020202020204"/>
                          <a:cs typeface="Arial" panose="020B0604020202020204"/>
                        </a:rPr>
                        <a:t>Λ</a:t>
                      </a:r>
                      <a:endParaRPr sz="1500" dirty="0">
                        <a:latin typeface="Arial" panose="020B0604020202020204"/>
                        <a:ea typeface="Arial" panose="020B0604020202020204"/>
                        <a:cs typeface="Arial" panose="020B0604020202020204"/>
                      </a:endParaRPr>
                    </a:p>
                    <a:p>
                      <a:pPr marL="1489710" algn="l" rtl="0" eaLnBrk="0">
                        <a:lnSpc>
                          <a:spcPct val="85000"/>
                        </a:lnSpc>
                        <a:spcBef>
                          <a:spcPts val="25"/>
                        </a:spcBef>
                      </a:pPr>
                      <a:r>
                        <a:rPr sz="3900" i="1" kern="0" spc="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1500" i="1" kern="0" spc="0" dirty="0">
                          <a:solidFill>
                            <a:srgbClr val="000000">
                              <a:alpha val="100000"/>
                            </a:srgbClr>
                          </a:solidFill>
                          <a:latin typeface="Times New Roman" panose="02020603050405020304"/>
                          <a:ea typeface="Times New Roman" panose="02020603050405020304"/>
                          <a:cs typeface="Times New Roman" panose="02020603050405020304"/>
                        </a:rPr>
                        <a:t>i</a:t>
                      </a:r>
                      <a:r>
                        <a:rPr sz="15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0" baseline="3000" dirty="0">
                          <a:solidFill>
                            <a:srgbClr val="000000">
                              <a:alpha val="100000"/>
                            </a:srgbClr>
                          </a:solidFill>
                          <a:latin typeface="Arial" panose="020B0604020202020204"/>
                          <a:ea typeface="Arial" panose="020B0604020202020204"/>
                          <a:cs typeface="Arial" panose="020B0604020202020204"/>
                        </a:rPr>
                        <a:t>=</a:t>
                      </a:r>
                      <a:r>
                        <a:rPr sz="2500" kern="0" spc="0" dirty="0">
                          <a:solidFill>
                            <a:srgbClr val="000000">
                              <a:alpha val="100000"/>
                            </a:srgbClr>
                          </a:solidFill>
                          <a:latin typeface="Arial" panose="020B0604020202020204"/>
                          <a:ea typeface="Arial" panose="020B0604020202020204"/>
                          <a:cs typeface="Arial" panose="020B0604020202020204"/>
                        </a:rPr>
                        <a:t> </a:t>
                      </a:r>
                      <a:r>
                        <a:rPr sz="3900" i="1" kern="0" spc="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0" baseline="3000" dirty="0">
                          <a:solidFill>
                            <a:srgbClr val="000000">
                              <a:alpha val="100000"/>
                            </a:srgbClr>
                          </a:solidFill>
                          <a:latin typeface="Arial" panose="020B0604020202020204"/>
                          <a:ea typeface="Arial" panose="020B0604020202020204"/>
                          <a:cs typeface="Arial" panose="020B0604020202020204"/>
                        </a:rPr>
                        <a:t>−</a:t>
                      </a:r>
                      <a:r>
                        <a:rPr sz="2500" kern="0" spc="220" dirty="0">
                          <a:solidFill>
                            <a:srgbClr val="000000">
                              <a:alpha val="100000"/>
                            </a:srgbClr>
                          </a:solidFill>
                          <a:latin typeface="Arial" panose="020B0604020202020204"/>
                          <a:ea typeface="Arial" panose="020B0604020202020204"/>
                          <a:cs typeface="Arial" panose="020B0604020202020204"/>
                        </a:rPr>
                        <a:t>  </a:t>
                      </a:r>
                      <a:r>
                        <a:rPr sz="2300" i="1" kern="0" spc="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0" baseline="3000" dirty="0">
                          <a:solidFill>
                            <a:srgbClr val="000000">
                              <a:alpha val="100000"/>
                            </a:srgbClr>
                          </a:solidFill>
                          <a:latin typeface="Arial" panose="020B0604020202020204"/>
                          <a:ea typeface="Arial" panose="020B0604020202020204"/>
                          <a:cs typeface="Arial" panose="020B0604020202020204"/>
                        </a:rPr>
                        <a:t>=</a:t>
                      </a:r>
                      <a:r>
                        <a:rPr sz="2500" kern="0" spc="-10" dirty="0">
                          <a:solidFill>
                            <a:srgbClr val="000000">
                              <a:alpha val="100000"/>
                            </a:srgbClr>
                          </a:solidFill>
                          <a:latin typeface="Arial" panose="020B0604020202020204"/>
                          <a:ea typeface="Arial" panose="020B0604020202020204"/>
                          <a:cs typeface="Arial" panose="020B0604020202020204"/>
                        </a:rPr>
                        <a:t> </a:t>
                      </a:r>
                      <a:r>
                        <a:rPr sz="39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 dirty="0">
                          <a:solidFill>
                            <a:srgbClr val="000000">
                              <a:alpha val="100000"/>
                            </a:srgbClr>
                          </a:solidFill>
                          <a:latin typeface="Arial" panose="020B0604020202020204"/>
                          <a:ea typeface="Arial" panose="020B0604020202020204"/>
                          <a:cs typeface="Arial" panose="020B0604020202020204"/>
                        </a:rPr>
                        <a:t>−</a:t>
                      </a:r>
                      <a:r>
                        <a:rPr sz="2500" kern="0" spc="-240" dirty="0">
                          <a:solidFill>
                            <a:srgbClr val="000000">
                              <a:alpha val="100000"/>
                            </a:srgbClr>
                          </a:solidFill>
                          <a:latin typeface="Arial" panose="020B0604020202020204"/>
                          <a:ea typeface="Arial" panose="020B0604020202020204"/>
                          <a:cs typeface="Arial" panose="020B0604020202020204"/>
                        </a:rPr>
                        <a:t> </a:t>
                      </a:r>
                      <a:r>
                        <a:rPr sz="3300" kern="0" spc="-10" dirty="0">
                          <a:solidFill>
                            <a:srgbClr val="000000">
                              <a:alpha val="100000"/>
                            </a:srgbClr>
                          </a:solidFill>
                          <a:latin typeface="Arial" panose="020B0604020202020204"/>
                          <a:ea typeface="Arial" panose="020B0604020202020204"/>
                          <a:cs typeface="Arial" panose="020B0604020202020204"/>
                        </a:rPr>
                        <a:t>(</a:t>
                      </a:r>
                      <a:r>
                        <a:rPr sz="2500" i="1" kern="0" spc="-1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 baseline="3000" dirty="0">
                          <a:solidFill>
                            <a:srgbClr val="000000">
                              <a:alpha val="100000"/>
                            </a:srgbClr>
                          </a:solidFill>
                          <a:latin typeface="Arial" panose="020B0604020202020204"/>
                          <a:ea typeface="Arial" panose="020B0604020202020204"/>
                          <a:cs typeface="Arial" panose="020B0604020202020204"/>
                        </a:rPr>
                        <a:t>+</a:t>
                      </a:r>
                      <a:r>
                        <a:rPr sz="2500" kern="0" spc="-250" dirty="0">
                          <a:solidFill>
                            <a:srgbClr val="000000">
                              <a:alpha val="100000"/>
                            </a:srgbClr>
                          </a:solidFill>
                          <a:latin typeface="Arial" panose="020B0604020202020204"/>
                          <a:ea typeface="Arial" panose="020B0604020202020204"/>
                          <a:cs typeface="Arial" panose="020B0604020202020204"/>
                        </a:rPr>
                        <a:t> </a:t>
                      </a:r>
                      <a:r>
                        <a:rPr sz="39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39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 baseline="3000" dirty="0">
                          <a:solidFill>
                            <a:srgbClr val="000000">
                              <a:alpha val="100000"/>
                            </a:srgbClr>
                          </a:solidFill>
                          <a:latin typeface="Arial" panose="020B0604020202020204"/>
                          <a:ea typeface="Arial" panose="020B0604020202020204"/>
                          <a:cs typeface="Arial" panose="020B0604020202020204"/>
                        </a:rPr>
                        <a:t>+</a:t>
                      </a:r>
                      <a:r>
                        <a:rPr sz="2500" kern="0" spc="-240" dirty="0">
                          <a:solidFill>
                            <a:srgbClr val="000000">
                              <a:alpha val="100000"/>
                            </a:srgbClr>
                          </a:solidFill>
                          <a:latin typeface="Arial" panose="020B0604020202020204"/>
                          <a:ea typeface="Arial" panose="020B0604020202020204"/>
                          <a:cs typeface="Arial" panose="020B0604020202020204"/>
                        </a:rPr>
                        <a:t> </a:t>
                      </a:r>
                      <a:r>
                        <a:rPr sz="39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39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300" i="1" kern="0" spc="-10" baseline="-23000" dirty="0">
                          <a:solidFill>
                            <a:srgbClr val="000000">
                              <a:alpha val="100000"/>
                            </a:srgbClr>
                          </a:solidFill>
                          <a:latin typeface="Times New Roman" panose="02020603050405020304"/>
                          <a:ea typeface="Times New Roman" panose="02020603050405020304"/>
                          <a:cs typeface="Times New Roman" panose="02020603050405020304"/>
                        </a:rPr>
                        <a:t>i</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300" kern="0" spc="-10" dirty="0">
                          <a:solidFill>
                            <a:srgbClr val="000000">
                              <a:alpha val="100000"/>
                            </a:srgbClr>
                          </a:solidFill>
                          <a:latin typeface="Arial" panose="020B0604020202020204"/>
                          <a:ea typeface="Arial" panose="020B0604020202020204"/>
                          <a:cs typeface="Arial" panose="020B0604020202020204"/>
                        </a:rPr>
                        <a:t>)</a:t>
                      </a:r>
                      <a:endParaRPr sz="33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214" name="textbox 214"/>
          <p:cNvSpPr/>
          <p:nvPr/>
        </p:nvSpPr>
        <p:spPr>
          <a:xfrm>
            <a:off x="3416575" y="5327743"/>
            <a:ext cx="199389" cy="360679"/>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88000"/>
              </a:lnSpc>
            </a:pPr>
            <a:r>
              <a:rPr sz="2500" i="1" kern="0" spc="240" dirty="0">
                <a:solidFill>
                  <a:srgbClr val="000000">
                    <a:alpha val="100000"/>
                  </a:srgbClr>
                </a:solidFill>
                <a:latin typeface="Times New Roman" panose="02020603050405020304"/>
                <a:ea typeface="Times New Roman" panose="02020603050405020304"/>
                <a:cs typeface="Times New Roman" panose="02020603050405020304"/>
              </a:rPr>
              <a:t>y</a:t>
            </a:r>
            <a:endParaRPr sz="2500" dirty="0">
              <a:latin typeface="Times New Roman" panose="02020603050405020304"/>
              <a:ea typeface="Times New Roman" panose="02020603050405020304"/>
              <a:cs typeface="Times New Roman" panose="02020603050405020304"/>
            </a:endParaRPr>
          </a:p>
        </p:txBody>
      </p:sp>
      <p:sp>
        <p:nvSpPr>
          <p:cNvPr id="216" name="textbox 216"/>
          <p:cNvSpPr/>
          <p:nvPr/>
        </p:nvSpPr>
        <p:spPr>
          <a:xfrm>
            <a:off x="3425419" y="5313114"/>
            <a:ext cx="126364" cy="32321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340"/>
              </a:lnSpc>
            </a:pPr>
            <a:r>
              <a:rPr sz="18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
        <p:nvSpPr>
          <p:cNvPr id="218" name="textbox 218"/>
          <p:cNvSpPr/>
          <p:nvPr/>
        </p:nvSpPr>
        <p:spPr>
          <a:xfrm>
            <a:off x="5548864" y="3074406"/>
            <a:ext cx="67310" cy="184785"/>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i="1" kern="0" spc="-20" dirty="0">
                <a:solidFill>
                  <a:srgbClr val="000000">
                    <a:alpha val="100000"/>
                  </a:srgbClr>
                </a:solidFill>
                <a:latin typeface="Times New Roman" panose="02020603050405020304"/>
                <a:ea typeface="Times New Roman" panose="02020603050405020304"/>
                <a:cs typeface="Times New Roman" panose="02020603050405020304"/>
              </a:rPr>
              <a:t>i</a:t>
            </a:r>
            <a:endParaRPr sz="1300" dirty="0">
              <a:latin typeface="Times New Roman" panose="02020603050405020304"/>
              <a:ea typeface="Times New Roman" panose="02020603050405020304"/>
              <a:cs typeface="Times New Roman" panose="02020603050405020304"/>
            </a:endParaRPr>
          </a:p>
        </p:txBody>
      </p:sp>
      <p:sp>
        <p:nvSpPr>
          <p:cNvPr id="220" name="textbox 220"/>
          <p:cNvSpPr/>
          <p:nvPr/>
        </p:nvSpPr>
        <p:spPr>
          <a:xfrm>
            <a:off x="5566361" y="2863219"/>
            <a:ext cx="110489" cy="184150"/>
          </a:xfrm>
          <a:prstGeom prst="rect">
            <a:avLst/>
          </a:prstGeom>
          <a:noFill/>
          <a:ln w="0" cap="flat">
            <a:noFill/>
            <a:prstDash val="solid"/>
            <a:miter lim="0"/>
          </a:ln>
        </p:spPr>
        <p:txBody>
          <a:bodyPr vert="horz" wrap="square" lIns="0" tIns="0" rIns="0" bIns="0"/>
          <a:lstStyle/>
          <a:p>
            <a:pPr algn="l" rtl="0" eaLnBrk="0">
              <a:lnSpc>
                <a:spcPct val="84000"/>
              </a:lnSpc>
            </a:pPr>
            <a:endParaRPr sz="100" dirty="0">
              <a:latin typeface="Arial" panose="020B0604020202020204"/>
              <a:ea typeface="Arial" panose="020B0604020202020204"/>
              <a:cs typeface="Arial" panose="020B0604020202020204"/>
            </a:endParaRPr>
          </a:p>
          <a:p>
            <a:pPr marL="12700" algn="l" rtl="0" eaLnBrk="0">
              <a:lnSpc>
                <a:spcPct val="80000"/>
              </a:lnSpc>
            </a:pPr>
            <a:r>
              <a:rPr sz="1300" kern="0" spc="0" dirty="0">
                <a:solidFill>
                  <a:srgbClr val="000000">
                    <a:alpha val="100000"/>
                  </a:srgbClr>
                </a:solidFill>
                <a:latin typeface="Times New Roman" panose="02020603050405020304"/>
                <a:ea typeface="Times New Roman" panose="02020603050405020304"/>
                <a:cs typeface="Times New Roman" panose="02020603050405020304"/>
              </a:rPr>
              <a:t>2</a:t>
            </a:r>
            <a:endParaRPr sz="13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2" name="table 24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1455" algn="l" rtl="0" eaLnBrk="0">
                        <a:lnSpc>
                          <a:spcPct val="87000"/>
                        </a:lnSpc>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50" dirty="0">
                          <a:solidFill>
                            <a:srgbClr val="000000">
                              <a:alpha val="100000"/>
                            </a:srgbClr>
                          </a:solidFill>
                          <a:latin typeface="楷体" panose="02010609060101010101" charset="-122"/>
                          <a:ea typeface="楷体" panose="02010609060101010101" charset="-122"/>
                          <a:cs typeface="楷体" panose="02010609060101010101" charset="-122"/>
                        </a:rPr>
                        <a:t>（五）衡量拟合优</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度</a:t>
                      </a:r>
                      <a:endParaRPr sz="2100" dirty="0">
                        <a:latin typeface="楷体" panose="02010609060101010101" charset="-122"/>
                        <a:ea typeface="楷体" panose="02010609060101010101" charset="-122"/>
                        <a:cs typeface="楷体" panose="02010609060101010101" charset="-122"/>
                      </a:endParaRPr>
                    </a:p>
                    <a:p>
                      <a:pPr algn="l" rtl="0" eaLnBrk="0">
                        <a:lnSpc>
                          <a:spcPct val="130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635"/>
                        </a:spcBef>
                      </a:pP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在多元回归中，</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R</a:t>
                      </a:r>
                      <a:r>
                        <a:rPr sz="1600" kern="0" spc="0" dirty="0">
                          <a:solidFill>
                            <a:srgbClr val="000000">
                              <a:alpha val="100000"/>
                            </a:srgbClr>
                          </a:solidFill>
                          <a:latin typeface="Cambria Math" panose="02040503050406030204"/>
                          <a:ea typeface="Cambria Math" panose="02040503050406030204"/>
                          <a:cs typeface="Cambria Math" panose="02040503050406030204"/>
                        </a:rPr>
                        <a:t>z</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衡量的是被解释变量的变异由模型中所有</a:t>
                      </a:r>
                      <a:endParaRPr sz="2100" dirty="0">
                        <a:latin typeface="楷体" panose="02010609060101010101" charset="-122"/>
                        <a:ea typeface="楷体" panose="02010609060101010101" charset="-122"/>
                        <a:cs typeface="楷体" panose="02010609060101010101" charset="-122"/>
                      </a:endParaRPr>
                    </a:p>
                    <a:p>
                      <a:pPr marL="479425" algn="l" rtl="0" eaLnBrk="0">
                        <a:lnSpc>
                          <a:spcPct val="87000"/>
                        </a:lnSpc>
                        <a:spcBef>
                          <a:spcPts val="1770"/>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解释变量解释的比例。</a:t>
                      </a:r>
                      <a:endParaRPr sz="2100" dirty="0">
                        <a:latin typeface="楷体" panose="02010609060101010101" charset="-122"/>
                        <a:ea typeface="楷体" panose="02010609060101010101" charset="-122"/>
                        <a:cs typeface="楷体" panose="02010609060101010101" charset="-122"/>
                      </a:endParaRPr>
                    </a:p>
                    <a:p>
                      <a:pPr algn="l" rtl="0" eaLnBrk="0">
                        <a:lnSpc>
                          <a:spcPct val="187000"/>
                        </a:lnSpc>
                      </a:pPr>
                      <a:endParaRPr sz="1000" dirty="0">
                        <a:latin typeface="Arial" panose="020B0604020202020204"/>
                        <a:ea typeface="Arial" panose="020B0604020202020204"/>
                        <a:cs typeface="Arial" panose="020B0604020202020204"/>
                      </a:endParaRPr>
                    </a:p>
                    <a:p>
                      <a:pPr marL="870585" algn="l" rtl="0" eaLnBrk="0">
                        <a:lnSpc>
                          <a:spcPts val="6655"/>
                        </a:lnSpc>
                        <a:spcBef>
                          <a:spcPts val="310"/>
                        </a:spcBef>
                        <a:tabLst>
                          <a:tab pos="66325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1009015" algn="l" rtl="0" eaLnBrk="0">
                        <a:lnSpc>
                          <a:spcPct val="92000"/>
                        </a:lnSpc>
                        <a:spcBef>
                          <a:spcPts val="590"/>
                        </a:spcBef>
                      </a:pPr>
                      <a:r>
                        <a:rPr sz="1700" i="1" kern="0" spc="-8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100" i="1"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80" baseline="3000" dirty="0">
                          <a:solidFill>
                            <a:srgbClr val="000000">
                              <a:alpha val="100000"/>
                            </a:srgbClr>
                          </a:solidFill>
                          <a:latin typeface="Arial" panose="020B0604020202020204"/>
                          <a:ea typeface="Arial" panose="020B0604020202020204"/>
                          <a:cs typeface="Arial" panose="020B0604020202020204"/>
                        </a:rPr>
                        <a:t>=</a:t>
                      </a:r>
                      <a:r>
                        <a:rPr sz="1900" kern="0" spc="-70" dirty="0">
                          <a:solidFill>
                            <a:srgbClr val="000000">
                              <a:alpha val="100000"/>
                            </a:srgbClr>
                          </a:solidFill>
                          <a:latin typeface="Arial" panose="020B0604020202020204"/>
                          <a:ea typeface="Arial" panose="020B0604020202020204"/>
                          <a:cs typeface="Arial" panose="020B0604020202020204"/>
                        </a:rPr>
                        <a:t> </a:t>
                      </a:r>
                      <a:r>
                        <a:rPr sz="3000" i="1" kern="0" spc="-8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700" kern="0" spc="-8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80" baseline="3000" dirty="0">
                          <a:solidFill>
                            <a:srgbClr val="000000">
                              <a:alpha val="100000"/>
                            </a:srgbClr>
                          </a:solidFill>
                          <a:latin typeface="Arial" panose="020B0604020202020204"/>
                          <a:ea typeface="Arial" panose="020B0604020202020204"/>
                          <a:cs typeface="Arial" panose="020B0604020202020204"/>
                        </a:rPr>
                        <a:t>+</a:t>
                      </a:r>
                      <a:r>
                        <a:rPr sz="1900" kern="0" spc="-170" dirty="0">
                          <a:solidFill>
                            <a:srgbClr val="000000">
                              <a:alpha val="100000"/>
                            </a:srgbClr>
                          </a:solidFill>
                          <a:latin typeface="Arial" panose="020B0604020202020204"/>
                          <a:ea typeface="Arial" panose="020B0604020202020204"/>
                          <a:cs typeface="Arial" panose="020B0604020202020204"/>
                        </a:rPr>
                        <a:t> </a:t>
                      </a:r>
                      <a:r>
                        <a:rPr sz="3000" i="1" kern="0" spc="-8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700" kern="0" spc="-8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30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17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700" kern="0" spc="2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20" baseline="3000" dirty="0">
                          <a:solidFill>
                            <a:srgbClr val="000000">
                              <a:alpha val="100000"/>
                            </a:srgbClr>
                          </a:solidFill>
                          <a:latin typeface="Arial" panose="020B0604020202020204"/>
                          <a:ea typeface="Arial" panose="020B0604020202020204"/>
                          <a:cs typeface="Arial" panose="020B0604020202020204"/>
                        </a:rPr>
                        <a:t>+</a:t>
                      </a:r>
                      <a:r>
                        <a:rPr sz="1900" kern="0" spc="-170" dirty="0">
                          <a:solidFill>
                            <a:srgbClr val="000000">
                              <a:alpha val="100000"/>
                            </a:srgbClr>
                          </a:solidFill>
                          <a:latin typeface="Arial" panose="020B0604020202020204"/>
                          <a:ea typeface="Arial" panose="020B0604020202020204"/>
                          <a:cs typeface="Arial" panose="020B0604020202020204"/>
                        </a:rPr>
                        <a:t> </a:t>
                      </a:r>
                      <a:r>
                        <a:rPr sz="30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700" kern="0" spc="2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30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17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a:t>
                      </a:r>
                      <a:r>
                        <a:rPr sz="1700" kern="0" spc="2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11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20" baseline="3000" dirty="0">
                          <a:solidFill>
                            <a:srgbClr val="000000">
                              <a:alpha val="100000"/>
                            </a:srgbClr>
                          </a:solidFill>
                          <a:latin typeface="Arial" panose="020B0604020202020204"/>
                          <a:ea typeface="Arial" panose="020B0604020202020204"/>
                          <a:cs typeface="Arial" panose="020B0604020202020204"/>
                        </a:rPr>
                        <a:t>+</a:t>
                      </a:r>
                      <a:r>
                        <a:rPr sz="1900" kern="0" spc="-140" dirty="0">
                          <a:solidFill>
                            <a:srgbClr val="000000">
                              <a:alpha val="100000"/>
                            </a:srgbClr>
                          </a:solidFill>
                          <a:latin typeface="Arial" panose="020B0604020202020204"/>
                          <a:ea typeface="Arial" panose="020B0604020202020204"/>
                          <a:cs typeface="Arial" panose="020B0604020202020204"/>
                        </a:rPr>
                        <a:t> </a:t>
                      </a:r>
                      <a:r>
                        <a:rPr sz="3000" kern="0" spc="20" baseline="300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20" baseline="3000" dirty="0">
                          <a:solidFill>
                            <a:srgbClr val="000000">
                              <a:alpha val="100000"/>
                            </a:srgbClr>
                          </a:solidFill>
                          <a:latin typeface="Arial" panose="020B0604020202020204"/>
                          <a:ea typeface="Arial" panose="020B0604020202020204"/>
                          <a:cs typeface="Arial" panose="020B0604020202020204"/>
                        </a:rPr>
                        <a:t>+</a:t>
                      </a:r>
                      <a:r>
                        <a:rPr sz="1900" kern="0" spc="-180" dirty="0">
                          <a:solidFill>
                            <a:srgbClr val="000000">
                              <a:alpha val="100000"/>
                            </a:srgbClr>
                          </a:solidFill>
                          <a:latin typeface="Arial" panose="020B0604020202020204"/>
                          <a:ea typeface="Arial" panose="020B0604020202020204"/>
                          <a:cs typeface="Arial" panose="020B0604020202020204"/>
                        </a:rPr>
                        <a:t> </a:t>
                      </a:r>
                      <a:r>
                        <a:rPr sz="3000" i="1" kern="0" spc="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17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000" i="1" kern="0" spc="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1700" i="1" kern="0" spc="0" baseline="-25000" dirty="0">
                          <a:solidFill>
                            <a:srgbClr val="000000">
                              <a:alpha val="100000"/>
                            </a:srgbClr>
                          </a:solidFill>
                          <a:latin typeface="Times New Roman" panose="02020603050405020304"/>
                          <a:ea typeface="Times New Roman" panose="02020603050405020304"/>
                          <a:cs typeface="Times New Roman" panose="02020603050405020304"/>
                        </a:rPr>
                        <a:t>ik</a:t>
                      </a:r>
                      <a:endParaRPr sz="1700" baseline="-25000" dirty="0">
                        <a:latin typeface="Times New Roman" panose="02020603050405020304"/>
                        <a:ea typeface="Times New Roman" panose="02020603050405020304"/>
                        <a:cs typeface="Times New Roman" panose="020206030504050203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873760" algn="l" rtl="0" eaLnBrk="0">
                        <a:lnSpc>
                          <a:spcPct val="100000"/>
                        </a:lnSpc>
                        <a:spcBef>
                          <a:spcPts val="785"/>
                        </a:spcBef>
                      </a:pP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SST</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30" dirty="0">
                          <a:solidFill>
                            <a:srgbClr val="000000">
                              <a:alpha val="100000"/>
                            </a:srgbClr>
                          </a:solidFill>
                          <a:latin typeface="Arial" panose="020B0604020202020204"/>
                          <a:ea typeface="Arial" panose="020B0604020202020204"/>
                          <a:cs typeface="Arial" panose="020B0604020202020204"/>
                        </a:rPr>
                        <a:t>= </a:t>
                      </a:r>
                      <a:r>
                        <a:rPr sz="2600" kern="0" spc="30" dirty="0">
                          <a:solidFill>
                            <a:srgbClr val="000000">
                              <a:alpha val="100000"/>
                            </a:srgbClr>
                          </a:solidFill>
                          <a:latin typeface="Arial" panose="020B0604020202020204"/>
                          <a:ea typeface="Arial" panose="020B0604020202020204"/>
                          <a:cs typeface="Arial" panose="020B0604020202020204"/>
                        </a:rPr>
                        <a:t>(</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N</a:t>
                      </a:r>
                      <a:r>
                        <a:rPr sz="20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30" dirty="0">
                          <a:solidFill>
                            <a:srgbClr val="000000">
                              <a:alpha val="100000"/>
                            </a:srgbClr>
                          </a:solidFill>
                          <a:latin typeface="Arial" panose="020B0604020202020204"/>
                          <a:ea typeface="Arial" panose="020B0604020202020204"/>
                          <a:cs typeface="Arial" panose="020B0604020202020204"/>
                        </a:rPr>
                        <a:t>−</a:t>
                      </a:r>
                      <a:r>
                        <a:rPr sz="2000" kern="0" spc="30" dirty="0">
                          <a:solidFill>
                            <a:srgbClr val="000000">
                              <a:alpha val="100000"/>
                            </a:srgbClr>
                          </a:solidFill>
                          <a:latin typeface="Times New Roman" panose="02020603050405020304"/>
                          <a:ea typeface="Times New Roman" panose="02020603050405020304"/>
                          <a:cs typeface="Times New Roman" panose="02020603050405020304"/>
                        </a:rPr>
                        <a:t>1</a:t>
                      </a:r>
                      <a:r>
                        <a:rPr sz="2600" kern="0" spc="30" dirty="0">
                          <a:solidFill>
                            <a:srgbClr val="000000">
                              <a:alpha val="100000"/>
                            </a:srgbClr>
                          </a:solidFill>
                          <a:latin typeface="Arial" panose="020B0604020202020204"/>
                          <a:ea typeface="Arial" panose="020B0604020202020204"/>
                          <a:cs typeface="Arial" panose="020B0604020202020204"/>
                        </a:rPr>
                        <a:t>)</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s</a:t>
                      </a:r>
                      <a:endParaRPr sz="2000" dirty="0">
                        <a:latin typeface="Times New Roman" panose="02020603050405020304"/>
                        <a:ea typeface="Times New Roman" panose="02020603050405020304"/>
                        <a:cs typeface="Times New Roman" panose="020206030504050203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26000"/>
                        </a:lnSpc>
                      </a:pPr>
                      <a:endParaRPr sz="200" dirty="0">
                        <a:latin typeface="Arial" panose="020B0604020202020204"/>
                        <a:ea typeface="Arial" panose="020B0604020202020204"/>
                        <a:cs typeface="Arial" panose="020B0604020202020204"/>
                      </a:endParaRPr>
                    </a:p>
                    <a:p>
                      <a:pPr marL="869950" algn="l" rtl="0" eaLnBrk="0">
                        <a:lnSpc>
                          <a:spcPts val="6205"/>
                        </a:lnSpc>
                        <a:spcBef>
                          <a:spcPts val="0"/>
                        </a:spcBef>
                        <a:tabLst>
                          <a:tab pos="398272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44" name="picture 244"/>
          <p:cNvPicPr>
            <a:picLocks noChangeAspect="1"/>
          </p:cNvPicPr>
          <p:nvPr/>
        </p:nvPicPr>
        <p:blipFill>
          <a:blip r:embed="rId1"/>
          <a:stretch>
            <a:fillRect/>
          </a:stretch>
        </p:blipFill>
        <p:spPr>
          <a:xfrm rot="21600000">
            <a:off x="1684909" y="5411027"/>
            <a:ext cx="3112880" cy="788015"/>
          </a:xfrm>
          <a:prstGeom prst="rect">
            <a:avLst/>
          </a:prstGeom>
        </p:spPr>
      </p:pic>
      <p:sp>
        <p:nvSpPr>
          <p:cNvPr id="246" name="textbox 246"/>
          <p:cNvSpPr/>
          <p:nvPr/>
        </p:nvSpPr>
        <p:spPr>
          <a:xfrm>
            <a:off x="3205941" y="4796994"/>
            <a:ext cx="103504" cy="172085"/>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87000"/>
              </a:lnSpc>
            </a:pPr>
            <a:r>
              <a:rPr sz="1100" i="1" kern="0" spc="110" dirty="0">
                <a:solidFill>
                  <a:srgbClr val="000000">
                    <a:alpha val="100000"/>
                  </a:srgbClr>
                </a:solidFill>
                <a:latin typeface="Times New Roman" panose="02020603050405020304"/>
                <a:ea typeface="Times New Roman" panose="02020603050405020304"/>
                <a:cs typeface="Times New Roman" panose="02020603050405020304"/>
              </a:rPr>
              <a:t>y</a:t>
            </a:r>
            <a:endParaRPr sz="1100" dirty="0">
              <a:latin typeface="Times New Roman" panose="02020603050405020304"/>
              <a:ea typeface="Times New Roman" panose="02020603050405020304"/>
              <a:cs typeface="Times New Roman" panose="02020603050405020304"/>
            </a:endParaRPr>
          </a:p>
        </p:txBody>
      </p:sp>
      <p:sp>
        <p:nvSpPr>
          <p:cNvPr id="248" name="textbox 248"/>
          <p:cNvSpPr/>
          <p:nvPr/>
        </p:nvSpPr>
        <p:spPr>
          <a:xfrm>
            <a:off x="3216379" y="4617025"/>
            <a:ext cx="97155" cy="160654"/>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1000"/>
              </a:lnSpc>
            </a:pPr>
            <a:r>
              <a:rPr sz="1100" kern="0" spc="0" dirty="0">
                <a:solidFill>
                  <a:srgbClr val="000000">
                    <a:alpha val="100000"/>
                  </a:srgbClr>
                </a:solidFill>
                <a:latin typeface="Times New Roman" panose="02020603050405020304"/>
                <a:ea typeface="Times New Roman" panose="02020603050405020304"/>
                <a:cs typeface="Times New Roman" panose="02020603050405020304"/>
              </a:rPr>
              <a:t>2</a:t>
            </a:r>
            <a:endParaRPr sz="1100" dirty="0">
              <a:latin typeface="Times New Roman" panose="02020603050405020304"/>
              <a:ea typeface="Times New Roman" panose="02020603050405020304"/>
              <a:cs typeface="Times New Roman" panose="02020603050405020304"/>
            </a:endParaRPr>
          </a:p>
        </p:txBody>
      </p:sp>
      <p:sp>
        <p:nvSpPr>
          <p:cNvPr id="250" name="textbox 250"/>
          <p:cNvSpPr/>
          <p:nvPr/>
        </p:nvSpPr>
        <p:spPr>
          <a:xfrm>
            <a:off x="1674039" y="3782875"/>
            <a:ext cx="159385" cy="293370"/>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8000"/>
              </a:lnSpc>
            </a:pPr>
            <a:r>
              <a:rPr sz="2000" i="1" kern="0" spc="150" dirty="0">
                <a:solidFill>
                  <a:srgbClr val="000000">
                    <a:alpha val="100000"/>
                  </a:srgbClr>
                </a:solidFill>
                <a:latin typeface="Times New Roman" panose="02020603050405020304"/>
                <a:ea typeface="Times New Roman" panose="02020603050405020304"/>
                <a:cs typeface="Times New Roman" panose="02020603050405020304"/>
              </a:rPr>
              <a:t>y</a:t>
            </a:r>
            <a:endParaRPr sz="2000" dirty="0">
              <a:latin typeface="Times New Roman" panose="02020603050405020304"/>
              <a:ea typeface="Times New Roman" panose="02020603050405020304"/>
              <a:cs typeface="Times New Roman" panose="02020603050405020304"/>
            </a:endParaRPr>
          </a:p>
        </p:txBody>
      </p:sp>
      <p:sp>
        <p:nvSpPr>
          <p:cNvPr id="252" name="textbox 252"/>
          <p:cNvSpPr/>
          <p:nvPr/>
        </p:nvSpPr>
        <p:spPr>
          <a:xfrm>
            <a:off x="1720282" y="3771169"/>
            <a:ext cx="103504" cy="2571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820"/>
              </a:lnSpc>
            </a:pPr>
            <a:r>
              <a:rPr sz="14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400" dirty="0">
              <a:latin typeface="Times New Roman" panose="02020603050405020304"/>
              <a:ea typeface="Times New Roman" panose="02020603050405020304"/>
              <a:cs typeface="Times New Roman" panose="02020603050405020304"/>
            </a:endParaRPr>
          </a:p>
        </p:txBody>
      </p:sp>
      <p:pic>
        <p:nvPicPr>
          <p:cNvPr id="254" name="picture 254"/>
          <p:cNvPicPr>
            <a:picLocks noChangeAspect="1"/>
          </p:cNvPicPr>
          <p:nvPr/>
        </p:nvPicPr>
        <p:blipFill>
          <a:blip r:embed="rId2"/>
          <a:stretch>
            <a:fillRect/>
          </a:stretch>
        </p:blipFill>
        <p:spPr>
          <a:xfrm rot="21600000">
            <a:off x="1685356" y="2562501"/>
            <a:ext cx="5762513" cy="845317"/>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8" name="table 258"/>
          <p:cNvGraphicFramePr>
            <a:graphicFrameLocks noGrp="1"/>
          </p:cNvGraphicFramePr>
          <p:nvPr/>
        </p:nvGraphicFramePr>
        <p:xfrm>
          <a:off x="60832" y="66928"/>
          <a:ext cx="9018905" cy="6699249"/>
        </p:xfrm>
        <a:graphic>
          <a:graphicData uri="http://schemas.openxmlformats.org/drawingml/2006/table">
            <a:tbl>
              <a:tblPr/>
              <a:tblGrid>
                <a:gridCol w="9018905"/>
              </a:tblGrid>
              <a:tr h="4900929">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968375" algn="l" rtl="0" eaLnBrk="0">
                        <a:lnSpc>
                          <a:spcPct val="85000"/>
                        </a:lnSpc>
                        <a:spcBef>
                          <a:spcPts val="5"/>
                        </a:spcBef>
                      </a:pPr>
                      <a:r>
                        <a:rPr sz="22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4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kern="0" spc="-50" dirty="0">
                          <a:solidFill>
                            <a:srgbClr val="000000">
                              <a:alpha val="100000"/>
                            </a:srgbClr>
                          </a:solidFill>
                          <a:latin typeface="楷体" panose="02010609060101010101" charset="-122"/>
                          <a:ea typeface="楷体" panose="02010609060101010101" charset="-122"/>
                          <a:cs typeface="楷体" panose="02010609060101010101" charset="-122"/>
                        </a:rPr>
                        <a:t>在汉堡包的例子中：</a:t>
                      </a:r>
                      <a:endParaRPr sz="2600" dirty="0">
                        <a:latin typeface="楷体" panose="02010609060101010101" charset="-122"/>
                        <a:ea typeface="楷体" panose="02010609060101010101" charset="-122"/>
                        <a:cs typeface="楷体" panose="02010609060101010101"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27000"/>
                        </a:lnSpc>
                      </a:pPr>
                      <a:endParaRPr sz="200" dirty="0">
                        <a:latin typeface="Arial" panose="020B0604020202020204"/>
                        <a:ea typeface="Arial" panose="020B0604020202020204"/>
                        <a:cs typeface="Arial" panose="020B0604020202020204"/>
                      </a:endParaRPr>
                    </a:p>
                    <a:p>
                      <a:pPr marL="1477010" algn="l" rtl="0" eaLnBrk="0">
                        <a:lnSpc>
                          <a:spcPts val="8845"/>
                        </a:lnSpc>
                        <a:spcBef>
                          <a:spcPts val="0"/>
                        </a:spcBef>
                        <a:tabLst>
                          <a:tab pos="824166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798320">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221615"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27</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60" name="picture 260"/>
          <p:cNvPicPr>
            <a:picLocks noChangeAspect="1"/>
          </p:cNvPicPr>
          <p:nvPr/>
        </p:nvPicPr>
        <p:blipFill>
          <a:blip r:embed="rId1"/>
          <a:stretch>
            <a:fillRect/>
          </a:stretch>
        </p:blipFill>
        <p:spPr>
          <a:xfrm rot="21600000">
            <a:off x="1537984" y="2602460"/>
            <a:ext cx="6765101" cy="1123242"/>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4" name="table 264"/>
          <p:cNvGraphicFramePr>
            <a:graphicFrameLocks noGrp="1"/>
          </p:cNvGraphicFramePr>
          <p:nvPr/>
        </p:nvGraphicFramePr>
        <p:xfrm>
          <a:off x="60832" y="66928"/>
          <a:ext cx="9018905" cy="6699248"/>
        </p:xfrm>
        <a:graphic>
          <a:graphicData uri="http://schemas.openxmlformats.org/drawingml/2006/table">
            <a:tbl>
              <a:tblPr/>
              <a:tblGrid>
                <a:gridCol w="9018905"/>
              </a:tblGrid>
              <a:tr h="5726429">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401445" algn="l" rtl="0" eaLnBrk="0">
                        <a:lnSpc>
                          <a:spcPct val="92000"/>
                        </a:lnSpc>
                      </a:pPr>
                      <a:r>
                        <a:rPr sz="2000" kern="0" spc="-130" dirty="0">
                          <a:solidFill>
                            <a:srgbClr val="000000">
                              <a:alpha val="100000"/>
                            </a:srgbClr>
                          </a:solidFill>
                          <a:latin typeface="楷体" panose="02010609060101010101" charset="-122"/>
                          <a:ea typeface="楷体" panose="02010609060101010101" charset="-122"/>
                          <a:cs typeface="楷体" panose="02010609060101010101" charset="-122"/>
                        </a:rPr>
                        <a:t>解释：</a:t>
                      </a:r>
                      <a:endParaRPr sz="20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marL="1270000" algn="l" rtl="0" eaLnBrk="0">
                        <a:lnSpc>
                          <a:spcPct val="94000"/>
                        </a:lnSpc>
                        <a:spcBef>
                          <a:spcPts val="640"/>
                        </a:spcBef>
                      </a:pPr>
                      <a:r>
                        <a:rPr sz="1800" kern="0" spc="2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36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销售收入变异的</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44.8%</a:t>
                      </a:r>
                      <a:r>
                        <a:rPr sz="2100"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由价格和广告支出的变异解释；</a:t>
                      </a:r>
                      <a:endParaRPr sz="2100" dirty="0">
                        <a:latin typeface="楷体" panose="02010609060101010101" charset="-122"/>
                        <a:ea typeface="楷体" panose="02010609060101010101" charset="-122"/>
                        <a:cs typeface="楷体" panose="02010609060101010101" charset="-122"/>
                      </a:endParaRPr>
                    </a:p>
                    <a:p>
                      <a:pPr marL="1490345" indent="-220345" algn="l" rtl="0" eaLnBrk="0">
                        <a:lnSpc>
                          <a:spcPct val="130000"/>
                        </a:lnSpc>
                        <a:spcBef>
                          <a:spcPts val="1765"/>
                        </a:spcBef>
                      </a:pPr>
                      <a:r>
                        <a:rPr sz="1800" kern="0" spc="7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30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在我们的样本中，销售收入变异的</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55.2%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模型无法解释，</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归因于误差项的变异或归因于</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其他变量，这些变量隐含地</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构成误差项的一个部分。</a:t>
                      </a:r>
                      <a:endParaRPr sz="2100" dirty="0">
                        <a:latin typeface="楷体" panose="02010609060101010101" charset="-122"/>
                        <a:ea typeface="楷体" panose="02010609060101010101" charset="-122"/>
                        <a:cs typeface="楷体" panose="02010609060101010101" charset="-122"/>
                      </a:endParaRPr>
                    </a:p>
                    <a:p>
                      <a:pPr marL="1503680" indent="-233680" algn="l" rtl="0" eaLnBrk="0">
                        <a:lnSpc>
                          <a:spcPct val="126000"/>
                        </a:lnSpc>
                        <a:spcBef>
                          <a:spcPts val="1655"/>
                        </a:spcBef>
                      </a:pPr>
                      <a:r>
                        <a:rPr sz="1800" kern="0" spc="9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800" kern="0" spc="27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在</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Burger</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Barn</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模型中加入广告支出的平方</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项目，</a:t>
                      </a:r>
                      <a:r>
                        <a:rPr sz="2100" i="1" kern="0" spc="8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80" baseline="31000" dirty="0">
                          <a:solidFill>
                            <a:srgbClr val="000000">
                              <a:alpha val="100000"/>
                            </a:srgbClr>
                          </a:solidFill>
                          <a:latin typeface="Perpetua" panose="02020502060401020303"/>
                          <a:ea typeface="Perpetua" panose="02020502060401020303"/>
                          <a:cs typeface="Perpetua" panose="02020502060401020303"/>
                        </a:rPr>
                        <a:t>2</a:t>
                      </a:r>
                      <a:r>
                        <a:rPr sz="1400" kern="0" spc="240" dirty="0">
                          <a:solidFill>
                            <a:srgbClr val="000000">
                              <a:alpha val="100000"/>
                            </a:srgbClr>
                          </a:solidFill>
                          <a:latin typeface="Perpetua" panose="02020502060401020303"/>
                          <a:ea typeface="Perpetua" panose="02020502060401020303"/>
                          <a:cs typeface="Perpetua" panose="02020502060401020303"/>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提高</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到</a:t>
                      </a:r>
                      <a:r>
                        <a:rPr sz="2100" kern="0" spc="-38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0.508</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06000"/>
                        </a:lnSpc>
                      </a:pPr>
                      <a:endParaRPr sz="1100" dirty="0">
                        <a:latin typeface="Arial" panose="020B0604020202020204"/>
                        <a:ea typeface="Arial" panose="020B0604020202020204"/>
                        <a:cs typeface="Arial" panose="020B0604020202020204"/>
                      </a:endParaRPr>
                    </a:p>
                    <a:p>
                      <a:pPr marL="1758315" indent="-213995" algn="l" rtl="0" eaLnBrk="0">
                        <a:lnSpc>
                          <a:spcPct val="123000"/>
                        </a:lnSpc>
                        <a:spcBef>
                          <a:spcPts val="0"/>
                        </a:spcBef>
                      </a:pPr>
                      <a:r>
                        <a:rPr sz="1800" kern="0" spc="70" dirty="0">
                          <a:solidFill>
                            <a:srgbClr val="E6B1AB">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因此，销售收入额外</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6%</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的变异可由引入这一变量来解</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释。</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72819">
                <a:tc>
                  <a:txBody>
                    <a:bodyPr/>
                    <a:lstStyle/>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7170"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28</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4" name="table 534"/>
          <p:cNvGraphicFramePr>
            <a:graphicFrameLocks noGrp="1"/>
          </p:cNvGraphicFramePr>
          <p:nvPr/>
        </p:nvGraphicFramePr>
        <p:xfrm>
          <a:off x="60832" y="66928"/>
          <a:ext cx="9018905" cy="6699249"/>
        </p:xfrm>
        <a:graphic>
          <a:graphicData uri="http://schemas.openxmlformats.org/drawingml/2006/table">
            <a:tbl>
              <a:tblPr/>
              <a:tblGrid>
                <a:gridCol w="9018905"/>
              </a:tblGrid>
              <a:tr h="6019165">
                <a:tc>
                  <a:txBody>
                    <a:bodyPr/>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261235" algn="l" rtl="0" eaLnBrk="0">
                        <a:lnSpc>
                          <a:spcPct val="87000"/>
                        </a:lnSpc>
                      </a:pPr>
                      <a:r>
                        <a:rPr sz="3600" b="1" kern="0" spc="-40" dirty="0">
                          <a:solidFill>
                            <a:srgbClr val="000000">
                              <a:alpha val="100000"/>
                            </a:srgbClr>
                          </a:solidFill>
                          <a:latin typeface="黑体" panose="02010609060101010101" charset="-122"/>
                          <a:ea typeface="黑体" panose="02010609060101010101" charset="-122"/>
                          <a:cs typeface="黑体" panose="02010609060101010101" charset="-122"/>
                        </a:rPr>
                        <a:t>四、区间估计与假设检验</a:t>
                      </a:r>
                      <a:endParaRPr sz="3600" dirty="0">
                        <a:latin typeface="黑体" panose="02010609060101010101" charset="-122"/>
                        <a:ea typeface="黑体" panose="02010609060101010101" charset="-122"/>
                        <a:cs typeface="黑体" panose="02010609060101010101"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966470" algn="l" rtl="0" eaLnBrk="0">
                        <a:lnSpc>
                          <a:spcPct val="84000"/>
                        </a:lnSpc>
                        <a:spcBef>
                          <a:spcPts val="730"/>
                        </a:spcBef>
                      </a:pPr>
                      <a:r>
                        <a:rPr sz="20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70" dirty="0">
                          <a:solidFill>
                            <a:srgbClr val="000000">
                              <a:alpha val="100000"/>
                            </a:srgbClr>
                          </a:solidFill>
                          <a:latin typeface="楷体" panose="02010609060101010101" charset="-122"/>
                          <a:ea typeface="楷体" panose="02010609060101010101" charset="-122"/>
                          <a:cs typeface="楷体" panose="02010609060101010101" charset="-122"/>
                        </a:rPr>
                        <a:t>（一）区间估计</a:t>
                      </a:r>
                      <a:endParaRPr sz="2400" dirty="0">
                        <a:latin typeface="楷体" panose="02010609060101010101" charset="-122"/>
                        <a:ea typeface="楷体" panose="02010609060101010101" charset="-122"/>
                        <a:cs typeface="楷体" panose="02010609060101010101"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965200" algn="l" rtl="0" eaLnBrk="0">
                        <a:lnSpc>
                          <a:spcPct val="94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多元回归下</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100</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(1-α)%</a:t>
                      </a:r>
                      <a:r>
                        <a:rPr sz="2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置信区间的一般形式：</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697990" algn="l" rtl="0" eaLnBrk="0">
                        <a:lnSpc>
                          <a:spcPct val="98000"/>
                        </a:lnSpc>
                        <a:spcBef>
                          <a:spcPts val="1145"/>
                        </a:spcBef>
                      </a:pPr>
                      <a:r>
                        <a:rPr sz="3800" kern="0" spc="-380" dirty="0">
                          <a:solidFill>
                            <a:srgbClr val="000000">
                              <a:alpha val="100000"/>
                            </a:srgbClr>
                          </a:solidFill>
                          <a:latin typeface="Arial" panose="020B0604020202020204"/>
                          <a:ea typeface="Arial" panose="020B0604020202020204"/>
                          <a:cs typeface="Arial" panose="020B0604020202020204"/>
                        </a:rPr>
                        <a:t>(</a:t>
                      </a:r>
                      <a:r>
                        <a:rPr sz="3700" i="1" kern="0" spc="0" baseline="6000" dirty="0">
                          <a:solidFill>
                            <a:srgbClr val="000000">
                              <a:alpha val="100000"/>
                            </a:srgbClr>
                          </a:solidFill>
                          <a:latin typeface="Times New Roman" panose="02020603050405020304"/>
                          <a:ea typeface="Times New Roman" panose="02020603050405020304"/>
                          <a:cs typeface="Times New Roman" panose="02020603050405020304"/>
                        </a:rPr>
                        <a:t>b</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700" kern="0" spc="70" baseline="6000" dirty="0">
                          <a:solidFill>
                            <a:srgbClr val="000000">
                              <a:alpha val="100000"/>
                            </a:srgbClr>
                          </a:solidFill>
                          <a:latin typeface="Arial" panose="020B0604020202020204"/>
                          <a:ea typeface="Arial" panose="020B0604020202020204"/>
                          <a:cs typeface="Arial" panose="020B0604020202020204"/>
                        </a:rPr>
                        <a:t>−</a:t>
                      </a:r>
                      <a:r>
                        <a:rPr sz="2400" kern="0" spc="-190" dirty="0">
                          <a:solidFill>
                            <a:srgbClr val="000000">
                              <a:alpha val="100000"/>
                            </a:srgbClr>
                          </a:solidFill>
                          <a:latin typeface="Arial" panose="020B0604020202020204"/>
                          <a:ea typeface="Arial" panose="020B0604020202020204"/>
                          <a:cs typeface="Arial" panose="020B0604020202020204"/>
                        </a:rPr>
                        <a:t> </a:t>
                      </a:r>
                      <a:r>
                        <a:rPr sz="3700" i="1" kern="0" spc="70" baseline="6000" dirty="0">
                          <a:solidFill>
                            <a:srgbClr val="000000">
                              <a:alpha val="100000"/>
                            </a:srgbClr>
                          </a:solidFill>
                          <a:latin typeface="Times New Roman" panose="02020603050405020304"/>
                          <a:ea typeface="Times New Roman" panose="02020603050405020304"/>
                          <a:cs typeface="Times New Roman" panose="02020603050405020304"/>
                        </a:rPr>
                        <a:t>t</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baseline="-20000" dirty="0">
                          <a:solidFill>
                            <a:srgbClr val="000000">
                              <a:alpha val="100000"/>
                            </a:srgbClr>
                          </a:solidFill>
                          <a:latin typeface="Arial" panose="020B0604020202020204"/>
                          <a:ea typeface="Arial" panose="020B0604020202020204"/>
                          <a:cs typeface="Arial" panose="020B0604020202020204"/>
                        </a:rPr>
                        <a:t>−α</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a:t>
                      </a:r>
                      <a:r>
                        <a:rPr sz="13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70" baseline="-20000" dirty="0">
                          <a:solidFill>
                            <a:srgbClr val="000000">
                              <a:alpha val="100000"/>
                            </a:srgbClr>
                          </a:solidFill>
                          <a:latin typeface="Times New Roman" panose="02020603050405020304"/>
                          <a:ea typeface="Times New Roman" panose="02020603050405020304"/>
                          <a:cs typeface="Times New Roman" panose="02020603050405020304"/>
                        </a:rPr>
                        <a:t>N</a:t>
                      </a:r>
                      <a:r>
                        <a:rPr sz="2100" kern="0" spc="70" baseline="-20000" dirty="0">
                          <a:solidFill>
                            <a:srgbClr val="000000">
                              <a:alpha val="100000"/>
                            </a:srgbClr>
                          </a:solidFill>
                          <a:latin typeface="Arial" panose="020B0604020202020204"/>
                          <a:ea typeface="Arial" panose="020B0604020202020204"/>
                          <a:cs typeface="Arial" panose="020B0604020202020204"/>
                        </a:rPr>
                        <a:t>−</a:t>
                      </a:r>
                      <a:r>
                        <a:rPr sz="2100" i="1" kern="0" spc="7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a:t>
                      </a:r>
                      <a:r>
                        <a:rPr sz="13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700" kern="0" spc="70" baseline="6000" dirty="0">
                          <a:solidFill>
                            <a:srgbClr val="000000">
                              <a:alpha val="100000"/>
                            </a:srgbClr>
                          </a:solidFill>
                          <a:latin typeface="Arial" panose="020B0604020202020204"/>
                          <a:ea typeface="Arial" panose="020B0604020202020204"/>
                          <a:cs typeface="Arial" panose="020B0604020202020204"/>
                        </a:rPr>
                        <a:t>×</a:t>
                      </a:r>
                      <a:r>
                        <a:rPr sz="3700" kern="0" spc="0" baseline="6000" dirty="0">
                          <a:solidFill>
                            <a:srgbClr val="000000">
                              <a:alpha val="100000"/>
                            </a:srgbClr>
                          </a:solidFill>
                          <a:latin typeface="Times New Roman" panose="02020603050405020304"/>
                          <a:ea typeface="Times New Roman" panose="02020603050405020304"/>
                          <a:cs typeface="Times New Roman" panose="02020603050405020304"/>
                        </a:rPr>
                        <a:t>se</a:t>
                      </a:r>
                      <a:r>
                        <a:rPr sz="3700" kern="0" spc="70" baseline="6000" dirty="0">
                          <a:solidFill>
                            <a:srgbClr val="000000">
                              <a:alpha val="100000"/>
                            </a:srgbClr>
                          </a:solidFill>
                          <a:latin typeface="Times New Roman" panose="02020603050405020304"/>
                          <a:ea typeface="Times New Roman" panose="02020603050405020304"/>
                          <a:cs typeface="Times New Roman" panose="02020603050405020304"/>
                        </a:rPr>
                        <a:t>(</a:t>
                      </a:r>
                      <a:r>
                        <a:rPr sz="3700" i="1" kern="0" spc="0" baseline="6000" dirty="0">
                          <a:solidFill>
                            <a:srgbClr val="000000">
                              <a:alpha val="100000"/>
                            </a:srgbClr>
                          </a:solidFill>
                          <a:latin typeface="Times New Roman" panose="02020603050405020304"/>
                          <a:ea typeface="Times New Roman" panose="02020603050405020304"/>
                          <a:cs typeface="Times New Roman" panose="02020603050405020304"/>
                        </a:rPr>
                        <a:t>b</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700" kern="0" spc="70" baseline="600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700" i="1" kern="0" spc="0" baseline="6000" dirty="0">
                          <a:solidFill>
                            <a:srgbClr val="000000">
                              <a:alpha val="100000"/>
                            </a:srgbClr>
                          </a:solidFill>
                          <a:latin typeface="Times New Roman" panose="02020603050405020304"/>
                          <a:ea typeface="Times New Roman" panose="02020603050405020304"/>
                          <a:cs typeface="Times New Roman" panose="02020603050405020304"/>
                        </a:rPr>
                        <a:t>b</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700" kern="0" spc="70" baseline="6000" dirty="0">
                          <a:solidFill>
                            <a:srgbClr val="000000">
                              <a:alpha val="100000"/>
                            </a:srgbClr>
                          </a:solidFill>
                          <a:latin typeface="Arial" panose="020B0604020202020204"/>
                          <a:ea typeface="Arial" panose="020B0604020202020204"/>
                          <a:cs typeface="Arial" panose="020B0604020202020204"/>
                        </a:rPr>
                        <a:t>+</a:t>
                      </a:r>
                      <a:r>
                        <a:rPr sz="2400" kern="0" spc="-150" dirty="0">
                          <a:solidFill>
                            <a:srgbClr val="000000">
                              <a:alpha val="100000"/>
                            </a:srgbClr>
                          </a:solidFill>
                          <a:latin typeface="Arial" panose="020B0604020202020204"/>
                          <a:ea typeface="Arial" panose="020B0604020202020204"/>
                          <a:cs typeface="Arial" panose="020B0604020202020204"/>
                        </a:rPr>
                        <a:t> </a:t>
                      </a:r>
                      <a:r>
                        <a:rPr sz="3700" i="1" kern="0" spc="70" baseline="6000" dirty="0">
                          <a:solidFill>
                            <a:srgbClr val="000000">
                              <a:alpha val="100000"/>
                            </a:srgbClr>
                          </a:solidFill>
                          <a:latin typeface="Times New Roman" panose="02020603050405020304"/>
                          <a:ea typeface="Times New Roman" panose="02020603050405020304"/>
                          <a:cs typeface="Times New Roman" panose="02020603050405020304"/>
                        </a:rPr>
                        <a:t>t</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baseline="-20000" dirty="0">
                          <a:solidFill>
                            <a:srgbClr val="000000">
                              <a:alpha val="100000"/>
                            </a:srgbClr>
                          </a:solidFill>
                          <a:latin typeface="Arial" panose="020B0604020202020204"/>
                          <a:ea typeface="Arial" panose="020B0604020202020204"/>
                          <a:cs typeface="Arial" panose="020B0604020202020204"/>
                        </a:rPr>
                        <a:t>−α</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a:t>
                      </a:r>
                      <a:r>
                        <a:rPr sz="13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70" baseline="-20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70" baseline="-20000" dirty="0">
                          <a:solidFill>
                            <a:srgbClr val="000000">
                              <a:alpha val="100000"/>
                            </a:srgbClr>
                          </a:solidFill>
                          <a:latin typeface="Times New Roman" panose="02020603050405020304"/>
                          <a:ea typeface="Times New Roman" panose="02020603050405020304"/>
                          <a:cs typeface="Times New Roman" panose="02020603050405020304"/>
                        </a:rPr>
                        <a:t>N</a:t>
                      </a:r>
                      <a:r>
                        <a:rPr sz="2100" kern="0" spc="70" baseline="-20000" dirty="0">
                          <a:solidFill>
                            <a:srgbClr val="000000">
                              <a:alpha val="100000"/>
                            </a:srgbClr>
                          </a:solidFill>
                          <a:latin typeface="Arial" panose="020B0604020202020204"/>
                          <a:ea typeface="Arial" panose="020B0604020202020204"/>
                          <a:cs typeface="Arial" panose="020B0604020202020204"/>
                        </a:rPr>
                        <a:t>−</a:t>
                      </a:r>
                      <a:r>
                        <a:rPr sz="2100" i="1" kern="0" spc="7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2100" kern="0" spc="60" baseline="-20000" dirty="0">
                          <a:solidFill>
                            <a:srgbClr val="000000">
                              <a:alpha val="100000"/>
                            </a:srgbClr>
                          </a:solidFill>
                          <a:latin typeface="Times New Roman" panose="02020603050405020304"/>
                          <a:ea typeface="Times New Roman" panose="02020603050405020304"/>
                          <a:cs typeface="Times New Roman" panose="02020603050405020304"/>
                        </a:rPr>
                        <a:t>)</a:t>
                      </a:r>
                      <a:r>
                        <a:rPr sz="13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700" kern="0" spc="60" baseline="6000" dirty="0">
                          <a:solidFill>
                            <a:srgbClr val="000000">
                              <a:alpha val="100000"/>
                            </a:srgbClr>
                          </a:solidFill>
                          <a:latin typeface="Arial" panose="020B0604020202020204"/>
                          <a:ea typeface="Arial" panose="020B0604020202020204"/>
                          <a:cs typeface="Arial" panose="020B0604020202020204"/>
                        </a:rPr>
                        <a:t>×</a:t>
                      </a:r>
                      <a:r>
                        <a:rPr sz="3700" kern="0" spc="0" baseline="6000" dirty="0">
                          <a:solidFill>
                            <a:srgbClr val="000000">
                              <a:alpha val="100000"/>
                            </a:srgbClr>
                          </a:solidFill>
                          <a:latin typeface="Times New Roman" panose="02020603050405020304"/>
                          <a:ea typeface="Times New Roman" panose="02020603050405020304"/>
                          <a:cs typeface="Times New Roman" panose="02020603050405020304"/>
                        </a:rPr>
                        <a:t>se</a:t>
                      </a:r>
                      <a:r>
                        <a:rPr sz="3700" kern="0" spc="60" baseline="6000" dirty="0">
                          <a:solidFill>
                            <a:srgbClr val="000000">
                              <a:alpha val="100000"/>
                            </a:srgbClr>
                          </a:solidFill>
                          <a:latin typeface="Times New Roman" panose="02020603050405020304"/>
                          <a:ea typeface="Times New Roman" panose="02020603050405020304"/>
                          <a:cs typeface="Times New Roman" panose="02020603050405020304"/>
                        </a:rPr>
                        <a:t>(</a:t>
                      </a:r>
                      <a:r>
                        <a:rPr sz="3700" i="1" kern="0" spc="0" baseline="6000" dirty="0">
                          <a:solidFill>
                            <a:srgbClr val="000000">
                              <a:alpha val="100000"/>
                            </a:srgbClr>
                          </a:solidFill>
                          <a:latin typeface="Times New Roman" panose="02020603050405020304"/>
                          <a:ea typeface="Times New Roman" panose="02020603050405020304"/>
                          <a:cs typeface="Times New Roman" panose="02020603050405020304"/>
                        </a:rPr>
                        <a:t>b</a:t>
                      </a:r>
                      <a:r>
                        <a:rPr sz="2100" i="1" kern="0" spc="0" baseline="-20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70" dirty="0">
                          <a:solidFill>
                            <a:srgbClr val="000000">
                              <a:alpha val="100000"/>
                            </a:srgbClr>
                          </a:solidFill>
                          <a:latin typeface="Times New Roman" panose="02020603050405020304"/>
                          <a:ea typeface="Times New Roman" panose="02020603050405020304"/>
                          <a:cs typeface="Times New Roman" panose="02020603050405020304"/>
                        </a:rPr>
                        <a:t> </a:t>
                      </a:r>
                      <a:r>
                        <a:rPr sz="3700" kern="0" spc="60" baseline="6000" dirty="0">
                          <a:solidFill>
                            <a:srgbClr val="000000">
                              <a:alpha val="100000"/>
                            </a:srgbClr>
                          </a:solidFill>
                          <a:latin typeface="Times New Roman" panose="02020603050405020304"/>
                          <a:ea typeface="Times New Roman" panose="02020603050405020304"/>
                          <a:cs typeface="Times New Roman" panose="02020603050405020304"/>
                        </a:rPr>
                        <a:t>)</a:t>
                      </a:r>
                      <a:r>
                        <a:rPr sz="3800" kern="0" spc="60" dirty="0">
                          <a:solidFill>
                            <a:srgbClr val="000000">
                              <a:alpha val="100000"/>
                            </a:srgbClr>
                          </a:solidFill>
                          <a:latin typeface="Arial" panose="020B0604020202020204"/>
                          <a:ea typeface="Arial" panose="020B0604020202020204"/>
                          <a:cs typeface="Arial" panose="020B0604020202020204"/>
                        </a:rPr>
                        <a:t>)</a:t>
                      </a:r>
                      <a:endParaRPr sz="38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20" dirty="0">
                          <a:solidFill>
                            <a:srgbClr val="000000">
                              <a:alpha val="100000"/>
                            </a:srgbClr>
                          </a:solidFill>
                          <a:latin typeface="楷体" panose="02010609060101010101" charset="-122"/>
                          <a:ea typeface="楷体" panose="02010609060101010101" charset="-122"/>
                          <a:cs typeface="楷体" panose="02010609060101010101" charset="-122"/>
                        </a:rPr>
                        <a:t>系数线性组合的区间估计：</a:t>
                      </a:r>
                      <a:endParaRPr sz="21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marL="965200" algn="l" rtl="0" eaLnBrk="0">
                        <a:lnSpc>
                          <a:spcPct val="94000"/>
                        </a:lnSpc>
                        <a:spcBef>
                          <a:spcPts val="640"/>
                        </a:spcBef>
                      </a:pP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例子：假定</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Big</a:t>
                      </a:r>
                      <a:r>
                        <a:rPr sz="21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Andy</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打算增加广告支出</a:t>
                      </a:r>
                      <a:r>
                        <a:rPr sz="2100" kern="0" spc="90" dirty="0">
                          <a:solidFill>
                            <a:srgbClr val="000000">
                              <a:alpha val="100000"/>
                            </a:srgbClr>
                          </a:solidFill>
                          <a:latin typeface="Times New Roman" panose="02020603050405020304"/>
                          <a:ea typeface="Times New Roman" panose="02020603050405020304"/>
                          <a:cs typeface="Times New Roman" panose="02020603050405020304"/>
                        </a:rPr>
                        <a:t>800</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美元，降</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低价格</a:t>
                      </a:r>
                      <a:endParaRPr sz="2100" dirty="0">
                        <a:latin typeface="楷体" panose="02010609060101010101" charset="-122"/>
                        <a:ea typeface="楷体" panose="02010609060101010101" charset="-122"/>
                        <a:cs typeface="楷体" panose="02010609060101010101" charset="-122"/>
                      </a:endParaRPr>
                    </a:p>
                    <a:p>
                      <a:pPr algn="l" rtl="0" eaLnBrk="0">
                        <a:lnSpc>
                          <a:spcPct val="102000"/>
                        </a:lnSpc>
                      </a:pPr>
                      <a:endParaRPr sz="1300" dirty="0">
                        <a:latin typeface="Arial" panose="020B0604020202020204"/>
                        <a:ea typeface="Arial" panose="020B0604020202020204"/>
                        <a:cs typeface="Arial" panose="020B0604020202020204"/>
                      </a:endParaRPr>
                    </a:p>
                    <a:p>
                      <a:pPr marL="1223645" algn="l" rtl="0" eaLnBrk="0">
                        <a:lnSpc>
                          <a:spcPct val="94000"/>
                        </a:lnSpc>
                        <a:spcBef>
                          <a:spcPts val="0"/>
                        </a:spcBef>
                      </a:pPr>
                      <a:r>
                        <a:rPr sz="2100" kern="0" spc="70" dirty="0">
                          <a:solidFill>
                            <a:srgbClr val="000000">
                              <a:alpha val="100000"/>
                            </a:srgbClr>
                          </a:solidFill>
                          <a:latin typeface="Times New Roman" panose="02020603050405020304"/>
                          <a:ea typeface="Times New Roman" panose="02020603050405020304"/>
                          <a:cs typeface="Times New Roman" panose="02020603050405020304"/>
                        </a:rPr>
                        <a:t>40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美分。用下标</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代表政策</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实施后，用下标</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代表政策实施前。</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680084">
                <a:tc>
                  <a:txBody>
                    <a:bodyPr/>
                    <a:lstStyle/>
                    <a:p>
                      <a:pPr algn="l" rtl="0" eaLnBrk="0">
                        <a:lnSpc>
                          <a:spcPct val="192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8" name="table 538"/>
          <p:cNvGraphicFramePr>
            <a:graphicFrameLocks noGrp="1"/>
          </p:cNvGraphicFramePr>
          <p:nvPr/>
        </p:nvGraphicFramePr>
        <p:xfrm>
          <a:off x="60832" y="66928"/>
          <a:ext cx="9018905" cy="6699250"/>
        </p:xfrm>
        <a:graphic>
          <a:graphicData uri="http://schemas.openxmlformats.org/drawingml/2006/table">
            <a:tbl>
              <a:tblPr/>
              <a:tblGrid>
                <a:gridCol w="9018905"/>
              </a:tblGrid>
              <a:tr h="5776595">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预期销售额的变动</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为：</a:t>
                      </a:r>
                      <a:endParaRPr sz="2100" dirty="0">
                        <a:latin typeface="楷体" panose="02010609060101010101" charset="-122"/>
                        <a:ea typeface="楷体" panose="02010609060101010101" charset="-122"/>
                        <a:cs typeface="楷体" panose="02010609060101010101" charset="-122"/>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marL="1959610" algn="l" rtl="0" eaLnBrk="0">
                        <a:lnSpc>
                          <a:spcPts val="2760"/>
                        </a:lnSpc>
                        <a:spcBef>
                          <a:spcPts val="300"/>
                        </a:spcBef>
                        <a:tabLst>
                          <a:tab pos="537845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287905" indent="-70485" algn="l" rtl="0" eaLnBrk="0">
                        <a:lnSpc>
                          <a:spcPct val="290000"/>
                        </a:lnSpc>
                        <a:spcBef>
                          <a:spcPts val="1025"/>
                        </a:spcBef>
                        <a:tabLst>
                          <a:tab pos="5959475" algn="l"/>
                          <a:tab pos="7702550" algn="l"/>
                        </a:tabLst>
                      </a:pP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217420" algn="l" rtl="0" eaLnBrk="0">
                        <a:lnSpc>
                          <a:spcPct val="97000"/>
                        </a:lnSpc>
                        <a:spcBef>
                          <a:spcPts val="1180"/>
                        </a:spcBef>
                      </a:pPr>
                      <a:r>
                        <a:rPr sz="2200" kern="0" spc="-2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0.4β</a:t>
                      </a:r>
                      <a:r>
                        <a:rPr sz="1900" kern="0" spc="-2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12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0.8β</a:t>
                      </a:r>
                      <a:r>
                        <a:rPr sz="1900" kern="0" spc="-20" baseline="-27000" dirty="0">
                          <a:solidFill>
                            <a:srgbClr val="000000">
                              <a:alpha val="100000"/>
                            </a:srgbClr>
                          </a:solidFill>
                          <a:latin typeface="Times New Roman" panose="02020603050405020304"/>
                          <a:ea typeface="Times New Roman" panose="02020603050405020304"/>
                          <a:cs typeface="Times New Roman" panose="02020603050405020304"/>
                        </a:rPr>
                        <a:t>3</a:t>
                      </a:r>
                      <a:endParaRPr sz="1900" baseline="-27000" dirty="0">
                        <a:latin typeface="Times New Roman" panose="02020603050405020304"/>
                        <a:ea typeface="Times New Roman" panose="02020603050405020304"/>
                        <a:cs typeface="Times New Roman" panose="02020603050405020304"/>
                      </a:endParaRPr>
                    </a:p>
                    <a:p>
                      <a:pPr marL="965200" algn="l" rtl="0" eaLnBrk="0">
                        <a:lnSpc>
                          <a:spcPts val="2550"/>
                        </a:lnSpc>
                        <a:spcBef>
                          <a:spcPts val="175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点估计为</a:t>
                      </a:r>
                      <a:r>
                        <a:rPr sz="2100" kern="0" spc="10" dirty="0">
                          <a:solidFill>
                            <a:srgbClr val="000000">
                              <a:alpha val="100000"/>
                            </a:srgbClr>
                          </a:solidFill>
                          <a:latin typeface="Perpetua" panose="02020502060401020303"/>
                          <a:ea typeface="Perpetua" panose="02020502060401020303"/>
                          <a:cs typeface="Perpetua" panose="02020502060401020303"/>
                        </a:rPr>
                        <a:t>:</a:t>
                      </a:r>
                      <a:endParaRPr sz="2100" dirty="0">
                        <a:latin typeface="Perpetua" panose="02020502060401020303"/>
                        <a:ea typeface="Perpetua" panose="02020502060401020303"/>
                        <a:cs typeface="Perpetua" panose="02020502060401020303"/>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marL="1690370" algn="l" rtl="0" eaLnBrk="0">
                        <a:lnSpc>
                          <a:spcPts val="2925"/>
                        </a:lnSpc>
                        <a:spcBef>
                          <a:spcPts val="305"/>
                        </a:spcBef>
                        <a:tabLst>
                          <a:tab pos="731583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7000"/>
                        </a:lnSpc>
                      </a:pPr>
                      <a:endParaRPr sz="9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939290" algn="l" rtl="0" eaLnBrk="0">
                        <a:lnSpc>
                          <a:spcPct val="78000"/>
                        </a:lnSpc>
                      </a:pPr>
                      <a:r>
                        <a:rPr sz="2100" kern="0" spc="0" dirty="0">
                          <a:solidFill>
                            <a:srgbClr val="000000">
                              <a:alpha val="100000"/>
                            </a:srgbClr>
                          </a:solidFill>
                          <a:latin typeface="Arial" panose="020B0604020202020204"/>
                          <a:ea typeface="Arial" panose="020B0604020202020204"/>
                          <a:cs typeface="Arial" panose="020B0604020202020204"/>
                        </a:rPr>
                        <a:t>=</a:t>
                      </a:r>
                      <a:r>
                        <a:rPr sz="2100" kern="0" spc="-5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4.6532</a:t>
                      </a:r>
                      <a:endParaRPr sz="21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22655">
                <a:tc>
                  <a:txBody>
                    <a:bodyPr/>
                    <a:lstStyle/>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5265"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50</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540" name="picture 540"/>
          <p:cNvPicPr>
            <a:picLocks noChangeAspect="1"/>
          </p:cNvPicPr>
          <p:nvPr/>
        </p:nvPicPr>
        <p:blipFill>
          <a:blip r:embed="rId1"/>
          <a:stretch>
            <a:fillRect/>
          </a:stretch>
        </p:blipFill>
        <p:spPr>
          <a:xfrm rot="21600000">
            <a:off x="1751683" y="4708121"/>
            <a:ext cx="5625947" cy="371477"/>
          </a:xfrm>
          <a:prstGeom prst="rect">
            <a:avLst/>
          </a:prstGeom>
        </p:spPr>
      </p:pic>
      <p:pic>
        <p:nvPicPr>
          <p:cNvPr id="542" name="picture 542"/>
          <p:cNvPicPr>
            <a:picLocks noChangeAspect="1"/>
          </p:cNvPicPr>
          <p:nvPr/>
        </p:nvPicPr>
        <p:blipFill>
          <a:blip r:embed="rId2"/>
          <a:stretch>
            <a:fillRect/>
          </a:stretch>
        </p:blipFill>
        <p:spPr>
          <a:xfrm rot="21600000">
            <a:off x="2349517" y="2908051"/>
            <a:ext cx="3671428" cy="350849"/>
          </a:xfrm>
          <a:prstGeom prst="rect">
            <a:avLst/>
          </a:prstGeom>
        </p:spPr>
      </p:pic>
      <p:pic>
        <p:nvPicPr>
          <p:cNvPr id="544" name="picture 544"/>
          <p:cNvPicPr>
            <a:picLocks noChangeAspect="1"/>
          </p:cNvPicPr>
          <p:nvPr/>
        </p:nvPicPr>
        <p:blipFill>
          <a:blip r:embed="rId3"/>
          <a:stretch>
            <a:fillRect/>
          </a:stretch>
        </p:blipFill>
        <p:spPr>
          <a:xfrm rot="21600000">
            <a:off x="2278780" y="2373688"/>
            <a:ext cx="5485833" cy="393610"/>
          </a:xfrm>
          <a:prstGeom prst="rect">
            <a:avLst/>
          </a:prstGeom>
        </p:spPr>
      </p:pic>
      <p:pic>
        <p:nvPicPr>
          <p:cNvPr id="546" name="picture 546"/>
          <p:cNvPicPr>
            <a:picLocks noChangeAspect="1"/>
          </p:cNvPicPr>
          <p:nvPr/>
        </p:nvPicPr>
        <p:blipFill>
          <a:blip r:embed="rId4"/>
          <a:stretch>
            <a:fillRect/>
          </a:stretch>
        </p:blipFill>
        <p:spPr>
          <a:xfrm rot="21600000">
            <a:off x="2021053" y="1894325"/>
            <a:ext cx="3418823" cy="350432"/>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0" name="table 550"/>
          <p:cNvGraphicFramePr>
            <a:graphicFrameLocks noGrp="1"/>
          </p:cNvGraphicFramePr>
          <p:nvPr/>
        </p:nvGraphicFramePr>
        <p:xfrm>
          <a:off x="60832" y="66928"/>
          <a:ext cx="9018905" cy="6699250"/>
        </p:xfrm>
        <a:graphic>
          <a:graphicData uri="http://schemas.openxmlformats.org/drawingml/2006/table">
            <a:tbl>
              <a:tblPr/>
              <a:tblGrid>
                <a:gridCol w="771525"/>
                <a:gridCol w="8247380"/>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161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51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29235" algn="l" rtl="0" eaLnBrk="0">
                        <a:lnSpc>
                          <a:spcPts val="2555"/>
                        </a:lnSpc>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Perpetua" panose="02020502060401020303"/>
                          <a:ea typeface="Perpetua" panose="02020502060401020303"/>
                          <a:cs typeface="Perpetua" panose="02020502060401020303"/>
                        </a:rPr>
                        <a:t>90%</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的置信区间为</a:t>
                      </a:r>
                      <a:r>
                        <a:rPr sz="2100" kern="0" spc="40" dirty="0">
                          <a:solidFill>
                            <a:srgbClr val="000000">
                              <a:alpha val="100000"/>
                            </a:srgbClr>
                          </a:solidFill>
                          <a:latin typeface="Perpetua" panose="02020502060401020303"/>
                          <a:ea typeface="Perpetua" panose="02020502060401020303"/>
                          <a:cs typeface="Perpetua" panose="02020502060401020303"/>
                        </a:rPr>
                        <a:t>:</a:t>
                      </a:r>
                      <a:endParaRPr sz="2100" dirty="0">
                        <a:latin typeface="Perpetua" panose="02020502060401020303"/>
                        <a:ea typeface="Perpetua" panose="02020502060401020303"/>
                        <a:cs typeface="Perpetua" panose="02020502060401020303"/>
                      </a:endParaRPr>
                    </a:p>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142000"/>
                        </a:lnSpc>
                      </a:pPr>
                      <a:endParaRPr sz="1000" dirty="0">
                        <a:latin typeface="Arial" panose="020B0604020202020204"/>
                        <a:ea typeface="Arial" panose="020B0604020202020204"/>
                        <a:cs typeface="Arial" panose="020B0604020202020204"/>
                      </a:endParaRPr>
                    </a:p>
                    <a:p>
                      <a:pPr marL="1475105" algn="l" rtl="0" eaLnBrk="0">
                        <a:lnSpc>
                          <a:spcPts val="3745"/>
                        </a:lnSpc>
                        <a:spcBef>
                          <a:spcPts val="310"/>
                        </a:spcBef>
                        <a:tabLst>
                          <a:tab pos="452564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477645" algn="l" rtl="0" eaLnBrk="0">
                        <a:lnSpc>
                          <a:spcPts val="2840"/>
                        </a:lnSpc>
                        <a:spcBef>
                          <a:spcPts val="970"/>
                        </a:spcBef>
                        <a:tabLst>
                          <a:tab pos="59912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475105" algn="l" rtl="0" eaLnBrk="0">
                        <a:lnSpc>
                          <a:spcPts val="2840"/>
                        </a:lnSpc>
                        <a:spcBef>
                          <a:spcPts val="960"/>
                        </a:spcBef>
                        <a:tabLst>
                          <a:tab pos="57054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42000"/>
                        </a:lnSpc>
                      </a:pPr>
                      <a:endParaRPr sz="1000" dirty="0">
                        <a:latin typeface="Arial" panose="020B0604020202020204"/>
                        <a:ea typeface="Arial" panose="020B0604020202020204"/>
                        <a:cs typeface="Arial" panose="020B0604020202020204"/>
                      </a:endParaRPr>
                    </a:p>
                    <a:p>
                      <a:pPr algn="l" rtl="0" eaLnBrk="0">
                        <a:lnSpc>
                          <a:spcPct val="142000"/>
                        </a:lnSpc>
                      </a:pPr>
                      <a:endParaRPr sz="1000" dirty="0">
                        <a:latin typeface="Arial" panose="020B0604020202020204"/>
                        <a:ea typeface="Arial" panose="020B0604020202020204"/>
                        <a:cs typeface="Arial" panose="020B0604020202020204"/>
                      </a:endParaRPr>
                    </a:p>
                    <a:p>
                      <a:pPr marL="229235" algn="l" rtl="0" eaLnBrk="0">
                        <a:lnSpc>
                          <a:spcPct val="8700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标准误为:</a:t>
                      </a:r>
                      <a:endParaRPr sz="2100" dirty="0">
                        <a:latin typeface="楷体" panose="02010609060101010101" charset="-122"/>
                        <a:ea typeface="楷体" panose="02010609060101010101" charset="-122"/>
                        <a:cs typeface="楷体" panose="02010609060101010101" charset="-122"/>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565150" algn="l" rtl="0" eaLnBrk="0">
                        <a:lnSpc>
                          <a:spcPts val="2735"/>
                        </a:lnSpc>
                        <a:spcBef>
                          <a:spcPts val="310"/>
                        </a:spcBef>
                        <a:tabLst>
                          <a:tab pos="430339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240280" algn="l" rtl="0" eaLnBrk="0">
                        <a:lnSpc>
                          <a:spcPts val="3625"/>
                        </a:lnSpc>
                        <a:spcBef>
                          <a:spcPts val="840"/>
                        </a:spcBef>
                        <a:tabLst>
                          <a:tab pos="76581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240280" algn="l" rtl="0" eaLnBrk="0">
                        <a:lnSpc>
                          <a:spcPts val="2730"/>
                        </a:lnSpc>
                        <a:spcBef>
                          <a:spcPts val="840"/>
                        </a:spcBef>
                        <a:tabLst>
                          <a:tab pos="664464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1000"/>
                        </a:lnSpc>
                      </a:pPr>
                      <a:endParaRPr sz="800" dirty="0">
                        <a:latin typeface="Arial" panose="020B0604020202020204"/>
                        <a:ea typeface="Arial" panose="020B0604020202020204"/>
                        <a:cs typeface="Arial" panose="020B0604020202020204"/>
                      </a:endParaRPr>
                    </a:p>
                    <a:p>
                      <a:pPr marL="2240280" algn="l" rtl="0" eaLnBrk="0">
                        <a:lnSpc>
                          <a:spcPct val="79000"/>
                        </a:lnSpc>
                        <a:spcBef>
                          <a:spcPts val="5"/>
                        </a:spcBef>
                      </a:pPr>
                      <a:r>
                        <a:rPr sz="1700" kern="0" spc="-2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0.7096</a:t>
                      </a:r>
                      <a:endParaRPr sz="17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552" name="picture 552"/>
          <p:cNvPicPr>
            <a:picLocks noChangeAspect="1"/>
          </p:cNvPicPr>
          <p:nvPr/>
        </p:nvPicPr>
        <p:blipFill>
          <a:blip r:embed="rId1"/>
          <a:stretch>
            <a:fillRect/>
          </a:stretch>
        </p:blipFill>
        <p:spPr>
          <a:xfrm rot="21600000">
            <a:off x="3073197" y="5354821"/>
            <a:ext cx="4404178" cy="346995"/>
          </a:xfrm>
          <a:prstGeom prst="rect">
            <a:avLst/>
          </a:prstGeom>
        </p:spPr>
      </p:pic>
      <p:pic>
        <p:nvPicPr>
          <p:cNvPr id="554" name="picture 554"/>
          <p:cNvPicPr>
            <a:picLocks noChangeAspect="1"/>
          </p:cNvPicPr>
          <p:nvPr/>
        </p:nvPicPr>
        <p:blipFill>
          <a:blip r:embed="rId2"/>
          <a:stretch>
            <a:fillRect/>
          </a:stretch>
        </p:blipFill>
        <p:spPr>
          <a:xfrm rot="21600000">
            <a:off x="3073197" y="4787342"/>
            <a:ext cx="5417345" cy="460491"/>
          </a:xfrm>
          <a:prstGeom prst="rect">
            <a:avLst/>
          </a:prstGeom>
        </p:spPr>
      </p:pic>
      <p:pic>
        <p:nvPicPr>
          <p:cNvPr id="556" name="picture 556"/>
          <p:cNvPicPr>
            <a:picLocks noChangeAspect="1"/>
          </p:cNvPicPr>
          <p:nvPr/>
        </p:nvPicPr>
        <p:blipFill>
          <a:blip r:embed="rId3"/>
          <a:stretch>
            <a:fillRect/>
          </a:stretch>
        </p:blipFill>
        <p:spPr>
          <a:xfrm rot="21600000">
            <a:off x="1397898" y="4332912"/>
            <a:ext cx="3738213" cy="347442"/>
          </a:xfrm>
          <a:prstGeom prst="rect">
            <a:avLst/>
          </a:prstGeom>
        </p:spPr>
      </p:pic>
      <p:pic>
        <p:nvPicPr>
          <p:cNvPr id="558" name="picture 558"/>
          <p:cNvPicPr>
            <a:picLocks noChangeAspect="1"/>
          </p:cNvPicPr>
          <p:nvPr/>
        </p:nvPicPr>
        <p:blipFill>
          <a:blip r:embed="rId4"/>
          <a:stretch>
            <a:fillRect/>
          </a:stretch>
        </p:blipFill>
        <p:spPr>
          <a:xfrm rot="21600000">
            <a:off x="2307772" y="2681264"/>
            <a:ext cx="4230146" cy="360632"/>
          </a:xfrm>
          <a:prstGeom prst="rect">
            <a:avLst/>
          </a:prstGeom>
        </p:spPr>
      </p:pic>
      <p:pic>
        <p:nvPicPr>
          <p:cNvPr id="560" name="picture 560"/>
          <p:cNvPicPr>
            <a:picLocks noChangeAspect="1"/>
          </p:cNvPicPr>
          <p:nvPr/>
        </p:nvPicPr>
        <p:blipFill>
          <a:blip r:embed="rId5"/>
          <a:stretch>
            <a:fillRect/>
          </a:stretch>
        </p:blipFill>
        <p:spPr>
          <a:xfrm rot="21600000">
            <a:off x="2310100" y="2198601"/>
            <a:ext cx="4514715" cy="360632"/>
          </a:xfrm>
          <a:prstGeom prst="rect">
            <a:avLst/>
          </a:prstGeom>
        </p:spPr>
      </p:pic>
      <p:pic>
        <p:nvPicPr>
          <p:cNvPr id="562" name="picture 562"/>
          <p:cNvPicPr>
            <a:picLocks noChangeAspect="1"/>
          </p:cNvPicPr>
          <p:nvPr/>
        </p:nvPicPr>
        <p:blipFill>
          <a:blip r:embed="rId6"/>
          <a:stretch>
            <a:fillRect/>
          </a:stretch>
        </p:blipFill>
        <p:spPr>
          <a:xfrm rot="21600000">
            <a:off x="2307806" y="1599245"/>
            <a:ext cx="3050473" cy="475879"/>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6" name="table 566"/>
          <p:cNvGraphicFramePr>
            <a:graphicFrameLocks noGrp="1"/>
          </p:cNvGraphicFramePr>
          <p:nvPr/>
        </p:nvGraphicFramePr>
        <p:xfrm>
          <a:off x="60832" y="66928"/>
          <a:ext cx="9018905" cy="6699250"/>
        </p:xfrm>
        <a:graphic>
          <a:graphicData uri="http://schemas.openxmlformats.org/drawingml/2006/table">
            <a:tbl>
              <a:tblPr/>
              <a:tblGrid>
                <a:gridCol w="9018905"/>
              </a:tblGrid>
              <a:tr h="5126990">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968375" algn="l" rtl="0" eaLnBrk="0">
                        <a:lnSpc>
                          <a:spcPct val="97000"/>
                        </a:lnSpc>
                      </a:pPr>
                      <a:r>
                        <a:rPr sz="22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4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kern="0" spc="-70" dirty="0">
                          <a:solidFill>
                            <a:srgbClr val="000000">
                              <a:alpha val="100000"/>
                            </a:srgbClr>
                          </a:solidFill>
                          <a:latin typeface="Perpetua" panose="02020502060401020303"/>
                          <a:ea typeface="Perpetua" panose="02020502060401020303"/>
                          <a:cs typeface="Perpetua" panose="02020502060401020303"/>
                        </a:rPr>
                        <a:t>90%</a:t>
                      </a:r>
                      <a:r>
                        <a:rPr sz="2600" kern="0" spc="180" dirty="0">
                          <a:solidFill>
                            <a:srgbClr val="000000">
                              <a:alpha val="100000"/>
                            </a:srgbClr>
                          </a:solidFill>
                          <a:latin typeface="Perpetua" panose="02020502060401020303"/>
                          <a:ea typeface="Perpetua" panose="02020502060401020303"/>
                          <a:cs typeface="Perpetua" panose="02020502060401020303"/>
                        </a:rPr>
                        <a:t> </a:t>
                      </a:r>
                      <a:r>
                        <a:rPr sz="2600" kern="0" spc="-70" dirty="0">
                          <a:solidFill>
                            <a:srgbClr val="000000">
                              <a:alpha val="100000"/>
                            </a:srgbClr>
                          </a:solidFill>
                          <a:latin typeface="楷体" panose="02010609060101010101" charset="-122"/>
                          <a:ea typeface="楷体" panose="02010609060101010101" charset="-122"/>
                          <a:cs typeface="楷体" panose="02010609060101010101" charset="-122"/>
                        </a:rPr>
                        <a:t>置信区间为</a:t>
                      </a:r>
                      <a:r>
                        <a:rPr sz="2600" kern="0" spc="-70" dirty="0">
                          <a:solidFill>
                            <a:srgbClr val="000000">
                              <a:alpha val="100000"/>
                            </a:srgbClr>
                          </a:solidFill>
                          <a:latin typeface="Perpetua" panose="02020502060401020303"/>
                          <a:ea typeface="Perpetua" panose="02020502060401020303"/>
                          <a:cs typeface="Perpetua" panose="02020502060401020303"/>
                        </a:rPr>
                        <a:t>:</a:t>
                      </a:r>
                      <a:endParaRPr sz="2600" dirty="0">
                        <a:latin typeface="Perpetua" panose="02020502060401020303"/>
                        <a:ea typeface="Perpetua" panose="02020502060401020303"/>
                        <a:cs typeface="Perpetua" panose="02020502060401020303"/>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6000"/>
                        </a:lnSpc>
                      </a:pPr>
                      <a:endParaRPr sz="1000" dirty="0">
                        <a:latin typeface="Arial" panose="020B0604020202020204"/>
                        <a:ea typeface="Arial" panose="020B0604020202020204"/>
                        <a:cs typeface="Arial" panose="020B0604020202020204"/>
                      </a:endParaRPr>
                    </a:p>
                    <a:p>
                      <a:pPr marL="1026795" algn="l" rtl="0" eaLnBrk="0">
                        <a:lnSpc>
                          <a:spcPct val="85000"/>
                        </a:lnSpc>
                        <a:spcBef>
                          <a:spcPts val="840"/>
                        </a:spcBef>
                      </a:pPr>
                      <a:r>
                        <a:rPr sz="2800" kern="0" spc="2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4.6532</a:t>
                      </a:r>
                      <a:r>
                        <a:rPr sz="21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1.666</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0.7096,</a:t>
                      </a:r>
                      <a:r>
                        <a:rPr sz="21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4.6532</a:t>
                      </a:r>
                      <a:r>
                        <a:rPr sz="21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1.666</a:t>
                      </a:r>
                      <a:r>
                        <a:rPr sz="21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0.7096</a:t>
                      </a:r>
                      <a:r>
                        <a:rPr sz="2800" kern="0" spc="20" dirty="0">
                          <a:solidFill>
                            <a:srgbClr val="000000">
                              <a:alpha val="100000"/>
                            </a:srgbClr>
                          </a:solidFill>
                          <a:latin typeface="Arial" panose="020B0604020202020204"/>
                          <a:ea typeface="Arial" panose="020B0604020202020204"/>
                          <a:cs typeface="Arial" panose="020B0604020202020204"/>
                        </a:rPr>
                        <a:t>)</a:t>
                      </a:r>
                      <a:r>
                        <a:rPr sz="2800" kern="0" spc="-280" dirty="0">
                          <a:solidFill>
                            <a:srgbClr val="000000">
                              <a:alpha val="100000"/>
                            </a:srgbClr>
                          </a:solidFill>
                          <a:latin typeface="Arial" panose="020B0604020202020204"/>
                          <a:ea typeface="Arial" panose="020B0604020202020204"/>
                          <a:cs typeface="Arial" panose="020B0604020202020204"/>
                        </a:rPr>
                        <a:t> </a:t>
                      </a:r>
                      <a:r>
                        <a:rPr sz="2100" kern="0" spc="2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Arial" panose="020B0604020202020204"/>
                          <a:ea typeface="Arial" panose="020B0604020202020204"/>
                          <a:cs typeface="Arial" panose="020B0604020202020204"/>
                        </a:rPr>
                        <a:t> </a:t>
                      </a:r>
                      <a:r>
                        <a:rPr sz="2800" kern="0" spc="1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3.471,5.835</a:t>
                      </a:r>
                      <a:r>
                        <a:rPr sz="2800" kern="0" spc="10" dirty="0">
                          <a:solidFill>
                            <a:srgbClr val="000000">
                              <a:alpha val="100000"/>
                            </a:srgbClr>
                          </a:solidFill>
                          <a:latin typeface="Arial" panose="020B0604020202020204"/>
                          <a:ea typeface="Arial" panose="020B0604020202020204"/>
                          <a:cs typeface="Arial" panose="020B0604020202020204"/>
                        </a:rPr>
                        <a:t>)</a:t>
                      </a:r>
                      <a:endParaRPr sz="2800" dirty="0">
                        <a:latin typeface="Arial" panose="020B0604020202020204"/>
                        <a:ea typeface="Arial" panose="020B0604020202020204"/>
                        <a:cs typeface="Arial" panose="020B0604020202020204"/>
                      </a:endParaRPr>
                    </a:p>
                    <a:p>
                      <a:pPr algn="l" rtl="0" eaLnBrk="0">
                        <a:lnSpc>
                          <a:spcPct val="151000"/>
                        </a:lnSpc>
                      </a:pPr>
                      <a:endParaRPr sz="1000" dirty="0">
                        <a:latin typeface="Arial" panose="020B0604020202020204"/>
                        <a:ea typeface="Arial" panose="020B0604020202020204"/>
                        <a:cs typeface="Arial" panose="020B0604020202020204"/>
                      </a:endParaRPr>
                    </a:p>
                    <a:p>
                      <a:pPr algn="l" rtl="0" eaLnBrk="0">
                        <a:lnSpc>
                          <a:spcPct val="109000"/>
                        </a:lnSpc>
                      </a:pPr>
                      <a:endParaRPr sz="600" dirty="0">
                        <a:latin typeface="Arial" panose="020B0604020202020204"/>
                        <a:ea typeface="Arial" panose="020B0604020202020204"/>
                        <a:cs typeface="Arial" panose="020B0604020202020204"/>
                      </a:endParaRPr>
                    </a:p>
                    <a:p>
                      <a:pPr marL="1236980" indent="-268605" algn="l" rtl="0" eaLnBrk="0">
                        <a:lnSpc>
                          <a:spcPct val="99000"/>
                        </a:lnSpc>
                        <a:spcBef>
                          <a:spcPts val="5"/>
                        </a:spcBef>
                      </a:pPr>
                      <a:r>
                        <a:rPr sz="22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4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kern="0" spc="-20" dirty="0">
                          <a:solidFill>
                            <a:srgbClr val="000000">
                              <a:alpha val="100000"/>
                            </a:srgbClr>
                          </a:solidFill>
                          <a:latin typeface="楷体" panose="02010609060101010101" charset="-122"/>
                          <a:ea typeface="楷体" panose="02010609060101010101" charset="-122"/>
                          <a:cs typeface="楷体" panose="02010609060101010101" charset="-122"/>
                        </a:rPr>
                        <a:t>结果解读：在</a:t>
                      </a:r>
                      <a:r>
                        <a:rPr sz="2600" kern="0" spc="-20" dirty="0">
                          <a:solidFill>
                            <a:srgbClr val="000000">
                              <a:alpha val="100000"/>
                            </a:srgbClr>
                          </a:solidFill>
                          <a:latin typeface="Perpetua" panose="02020502060401020303"/>
                          <a:ea typeface="Perpetua" panose="02020502060401020303"/>
                          <a:cs typeface="Perpetua" panose="02020502060401020303"/>
                        </a:rPr>
                        <a:t>90%</a:t>
                      </a:r>
                      <a:r>
                        <a:rPr sz="2600" kern="0" spc="-20" dirty="0">
                          <a:solidFill>
                            <a:srgbClr val="000000">
                              <a:alpha val="100000"/>
                            </a:srgbClr>
                          </a:solidFill>
                          <a:latin typeface="楷体" panose="02010609060101010101" charset="-122"/>
                          <a:ea typeface="楷体" panose="02010609060101010101" charset="-122"/>
                          <a:cs typeface="楷体" panose="02010609060101010101" charset="-122"/>
                        </a:rPr>
                        <a:t>的置信水平上，我</a:t>
                      </a:r>
                      <a:r>
                        <a:rPr sz="2600" kern="0" spc="-30" dirty="0">
                          <a:solidFill>
                            <a:srgbClr val="000000">
                              <a:alpha val="100000"/>
                            </a:srgbClr>
                          </a:solidFill>
                          <a:latin typeface="楷体" panose="02010609060101010101" charset="-122"/>
                          <a:ea typeface="楷体" panose="02010609060101010101" charset="-122"/>
                          <a:cs typeface="楷体" panose="02010609060101010101" charset="-122"/>
                        </a:rPr>
                        <a:t>们估计销售收</a:t>
                      </a:r>
                      <a:r>
                        <a:rPr sz="2600" kern="0" spc="0" dirty="0">
                          <a:solidFill>
                            <a:srgbClr val="000000">
                              <a:alpha val="100000"/>
                            </a:srgbClr>
                          </a:solidFill>
                          <a:latin typeface="楷体" panose="02010609060101010101" charset="-122"/>
                          <a:ea typeface="楷体" panose="02010609060101010101" charset="-122"/>
                          <a:cs typeface="楷体" panose="02010609060101010101" charset="-122"/>
                        </a:rPr>
                        <a:t>    入预期增加额位于</a:t>
                      </a:r>
                      <a:r>
                        <a:rPr sz="2600" kern="0" spc="0" dirty="0">
                          <a:solidFill>
                            <a:srgbClr val="000000">
                              <a:alpha val="100000"/>
                            </a:srgbClr>
                          </a:solidFill>
                          <a:latin typeface="Perpetua" panose="02020502060401020303"/>
                          <a:ea typeface="Perpetua" panose="02020502060401020303"/>
                          <a:cs typeface="Perpetua" panose="02020502060401020303"/>
                        </a:rPr>
                        <a:t>3</a:t>
                      </a:r>
                      <a:r>
                        <a:rPr sz="2600" kern="0" spc="-10" dirty="0">
                          <a:solidFill>
                            <a:srgbClr val="000000">
                              <a:alpha val="100000"/>
                            </a:srgbClr>
                          </a:solidFill>
                          <a:latin typeface="Perpetua" panose="02020502060401020303"/>
                          <a:ea typeface="Perpetua" panose="02020502060401020303"/>
                          <a:cs typeface="Perpetua" panose="02020502060401020303"/>
                        </a:rPr>
                        <a:t>471</a:t>
                      </a:r>
                      <a:r>
                        <a:rPr sz="2600" kern="0" spc="-10" dirty="0">
                          <a:solidFill>
                            <a:srgbClr val="000000">
                              <a:alpha val="100000"/>
                            </a:srgbClr>
                          </a:solidFill>
                          <a:latin typeface="楷体" panose="02010609060101010101" charset="-122"/>
                          <a:ea typeface="楷体" panose="02010609060101010101" charset="-122"/>
                          <a:cs typeface="楷体" panose="02010609060101010101" charset="-122"/>
                        </a:rPr>
                        <a:t>个</a:t>
                      </a:r>
                      <a:r>
                        <a:rPr sz="2600" kern="0" spc="-10" dirty="0">
                          <a:solidFill>
                            <a:srgbClr val="000000">
                              <a:alpha val="100000"/>
                            </a:srgbClr>
                          </a:solidFill>
                          <a:latin typeface="Perpetua" panose="02020502060401020303"/>
                          <a:ea typeface="Perpetua" panose="02020502060401020303"/>
                          <a:cs typeface="Perpetua" panose="02020502060401020303"/>
                        </a:rPr>
                        <a:t>5835</a:t>
                      </a:r>
                      <a:r>
                        <a:rPr sz="2600" kern="0" spc="-10" dirty="0">
                          <a:solidFill>
                            <a:srgbClr val="000000">
                              <a:alpha val="100000"/>
                            </a:srgbClr>
                          </a:solidFill>
                          <a:latin typeface="楷体" panose="02010609060101010101" charset="-122"/>
                          <a:ea typeface="楷体" panose="02010609060101010101" charset="-122"/>
                          <a:cs typeface="楷体" panose="02010609060101010101" charset="-122"/>
                        </a:rPr>
                        <a:t>美元之间。</a:t>
                      </a:r>
                      <a:endParaRPr sz="26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572260">
                <a:tc>
                  <a:txBody>
                    <a:bodyPr/>
                    <a:lstStyle/>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0"/>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2" name="table 72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1120775">
                <a:tc gridSpan="2">
                  <a:txBody>
                    <a:bodyPr/>
                    <a:lstStyle/>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39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3625215" algn="l" rtl="0" eaLnBrk="0">
                        <a:lnSpc>
                          <a:spcPct val="87000"/>
                        </a:lnSpc>
                      </a:pPr>
                      <a:r>
                        <a:rPr lang="zh-CN" altLang="en-US" sz="3600" b="1" kern="0" spc="-50" dirty="0">
                          <a:solidFill>
                            <a:srgbClr val="000000">
                              <a:alpha val="100000"/>
                            </a:srgbClr>
                          </a:solidFill>
                          <a:latin typeface="黑体" panose="02010609060101010101" charset="-122"/>
                          <a:ea typeface="黑体" panose="02010609060101010101" charset="-122"/>
                          <a:cs typeface="黑体" panose="02010609060101010101" charset="-122"/>
                        </a:rPr>
                        <a:t>五</a:t>
                      </a:r>
                      <a:r>
                        <a:rPr sz="3600" b="1" kern="0" spc="-50" dirty="0">
                          <a:solidFill>
                            <a:srgbClr val="000000">
                              <a:alpha val="100000"/>
                            </a:srgbClr>
                          </a:solidFill>
                          <a:latin typeface="黑体" panose="02010609060101010101" charset="-122"/>
                          <a:ea typeface="黑体" panose="02010609060101010101" charset="-122"/>
                          <a:cs typeface="黑体" panose="02010609060101010101" charset="-122"/>
                        </a:rPr>
                        <a:t>、交互项</a:t>
                      </a:r>
                      <a:endParaRPr sz="3600" dirty="0">
                        <a:latin typeface="黑体" panose="02010609060101010101" charset="-122"/>
                        <a:ea typeface="黑体" panose="02010609060101010101" charset="-122"/>
                        <a:cs typeface="黑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578475">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0"/>
                        </a:spcBef>
                      </a:pPr>
                      <a:r>
                        <a:rPr sz="1400" b="1" kern="0" spc="-80" dirty="0">
                          <a:solidFill>
                            <a:srgbClr val="FFFFFF">
                              <a:alpha val="100000"/>
                            </a:srgbClr>
                          </a:solidFill>
                          <a:latin typeface="Franklin Gothic Book" panose="020B0503020102020204"/>
                          <a:ea typeface="Franklin Gothic Book" panose="020B0503020102020204"/>
                          <a:cs typeface="Franklin Gothic Book" panose="020B0503020102020204"/>
                        </a:rPr>
                        <a:t>71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57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11455" algn="l" rtl="0" eaLnBrk="0">
                        <a:lnSpc>
                          <a:spcPct val="87000"/>
                        </a:lnSpc>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假定我们要研究收入和年龄对个人购买披萨的支出的影响效</a:t>
                      </a:r>
                      <a:endParaRPr sz="2100" dirty="0">
                        <a:latin typeface="楷体" panose="02010609060101010101" charset="-122"/>
                        <a:ea typeface="楷体" panose="02010609060101010101" charset="-122"/>
                        <a:cs typeface="楷体" panose="02010609060101010101" charset="-122"/>
                      </a:endParaRPr>
                    </a:p>
                    <a:p>
                      <a:pPr marL="471170" algn="l" rtl="0" eaLnBrk="0">
                        <a:lnSpc>
                          <a:spcPts val="3695"/>
                        </a:lnSpc>
                      </a:pP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应，构建一个初始模型：</a:t>
                      </a:r>
                      <a:endParaRPr sz="2100" dirty="0">
                        <a:latin typeface="楷体" panose="02010609060101010101" charset="-122"/>
                        <a:ea typeface="楷体" panose="02010609060101010101" charset="-122"/>
                        <a:cs typeface="楷体" panose="02010609060101010101"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1446530" algn="l" rtl="0" eaLnBrk="0">
                        <a:lnSpc>
                          <a:spcPct val="100000"/>
                        </a:lnSpc>
                        <a:spcBef>
                          <a:spcPts val="660"/>
                        </a:spcBef>
                      </a:pPr>
                      <a:r>
                        <a:rPr sz="2200" i="1" kern="0" spc="190" dirty="0">
                          <a:solidFill>
                            <a:srgbClr val="000000">
                              <a:alpha val="100000"/>
                            </a:srgbClr>
                          </a:solidFill>
                          <a:latin typeface="Times New Roman" panose="02020603050405020304"/>
                          <a:ea typeface="Times New Roman" panose="02020603050405020304"/>
                          <a:cs typeface="Times New Roman" panose="02020603050405020304"/>
                        </a:rPr>
                        <a:t>PIZZA </a:t>
                      </a:r>
                      <a:r>
                        <a:rPr sz="2200" kern="0" spc="190" dirty="0">
                          <a:solidFill>
                            <a:srgbClr val="000000">
                              <a:alpha val="100000"/>
                            </a:srgbClr>
                          </a:solidFill>
                          <a:latin typeface="Arial" panose="020B0604020202020204"/>
                          <a:ea typeface="Arial" panose="020B0604020202020204"/>
                          <a:cs typeface="Arial" panose="020B0604020202020204"/>
                        </a:rPr>
                        <a:t>= </a:t>
                      </a:r>
                      <a:r>
                        <a:rPr sz="2200" kern="0" spc="19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190" baseline="-29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30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190" dirty="0">
                          <a:solidFill>
                            <a:srgbClr val="000000">
                              <a:alpha val="100000"/>
                            </a:srgbClr>
                          </a:solidFill>
                          <a:latin typeface="Arial" panose="020B0604020202020204"/>
                          <a:ea typeface="Arial" panose="020B0604020202020204"/>
                          <a:cs typeface="Arial" panose="020B0604020202020204"/>
                        </a:rPr>
                        <a:t>+</a:t>
                      </a:r>
                      <a:r>
                        <a:rPr sz="2200" kern="0" spc="-120" dirty="0">
                          <a:solidFill>
                            <a:srgbClr val="000000">
                              <a:alpha val="100000"/>
                            </a:srgbClr>
                          </a:solidFill>
                          <a:latin typeface="Arial" panose="020B0604020202020204"/>
                          <a:ea typeface="Arial" panose="020B0604020202020204"/>
                          <a:cs typeface="Arial" panose="020B0604020202020204"/>
                        </a:rPr>
                        <a:t> </a:t>
                      </a:r>
                      <a:r>
                        <a:rPr sz="2200" kern="0" spc="19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190" baseline="-29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200" i="1" kern="0" spc="190" dirty="0">
                          <a:solidFill>
                            <a:srgbClr val="000000">
                              <a:alpha val="100000"/>
                            </a:srgbClr>
                          </a:solidFill>
                          <a:latin typeface="Times New Roman" panose="02020603050405020304"/>
                          <a:ea typeface="Times New Roman" panose="02020603050405020304"/>
                          <a:cs typeface="Times New Roman" panose="02020603050405020304"/>
                        </a:rPr>
                        <a:t>AGE </a:t>
                      </a:r>
                      <a:r>
                        <a:rPr sz="2200" kern="0" spc="180" dirty="0">
                          <a:solidFill>
                            <a:srgbClr val="000000">
                              <a:alpha val="100000"/>
                            </a:srgbClr>
                          </a:solidFill>
                          <a:latin typeface="Arial" panose="020B0604020202020204"/>
                          <a:ea typeface="Arial" panose="020B0604020202020204"/>
                          <a:cs typeface="Arial" panose="020B0604020202020204"/>
                        </a:rPr>
                        <a:t>+</a:t>
                      </a:r>
                      <a:r>
                        <a:rPr sz="2200" kern="0" spc="-120" dirty="0">
                          <a:solidFill>
                            <a:srgbClr val="000000">
                              <a:alpha val="100000"/>
                            </a:srgbClr>
                          </a:solidFill>
                          <a:latin typeface="Arial" panose="020B0604020202020204"/>
                          <a:ea typeface="Arial" panose="020B0604020202020204"/>
                          <a:cs typeface="Arial" panose="020B0604020202020204"/>
                        </a:rPr>
                        <a:t> </a:t>
                      </a:r>
                      <a:r>
                        <a:rPr sz="2200" kern="0" spc="18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180" baseline="-29000" dirty="0">
                          <a:solidFill>
                            <a:srgbClr val="000000">
                              <a:alpha val="100000"/>
                            </a:srgbClr>
                          </a:solidFill>
                          <a:latin typeface="Times New Roman" panose="02020603050405020304"/>
                          <a:ea typeface="Times New Roman" panose="02020603050405020304"/>
                          <a:cs typeface="Times New Roman" panose="02020603050405020304"/>
                        </a:rPr>
                        <a:t>3</a:t>
                      </a:r>
                      <a:r>
                        <a:rPr sz="2200" i="1" kern="0" spc="180" dirty="0">
                          <a:solidFill>
                            <a:srgbClr val="000000">
                              <a:alpha val="100000"/>
                            </a:srgbClr>
                          </a:solidFill>
                          <a:latin typeface="Times New Roman" panose="02020603050405020304"/>
                          <a:ea typeface="Times New Roman" panose="02020603050405020304"/>
                          <a:cs typeface="Times New Roman" panose="02020603050405020304"/>
                        </a:rPr>
                        <a:t>INCOME</a:t>
                      </a:r>
                      <a:r>
                        <a:rPr sz="2200" i="1"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180" dirty="0">
                          <a:solidFill>
                            <a:srgbClr val="000000">
                              <a:alpha val="100000"/>
                            </a:srgbClr>
                          </a:solidFill>
                          <a:latin typeface="Arial" panose="020B0604020202020204"/>
                          <a:ea typeface="Arial" panose="020B0604020202020204"/>
                          <a:cs typeface="Arial" panose="020B0604020202020204"/>
                        </a:rPr>
                        <a:t>+</a:t>
                      </a:r>
                      <a:r>
                        <a:rPr sz="2200" kern="0" spc="-110" dirty="0">
                          <a:solidFill>
                            <a:srgbClr val="000000">
                              <a:alpha val="100000"/>
                            </a:srgbClr>
                          </a:solidFill>
                          <a:latin typeface="Arial" panose="020B0604020202020204"/>
                          <a:ea typeface="Arial" panose="020B0604020202020204"/>
                          <a:cs typeface="Arial" panose="020B0604020202020204"/>
                        </a:rPr>
                        <a:t> </a:t>
                      </a:r>
                      <a:r>
                        <a:rPr sz="2200" i="1" kern="0" spc="180" dirty="0">
                          <a:solidFill>
                            <a:srgbClr val="000000">
                              <a:alpha val="100000"/>
                            </a:srgbClr>
                          </a:solidFill>
                          <a:latin typeface="Times New Roman" panose="02020603050405020304"/>
                          <a:ea typeface="Times New Roman" panose="02020603050405020304"/>
                          <a:cs typeface="Times New Roman" panose="02020603050405020304"/>
                        </a:rPr>
                        <a:t>e</a:t>
                      </a:r>
                      <a:endParaRPr sz="2200" dirty="0">
                        <a:latin typeface="Times New Roman" panose="02020603050405020304"/>
                        <a:ea typeface="Times New Roman" panose="02020603050405020304"/>
                        <a:cs typeface="Times New Roman" panose="020206030504050203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marL="211455" algn="l" rtl="0" eaLnBrk="0">
                        <a:lnSpc>
                          <a:spcPts val="2550"/>
                        </a:lnSpc>
                        <a:spcBef>
                          <a:spcPts val="64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这一模型的涵义是</a:t>
                      </a:r>
                      <a:r>
                        <a:rPr sz="2100" kern="0" spc="50" dirty="0">
                          <a:solidFill>
                            <a:srgbClr val="000000">
                              <a:alpha val="100000"/>
                            </a:srgbClr>
                          </a:solidFill>
                          <a:latin typeface="Perpetua" panose="02020502060401020303"/>
                          <a:ea typeface="Perpetua" panose="02020502060401020303"/>
                          <a:cs typeface="Perpetua" panose="02020502060401020303"/>
                        </a:rPr>
                        <a:t>:</a:t>
                      </a:r>
                      <a:endParaRPr sz="2100" dirty="0">
                        <a:latin typeface="Perpetua" panose="02020502060401020303"/>
                        <a:ea typeface="Perpetua" panose="02020502060401020303"/>
                        <a:cs typeface="Perpetua" panose="02020502060401020303"/>
                      </a:endParaRPr>
                    </a:p>
                    <a:p>
                      <a:pPr marL="476250" indent="-264795" algn="l" rtl="0" eaLnBrk="0">
                        <a:lnSpc>
                          <a:spcPct val="111000"/>
                        </a:lnSpc>
                        <a:spcBef>
                          <a:spcPts val="176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Perpetua" panose="02020502060401020303"/>
                          <a:ea typeface="Perpetua" panose="02020502060401020303"/>
                          <a:cs typeface="Perpetua" panose="02020502060401020303"/>
                        </a:rPr>
                        <a:t>1.  </a:t>
                      </a:r>
                      <a:r>
                        <a:rPr sz="2100" kern="0" spc="50" dirty="0">
                          <a:solidFill>
                            <a:srgbClr val="000000">
                              <a:alpha val="100000"/>
                            </a:srgbClr>
                          </a:solidFill>
                          <a:latin typeface="Arial" panose="020B0604020202020204"/>
                          <a:ea typeface="Arial" panose="020B0604020202020204"/>
                          <a:cs typeface="Arial" panose="020B0604020202020204"/>
                        </a:rPr>
                        <a:t>∂</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E</a:t>
                      </a:r>
                      <a:r>
                        <a:rPr sz="2800" kern="0" spc="50" dirty="0">
                          <a:solidFill>
                            <a:srgbClr val="000000">
                              <a:alpha val="100000"/>
                            </a:srgbClr>
                          </a:solidFill>
                          <a:latin typeface="Arial" panose="020B0604020202020204"/>
                          <a:ea typeface="Arial" panose="020B0604020202020204"/>
                          <a:cs typeface="Arial" panose="020B06040202020202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PIZZA</a:t>
                      </a:r>
                      <a:r>
                        <a:rPr sz="2800" kern="0" spc="50" dirty="0">
                          <a:solidFill>
                            <a:srgbClr val="000000">
                              <a:alpha val="100000"/>
                            </a:srgbClr>
                          </a:solidFill>
                          <a:latin typeface="Arial" panose="020B0604020202020204"/>
                          <a:ea typeface="Arial" panose="020B0604020202020204"/>
                          <a:cs typeface="Arial" panose="020B0604020202020204"/>
                        </a:rPr>
                        <a:t>)</a:t>
                      </a:r>
                      <a:r>
                        <a:rPr sz="2800" kern="0" spc="19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AGE</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5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：给</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定收入水平，年龄每增加</a:t>
                      </a:r>
                      <a:r>
                        <a:rPr sz="2100" kern="0" spc="40" dirty="0">
                          <a:solidFill>
                            <a:srgbClr val="000000">
                              <a:alpha val="100000"/>
                            </a:srgbClr>
                          </a:solidFill>
                          <a:latin typeface="Perpetua" panose="02020502060401020303"/>
                          <a:ea typeface="Perpetua" panose="02020502060401020303"/>
                          <a:cs typeface="Perpetua" panose="02020502060401020303"/>
                        </a:rPr>
                        <a:t>1</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岁，</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披萨的期望支出变动额为</a:t>
                      </a:r>
                      <a:r>
                        <a:rPr sz="21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r>
                        <a:rPr sz="2200" kern="0" spc="70" baseline="-24000" dirty="0">
                          <a:solidFill>
                            <a:srgbClr val="000000">
                              <a:alpha val="100000"/>
                            </a:srgbClr>
                          </a:solidFill>
                          <a:latin typeface="Perpetua" panose="02020502060401020303"/>
                          <a:ea typeface="Perpetua" panose="02020502060401020303"/>
                          <a:cs typeface="Perpetua" panose="02020502060401020303"/>
                        </a:rPr>
                        <a:t>2</a:t>
                      </a:r>
                      <a:endParaRPr sz="2200" baseline="-24000" dirty="0">
                        <a:latin typeface="Perpetua" panose="02020502060401020303"/>
                        <a:ea typeface="Perpetua" panose="02020502060401020303"/>
                        <a:cs typeface="Perpetua" panose="02020502060401020303"/>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8000"/>
                        </a:lnSpc>
                      </a:pPr>
                      <a:endParaRPr sz="600" dirty="0">
                        <a:latin typeface="Arial" panose="020B0604020202020204"/>
                        <a:ea typeface="Arial" panose="020B0604020202020204"/>
                        <a:cs typeface="Arial" panose="020B0604020202020204"/>
                      </a:endParaRPr>
                    </a:p>
                    <a:p>
                      <a:pPr marL="490220" indent="-278765" algn="l" rtl="0" eaLnBrk="0">
                        <a:lnSpc>
                          <a:spcPct val="116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Perpetua" panose="02020502060401020303"/>
                          <a:ea typeface="Perpetua" panose="02020502060401020303"/>
                          <a:cs typeface="Perpetua" panose="02020502060401020303"/>
                        </a:rPr>
                        <a:t>2.  </a:t>
                      </a:r>
                      <a:r>
                        <a:rPr sz="2000" kern="0" spc="50" dirty="0">
                          <a:solidFill>
                            <a:srgbClr val="000000">
                              <a:alpha val="100000"/>
                            </a:srgbClr>
                          </a:solidFill>
                          <a:latin typeface="Arial" panose="020B0604020202020204"/>
                          <a:ea typeface="Arial" panose="020B0604020202020204"/>
                          <a:cs typeface="Arial" panose="020B0604020202020204"/>
                        </a:rPr>
                        <a:t>∂</a:t>
                      </a:r>
                      <a:r>
                        <a:rPr sz="2000" i="1" kern="0" spc="50" dirty="0">
                          <a:solidFill>
                            <a:srgbClr val="000000">
                              <a:alpha val="100000"/>
                            </a:srgbClr>
                          </a:solidFill>
                          <a:latin typeface="Times New Roman" panose="02020603050405020304"/>
                          <a:ea typeface="Times New Roman" panose="02020603050405020304"/>
                          <a:cs typeface="Times New Roman" panose="02020603050405020304"/>
                        </a:rPr>
                        <a:t>E</a:t>
                      </a:r>
                      <a:r>
                        <a:rPr sz="2600" kern="0" spc="50" dirty="0">
                          <a:solidFill>
                            <a:srgbClr val="000000">
                              <a:alpha val="100000"/>
                            </a:srgbClr>
                          </a:solidFill>
                          <a:latin typeface="Arial" panose="020B0604020202020204"/>
                          <a:ea typeface="Arial" panose="020B0604020202020204"/>
                          <a:cs typeface="Arial" panose="020B0604020202020204"/>
                        </a:rPr>
                        <a:t>(</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PIZZA</a:t>
                      </a:r>
                      <a:r>
                        <a:rPr sz="2600" kern="0" spc="50" dirty="0">
                          <a:solidFill>
                            <a:srgbClr val="000000">
                              <a:alpha val="100000"/>
                            </a:srgbClr>
                          </a:solidFill>
                          <a:latin typeface="Arial" panose="020B0604020202020204"/>
                          <a:ea typeface="Arial" panose="020B0604020202020204"/>
                          <a:cs typeface="Arial" panose="020B0604020202020204"/>
                        </a:rPr>
                        <a:t>)</a:t>
                      </a:r>
                      <a:r>
                        <a:rPr sz="2600" kern="0" spc="220" dirty="0">
                          <a:solidFill>
                            <a:srgbClr val="000000">
                              <a:alpha val="100000"/>
                            </a:srgbClr>
                          </a:solidFill>
                          <a:latin typeface="Arial" panose="020B0604020202020204"/>
                          <a:ea typeface="Arial" panose="020B0604020202020204"/>
                          <a:cs typeface="Arial" panose="020B0604020202020204"/>
                        </a:rPr>
                        <a:t> </a:t>
                      </a:r>
                      <a:r>
                        <a:rPr sz="2000" kern="0" spc="50" dirty="0">
                          <a:solidFill>
                            <a:srgbClr val="000000">
                              <a:alpha val="100000"/>
                            </a:srgbClr>
                          </a:solidFill>
                          <a:latin typeface="Arial" panose="020B0604020202020204"/>
                          <a:ea typeface="Arial" panose="020B0604020202020204"/>
                          <a:cs typeface="Arial" panose="020B0604020202020204"/>
                        </a:rPr>
                        <a:t>∂</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20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50" dirty="0">
                          <a:solidFill>
                            <a:srgbClr val="000000">
                              <a:alpha val="100000"/>
                            </a:srgbClr>
                          </a:solidFill>
                          <a:latin typeface="Arial" panose="020B0604020202020204"/>
                          <a:ea typeface="Arial" panose="020B0604020202020204"/>
                          <a:cs typeface="Arial" panose="020B0604020202020204"/>
                        </a:rPr>
                        <a:t>= </a:t>
                      </a:r>
                      <a:r>
                        <a:rPr sz="20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1800" kern="0" spc="50" baseline="-26000" dirty="0">
                          <a:solidFill>
                            <a:srgbClr val="000000">
                              <a:alpha val="100000"/>
                            </a:srgbClr>
                          </a:solidFill>
                          <a:latin typeface="Times New Roman" panose="02020603050405020304"/>
                          <a:ea typeface="Times New Roman" panose="02020603050405020304"/>
                          <a:cs typeface="Times New Roman" panose="02020603050405020304"/>
                        </a:rPr>
                        <a:t>3</a:t>
                      </a:r>
                      <a:r>
                        <a:rPr sz="11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3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给定年龄，收入每增加</a:t>
                      </a:r>
                      <a:r>
                        <a:rPr sz="2100" kern="0" spc="40" dirty="0">
                          <a:solidFill>
                            <a:srgbClr val="000000">
                              <a:alpha val="100000"/>
                            </a:srgbClr>
                          </a:solidFill>
                          <a:latin typeface="Perpetua" panose="02020502060401020303"/>
                          <a:ea typeface="Perpetua" panose="02020502060401020303"/>
                          <a:cs typeface="Perpetua" panose="02020502060401020303"/>
                        </a:rPr>
                        <a:t>1000</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美</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元，披萨的期望支出变动额为</a:t>
                      </a:r>
                      <a:r>
                        <a:rPr sz="21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r>
                        <a:rPr sz="2200" kern="0" spc="70" baseline="-24000" dirty="0">
                          <a:solidFill>
                            <a:srgbClr val="000000">
                              <a:alpha val="100000"/>
                            </a:srgbClr>
                          </a:solidFill>
                          <a:latin typeface="Perpetua" panose="02020502060401020303"/>
                          <a:ea typeface="Perpetua" panose="02020502060401020303"/>
                          <a:cs typeface="Perpetua" panose="02020502060401020303"/>
                        </a:rPr>
                        <a:t>3</a:t>
                      </a:r>
                      <a:endParaRPr sz="2200" baseline="-24000" dirty="0">
                        <a:latin typeface="Perpetua" panose="02020502060401020303"/>
                        <a:ea typeface="Perpetua" panose="02020502060401020303"/>
                        <a:cs typeface="Perpetua" panose="02020502060401020303"/>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724" name="path 724"/>
          <p:cNvSpPr/>
          <p:nvPr/>
        </p:nvSpPr>
        <p:spPr>
          <a:xfrm>
            <a:off x="2888864" y="5484242"/>
            <a:ext cx="112861" cy="324800"/>
          </a:xfrm>
          <a:custGeom>
            <a:avLst/>
            <a:gdLst/>
            <a:ahLst/>
            <a:cxnLst/>
            <a:rect l="0" t="0" r="0" b="0"/>
            <a:pathLst>
              <a:path w="177" h="511">
                <a:moveTo>
                  <a:pt x="169" y="8"/>
                </a:moveTo>
                <a:lnTo>
                  <a:pt x="8" y="502"/>
                </a:lnTo>
              </a:path>
            </a:pathLst>
          </a:custGeom>
          <a:noFill/>
          <a:ln w="10972" cap="sq">
            <a:solidFill>
              <a:srgbClr val="000000"/>
            </a:solidFill>
            <a:prstDash val="solid"/>
            <a:round/>
          </a:ln>
        </p:spPr>
        <p:txBody>
          <a:bodyPr rtlCol="0"/>
          <a:lstStyle/>
          <a:p>
            <a:pPr algn="ctr"/>
            <a:endParaRPr lang="zh-CN" altLang="en-US"/>
          </a:p>
        </p:txBody>
      </p:sp>
      <p:sp>
        <p:nvSpPr>
          <p:cNvPr id="726" name="path 726"/>
          <p:cNvSpPr/>
          <p:nvPr/>
        </p:nvSpPr>
        <p:spPr>
          <a:xfrm>
            <a:off x="2957283" y="4081390"/>
            <a:ext cx="116750" cy="338428"/>
          </a:xfrm>
          <a:custGeom>
            <a:avLst/>
            <a:gdLst/>
            <a:ahLst/>
            <a:cxnLst/>
            <a:rect l="0" t="0" r="0" b="0"/>
            <a:pathLst>
              <a:path w="183" h="532">
                <a:moveTo>
                  <a:pt x="174" y="8"/>
                </a:moveTo>
                <a:lnTo>
                  <a:pt x="9" y="524"/>
                </a:lnTo>
              </a:path>
            </a:pathLst>
          </a:custGeom>
          <a:noFill/>
          <a:ln w="11418" cap="sq">
            <a:solidFill>
              <a:srgbClr val="000000"/>
            </a:solidFill>
            <a:prstDash val="solid"/>
            <a:round/>
          </a:ln>
        </p:spPr>
        <p:txBody>
          <a:bodyPr rtlCol="0"/>
          <a:lstStyle/>
          <a:p>
            <a:pPr algn="ctr"/>
            <a:endParaRPr lang="zh-CN" alt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0" name="table 730"/>
          <p:cNvGraphicFramePr>
            <a:graphicFrameLocks noGrp="1"/>
          </p:cNvGraphicFramePr>
          <p:nvPr/>
        </p:nvGraphicFramePr>
        <p:xfrm>
          <a:off x="60832" y="66928"/>
          <a:ext cx="9018905" cy="6699248"/>
        </p:xfrm>
        <a:graphic>
          <a:graphicData uri="http://schemas.openxmlformats.org/drawingml/2006/table">
            <a:tbl>
              <a:tblPr/>
              <a:tblGrid>
                <a:gridCol w="9018905"/>
              </a:tblGrid>
              <a:tr h="5731509">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估计模型为:</a:t>
                      </a:r>
                      <a:endParaRPr sz="2100" dirty="0">
                        <a:latin typeface="楷体" panose="02010609060101010101" charset="-122"/>
                        <a:ea typeface="楷体" panose="02010609060101010101" charset="-122"/>
                        <a:cs typeface="楷体" panose="020106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marL="1892300" algn="l" rtl="0" eaLnBrk="0">
                        <a:lnSpc>
                          <a:spcPct val="77000"/>
                        </a:lnSpc>
                        <a:spcBef>
                          <a:spcPts val="670"/>
                        </a:spcBef>
                      </a:pP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PIZZA</a:t>
                      </a:r>
                      <a:r>
                        <a:rPr sz="22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40" dirty="0">
                          <a:solidFill>
                            <a:srgbClr val="000000">
                              <a:alpha val="100000"/>
                            </a:srgbClr>
                          </a:solidFill>
                          <a:latin typeface="Arial" panose="020B0604020202020204"/>
                          <a:ea typeface="Arial" panose="020B0604020202020204"/>
                          <a:cs typeface="Arial" panose="020B0604020202020204"/>
                        </a:rPr>
                        <a:t>=</a:t>
                      </a:r>
                      <a:r>
                        <a:rPr sz="2200" kern="0" spc="-90" dirty="0">
                          <a:solidFill>
                            <a:srgbClr val="000000">
                              <a:alpha val="100000"/>
                            </a:srgbClr>
                          </a:solidFill>
                          <a:latin typeface="Arial" panose="020B0604020202020204"/>
                          <a:ea typeface="Arial" panose="020B0604020202020204"/>
                          <a:cs typeface="Arial" panose="020B0604020202020204"/>
                        </a:rPr>
                        <a:t> </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342.88</a:t>
                      </a:r>
                      <a:r>
                        <a:rPr sz="22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40" dirty="0">
                          <a:solidFill>
                            <a:srgbClr val="000000">
                              <a:alpha val="100000"/>
                            </a:srgbClr>
                          </a:solidFill>
                          <a:latin typeface="Arial" panose="020B0604020202020204"/>
                          <a:ea typeface="Arial" panose="020B0604020202020204"/>
                          <a:cs typeface="Arial" panose="020B0604020202020204"/>
                        </a:rPr>
                        <a:t>−</a:t>
                      </a:r>
                      <a:r>
                        <a:rPr sz="2200" kern="0" spc="-210" dirty="0">
                          <a:solidFill>
                            <a:srgbClr val="000000">
                              <a:alpha val="100000"/>
                            </a:srgbClr>
                          </a:solidFill>
                          <a:latin typeface="Arial" panose="020B0604020202020204"/>
                          <a:ea typeface="Arial" panose="020B0604020202020204"/>
                          <a:cs typeface="Arial" panose="020B0604020202020204"/>
                        </a:rPr>
                        <a:t> </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7.576</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AGE</a:t>
                      </a:r>
                      <a:r>
                        <a:rPr sz="22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40" dirty="0">
                          <a:solidFill>
                            <a:srgbClr val="000000">
                              <a:alpha val="100000"/>
                            </a:srgbClr>
                          </a:solidFill>
                          <a:latin typeface="Arial" panose="020B0604020202020204"/>
                          <a:ea typeface="Arial" panose="020B0604020202020204"/>
                          <a:cs typeface="Arial" panose="020B0604020202020204"/>
                        </a:rPr>
                        <a:t>+</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1.832</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INCOME</a:t>
                      </a:r>
                      <a:endParaRPr sz="2200" dirty="0">
                        <a:latin typeface="Times New Roman" panose="02020603050405020304"/>
                        <a:ea typeface="Times New Roman" panose="02020603050405020304"/>
                        <a:cs typeface="Times New Roman" panose="02020603050405020304"/>
                      </a:endParaRPr>
                    </a:p>
                    <a:p>
                      <a:pPr marL="2130425" algn="l" rtl="0" eaLnBrk="0">
                        <a:lnSpc>
                          <a:spcPct val="85000"/>
                        </a:lnSpc>
                        <a:spcBef>
                          <a:spcPts val="1150"/>
                        </a:spcBef>
                      </a:pPr>
                      <a:r>
                        <a:rPr sz="2200" kern="0" spc="-20" dirty="0">
                          <a:solidFill>
                            <a:srgbClr val="000000">
                              <a:alpha val="100000"/>
                            </a:srgbClr>
                          </a:solidFill>
                          <a:latin typeface="Times New Roman" panose="02020603050405020304"/>
                          <a:ea typeface="Times New Roman" panose="02020603050405020304"/>
                          <a:cs typeface="Times New Roman" panose="02020603050405020304"/>
                        </a:rPr>
                        <a:t>(t)</a:t>
                      </a:r>
                      <a:r>
                        <a:rPr sz="22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20" dirty="0">
                          <a:solidFill>
                            <a:srgbClr val="000000">
                              <a:alpha val="100000"/>
                            </a:srgbClr>
                          </a:solidFill>
                          <a:latin typeface="Arial" panose="020B0604020202020204"/>
                          <a:ea typeface="Arial" panose="020B0604020202020204"/>
                          <a:cs typeface="Arial" panose="020B0604020202020204"/>
                        </a:rPr>
                        <a:t>(</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-3.27</a:t>
                      </a:r>
                      <a:r>
                        <a:rPr sz="2200" kern="0" spc="-320" dirty="0">
                          <a:solidFill>
                            <a:srgbClr val="000000">
                              <a:alpha val="100000"/>
                            </a:srgbClr>
                          </a:solidFill>
                          <a:latin typeface="Times New Roman" panose="02020603050405020304"/>
                          <a:ea typeface="Times New Roman" panose="02020603050405020304"/>
                          <a:cs typeface="Times New Roman" panose="02020603050405020304"/>
                        </a:rPr>
                        <a:t> </a:t>
                      </a:r>
                      <a:r>
                        <a:rPr sz="2900" kern="0" spc="-20" dirty="0">
                          <a:solidFill>
                            <a:srgbClr val="000000">
                              <a:alpha val="100000"/>
                            </a:srgbClr>
                          </a:solidFill>
                          <a:latin typeface="Arial" panose="020B0604020202020204"/>
                          <a:ea typeface="Arial" panose="020B0604020202020204"/>
                          <a:cs typeface="Arial" panose="020B0604020202020204"/>
                        </a:rPr>
                        <a:t>)</a:t>
                      </a:r>
                      <a:r>
                        <a:rPr sz="2900" kern="0" spc="10" dirty="0">
                          <a:solidFill>
                            <a:srgbClr val="000000">
                              <a:alpha val="100000"/>
                            </a:srgbClr>
                          </a:solidFill>
                          <a:latin typeface="Arial" panose="020B0604020202020204"/>
                          <a:ea typeface="Arial" panose="020B0604020202020204"/>
                          <a:cs typeface="Arial" panose="020B0604020202020204"/>
                        </a:rPr>
                        <a:t>       </a:t>
                      </a:r>
                      <a:r>
                        <a:rPr sz="2900" kern="0" spc="-20" dirty="0">
                          <a:solidFill>
                            <a:srgbClr val="000000">
                              <a:alpha val="100000"/>
                            </a:srgbClr>
                          </a:solidFill>
                          <a:latin typeface="Arial" panose="020B0604020202020204"/>
                          <a:ea typeface="Arial" panose="020B0604020202020204"/>
                          <a:cs typeface="Arial" panose="020B0604020202020204"/>
                        </a:rPr>
                        <a:t>(</a:t>
                      </a:r>
                      <a:r>
                        <a:rPr sz="2200" kern="0" spc="-30" dirty="0">
                          <a:solidFill>
                            <a:srgbClr val="000000">
                              <a:alpha val="100000"/>
                            </a:srgbClr>
                          </a:solidFill>
                          <a:latin typeface="Times New Roman" panose="02020603050405020304"/>
                          <a:ea typeface="Times New Roman" panose="02020603050405020304"/>
                          <a:cs typeface="Times New Roman" panose="02020603050405020304"/>
                        </a:rPr>
                        <a:t>3.95</a:t>
                      </a:r>
                      <a:r>
                        <a:rPr sz="2900" kern="0" spc="-30" dirty="0">
                          <a:solidFill>
                            <a:srgbClr val="000000">
                              <a:alpha val="100000"/>
                            </a:srgbClr>
                          </a:solidFill>
                          <a:latin typeface="Arial" panose="020B0604020202020204"/>
                          <a:ea typeface="Arial" panose="020B0604020202020204"/>
                          <a:cs typeface="Arial" panose="020B0604020202020204"/>
                        </a:rPr>
                        <a:t>)</a:t>
                      </a:r>
                      <a:endParaRPr sz="29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估计参数的符号符合我们的预期：</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965200" algn="l" rtl="0" eaLnBrk="0">
                        <a:lnSpc>
                          <a:spcPct val="87000"/>
                        </a:lnSpc>
                        <a:spcBef>
                          <a:spcPts val="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根据各自的t统计量，年龄和收入的系数都显著。</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67739">
                <a:tc>
                  <a:txBody>
                    <a:bodyPr/>
                    <a:lstStyle/>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marL="21971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72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4" name="table 734"/>
          <p:cNvGraphicFramePr>
            <a:graphicFrameLocks noGrp="1"/>
          </p:cNvGraphicFramePr>
          <p:nvPr/>
        </p:nvGraphicFramePr>
        <p:xfrm>
          <a:off x="60832" y="66928"/>
          <a:ext cx="9018905" cy="6699250"/>
        </p:xfrm>
        <a:graphic>
          <a:graphicData uri="http://schemas.openxmlformats.org/drawingml/2006/table">
            <a:tbl>
              <a:tblPr/>
              <a:tblGrid>
                <a:gridCol w="9018905"/>
              </a:tblGrid>
              <a:tr h="5862320">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1245235" indent="-281940" algn="l" rtl="0" eaLnBrk="0">
                        <a:lnSpc>
                          <a:spcPct val="111000"/>
                        </a:lnSpc>
                        <a:spcBef>
                          <a:spcPts val="5"/>
                        </a:spcBef>
                      </a:pPr>
                      <a:r>
                        <a:rPr sz="17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不管个人的年龄，预期收入增加</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1000</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美元将导致披萨支出增</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加</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1.83</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美元，这是不合理的。</a:t>
                      </a:r>
                      <a:endParaRPr sz="2000" dirty="0">
                        <a:latin typeface="楷体" panose="02010609060101010101" charset="-122"/>
                        <a:ea typeface="楷体" panose="02010609060101010101" charset="-122"/>
                        <a:cs typeface="楷体" panose="02010609060101010101" charset="-122"/>
                      </a:endParaRPr>
                    </a:p>
                    <a:p>
                      <a:pPr marL="1524000" indent="-240665" algn="l" rtl="0" eaLnBrk="0">
                        <a:lnSpc>
                          <a:spcPct val="112000"/>
                        </a:lnSpc>
                        <a:spcBef>
                          <a:spcPts val="1320"/>
                        </a:spcBef>
                      </a:pPr>
                      <a:r>
                        <a:rPr sz="1700" kern="0" spc="-1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700" kern="0" spc="40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更合理的假定是，随着个人逐渐变老，他</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对披萨的边际支出倾</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000" kern="0" spc="-50" dirty="0">
                          <a:solidFill>
                            <a:srgbClr val="000000">
                              <a:alpha val="100000"/>
                            </a:srgbClr>
                          </a:solidFill>
                          <a:latin typeface="楷体" panose="02010609060101010101" charset="-122"/>
                          <a:ea typeface="楷体" panose="02010609060101010101" charset="-122"/>
                          <a:cs typeface="楷体" panose="02010609060101010101" charset="-122"/>
                        </a:rPr>
                        <a:t>向会降低。</a:t>
                      </a:r>
                      <a:endParaRPr sz="2000" dirty="0">
                        <a:latin typeface="楷体" panose="02010609060101010101" charset="-122"/>
                        <a:ea typeface="楷体" panose="02010609060101010101" charset="-122"/>
                        <a:cs typeface="楷体" panose="02010609060101010101" charset="-122"/>
                      </a:endParaRPr>
                    </a:p>
                    <a:p>
                      <a:pPr marL="1619250" algn="l" rtl="0" eaLnBrk="0">
                        <a:lnSpc>
                          <a:spcPct val="90000"/>
                        </a:lnSpc>
                        <a:spcBef>
                          <a:spcPts val="1265"/>
                        </a:spcBef>
                      </a:pP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即随着个人年龄的增大</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，每额外</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美元中预期花费在比萨上的</a:t>
                      </a:r>
                      <a:endParaRPr sz="2000" dirty="0">
                        <a:latin typeface="楷体" panose="02010609060101010101" charset="-122"/>
                        <a:ea typeface="楷体" panose="02010609060101010101" charset="-122"/>
                        <a:cs typeface="楷体" panose="02010609060101010101" charset="-122"/>
                      </a:endParaRPr>
                    </a:p>
                    <a:p>
                      <a:pPr marL="1412240" algn="l" rtl="0" eaLnBrk="0">
                        <a:lnSpc>
                          <a:spcPts val="2970"/>
                        </a:lnSpc>
                      </a:pPr>
                      <a:r>
                        <a:rPr sz="2000" kern="0" spc="-120" dirty="0">
                          <a:solidFill>
                            <a:srgbClr val="000000">
                              <a:alpha val="100000"/>
                            </a:srgbClr>
                          </a:solidFill>
                          <a:latin typeface="楷体" panose="02010609060101010101" charset="-122"/>
                          <a:ea typeface="楷体" panose="02010609060101010101" charset="-122"/>
                          <a:cs typeface="楷体" panose="02010609060101010101" charset="-122"/>
                        </a:rPr>
                        <a:t>部分会更少。</a:t>
                      </a:r>
                      <a:endParaRPr sz="2000" dirty="0">
                        <a:latin typeface="楷体" panose="02010609060101010101" charset="-122"/>
                        <a:ea typeface="楷体" panose="02010609060101010101" charset="-122"/>
                        <a:cs typeface="楷体" panose="02010609060101010101" charset="-122"/>
                      </a:endParaRPr>
                    </a:p>
                    <a:p>
                      <a:pPr marL="1619250" indent="-335915" algn="l" rtl="0" eaLnBrk="0">
                        <a:lnSpc>
                          <a:spcPct val="120000"/>
                        </a:lnSpc>
                        <a:spcBef>
                          <a:spcPts val="1500"/>
                        </a:spcBef>
                      </a:pPr>
                      <a:r>
                        <a:rPr sz="1700" kern="0" spc="-2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700" kern="0" spc="47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在这一情况下，收入的效应取决于个人的年龄。</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即某一变量的效应受其他变量的影</a:t>
                      </a:r>
                      <a:r>
                        <a:rPr sz="2000" kern="0" spc="-30" dirty="0">
                          <a:solidFill>
                            <a:srgbClr val="000000">
                              <a:alpha val="100000"/>
                            </a:srgbClr>
                          </a:solidFill>
                          <a:latin typeface="楷体" panose="02010609060101010101" charset="-122"/>
                          <a:ea typeface="楷体" panose="02010609060101010101" charset="-122"/>
                          <a:cs typeface="楷体" panose="02010609060101010101" charset="-122"/>
                        </a:rPr>
                        <a:t>响。</a:t>
                      </a:r>
                      <a:endParaRPr sz="20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1498600" indent="-215265" algn="l" rtl="0" eaLnBrk="0">
                        <a:lnSpc>
                          <a:spcPct val="111000"/>
                        </a:lnSpc>
                        <a:spcBef>
                          <a:spcPts val="5"/>
                        </a:spcBef>
                      </a:pPr>
                      <a:r>
                        <a:rPr sz="1700" kern="0" spc="-10" dirty="0">
                          <a:solidFill>
                            <a:srgbClr val="9B2D1F">
                              <a:alpha val="100000"/>
                            </a:srgbClr>
                          </a:solidFill>
                          <a:latin typeface="微软雅黑" panose="020B0503020204020204" charset="-122"/>
                          <a:ea typeface="微软雅黑" panose="020B0503020204020204" charset="-122"/>
                          <a:cs typeface="微软雅黑" panose="020B0503020204020204" charset="-122"/>
                        </a:rPr>
                        <a:t>●</a:t>
                      </a:r>
                      <a:r>
                        <a:rPr sz="1700" kern="0" spc="43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考虑这一相互影响的办法是在模型</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中引入交互项，该变量是两</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个变量的乘积。</a:t>
                      </a:r>
                      <a:endParaRPr sz="20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36930">
                <a:tc>
                  <a:txBody>
                    <a:bodyPr/>
                    <a:lstStyle/>
                    <a:p>
                      <a:pPr algn="l" rtl="0" eaLnBrk="0">
                        <a:lnSpc>
                          <a:spcPct val="147000"/>
                        </a:lnSpc>
                      </a:pPr>
                      <a:endParaRPr sz="1000" dirty="0">
                        <a:latin typeface="Arial" panose="020B0604020202020204"/>
                        <a:ea typeface="Arial" panose="020B0604020202020204"/>
                        <a:cs typeface="Arial" panose="020B0604020202020204"/>
                      </a:endParaRPr>
                    </a:p>
                    <a:p>
                      <a:pPr algn="l" rtl="0" eaLnBrk="0">
                        <a:lnSpc>
                          <a:spcPct val="148000"/>
                        </a:lnSpc>
                      </a:pPr>
                      <a:endParaRPr sz="1000" dirty="0">
                        <a:latin typeface="Arial" panose="020B0604020202020204"/>
                        <a:ea typeface="Arial" panose="020B0604020202020204"/>
                        <a:cs typeface="Arial" panose="020B0604020202020204"/>
                      </a:endParaRPr>
                    </a:p>
                    <a:p>
                      <a:pPr marL="21971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73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8" name="table 738"/>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9235" algn="l" rtl="0" eaLnBrk="0">
                        <a:lnSpc>
                          <a:spcPct val="75000"/>
                        </a:lnSpc>
                        <a:spcBef>
                          <a:spcPts val="5"/>
                        </a:spcBef>
                      </a:pPr>
                      <a:r>
                        <a:rPr sz="1400" b="1" kern="0" spc="-80" dirty="0">
                          <a:solidFill>
                            <a:srgbClr val="FFFFFF">
                              <a:alpha val="100000"/>
                            </a:srgbClr>
                          </a:solidFill>
                          <a:latin typeface="Franklin Gothic Book" panose="020B0503020102020204"/>
                          <a:ea typeface="Franklin Gothic Book" panose="020B0503020102020204"/>
                          <a:cs typeface="Franklin Gothic Book" panose="020B0503020102020204"/>
                        </a:rPr>
                        <a:t>74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将交互项</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AGE</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x</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引入回归模型：</a:t>
                      </a:r>
                      <a:endParaRPr sz="2100" dirty="0">
                        <a:latin typeface="楷体" panose="02010609060101010101" charset="-122"/>
                        <a:ea typeface="楷体" panose="02010609060101010101" charset="-122"/>
                        <a:cs typeface="楷体" panose="02010609060101010101" charset="-122"/>
                      </a:endParaRPr>
                    </a:p>
                    <a:p>
                      <a:pPr marL="211455" algn="l" rtl="0" eaLnBrk="0">
                        <a:lnSpc>
                          <a:spcPct val="94000"/>
                        </a:lnSpc>
                        <a:spcBef>
                          <a:spcPts val="87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新的模型是</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30000"/>
                        </a:lnSpc>
                      </a:pPr>
                      <a:endParaRPr sz="1000" dirty="0">
                        <a:latin typeface="Arial" panose="020B0604020202020204"/>
                        <a:ea typeface="Arial" panose="020B0604020202020204"/>
                        <a:cs typeface="Arial" panose="020B0604020202020204"/>
                      </a:endParaRPr>
                    </a:p>
                    <a:p>
                      <a:pPr marL="412750" algn="l" rtl="0" eaLnBrk="0">
                        <a:lnSpc>
                          <a:spcPct val="94000"/>
                        </a:lnSpc>
                        <a:spcBef>
                          <a:spcPts val="785"/>
                        </a:spcBef>
                      </a:pPr>
                      <a:r>
                        <a:rPr sz="1900" i="1" kern="0" spc="190" dirty="0">
                          <a:solidFill>
                            <a:srgbClr val="000000">
                              <a:alpha val="100000"/>
                            </a:srgbClr>
                          </a:solidFill>
                          <a:latin typeface="Times New Roman" panose="02020603050405020304"/>
                          <a:ea typeface="Times New Roman" panose="02020603050405020304"/>
                          <a:cs typeface="Times New Roman" panose="02020603050405020304"/>
                        </a:rPr>
                        <a:t>PIZZA </a:t>
                      </a:r>
                      <a:r>
                        <a:rPr sz="1900" kern="0" spc="190" dirty="0">
                          <a:solidFill>
                            <a:srgbClr val="000000">
                              <a:alpha val="100000"/>
                            </a:srgbClr>
                          </a:solidFill>
                          <a:latin typeface="Arial" panose="020B0604020202020204"/>
                          <a:ea typeface="Arial" panose="020B0604020202020204"/>
                          <a:cs typeface="Arial" panose="020B0604020202020204"/>
                        </a:rPr>
                        <a:t>= </a:t>
                      </a:r>
                      <a:r>
                        <a:rPr sz="1900" kern="0" spc="19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90" baseline="-28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80" dirty="0">
                          <a:solidFill>
                            <a:srgbClr val="000000">
                              <a:alpha val="100000"/>
                            </a:srgbClr>
                          </a:solidFill>
                          <a:latin typeface="Arial" panose="020B0604020202020204"/>
                          <a:ea typeface="Arial" panose="020B0604020202020204"/>
                          <a:cs typeface="Arial" panose="020B0604020202020204"/>
                        </a:rPr>
                        <a:t>+</a:t>
                      </a:r>
                      <a:r>
                        <a:rPr sz="1900" kern="0" spc="-100" dirty="0">
                          <a:solidFill>
                            <a:srgbClr val="000000">
                              <a:alpha val="100000"/>
                            </a:srgbClr>
                          </a:solidFill>
                          <a:latin typeface="Arial" panose="020B0604020202020204"/>
                          <a:ea typeface="Arial" panose="020B0604020202020204"/>
                          <a:cs typeface="Arial" panose="020B0604020202020204"/>
                        </a:rPr>
                        <a:t> </a:t>
                      </a:r>
                      <a:r>
                        <a:rPr sz="1900" kern="0" spc="18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8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900" i="1" kern="0" spc="180" dirty="0">
                          <a:solidFill>
                            <a:srgbClr val="000000">
                              <a:alpha val="100000"/>
                            </a:srgbClr>
                          </a:solidFill>
                          <a:latin typeface="Times New Roman" panose="02020603050405020304"/>
                          <a:ea typeface="Times New Roman" panose="02020603050405020304"/>
                          <a:cs typeface="Times New Roman" panose="02020603050405020304"/>
                        </a:rPr>
                        <a:t>AGE </a:t>
                      </a:r>
                      <a:r>
                        <a:rPr sz="1900" kern="0" spc="180" dirty="0">
                          <a:solidFill>
                            <a:srgbClr val="000000">
                              <a:alpha val="100000"/>
                            </a:srgbClr>
                          </a:solidFill>
                          <a:latin typeface="Arial" panose="020B0604020202020204"/>
                          <a:ea typeface="Arial" panose="020B0604020202020204"/>
                          <a:cs typeface="Arial" panose="020B0604020202020204"/>
                        </a:rPr>
                        <a:t>+</a:t>
                      </a:r>
                      <a:r>
                        <a:rPr sz="1900" kern="0" spc="-100" dirty="0">
                          <a:solidFill>
                            <a:srgbClr val="000000">
                              <a:alpha val="100000"/>
                            </a:srgbClr>
                          </a:solidFill>
                          <a:latin typeface="Arial" panose="020B0604020202020204"/>
                          <a:ea typeface="Arial" panose="020B0604020202020204"/>
                          <a:cs typeface="Arial" panose="020B0604020202020204"/>
                        </a:rPr>
                        <a:t> </a:t>
                      </a:r>
                      <a:r>
                        <a:rPr sz="1900" kern="0" spc="18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80" baseline="-28000" dirty="0">
                          <a:solidFill>
                            <a:srgbClr val="000000">
                              <a:alpha val="100000"/>
                            </a:srgbClr>
                          </a:solidFill>
                          <a:latin typeface="Times New Roman" panose="02020603050405020304"/>
                          <a:ea typeface="Times New Roman" panose="02020603050405020304"/>
                          <a:cs typeface="Times New Roman" panose="02020603050405020304"/>
                        </a:rPr>
                        <a:t>3</a:t>
                      </a:r>
                      <a:r>
                        <a:rPr sz="1900" i="1" kern="0" spc="180" dirty="0">
                          <a:solidFill>
                            <a:srgbClr val="000000">
                              <a:alpha val="100000"/>
                            </a:srgbClr>
                          </a:solidFill>
                          <a:latin typeface="Times New Roman" panose="02020603050405020304"/>
                          <a:ea typeface="Times New Roman" panose="02020603050405020304"/>
                          <a:cs typeface="Times New Roman" panose="02020603050405020304"/>
                        </a:rPr>
                        <a:t>INCOME </a:t>
                      </a:r>
                      <a:r>
                        <a:rPr sz="1900" kern="0" spc="180" dirty="0">
                          <a:solidFill>
                            <a:srgbClr val="000000">
                              <a:alpha val="100000"/>
                            </a:srgbClr>
                          </a:solidFill>
                          <a:latin typeface="Arial" panose="020B0604020202020204"/>
                          <a:ea typeface="Arial" panose="020B0604020202020204"/>
                          <a:cs typeface="Arial" panose="020B0604020202020204"/>
                        </a:rPr>
                        <a:t>+</a:t>
                      </a:r>
                      <a:r>
                        <a:rPr sz="1900" kern="0" spc="-100" dirty="0">
                          <a:solidFill>
                            <a:srgbClr val="000000">
                              <a:alpha val="100000"/>
                            </a:srgbClr>
                          </a:solidFill>
                          <a:latin typeface="Arial" panose="020B0604020202020204"/>
                          <a:ea typeface="Arial" panose="020B0604020202020204"/>
                          <a:cs typeface="Arial" panose="020B0604020202020204"/>
                        </a:rPr>
                        <a:t> </a:t>
                      </a:r>
                      <a:r>
                        <a:rPr sz="1900" kern="0" spc="18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80" baseline="-28000" dirty="0">
                          <a:solidFill>
                            <a:srgbClr val="000000">
                              <a:alpha val="100000"/>
                            </a:srgbClr>
                          </a:solidFill>
                          <a:latin typeface="Times New Roman" panose="02020603050405020304"/>
                          <a:ea typeface="Times New Roman" panose="02020603050405020304"/>
                          <a:cs typeface="Times New Roman" panose="02020603050405020304"/>
                        </a:rPr>
                        <a:t>4</a:t>
                      </a:r>
                      <a:r>
                        <a:rPr sz="1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80" dirty="0">
                          <a:solidFill>
                            <a:srgbClr val="000000">
                              <a:alpha val="100000"/>
                            </a:srgbClr>
                          </a:solidFill>
                          <a:latin typeface="Arial" panose="020B0604020202020204"/>
                          <a:ea typeface="Arial" panose="020B0604020202020204"/>
                          <a:cs typeface="Arial" panose="020B0604020202020204"/>
                        </a:rPr>
                        <a:t>(</a:t>
                      </a:r>
                      <a:r>
                        <a:rPr sz="1900" i="1" kern="0" spc="180" dirty="0">
                          <a:solidFill>
                            <a:srgbClr val="000000">
                              <a:alpha val="100000"/>
                            </a:srgbClr>
                          </a:solidFill>
                          <a:latin typeface="Times New Roman" panose="02020603050405020304"/>
                          <a:ea typeface="Times New Roman" panose="02020603050405020304"/>
                          <a:cs typeface="Times New Roman" panose="02020603050405020304"/>
                        </a:rPr>
                        <a:t>AGE</a:t>
                      </a:r>
                      <a:r>
                        <a:rPr sz="1900" kern="0" spc="180" dirty="0">
                          <a:solidFill>
                            <a:srgbClr val="000000">
                              <a:alpha val="100000"/>
                            </a:srgbClr>
                          </a:solidFill>
                          <a:latin typeface="Arial" panose="020B0604020202020204"/>
                          <a:ea typeface="Arial" panose="020B0604020202020204"/>
                          <a:cs typeface="Arial" panose="020B0604020202020204"/>
                        </a:rPr>
                        <a:t>×</a:t>
                      </a:r>
                      <a:r>
                        <a:rPr sz="1900" kern="0" spc="-220" dirty="0">
                          <a:solidFill>
                            <a:srgbClr val="000000">
                              <a:alpha val="100000"/>
                            </a:srgbClr>
                          </a:solidFill>
                          <a:latin typeface="Arial" panose="020B0604020202020204"/>
                          <a:ea typeface="Arial" panose="020B0604020202020204"/>
                          <a:cs typeface="Arial" panose="020B0604020202020204"/>
                        </a:rPr>
                        <a:t> </a:t>
                      </a:r>
                      <a:r>
                        <a:rPr sz="1900" i="1" kern="0" spc="180" dirty="0">
                          <a:solidFill>
                            <a:srgbClr val="000000">
                              <a:alpha val="100000"/>
                            </a:srgbClr>
                          </a:solidFill>
                          <a:latin typeface="Times New Roman" panose="02020603050405020304"/>
                          <a:ea typeface="Times New Roman" panose="02020603050405020304"/>
                          <a:cs typeface="Times New Roman" panose="02020603050405020304"/>
                        </a:rPr>
                        <a:t>INCOME</a:t>
                      </a:r>
                      <a:r>
                        <a:rPr sz="1900" i="1"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80" dirty="0">
                          <a:solidFill>
                            <a:srgbClr val="000000">
                              <a:alpha val="100000"/>
                            </a:srgbClr>
                          </a:solidFill>
                          <a:latin typeface="Arial" panose="020B0604020202020204"/>
                          <a:ea typeface="Arial" panose="020B0604020202020204"/>
                          <a:cs typeface="Arial" panose="020B0604020202020204"/>
                        </a:rPr>
                        <a:t>)</a:t>
                      </a:r>
                      <a:r>
                        <a:rPr sz="2600" kern="0" spc="-340" dirty="0">
                          <a:solidFill>
                            <a:srgbClr val="000000">
                              <a:alpha val="100000"/>
                            </a:srgbClr>
                          </a:solidFill>
                          <a:latin typeface="Arial" panose="020B0604020202020204"/>
                          <a:ea typeface="Arial" panose="020B0604020202020204"/>
                          <a:cs typeface="Arial" panose="020B0604020202020204"/>
                        </a:rPr>
                        <a:t> </a:t>
                      </a:r>
                      <a:r>
                        <a:rPr sz="1900" kern="0" spc="180" dirty="0">
                          <a:solidFill>
                            <a:srgbClr val="000000">
                              <a:alpha val="100000"/>
                            </a:srgbClr>
                          </a:solidFill>
                          <a:latin typeface="Arial" panose="020B0604020202020204"/>
                          <a:ea typeface="Arial" panose="020B0604020202020204"/>
                          <a:cs typeface="Arial" panose="020B0604020202020204"/>
                        </a:rPr>
                        <a:t>+</a:t>
                      </a:r>
                      <a:r>
                        <a:rPr sz="1900" kern="0" spc="-90" dirty="0">
                          <a:solidFill>
                            <a:srgbClr val="000000">
                              <a:alpha val="100000"/>
                            </a:srgbClr>
                          </a:solidFill>
                          <a:latin typeface="Arial" panose="020B0604020202020204"/>
                          <a:ea typeface="Arial" panose="020B0604020202020204"/>
                          <a:cs typeface="Arial" panose="020B0604020202020204"/>
                        </a:rPr>
                        <a:t> </a:t>
                      </a:r>
                      <a:r>
                        <a:rPr sz="1900" i="1" kern="0" spc="180" dirty="0">
                          <a:solidFill>
                            <a:srgbClr val="000000">
                              <a:alpha val="100000"/>
                            </a:srgbClr>
                          </a:solidFill>
                          <a:latin typeface="Times New Roman" panose="02020603050405020304"/>
                          <a:ea typeface="Times New Roman" panose="02020603050405020304"/>
                          <a:cs typeface="Times New Roman" panose="02020603050405020304"/>
                        </a:rPr>
                        <a:t>e</a:t>
                      </a:r>
                      <a:endParaRPr sz="1900" dirty="0">
                        <a:latin typeface="Times New Roman" panose="02020603050405020304"/>
                        <a:ea typeface="Times New Roman" panose="02020603050405020304"/>
                        <a:cs typeface="Times New Roman" panose="02020603050405020304"/>
                      </a:endParaRPr>
                    </a:p>
                    <a:p>
                      <a:pPr algn="l" rtl="0" eaLnBrk="0">
                        <a:lnSpc>
                          <a:spcPct val="120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这一修正模型的</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涵义是</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04000"/>
                        </a:lnSpc>
                      </a:pPr>
                      <a:endParaRPr sz="1000" dirty="0">
                        <a:latin typeface="Arial" panose="020B0604020202020204"/>
                        <a:ea typeface="Arial" panose="020B0604020202020204"/>
                        <a:cs typeface="Arial" panose="020B0604020202020204"/>
                      </a:endParaRPr>
                    </a:p>
                    <a:p>
                      <a:pPr marL="1644650" algn="l" rtl="0" eaLnBrk="0">
                        <a:lnSpc>
                          <a:spcPct val="100000"/>
                        </a:lnSpc>
                        <a:spcBef>
                          <a:spcPts val="880"/>
                        </a:spcBef>
                      </a:pPr>
                      <a:r>
                        <a:rPr sz="2200" kern="0" spc="40" dirty="0">
                          <a:solidFill>
                            <a:srgbClr val="000000">
                              <a:alpha val="100000"/>
                            </a:srgbClr>
                          </a:solidFill>
                          <a:latin typeface="Arial" panose="020B0604020202020204"/>
                          <a:ea typeface="Arial" panose="020B0604020202020204"/>
                          <a:cs typeface="Arial" panose="020B0604020202020204"/>
                        </a:rPr>
                        <a:t>∂</a:t>
                      </a:r>
                      <a:r>
                        <a:rPr sz="2200" i="1" kern="0" spc="40" dirty="0">
                          <a:solidFill>
                            <a:srgbClr val="000000">
                              <a:alpha val="100000"/>
                            </a:srgbClr>
                          </a:solidFill>
                          <a:latin typeface="Times New Roman" panose="02020603050405020304"/>
                          <a:ea typeface="Times New Roman" panose="02020603050405020304"/>
                          <a:cs typeface="Times New Roman" panose="02020603050405020304"/>
                        </a:rPr>
                        <a:t>E</a:t>
                      </a:r>
                      <a:r>
                        <a:rPr sz="2900" kern="0" spc="40" dirty="0">
                          <a:solidFill>
                            <a:srgbClr val="000000">
                              <a:alpha val="100000"/>
                            </a:srgbClr>
                          </a:solidFill>
                          <a:latin typeface="Arial" panose="020B0604020202020204"/>
                          <a:ea typeface="Arial" panose="020B0604020202020204"/>
                          <a:cs typeface="Arial" panose="020B0604020202020204"/>
                        </a:rPr>
                        <a:t>(</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PIZZA</a:t>
                      </a:r>
                      <a:r>
                        <a:rPr sz="2900" kern="0" spc="40" dirty="0">
                          <a:solidFill>
                            <a:srgbClr val="000000">
                              <a:alpha val="100000"/>
                            </a:srgbClr>
                          </a:solidFill>
                          <a:latin typeface="Arial" panose="020B0604020202020204"/>
                          <a:ea typeface="Arial" panose="020B0604020202020204"/>
                          <a:cs typeface="Arial" panose="020B0604020202020204"/>
                        </a:rPr>
                        <a:t>) </a:t>
                      </a:r>
                      <a:r>
                        <a:rPr sz="2200" kern="0" spc="40" dirty="0">
                          <a:solidFill>
                            <a:srgbClr val="000000">
                              <a:alpha val="100000"/>
                            </a:srgbClr>
                          </a:solidFill>
                          <a:latin typeface="Arial" panose="020B0604020202020204"/>
                          <a:ea typeface="Arial" panose="020B0604020202020204"/>
                          <a:cs typeface="Arial" panose="020B0604020202020204"/>
                        </a:rPr>
                        <a:t>∂</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AGE</a:t>
                      </a:r>
                      <a:r>
                        <a:rPr sz="22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40" dirty="0">
                          <a:solidFill>
                            <a:srgbClr val="000000">
                              <a:alpha val="100000"/>
                            </a:srgbClr>
                          </a:solidFill>
                          <a:latin typeface="Arial" panose="020B0604020202020204"/>
                          <a:ea typeface="Arial" panose="020B0604020202020204"/>
                          <a:cs typeface="Arial" panose="020B0604020202020204"/>
                        </a:rPr>
                        <a:t>= </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4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40" dirty="0">
                          <a:solidFill>
                            <a:srgbClr val="000000">
                              <a:alpha val="100000"/>
                            </a:srgbClr>
                          </a:solidFill>
                          <a:latin typeface="Arial" panose="020B0604020202020204"/>
                          <a:ea typeface="Arial" panose="020B0604020202020204"/>
                          <a:cs typeface="Arial" panose="020B0604020202020204"/>
                        </a:rPr>
                        <a:t>+</a:t>
                      </a:r>
                      <a:r>
                        <a:rPr sz="2200" kern="0" spc="-110" dirty="0">
                          <a:solidFill>
                            <a:srgbClr val="000000">
                              <a:alpha val="100000"/>
                            </a:srgbClr>
                          </a:solidFill>
                          <a:latin typeface="Arial" panose="020B0604020202020204"/>
                          <a:ea typeface="Arial" panose="020B0604020202020204"/>
                          <a:cs typeface="Arial" panose="020B0604020202020204"/>
                        </a:rPr>
                        <a:t> </a:t>
                      </a:r>
                      <a:r>
                        <a:rPr sz="2200" kern="0" spc="4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40" baseline="-27000" dirty="0">
                          <a:solidFill>
                            <a:srgbClr val="000000">
                              <a:alpha val="100000"/>
                            </a:srgbClr>
                          </a:solidFill>
                          <a:latin typeface="Times New Roman" panose="02020603050405020304"/>
                          <a:ea typeface="Times New Roman" panose="02020603050405020304"/>
                          <a:cs typeface="Times New Roman" panose="02020603050405020304"/>
                        </a:rPr>
                        <a:t>4</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INCOME</a:t>
                      </a:r>
                      <a:endParaRPr sz="2200" dirty="0">
                        <a:latin typeface="Times New Roman" panose="02020603050405020304"/>
                        <a:ea typeface="Times New Roman" panose="02020603050405020304"/>
                        <a:cs typeface="Times New Roman" panose="02020603050405020304"/>
                      </a:endParaRPr>
                    </a:p>
                    <a:p>
                      <a:pPr marL="1571625" algn="l" rtl="0" eaLnBrk="0">
                        <a:lnSpc>
                          <a:spcPct val="100000"/>
                        </a:lnSpc>
                        <a:spcBef>
                          <a:spcPts val="205"/>
                        </a:spcBef>
                      </a:pPr>
                      <a:r>
                        <a:rPr sz="2200" kern="0" spc="30" dirty="0">
                          <a:solidFill>
                            <a:srgbClr val="000000">
                              <a:alpha val="100000"/>
                            </a:srgbClr>
                          </a:solidFill>
                          <a:latin typeface="Arial" panose="020B0604020202020204"/>
                          <a:ea typeface="Arial" panose="020B0604020202020204"/>
                          <a:cs typeface="Arial" panose="020B0604020202020204"/>
                        </a:rPr>
                        <a:t>∂</a:t>
                      </a:r>
                      <a:r>
                        <a:rPr sz="2200" i="1"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900" kern="0" spc="30" dirty="0">
                          <a:solidFill>
                            <a:srgbClr val="000000">
                              <a:alpha val="100000"/>
                            </a:srgbClr>
                          </a:solidFill>
                          <a:latin typeface="Arial" panose="020B0604020202020204"/>
                          <a:ea typeface="Arial" panose="020B0604020202020204"/>
                          <a:cs typeface="Arial" panose="020B0604020202020204"/>
                        </a:rPr>
                        <a:t>(</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PIZZA</a:t>
                      </a:r>
                      <a:r>
                        <a:rPr sz="2900" kern="0" spc="30" dirty="0">
                          <a:solidFill>
                            <a:srgbClr val="000000">
                              <a:alpha val="100000"/>
                            </a:srgbClr>
                          </a:solidFill>
                          <a:latin typeface="Arial" panose="020B0604020202020204"/>
                          <a:ea typeface="Arial" panose="020B0604020202020204"/>
                          <a:cs typeface="Arial" panose="020B0604020202020204"/>
                        </a:rPr>
                        <a:t>) </a:t>
                      </a:r>
                      <a:r>
                        <a:rPr sz="2200" kern="0" spc="30" dirty="0">
                          <a:solidFill>
                            <a:srgbClr val="000000">
                              <a:alpha val="100000"/>
                            </a:srgbClr>
                          </a:solidFill>
                          <a:latin typeface="Arial" panose="020B0604020202020204"/>
                          <a:ea typeface="Arial" panose="020B0604020202020204"/>
                          <a:cs typeface="Arial" panose="020B0604020202020204"/>
                        </a:rPr>
                        <a:t>∂</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INCOME</a:t>
                      </a:r>
                      <a:r>
                        <a:rPr sz="22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3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20" baseline="-27000" dirty="0">
                          <a:solidFill>
                            <a:srgbClr val="000000">
                              <a:alpha val="100000"/>
                            </a:srgbClr>
                          </a:solidFill>
                          <a:latin typeface="Times New Roman" panose="02020603050405020304"/>
                          <a:ea typeface="Times New Roman" panose="02020603050405020304"/>
                          <a:cs typeface="Times New Roman" panose="02020603050405020304"/>
                        </a:rPr>
                        <a:t>3</a:t>
                      </a:r>
                      <a:r>
                        <a:rPr sz="12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200" kern="0" spc="20" dirty="0">
                          <a:solidFill>
                            <a:srgbClr val="000000">
                              <a:alpha val="100000"/>
                            </a:srgbClr>
                          </a:solidFill>
                          <a:latin typeface="Arial" panose="020B0604020202020204"/>
                          <a:ea typeface="Arial" panose="020B0604020202020204"/>
                          <a:cs typeface="Arial" panose="020B0604020202020204"/>
                        </a:rPr>
                        <a:t>+</a:t>
                      </a:r>
                      <a:r>
                        <a:rPr sz="2200" kern="0" spc="-180" dirty="0">
                          <a:solidFill>
                            <a:srgbClr val="000000">
                              <a:alpha val="100000"/>
                            </a:srgbClr>
                          </a:solidFill>
                          <a:latin typeface="Arial" panose="020B0604020202020204"/>
                          <a:ea typeface="Arial" panose="020B0604020202020204"/>
                          <a:cs typeface="Arial" panose="020B0604020202020204"/>
                        </a:rPr>
                        <a:t> </a:t>
                      </a:r>
                      <a:r>
                        <a:rPr sz="22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20" baseline="-27000" dirty="0">
                          <a:solidFill>
                            <a:srgbClr val="000000">
                              <a:alpha val="100000"/>
                            </a:srgbClr>
                          </a:solidFill>
                          <a:latin typeface="Times New Roman" panose="02020603050405020304"/>
                          <a:ea typeface="Times New Roman" panose="02020603050405020304"/>
                          <a:cs typeface="Times New Roman" panose="02020603050405020304"/>
                        </a:rPr>
                        <a:t>4</a:t>
                      </a:r>
                      <a:r>
                        <a:rPr sz="12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200" i="1" kern="0" spc="0" dirty="0">
                          <a:solidFill>
                            <a:srgbClr val="000000">
                              <a:alpha val="100000"/>
                            </a:srgbClr>
                          </a:solidFill>
                          <a:latin typeface="Times New Roman" panose="02020603050405020304"/>
                          <a:ea typeface="Times New Roman" panose="02020603050405020304"/>
                          <a:cs typeface="Times New Roman" panose="02020603050405020304"/>
                        </a:rPr>
                        <a:t>AGE</a:t>
                      </a:r>
                      <a:endParaRPr sz="2200" dirty="0">
                        <a:latin typeface="Times New Roman" panose="02020603050405020304"/>
                        <a:ea typeface="Times New Roman" panose="02020603050405020304"/>
                        <a:cs typeface="Times New Roman" panose="02020603050405020304"/>
                      </a:endParaRPr>
                    </a:p>
                    <a:p>
                      <a:pPr marL="211455" algn="l" rtl="0" eaLnBrk="0">
                        <a:lnSpc>
                          <a:spcPct val="94000"/>
                        </a:lnSpc>
                        <a:spcBef>
                          <a:spcPts val="130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估计模型是</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marL="443865" algn="l" rtl="0" eaLnBrk="0">
                        <a:lnSpc>
                          <a:spcPts val="2380"/>
                        </a:lnSpc>
                        <a:spcBef>
                          <a:spcPts val="305"/>
                        </a:spcBef>
                        <a:tabLst>
                          <a:tab pos="790765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3000"/>
                        </a:lnSpc>
                      </a:pPr>
                      <a:endParaRPr sz="800" dirty="0">
                        <a:latin typeface="Arial" panose="020B0604020202020204"/>
                        <a:ea typeface="Arial" panose="020B0604020202020204"/>
                        <a:cs typeface="Arial" panose="020B0604020202020204"/>
                      </a:endParaRPr>
                    </a:p>
                    <a:p>
                      <a:pPr marL="655320" algn="l" rtl="0" eaLnBrk="0">
                        <a:lnSpc>
                          <a:spcPct val="85000"/>
                        </a:lnSpc>
                        <a:spcBef>
                          <a:spcPts val="5"/>
                        </a:spcBef>
                      </a:pPr>
                      <a:r>
                        <a:rPr sz="1900" kern="0" spc="0" dirty="0">
                          <a:solidFill>
                            <a:srgbClr val="000000">
                              <a:alpha val="100000"/>
                            </a:srgbClr>
                          </a:solidFill>
                          <a:latin typeface="Times New Roman" panose="02020603050405020304"/>
                          <a:ea typeface="Times New Roman" panose="02020603050405020304"/>
                          <a:cs typeface="Times New Roman" panose="02020603050405020304"/>
                        </a:rPr>
                        <a:t>(t)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0" dirty="0">
                          <a:solidFill>
                            <a:srgbClr val="000000">
                              <a:alpha val="100000"/>
                            </a:srgbClr>
                          </a:solidFill>
                          <a:latin typeface="Arial" panose="020B0604020202020204"/>
                          <a:ea typeface="Arial" panose="020B0604020202020204"/>
                          <a:cs typeface="Arial" panose="020B0604020202020204"/>
                        </a:rPr>
                        <a:t>(</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-0.89</a:t>
                      </a:r>
                      <a:r>
                        <a:rPr sz="2500" kern="0" spc="0" dirty="0">
                          <a:solidFill>
                            <a:srgbClr val="000000">
                              <a:alpha val="100000"/>
                            </a:srgbClr>
                          </a:solidFill>
                          <a:latin typeface="Arial" panose="020B0604020202020204"/>
                          <a:ea typeface="Arial" panose="020B0604020202020204"/>
                          <a:cs typeface="Arial" panose="020B0604020202020204"/>
                        </a:rPr>
                        <a:t>)</a:t>
                      </a:r>
                      <a:r>
                        <a:rPr sz="2500" kern="0" spc="50" dirty="0">
                          <a:solidFill>
                            <a:srgbClr val="000000">
                              <a:alpha val="100000"/>
                            </a:srgbClr>
                          </a:solidFill>
                          <a:latin typeface="Arial" panose="020B0604020202020204"/>
                          <a:ea typeface="Arial" panose="020B0604020202020204"/>
                          <a:cs typeface="Arial" panose="020B0604020202020204"/>
                        </a:rPr>
                        <a:t>      </a:t>
                      </a:r>
                      <a:r>
                        <a:rPr sz="2500" kern="0" spc="0" dirty="0">
                          <a:solidFill>
                            <a:srgbClr val="000000">
                              <a:alpha val="100000"/>
                            </a:srgbClr>
                          </a:solidFill>
                          <a:latin typeface="Arial" panose="020B0604020202020204"/>
                          <a:ea typeface="Arial" panose="020B0604020202020204"/>
                          <a:cs typeface="Arial" panose="020B0604020202020204"/>
                        </a:rPr>
                        <a:t>(</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2.47</a:t>
                      </a:r>
                      <a:r>
                        <a:rPr sz="2500" kern="0" spc="0" dirty="0">
                          <a:solidFill>
                            <a:srgbClr val="000000">
                              <a:alpha val="100000"/>
                            </a:srgbClr>
                          </a:solidFill>
                          <a:latin typeface="Arial" panose="020B0604020202020204"/>
                          <a:ea typeface="Arial" panose="020B0604020202020204"/>
                          <a:cs typeface="Arial" panose="020B0604020202020204"/>
                        </a:rPr>
                        <a:t>)</a:t>
                      </a:r>
                      <a:r>
                        <a:rPr sz="2500" kern="0" spc="30" dirty="0">
                          <a:solidFill>
                            <a:srgbClr val="000000">
                              <a:alpha val="100000"/>
                            </a:srgbClr>
                          </a:solidFill>
                          <a:latin typeface="Arial" panose="020B0604020202020204"/>
                          <a:ea typeface="Arial" panose="020B0604020202020204"/>
                          <a:cs typeface="Arial" panose="020B0604020202020204"/>
                        </a:rPr>
                        <a:t>             </a:t>
                      </a:r>
                      <a:r>
                        <a:rPr sz="2500" kern="0" spc="0" dirty="0">
                          <a:solidFill>
                            <a:srgbClr val="000000">
                              <a:alpha val="100000"/>
                            </a:srgbClr>
                          </a:solidFill>
                          <a:latin typeface="Arial" panose="020B0604020202020204"/>
                          <a:ea typeface="Arial" panose="020B0604020202020204"/>
                          <a:cs typeface="Arial" panose="020B0604020202020204"/>
                        </a:rPr>
                        <a:t>(</a:t>
                      </a:r>
                      <a:r>
                        <a:rPr sz="1900" kern="0" spc="0" dirty="0">
                          <a:solidFill>
                            <a:srgbClr val="000000">
                              <a:alpha val="100000"/>
                            </a:srgbClr>
                          </a:solidFill>
                          <a:latin typeface="Arial" panose="020B0604020202020204"/>
                          <a:ea typeface="Arial" panose="020B0604020202020204"/>
                          <a:cs typeface="Arial" panose="020B0604020202020204"/>
                        </a:rPr>
                        <a:t>−</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1.85</a:t>
                      </a:r>
                      <a:r>
                        <a:rPr sz="2500" kern="0" spc="0" dirty="0">
                          <a:solidFill>
                            <a:srgbClr val="000000">
                              <a:alpha val="100000"/>
                            </a:srgbClr>
                          </a:solidFill>
                          <a:latin typeface="Arial" panose="020B0604020202020204"/>
                          <a:ea typeface="Arial" panose="020B0604020202020204"/>
                          <a:cs typeface="Arial" panose="020B0604020202020204"/>
                        </a:rPr>
                        <a:t>)</a:t>
                      </a:r>
                      <a:endParaRPr sz="25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740" name="picture 740"/>
          <p:cNvPicPr>
            <a:picLocks noChangeAspect="1"/>
          </p:cNvPicPr>
          <p:nvPr/>
        </p:nvPicPr>
        <p:blipFill>
          <a:blip r:embed="rId1"/>
          <a:stretch>
            <a:fillRect/>
          </a:stretch>
        </p:blipFill>
        <p:spPr>
          <a:xfrm rot="21600000">
            <a:off x="1259005" y="5528166"/>
            <a:ext cx="7463470" cy="302607"/>
          </a:xfrm>
          <a:prstGeom prst="rect">
            <a:avLst/>
          </a:prstGeom>
        </p:spPr>
      </p:pic>
      <p:sp>
        <p:nvSpPr>
          <p:cNvPr id="742" name="path 742"/>
          <p:cNvSpPr/>
          <p:nvPr/>
        </p:nvSpPr>
        <p:spPr>
          <a:xfrm>
            <a:off x="3712044" y="4206923"/>
            <a:ext cx="121280" cy="350918"/>
          </a:xfrm>
          <a:custGeom>
            <a:avLst/>
            <a:gdLst/>
            <a:ahLst/>
            <a:cxnLst/>
            <a:rect l="0" t="0" r="0" b="0"/>
            <a:pathLst>
              <a:path w="190" h="552">
                <a:moveTo>
                  <a:pt x="181" y="9"/>
                </a:moveTo>
                <a:lnTo>
                  <a:pt x="9" y="543"/>
                </a:lnTo>
              </a:path>
            </a:pathLst>
          </a:custGeom>
          <a:noFill/>
          <a:ln w="11822" cap="sq">
            <a:solidFill>
              <a:srgbClr val="000000"/>
            </a:solidFill>
            <a:prstDash val="solid"/>
            <a:round/>
          </a:ln>
        </p:spPr>
        <p:txBody>
          <a:bodyPr rtlCol="0"/>
          <a:lstStyle/>
          <a:p>
            <a:pPr algn="ctr"/>
            <a:endParaRPr lang="zh-CN" altLang="en-US"/>
          </a:p>
        </p:txBody>
      </p:sp>
      <p:sp>
        <p:nvSpPr>
          <p:cNvPr id="744" name="path 744"/>
          <p:cNvSpPr/>
          <p:nvPr/>
        </p:nvSpPr>
        <p:spPr>
          <a:xfrm>
            <a:off x="3790276" y="3739054"/>
            <a:ext cx="121280" cy="350918"/>
          </a:xfrm>
          <a:custGeom>
            <a:avLst/>
            <a:gdLst/>
            <a:ahLst/>
            <a:cxnLst/>
            <a:rect l="0" t="0" r="0" b="0"/>
            <a:pathLst>
              <a:path w="190" h="552">
                <a:moveTo>
                  <a:pt x="181" y="9"/>
                </a:moveTo>
                <a:lnTo>
                  <a:pt x="9" y="543"/>
                </a:lnTo>
              </a:path>
            </a:pathLst>
          </a:custGeom>
          <a:noFill/>
          <a:ln w="11822" cap="sq">
            <a:solidFill>
              <a:srgbClr val="000000"/>
            </a:solidFill>
            <a:prstDash val="solid"/>
            <a:round/>
          </a:ln>
        </p:spPr>
        <p:txBody>
          <a:bodyPr rtlCol="0"/>
          <a:lstStyle/>
          <a:p>
            <a:pPr algn="ctr"/>
            <a:endParaRPr lang="zh-CN" alt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8" name="table 748"/>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971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75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对两个个体</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一个收入为</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25000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美元，另一个为</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90000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美元</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marL="480695" algn="l" rtl="0" eaLnBrk="0">
                        <a:lnSpc>
                          <a:spcPts val="3530"/>
                        </a:lnSpc>
                      </a:pP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估计得到的年龄对披萨支出的边际效应是：</a:t>
                      </a:r>
                      <a:endParaRPr sz="2100" dirty="0">
                        <a:latin typeface="楷体" panose="02010609060101010101" charset="-122"/>
                        <a:ea typeface="楷体" panose="02010609060101010101" charset="-122"/>
                        <a:cs typeface="楷体" panose="02010609060101010101" charset="-122"/>
                      </a:endParaRPr>
                    </a:p>
                    <a:p>
                      <a:pPr algn="l" rtl="0" eaLnBrk="0">
                        <a:lnSpc>
                          <a:spcPct val="146000"/>
                        </a:lnSpc>
                      </a:pPr>
                      <a:endParaRPr sz="1000" dirty="0">
                        <a:latin typeface="Arial" panose="020B0604020202020204"/>
                        <a:ea typeface="Arial" panose="020B0604020202020204"/>
                        <a:cs typeface="Arial" panose="020B0604020202020204"/>
                      </a:endParaRPr>
                    </a:p>
                    <a:p>
                      <a:pPr algn="l" rtl="0" eaLnBrk="0">
                        <a:lnSpc>
                          <a:spcPct val="147000"/>
                        </a:lnSpc>
                      </a:pPr>
                      <a:endParaRPr sz="1000" dirty="0">
                        <a:latin typeface="Arial" panose="020B0604020202020204"/>
                        <a:ea typeface="Arial" panose="020B0604020202020204"/>
                        <a:cs typeface="Arial" panose="020B0604020202020204"/>
                      </a:endParaRPr>
                    </a:p>
                    <a:p>
                      <a:pPr marL="1436370" algn="l" rtl="0" eaLnBrk="0">
                        <a:lnSpc>
                          <a:spcPts val="6260"/>
                        </a:lnSpc>
                        <a:spcBef>
                          <a:spcPts val="300"/>
                        </a:spcBef>
                        <a:tabLst>
                          <a:tab pos="49815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954655" algn="l" rtl="0" eaLnBrk="0">
                        <a:lnSpc>
                          <a:spcPts val="1900"/>
                        </a:lnSpc>
                        <a:spcBef>
                          <a:spcPts val="780"/>
                        </a:spcBef>
                        <a:tabLst>
                          <a:tab pos="611314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2954655" algn="l" rtl="0" eaLnBrk="0">
                        <a:lnSpc>
                          <a:spcPts val="5625"/>
                        </a:lnSpc>
                        <a:spcBef>
                          <a:spcPts val="1055"/>
                        </a:spcBef>
                        <a:tabLst>
                          <a:tab pos="651827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46000"/>
                        </a:lnSpc>
                      </a:pPr>
                      <a:endParaRPr sz="1000" dirty="0">
                        <a:latin typeface="Arial" panose="020B0604020202020204"/>
                        <a:ea typeface="Arial" panose="020B0604020202020204"/>
                        <a:cs typeface="Arial" panose="020B0604020202020204"/>
                      </a:endParaRPr>
                    </a:p>
                    <a:p>
                      <a:pPr algn="l" rtl="0" eaLnBrk="0">
                        <a:lnSpc>
                          <a:spcPct val="146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我们预期，收入为</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25</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000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美元的个人年龄每增加</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年，披萨支</a:t>
                      </a:r>
                      <a:endParaRPr sz="2100" dirty="0">
                        <a:latin typeface="楷体" panose="02010609060101010101" charset="-122"/>
                        <a:ea typeface="楷体" panose="02010609060101010101" charset="-122"/>
                        <a:cs typeface="楷体" panose="02010609060101010101" charset="-122"/>
                      </a:endParaRPr>
                    </a:p>
                    <a:p>
                      <a:pPr marL="476250" indent="34290" algn="l" rtl="0" eaLnBrk="0">
                        <a:lnSpc>
                          <a:spcPct val="152000"/>
                        </a:lnSpc>
                        <a:spcBef>
                          <a:spcPts val="15"/>
                        </a:spcBef>
                      </a:pP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出减少</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6.06</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美元；而收入为</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90000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美</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元的个人年龄每增加</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年，</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披萨支出减少</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14.07</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750" name="picture 750"/>
          <p:cNvPicPr>
            <a:picLocks noChangeAspect="1"/>
          </p:cNvPicPr>
          <p:nvPr/>
        </p:nvPicPr>
        <p:blipFill>
          <a:blip r:embed="rId1"/>
          <a:stretch>
            <a:fillRect/>
          </a:stretch>
        </p:blipFill>
        <p:spPr>
          <a:xfrm rot="21600000">
            <a:off x="3769399" y="3426367"/>
            <a:ext cx="3564612" cy="714457"/>
          </a:xfrm>
          <a:prstGeom prst="rect">
            <a:avLst/>
          </a:prstGeom>
        </p:spPr>
      </p:pic>
      <p:pic>
        <p:nvPicPr>
          <p:cNvPr id="752" name="picture 752"/>
          <p:cNvPicPr>
            <a:picLocks noChangeAspect="1"/>
          </p:cNvPicPr>
          <p:nvPr/>
        </p:nvPicPr>
        <p:blipFill>
          <a:blip r:embed="rId2"/>
          <a:stretch>
            <a:fillRect/>
          </a:stretch>
        </p:blipFill>
        <p:spPr>
          <a:xfrm rot="21600000">
            <a:off x="3769399" y="3050846"/>
            <a:ext cx="3158481" cy="241513"/>
          </a:xfrm>
          <a:prstGeom prst="rect">
            <a:avLst/>
          </a:prstGeom>
        </p:spPr>
      </p:pic>
      <p:pic>
        <p:nvPicPr>
          <p:cNvPr id="754" name="picture 754"/>
          <p:cNvPicPr>
            <a:picLocks noChangeAspect="1"/>
          </p:cNvPicPr>
          <p:nvPr/>
        </p:nvPicPr>
        <p:blipFill>
          <a:blip r:embed="rId3"/>
          <a:stretch>
            <a:fillRect/>
          </a:stretch>
        </p:blipFill>
        <p:spPr>
          <a:xfrm rot="21600000">
            <a:off x="2251401" y="2156385"/>
            <a:ext cx="3545878" cy="795174"/>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8" name="table 758"/>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606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76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211455" algn="l" rtl="0" eaLnBrk="0">
                        <a:lnSpc>
                          <a:spcPct val="94000"/>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考虑一个工资方差，其中</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WAGE</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取决于受</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教育年数</a:t>
                      </a:r>
                      <a:endParaRPr sz="2100" dirty="0">
                        <a:latin typeface="楷体" panose="02010609060101010101" charset="-122"/>
                        <a:ea typeface="楷体" panose="02010609060101010101" charset="-122"/>
                        <a:cs typeface="楷体" panose="02010609060101010101" charset="-122"/>
                      </a:endParaRPr>
                    </a:p>
                    <a:p>
                      <a:pPr marL="476885" algn="l" rtl="0" eaLnBrk="0">
                        <a:lnSpc>
                          <a:spcPts val="3965"/>
                        </a:lnSpc>
                      </a:pPr>
                      <a:r>
                        <a:rPr sz="21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和工作经验年数：</a:t>
                      </a:r>
                      <a:endParaRPr sz="21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3000"/>
                        </a:lnSpc>
                      </a:pPr>
                      <a:endParaRPr sz="1000" dirty="0">
                        <a:latin typeface="Arial" panose="020B0604020202020204"/>
                        <a:ea typeface="Arial" panose="020B0604020202020204"/>
                        <a:cs typeface="Arial" panose="020B0604020202020204"/>
                      </a:endParaRPr>
                    </a:p>
                    <a:p>
                      <a:pPr marL="1413510" algn="l" rtl="0" eaLnBrk="0">
                        <a:lnSpc>
                          <a:spcPct val="100000"/>
                        </a:lnSpc>
                        <a:spcBef>
                          <a:spcPts val="840"/>
                        </a:spcBef>
                      </a:pPr>
                      <a:r>
                        <a:rPr sz="21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1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0" dirty="0">
                          <a:solidFill>
                            <a:srgbClr val="000000">
                              <a:alpha val="100000"/>
                            </a:srgbClr>
                          </a:solidFill>
                          <a:latin typeface="Arial" panose="020B0604020202020204"/>
                          <a:ea typeface="Arial" panose="020B0604020202020204"/>
                          <a:cs typeface="Arial" panose="020B06040202020202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WAGE</a:t>
                      </a:r>
                      <a:r>
                        <a:rPr sz="2100" i="1"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0" dirty="0">
                          <a:solidFill>
                            <a:srgbClr val="000000">
                              <a:alpha val="100000"/>
                            </a:srgbClr>
                          </a:solidFill>
                          <a:latin typeface="Arial" panose="020B0604020202020204"/>
                          <a:ea typeface="Arial" panose="020B0604020202020204"/>
                          <a:cs typeface="Arial" panose="020B0604020202020204"/>
                        </a:rPr>
                        <a:t>)</a:t>
                      </a:r>
                      <a:r>
                        <a:rPr sz="2800" kern="0" spc="-27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0" baseline="-27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Arial" panose="020B0604020202020204"/>
                          <a:ea typeface="Arial" panose="020B0604020202020204"/>
                          <a:cs typeface="Arial" panose="020B0604020202020204"/>
                        </a:rPr>
                        <a:t>+</a:t>
                      </a:r>
                      <a:r>
                        <a:rPr sz="2100" kern="0" spc="-18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0" baseline="-27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21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0" baseline="-27000" dirty="0">
                          <a:solidFill>
                            <a:srgbClr val="000000">
                              <a:alpha val="100000"/>
                            </a:srgbClr>
                          </a:solidFill>
                          <a:latin typeface="Times New Roman" panose="02020603050405020304"/>
                          <a:ea typeface="Times New Roman" panose="02020603050405020304"/>
                          <a:cs typeface="Times New Roman" panose="02020603050405020304"/>
                        </a:rPr>
                        <a:t>3</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EXPE</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R</a:t>
                      </a: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Arial" panose="020B0604020202020204"/>
                          <a:ea typeface="Arial" panose="020B0604020202020204"/>
                          <a:cs typeface="Arial" panose="020B0604020202020204"/>
                        </a:rPr>
                        <a:t>+</a:t>
                      </a:r>
                      <a:r>
                        <a:rPr sz="2100" kern="0" spc="-140" dirty="0">
                          <a:solidFill>
                            <a:srgbClr val="000000">
                              <a:alpha val="100000"/>
                            </a:srgbClr>
                          </a:solidFill>
                          <a:latin typeface="Arial" panose="020B0604020202020204"/>
                          <a:ea typeface="Arial" panose="020B0604020202020204"/>
                          <a:cs typeface="Arial" panose="020B06040202020202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sz="2100" dirty="0">
                        <a:latin typeface="Times New Roman" panose="02020603050405020304"/>
                        <a:ea typeface="Times New Roman" panose="02020603050405020304"/>
                        <a:cs typeface="Times New Roman" panose="020206030504050203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8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如果我们认为额外的经验年数对工资的影响效应取决于教育</a:t>
                      </a:r>
                      <a:endParaRPr sz="2100" dirty="0">
                        <a:latin typeface="楷体" panose="02010609060101010101" charset="-122"/>
                        <a:ea typeface="楷体" panose="02010609060101010101" charset="-122"/>
                        <a:cs typeface="楷体" panose="02010609060101010101" charset="-122"/>
                      </a:endParaRPr>
                    </a:p>
                    <a:p>
                      <a:pPr marL="467995" algn="l" rtl="0" eaLnBrk="0">
                        <a:lnSpc>
                          <a:spcPts val="3960"/>
                        </a:lnSpc>
                      </a:pP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程度，则我们加入交互</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项：</a:t>
                      </a:r>
                      <a:endParaRPr sz="2100" dirty="0">
                        <a:latin typeface="楷体" panose="02010609060101010101" charset="-122"/>
                        <a:ea typeface="楷体" panose="02010609060101010101" charset="-122"/>
                        <a:cs typeface="楷体" panose="02010609060101010101"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3000"/>
                        </a:lnSpc>
                      </a:pPr>
                      <a:endParaRPr sz="600" dirty="0">
                        <a:latin typeface="Arial" panose="020B0604020202020204"/>
                        <a:ea typeface="Arial" panose="020B0604020202020204"/>
                        <a:cs typeface="Arial" panose="020B0604020202020204"/>
                      </a:endParaRPr>
                    </a:p>
                    <a:p>
                      <a:pPr marL="417195" algn="l" rtl="0" eaLnBrk="0">
                        <a:lnSpc>
                          <a:spcPct val="95000"/>
                        </a:lnSpc>
                        <a:spcBef>
                          <a:spcPts val="5"/>
                        </a:spcBef>
                      </a:pPr>
                      <a:r>
                        <a:rPr sz="2100" kern="0" spc="-60" dirty="0">
                          <a:solidFill>
                            <a:srgbClr val="000000">
                              <a:alpha val="100000"/>
                            </a:srgbClr>
                          </a:solidFill>
                          <a:latin typeface="Times New Roman" panose="02020603050405020304"/>
                          <a:ea typeface="Times New Roman" panose="02020603050405020304"/>
                          <a:cs typeface="Times New Roman" panose="02020603050405020304"/>
                        </a:rPr>
                        <a:t>ln</a:t>
                      </a:r>
                      <a:r>
                        <a:rPr sz="21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60" dirty="0">
                          <a:solidFill>
                            <a:srgbClr val="000000">
                              <a:alpha val="100000"/>
                            </a:srgbClr>
                          </a:solidFill>
                          <a:latin typeface="Arial" panose="020B0604020202020204"/>
                          <a:ea typeface="Arial" panose="020B0604020202020204"/>
                          <a:cs typeface="Arial" panose="020B0604020202020204"/>
                        </a:rPr>
                        <a:t>(</a:t>
                      </a:r>
                      <a:r>
                        <a:rPr sz="2100" i="1" kern="0" spc="-60" dirty="0">
                          <a:solidFill>
                            <a:srgbClr val="000000">
                              <a:alpha val="100000"/>
                            </a:srgbClr>
                          </a:solidFill>
                          <a:latin typeface="Times New Roman" panose="02020603050405020304"/>
                          <a:ea typeface="Times New Roman" panose="02020603050405020304"/>
                          <a:cs typeface="Times New Roman" panose="02020603050405020304"/>
                        </a:rPr>
                        <a:t>WAGE</a:t>
                      </a:r>
                      <a:r>
                        <a:rPr sz="2100" i="1"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60" dirty="0">
                          <a:solidFill>
                            <a:srgbClr val="000000">
                              <a:alpha val="100000"/>
                            </a:srgbClr>
                          </a:solidFill>
                          <a:latin typeface="Arial" panose="020B0604020202020204"/>
                          <a:ea typeface="Arial" panose="020B0604020202020204"/>
                          <a:cs typeface="Arial" panose="020B0604020202020204"/>
                        </a:rPr>
                        <a:t>)</a:t>
                      </a:r>
                      <a:r>
                        <a:rPr sz="2700" kern="0" spc="-250" dirty="0">
                          <a:solidFill>
                            <a:srgbClr val="000000">
                              <a:alpha val="100000"/>
                            </a:srgbClr>
                          </a:solidFill>
                          <a:latin typeface="Arial" panose="020B0604020202020204"/>
                          <a:ea typeface="Arial" panose="020B0604020202020204"/>
                          <a:cs typeface="Arial" panose="020B0604020202020204"/>
                        </a:rPr>
                        <a:t> </a:t>
                      </a:r>
                      <a:r>
                        <a:rPr sz="2100" kern="0" spc="-60" dirty="0">
                          <a:solidFill>
                            <a:srgbClr val="000000">
                              <a:alpha val="100000"/>
                            </a:srgbClr>
                          </a:solidFill>
                          <a:latin typeface="Arial" panose="020B0604020202020204"/>
                          <a:ea typeface="Arial" panose="020B0604020202020204"/>
                          <a:cs typeface="Arial" panose="020B0604020202020204"/>
                        </a:rPr>
                        <a:t>=</a:t>
                      </a:r>
                      <a:r>
                        <a:rPr sz="2100" kern="0" spc="-70" dirty="0">
                          <a:solidFill>
                            <a:srgbClr val="000000">
                              <a:alpha val="100000"/>
                            </a:srgbClr>
                          </a:solidFill>
                          <a:latin typeface="Arial" panose="020B0604020202020204"/>
                          <a:ea typeface="Arial" panose="020B0604020202020204"/>
                          <a:cs typeface="Arial" panose="020B0604020202020204"/>
                        </a:rPr>
                        <a:t> </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7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2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8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5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2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21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8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5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EXPER</a:t>
                      </a:r>
                      <a:r>
                        <a:rPr sz="21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8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β</a:t>
                      </a:r>
                      <a:r>
                        <a:rPr sz="1900" kern="0" spc="50" baseline="-25000" dirty="0">
                          <a:solidFill>
                            <a:srgbClr val="000000">
                              <a:alpha val="100000"/>
                            </a:srgbClr>
                          </a:solidFill>
                          <a:latin typeface="Times New Roman" panose="02020603050405020304"/>
                          <a:ea typeface="Times New Roman" panose="02020603050405020304"/>
                          <a:cs typeface="Times New Roman" panose="02020603050405020304"/>
                        </a:rPr>
                        <a:t>4</a:t>
                      </a:r>
                      <a:r>
                        <a:rPr sz="12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40" dirty="0">
                          <a:solidFill>
                            <a:srgbClr val="000000">
                              <a:alpha val="100000"/>
                            </a:srgbClr>
                          </a:solidFill>
                          <a:latin typeface="Arial" panose="020B0604020202020204"/>
                          <a:ea typeface="Arial" panose="020B0604020202020204"/>
                          <a:cs typeface="Arial" panose="020B06040202020202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270" dirty="0">
                          <a:solidFill>
                            <a:srgbClr val="000000">
                              <a:alpha val="100000"/>
                            </a:srgbClr>
                          </a:solidFill>
                          <a:latin typeface="Arial" panose="020B0604020202020204"/>
                          <a:ea typeface="Arial" panose="020B0604020202020204"/>
                          <a:cs typeface="Arial" panose="020B06040202020202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EXPER</a:t>
                      </a:r>
                      <a:r>
                        <a:rPr sz="2700" kern="0" spc="40" dirty="0">
                          <a:solidFill>
                            <a:srgbClr val="000000">
                              <a:alpha val="100000"/>
                            </a:srgbClr>
                          </a:solidFill>
                          <a:latin typeface="Arial" panose="020B0604020202020204"/>
                          <a:ea typeface="Arial" panose="020B0604020202020204"/>
                          <a:cs typeface="Arial" panose="020B0604020202020204"/>
                        </a:rPr>
                        <a:t>)</a:t>
                      </a:r>
                      <a:r>
                        <a:rPr sz="2700" kern="0" spc="-40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40" dirty="0">
                          <a:solidFill>
                            <a:srgbClr val="000000">
                              <a:alpha val="100000"/>
                            </a:srgbClr>
                          </a:solidFill>
                          <a:latin typeface="Arial" panose="020B0604020202020204"/>
                          <a:ea typeface="Arial" panose="020B0604020202020204"/>
                          <a:cs typeface="Arial" panose="020B0604020202020204"/>
                        </a:rPr>
                        <a:t> </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e</a:t>
                      </a:r>
                      <a:endParaRPr sz="21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2" name="table 76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2885"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77</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给定教育程度不比，额外一年工作经验的效应是：</a:t>
                      </a:r>
                      <a:endParaRPr sz="2100" dirty="0">
                        <a:latin typeface="楷体" panose="02010609060101010101" charset="-122"/>
                        <a:ea typeface="楷体" panose="02010609060101010101" charset="-122"/>
                        <a:cs typeface="楷体" panose="02010609060101010101" charset="-122"/>
                      </a:endParaRPr>
                    </a:p>
                    <a:p>
                      <a:pPr algn="l" rtl="0" eaLnBrk="0">
                        <a:lnSpc>
                          <a:spcPct val="193000"/>
                        </a:lnSpc>
                      </a:pPr>
                      <a:endParaRPr sz="1000" dirty="0">
                        <a:latin typeface="Arial" panose="020B0604020202020204"/>
                        <a:ea typeface="Arial" panose="020B0604020202020204"/>
                        <a:cs typeface="Arial" panose="020B0604020202020204"/>
                      </a:endParaRPr>
                    </a:p>
                    <a:p>
                      <a:pPr marL="1670685" algn="l" rtl="0" eaLnBrk="0">
                        <a:lnSpc>
                          <a:spcPts val="6205"/>
                        </a:lnSpc>
                        <a:spcBef>
                          <a:spcPts val="300"/>
                        </a:spcBef>
                        <a:tabLst>
                          <a:tab pos="558292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68000"/>
                        </a:lnSpc>
                      </a:pPr>
                      <a:endParaRPr sz="1000" dirty="0">
                        <a:latin typeface="Arial" panose="020B0604020202020204"/>
                        <a:ea typeface="Arial" panose="020B0604020202020204"/>
                        <a:cs typeface="Arial" panose="020B0604020202020204"/>
                      </a:endParaRPr>
                    </a:p>
                    <a:p>
                      <a:pPr marL="497840" indent="-286385" algn="l" rtl="0" eaLnBrk="0">
                        <a:lnSpc>
                          <a:spcPct val="133000"/>
                        </a:lnSpc>
                        <a:spcBef>
                          <a:spcPts val="64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额外一年工作经验导致工资变动的百</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分比近似等于</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100(β</a:t>
                      </a:r>
                      <a:r>
                        <a:rPr sz="2200" kern="0" spc="40" baseline="-2400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40" baseline="-24000" dirty="0">
                          <a:solidFill>
                            <a:srgbClr val="000000">
                              <a:alpha val="100000"/>
                            </a:srgbClr>
                          </a:solidFill>
                          <a:latin typeface="Times New Roman" panose="02020603050405020304"/>
                          <a:ea typeface="Times New Roman" panose="02020603050405020304"/>
                          <a:cs typeface="Times New Roman" panose="02020603050405020304"/>
                        </a:rPr>
                        <a:t>4</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marL="211455" algn="l" rtl="0" eaLnBrk="0">
                        <a:lnSpc>
                          <a:spcPct val="94000"/>
                        </a:lnSpc>
                        <a:spcBef>
                          <a:spcPts val="182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估计模型是</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1009650" algn="l" rtl="0" eaLnBrk="0">
                        <a:lnSpc>
                          <a:spcPts val="3215"/>
                        </a:lnSpc>
                        <a:spcBef>
                          <a:spcPts val="300"/>
                        </a:spcBef>
                        <a:tabLst>
                          <a:tab pos="650938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3000"/>
                        </a:lnSpc>
                      </a:pPr>
                      <a:endParaRPr sz="800" dirty="0">
                        <a:latin typeface="Arial" panose="020B0604020202020204"/>
                        <a:ea typeface="Arial" panose="020B0604020202020204"/>
                        <a:cs typeface="Arial" panose="020B0604020202020204"/>
                      </a:endParaRPr>
                    </a:p>
                    <a:p>
                      <a:pPr marL="2250440" algn="l" rtl="0" eaLnBrk="0">
                        <a:lnSpc>
                          <a:spcPts val="2405"/>
                        </a:lnSpc>
                        <a:spcBef>
                          <a:spcPts val="0"/>
                        </a:spcBef>
                        <a:tabLst>
                          <a:tab pos="538607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764" name="picture 764"/>
          <p:cNvPicPr>
            <a:picLocks noChangeAspect="1"/>
          </p:cNvPicPr>
          <p:nvPr/>
        </p:nvPicPr>
        <p:blipFill>
          <a:blip r:embed="rId1"/>
          <a:stretch>
            <a:fillRect/>
          </a:stretch>
        </p:blipFill>
        <p:spPr>
          <a:xfrm rot="21600000">
            <a:off x="3065237" y="5645792"/>
            <a:ext cx="3136515" cy="305467"/>
          </a:xfrm>
          <a:prstGeom prst="rect">
            <a:avLst/>
          </a:prstGeom>
        </p:spPr>
      </p:pic>
      <p:pic>
        <p:nvPicPr>
          <p:cNvPr id="766" name="picture 766"/>
          <p:cNvPicPr>
            <a:picLocks noChangeAspect="1"/>
          </p:cNvPicPr>
          <p:nvPr/>
        </p:nvPicPr>
        <p:blipFill>
          <a:blip r:embed="rId2"/>
          <a:stretch>
            <a:fillRect/>
          </a:stretch>
        </p:blipFill>
        <p:spPr>
          <a:xfrm rot="21600000">
            <a:off x="1824839" y="5111812"/>
            <a:ext cx="5500335" cy="408293"/>
          </a:xfrm>
          <a:prstGeom prst="rect">
            <a:avLst/>
          </a:prstGeom>
        </p:spPr>
      </p:pic>
      <p:pic>
        <p:nvPicPr>
          <p:cNvPr id="768" name="picture 768"/>
          <p:cNvPicPr>
            <a:picLocks noChangeAspect="1"/>
          </p:cNvPicPr>
          <p:nvPr/>
        </p:nvPicPr>
        <p:blipFill>
          <a:blip r:embed="rId3"/>
          <a:stretch>
            <a:fillRect/>
          </a:stretch>
        </p:blipFill>
        <p:spPr>
          <a:xfrm rot="21600000">
            <a:off x="2485339" y="2243514"/>
            <a:ext cx="3912738" cy="787949"/>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2" name="table 772"/>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971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78</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5"/>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如果模型中既包括交互项，又包括平方项：</a:t>
                      </a:r>
                      <a:endParaRPr sz="21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marL="798830" algn="l" rtl="0" eaLnBrk="0">
                        <a:lnSpc>
                          <a:spcPct val="80000"/>
                        </a:lnSpc>
                        <a:spcBef>
                          <a:spcPts val="720"/>
                        </a:spcBef>
                      </a:pPr>
                      <a:r>
                        <a:rPr sz="1800" kern="0" spc="-70" dirty="0">
                          <a:solidFill>
                            <a:srgbClr val="000000">
                              <a:alpha val="100000"/>
                            </a:srgbClr>
                          </a:solidFill>
                          <a:latin typeface="Times New Roman" panose="02020603050405020304"/>
                          <a:ea typeface="Times New Roman" panose="02020603050405020304"/>
                          <a:cs typeface="Times New Roman" panose="02020603050405020304"/>
                        </a:rPr>
                        <a:t>ln</a:t>
                      </a:r>
                      <a:r>
                        <a:rPr sz="18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i="1" kern="0" spc="-70" dirty="0">
                          <a:solidFill>
                            <a:srgbClr val="000000">
                              <a:alpha val="100000"/>
                            </a:srgbClr>
                          </a:solidFill>
                          <a:latin typeface="Times New Roman" panose="02020603050405020304"/>
                          <a:ea typeface="Times New Roman" panose="02020603050405020304"/>
                          <a:cs typeface="Times New Roman" panose="02020603050405020304"/>
                        </a:rPr>
                        <a:t>WAGE</a:t>
                      </a:r>
                      <a:r>
                        <a:rPr sz="1800" i="1"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2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70" dirty="0">
                          <a:solidFill>
                            <a:srgbClr val="000000">
                              <a:alpha val="100000"/>
                            </a:srgbClr>
                          </a:solidFill>
                          <a:latin typeface="Times New Roman" panose="02020603050405020304"/>
                          <a:ea typeface="Times New Roman" panose="02020603050405020304"/>
                          <a:cs typeface="Times New Roman" panose="02020603050405020304"/>
                        </a:rPr>
                        <a:t>β</a:t>
                      </a:r>
                      <a:r>
                        <a:rPr sz="1600" kern="0" spc="2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0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90" dirty="0">
                          <a:solidFill>
                            <a:srgbClr val="000000">
                              <a:alpha val="100000"/>
                            </a:srgbClr>
                          </a:solidFill>
                          <a:latin typeface="Times New Roman" panose="02020603050405020304"/>
                          <a:ea typeface="Times New Roman" panose="02020603050405020304"/>
                          <a:cs typeface="Times New Roman" panose="02020603050405020304"/>
                        </a:rPr>
                        <a:t>β</a:t>
                      </a:r>
                      <a:r>
                        <a:rPr sz="1600" kern="0" spc="11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1800" i="1" kern="0" spc="-9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10" dirty="0">
                          <a:solidFill>
                            <a:srgbClr val="000000">
                              <a:alpha val="100000"/>
                            </a:srgbClr>
                          </a:solidFill>
                          <a:latin typeface="Times New Roman" panose="02020603050405020304"/>
                          <a:ea typeface="Times New Roman" panose="02020603050405020304"/>
                          <a:cs typeface="Times New Roman" panose="02020603050405020304"/>
                        </a:rPr>
                        <a:t>β</a:t>
                      </a:r>
                      <a:r>
                        <a:rPr sz="1600" kern="0" spc="110" baseline="-26000" dirty="0">
                          <a:solidFill>
                            <a:srgbClr val="000000">
                              <a:alpha val="100000"/>
                            </a:srgbClr>
                          </a:solidFill>
                          <a:latin typeface="Times New Roman" panose="02020603050405020304"/>
                          <a:ea typeface="Times New Roman" panose="02020603050405020304"/>
                          <a:cs typeface="Times New Roman" panose="02020603050405020304"/>
                        </a:rPr>
                        <a:t>3</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EXPER</a:t>
                      </a:r>
                      <a:r>
                        <a:rPr sz="18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1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kern="0" spc="110" dirty="0">
                          <a:solidFill>
                            <a:srgbClr val="000000">
                              <a:alpha val="100000"/>
                            </a:srgbClr>
                          </a:solidFill>
                          <a:latin typeface="Times New Roman" panose="02020603050405020304"/>
                          <a:ea typeface="Times New Roman" panose="02020603050405020304"/>
                          <a:cs typeface="Times New Roman" panose="02020603050405020304"/>
                        </a:rPr>
                        <a:t>β</a:t>
                      </a:r>
                      <a:r>
                        <a:rPr sz="1600" kern="0" spc="110" baseline="-26000" dirty="0">
                          <a:solidFill>
                            <a:srgbClr val="000000">
                              <a:alpha val="100000"/>
                            </a:srgbClr>
                          </a:solidFill>
                          <a:latin typeface="Times New Roman" panose="02020603050405020304"/>
                          <a:ea typeface="Times New Roman" panose="02020603050405020304"/>
                          <a:cs typeface="Times New Roman" panose="02020603050405020304"/>
                        </a:rPr>
                        <a:t>4</a:t>
                      </a:r>
                      <a:r>
                        <a:rPr sz="10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18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EXPER</a:t>
                      </a:r>
                      <a:r>
                        <a:rPr sz="240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400" dirty="0">
                        <a:latin typeface="微软雅黑" panose="020B0503020204020204" charset="-122"/>
                        <a:ea typeface="微软雅黑" panose="020B0503020204020204" charset="-122"/>
                        <a:cs typeface="微软雅黑" panose="020B0503020204020204" charset="-122"/>
                      </a:endParaRPr>
                    </a:p>
                    <a:p>
                      <a:pPr marL="1960880" algn="l" rtl="0" eaLnBrk="0">
                        <a:lnSpc>
                          <a:spcPts val="2315"/>
                        </a:lnSpc>
                        <a:spcBef>
                          <a:spcPts val="960"/>
                        </a:spcBef>
                      </a:pPr>
                      <a:r>
                        <a:rPr sz="180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160" dirty="0">
                          <a:solidFill>
                            <a:srgbClr val="000000">
                              <a:alpha val="100000"/>
                            </a:srgbClr>
                          </a:solidFill>
                          <a:latin typeface="Times New Roman" panose="02020603050405020304"/>
                          <a:ea typeface="Times New Roman" panose="02020603050405020304"/>
                          <a:cs typeface="Times New Roman" panose="02020603050405020304"/>
                        </a:rPr>
                        <a:t>β</a:t>
                      </a:r>
                      <a:r>
                        <a:rPr sz="1600" kern="0" spc="30" baseline="-18000" dirty="0">
                          <a:solidFill>
                            <a:srgbClr val="000000">
                              <a:alpha val="100000"/>
                            </a:srgbClr>
                          </a:solidFill>
                          <a:latin typeface="Times New Roman" panose="02020603050405020304"/>
                          <a:ea typeface="Times New Roman" panose="02020603050405020304"/>
                          <a:cs typeface="Times New Roman" panose="02020603050405020304"/>
                        </a:rPr>
                        <a:t>5</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EXPER</a:t>
                      </a:r>
                      <a:r>
                        <a:rPr sz="1600" kern="0" spc="30" baseline="63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800" kern="0" spc="-1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800" i="1" kern="0" spc="30" dirty="0">
                          <a:solidFill>
                            <a:srgbClr val="000000">
                              <a:alpha val="100000"/>
                            </a:srgbClr>
                          </a:solidFill>
                          <a:latin typeface="Times New Roman" panose="02020603050405020304"/>
                          <a:ea typeface="Times New Roman" panose="02020603050405020304"/>
                          <a:cs typeface="Times New Roman" panose="02020603050405020304"/>
                        </a:rPr>
                        <a:t>e</a:t>
                      </a:r>
                      <a:endParaRPr sz="1800" dirty="0">
                        <a:latin typeface="Times New Roman" panose="02020603050405020304"/>
                        <a:ea typeface="Times New Roman" panose="02020603050405020304"/>
                        <a:cs typeface="Times New Roman" panose="020206030504050203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marL="473075" indent="-261620" algn="l" rtl="0" eaLnBrk="0">
                        <a:lnSpc>
                          <a:spcPct val="128000"/>
                        </a:lnSpc>
                        <a:spcBef>
                          <a:spcPts val="63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则我们发现，工作经验增加</a:t>
                      </a:r>
                      <a:r>
                        <a:rPr sz="2100" kern="0" spc="80" dirty="0">
                          <a:solidFill>
                            <a:srgbClr val="000000">
                              <a:alpha val="100000"/>
                            </a:srgbClr>
                          </a:solidFill>
                          <a:latin typeface="Perpetua" panose="02020502060401020303"/>
                          <a:ea typeface="Perpetua" panose="02020502060401020303"/>
                          <a:cs typeface="Perpetua" panose="02020502060401020303"/>
                        </a:rPr>
                        <a:t>1</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年，导致工资变动的百分比</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近</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似等于：</a:t>
                      </a:r>
                      <a:endParaRPr sz="2100" dirty="0">
                        <a:latin typeface="楷体" panose="02010609060101010101" charset="-122"/>
                        <a:ea typeface="楷体" panose="02010609060101010101" charset="-122"/>
                        <a:cs typeface="楷体" panose="02010609060101010101" charset="-122"/>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09000"/>
                        </a:lnSpc>
                      </a:pPr>
                      <a:endParaRPr sz="600" dirty="0">
                        <a:latin typeface="Arial" panose="020B0604020202020204"/>
                        <a:ea typeface="Arial" panose="020B0604020202020204"/>
                        <a:cs typeface="Arial" panose="020B0604020202020204"/>
                      </a:endParaRPr>
                    </a:p>
                    <a:p>
                      <a:pPr marL="1328420" algn="l" rtl="0" eaLnBrk="0">
                        <a:lnSpc>
                          <a:spcPct val="80000"/>
                        </a:lnSpc>
                        <a:spcBef>
                          <a:spcPts val="5"/>
                        </a:spcBef>
                      </a:pPr>
                      <a:r>
                        <a:rPr sz="19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Δ</a:t>
                      </a:r>
                      <a:r>
                        <a:rPr sz="1900" i="1" kern="0" spc="0" dirty="0">
                          <a:solidFill>
                            <a:srgbClr val="000000">
                              <a:alpha val="100000"/>
                            </a:srgbClr>
                          </a:solidFill>
                          <a:latin typeface="Times New Roman" panose="02020603050405020304"/>
                          <a:ea typeface="Times New Roman" panose="02020603050405020304"/>
                          <a:cs typeface="Times New Roman" panose="02020603050405020304"/>
                        </a:rPr>
                        <a:t>WAGE</a:t>
                      </a:r>
                      <a:r>
                        <a:rPr sz="19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三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100</a:t>
                      </a:r>
                      <a:r>
                        <a:rPr sz="19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0" baseline="-28000" dirty="0">
                          <a:solidFill>
                            <a:srgbClr val="000000">
                              <a:alpha val="100000"/>
                            </a:srgbClr>
                          </a:solidFill>
                          <a:latin typeface="Times New Roman" panose="02020603050405020304"/>
                          <a:ea typeface="Times New Roman" panose="02020603050405020304"/>
                          <a:cs typeface="Times New Roman" panose="02020603050405020304"/>
                        </a:rPr>
                        <a:t>3</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0" baseline="-28000" dirty="0">
                          <a:solidFill>
                            <a:srgbClr val="000000">
                              <a:alpha val="100000"/>
                            </a:srgbClr>
                          </a:solidFill>
                          <a:latin typeface="Times New Roman" panose="02020603050405020304"/>
                          <a:ea typeface="Times New Roman" panose="02020603050405020304"/>
                          <a:cs typeface="Times New Roman" panose="02020603050405020304"/>
                        </a:rPr>
                        <a:t>4</a:t>
                      </a:r>
                      <a:r>
                        <a:rPr sz="11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1900" i="1" kern="0" spc="0" dirty="0">
                          <a:solidFill>
                            <a:srgbClr val="000000">
                              <a:alpha val="100000"/>
                            </a:srgbClr>
                          </a:solidFill>
                          <a:latin typeface="Times New Roman" panose="02020603050405020304"/>
                          <a:ea typeface="Times New Roman" panose="02020603050405020304"/>
                          <a:cs typeface="Times New Roman" panose="02020603050405020304"/>
                        </a:rPr>
                        <a:t>EDUC</a:t>
                      </a:r>
                      <a:r>
                        <a:rPr sz="19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2β</a:t>
                      </a:r>
                      <a:r>
                        <a:rPr sz="1700" kern="0" spc="10" baseline="-28000" dirty="0">
                          <a:solidFill>
                            <a:srgbClr val="000000">
                              <a:alpha val="100000"/>
                            </a:srgbClr>
                          </a:solidFill>
                          <a:latin typeface="Times New Roman" panose="02020603050405020304"/>
                          <a:ea typeface="Times New Roman" panose="02020603050405020304"/>
                          <a:cs typeface="Times New Roman" panose="02020603050405020304"/>
                        </a:rPr>
                        <a:t>5</a:t>
                      </a:r>
                      <a:r>
                        <a:rPr sz="1900" i="1" kern="0" spc="0" dirty="0">
                          <a:solidFill>
                            <a:srgbClr val="000000">
                              <a:alpha val="100000"/>
                            </a:srgbClr>
                          </a:solidFill>
                          <a:latin typeface="Times New Roman" panose="02020603050405020304"/>
                          <a:ea typeface="Times New Roman" panose="02020603050405020304"/>
                          <a:cs typeface="Times New Roman" panose="02020603050405020304"/>
                        </a:rPr>
                        <a:t>EXPER</a:t>
                      </a:r>
                      <a:r>
                        <a:rPr sz="1900" i="1"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a:t>
                      </a:r>
                      <a:endParaRPr sz="1900" dirty="0">
                        <a:latin typeface="Times New Roman" panose="02020603050405020304"/>
                        <a:ea typeface="Times New Roman" panose="02020603050405020304"/>
                        <a:cs typeface="Times New Roman" panose="020206030504050203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10"/>
          <p:cNvGraphicFramePr>
            <a:graphicFrameLocks noGrp="1"/>
          </p:cNvGraphicFramePr>
          <p:nvPr/>
        </p:nvGraphicFramePr>
        <p:xfrm>
          <a:off x="60832" y="-241604"/>
          <a:ext cx="9018905" cy="7007859"/>
        </p:xfrm>
        <a:graphic>
          <a:graphicData uri="http://schemas.openxmlformats.org/drawingml/2006/table">
            <a:tbl>
              <a:tblPr/>
              <a:tblGrid>
                <a:gridCol w="9018905"/>
              </a:tblGrid>
              <a:tr h="5325109">
                <a:tc>
                  <a:txBody>
                    <a:bodyPr/>
                    <a:lstStyle/>
                    <a:p>
                      <a:pPr algn="l" rtl="0" eaLnBrk="0">
                        <a:lnSpc>
                          <a:spcPct val="7000"/>
                        </a:lnSpc>
                      </a:pPr>
                      <a:endParaRPr sz="100" dirty="0">
                        <a:latin typeface="Arial" panose="020B0604020202020204"/>
                        <a:ea typeface="Arial" panose="020B0604020202020204"/>
                        <a:cs typeface="Arial" panose="020B0604020202020204"/>
                      </a:endParaRPr>
                    </a:p>
                    <a:p>
                      <a:pPr marL="962660" algn="l" rtl="0" eaLnBrk="0">
                        <a:lnSpc>
                          <a:spcPct val="87000"/>
                        </a:lnSpc>
                      </a:pPr>
                      <a:r>
                        <a:rPr sz="3600" b="1" kern="0" spc="-50" dirty="0">
                          <a:solidFill>
                            <a:srgbClr val="FFFFFF">
                              <a:alpha val="100000"/>
                            </a:srgbClr>
                          </a:solidFill>
                          <a:latin typeface="黑体" panose="02010609060101010101" charset="-122"/>
                          <a:ea typeface="黑体" panose="02010609060101010101" charset="-122"/>
                          <a:cs typeface="黑体" panose="02010609060101010101" charset="-122"/>
                        </a:rPr>
                        <a:t>第五章</a:t>
                      </a:r>
                      <a:endParaRPr sz="3600" dirty="0">
                        <a:latin typeface="黑体" panose="02010609060101010101" charset="-122"/>
                        <a:ea typeface="黑体" panose="02010609060101010101" charset="-122"/>
                        <a:cs typeface="黑体" panose="02010609060101010101"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3769360" algn="l" rtl="0" eaLnBrk="0">
                        <a:lnSpc>
                          <a:spcPct val="86000"/>
                        </a:lnSpc>
                        <a:spcBef>
                          <a:spcPts val="1180"/>
                        </a:spcBef>
                      </a:pPr>
                      <a:r>
                        <a:rPr sz="3900" b="1" kern="0" spc="70" dirty="0">
                          <a:solidFill>
                            <a:srgbClr val="000000">
                              <a:alpha val="100000"/>
                            </a:srgbClr>
                          </a:solidFill>
                          <a:latin typeface="幼圆" panose="02010509060101010101" charset="-122"/>
                          <a:ea typeface="幼圆" panose="02010509060101010101" charset="-122"/>
                          <a:cs typeface="幼圆" panose="02010509060101010101" charset="-122"/>
                        </a:rPr>
                        <a:t>第五章</a:t>
                      </a:r>
                      <a:endParaRPr sz="3900" dirty="0">
                        <a:latin typeface="幼圆" panose="02010509060101010101" charset="-122"/>
                        <a:ea typeface="幼圆" panose="02010509060101010101" charset="-122"/>
                        <a:cs typeface="幼圆" panose="02010509060101010101" charset="-122"/>
                      </a:endParaRPr>
                    </a:p>
                    <a:p>
                      <a:pPr algn="l" rtl="0" eaLnBrk="0">
                        <a:lnSpc>
                          <a:spcPct val="170000"/>
                        </a:lnSpc>
                      </a:pPr>
                      <a:endParaRPr sz="1000" dirty="0">
                        <a:latin typeface="Arial" panose="020B0604020202020204"/>
                        <a:ea typeface="Arial" panose="020B0604020202020204"/>
                        <a:cs typeface="Arial" panose="020B0604020202020204"/>
                      </a:endParaRPr>
                    </a:p>
                    <a:p>
                      <a:pPr algn="l" rtl="0" eaLnBrk="0">
                        <a:lnSpc>
                          <a:spcPct val="108000"/>
                        </a:lnSpc>
                      </a:pPr>
                      <a:endParaRPr sz="9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26820" algn="ctr" rtl="0" eaLnBrk="0">
                        <a:lnSpc>
                          <a:spcPct val="86000"/>
                        </a:lnSpc>
                      </a:pPr>
                      <a:r>
                        <a:rPr lang="zh-CN" altLang="en-US" sz="3900" b="1" kern="0" spc="80" dirty="0">
                          <a:solidFill>
                            <a:srgbClr val="000000">
                              <a:alpha val="100000"/>
                            </a:srgbClr>
                          </a:solidFill>
                          <a:latin typeface="楷体" panose="02010609060101010101" charset="-122"/>
                          <a:ea typeface="幼圆" panose="02010509060101010101" charset="-122"/>
                          <a:cs typeface="楷体" panose="02010609060101010101" charset="-122"/>
                        </a:rPr>
                        <a:t>多元线性回归的其他推断</a:t>
                      </a:r>
                      <a:endParaRPr sz="3900" b="1" kern="0" spc="80" dirty="0">
                        <a:solidFill>
                          <a:srgbClr val="000000">
                            <a:alpha val="100000"/>
                          </a:srgbClr>
                        </a:solidFill>
                        <a:latin typeface="幼圆" panose="02010509060101010101" charset="-122"/>
                        <a:ea typeface="幼圆" panose="02010509060101010101" charset="-122"/>
                        <a:cs typeface="幼圆" panose="020105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682750">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7051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table 52"/>
          <p:cNvGraphicFramePr>
            <a:graphicFrameLocks noGrp="1"/>
          </p:cNvGraphicFramePr>
          <p:nvPr/>
        </p:nvGraphicFramePr>
        <p:xfrm>
          <a:off x="60832" y="66928"/>
          <a:ext cx="9018905" cy="6699250"/>
        </p:xfrm>
        <a:graphic>
          <a:graphicData uri="http://schemas.openxmlformats.org/drawingml/2006/table">
            <a:tbl>
              <a:tblPr/>
              <a:tblGrid>
                <a:gridCol w="9018905"/>
              </a:tblGrid>
              <a:tr h="5940425">
                <a:tc>
                  <a:txBody>
                    <a:bodyPr/>
                    <a:lstStyle/>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0" marR="0" lvl="0" indent="0" algn="ctr" defTabSz="914400" rtl="0" eaLnBrk="0" fontAlgn="auto" latinLnBrk="0" hangingPunct="1">
                        <a:lnSpc>
                          <a:spcPct val="123000"/>
                        </a:lnSpc>
                        <a:spcBef>
                          <a:spcPts val="0"/>
                        </a:spcBef>
                        <a:spcAft>
                          <a:spcPts val="0"/>
                        </a:spcAft>
                        <a:buClrTx/>
                        <a:buSzTx/>
                        <a:buFontTx/>
                        <a:buNone/>
                        <a:defRPr/>
                      </a:pPr>
                      <a:r>
                        <a:rPr lang="zh-CN" altLang="en-US" sz="3900" b="1" kern="0" spc="80" dirty="0">
                          <a:solidFill>
                            <a:srgbClr val="000000">
                              <a:alpha val="100000"/>
                            </a:srgbClr>
                          </a:solidFill>
                          <a:latin typeface="楷体" panose="02010609060101010101" charset="-122"/>
                          <a:ea typeface="幼圆" panose="02010509060101010101" charset="-122"/>
                          <a:cs typeface="黑体" panose="02010609060101010101" charset="-122"/>
                        </a:rPr>
                        <a:t>一、</a:t>
                      </a:r>
                      <a:r>
                        <a:rPr lang="zh-CN" altLang="en-US" sz="3900" b="1" kern="0" spc="80" dirty="0">
                          <a:solidFill>
                            <a:srgbClr val="000000">
                              <a:alpha val="100000"/>
                            </a:srgbClr>
                          </a:solidFill>
                          <a:latin typeface="楷体" panose="02010609060101010101" charset="-122"/>
                          <a:ea typeface="幼圆" panose="02010509060101010101" charset="-122"/>
                          <a:cs typeface="楷体" panose="02010609060101010101" charset="-122"/>
                        </a:rPr>
                        <a:t>模型的总体显著性检验</a:t>
                      </a:r>
                      <a:endParaRPr lang="zh-CN" altLang="en-US" sz="3900" b="1" kern="0" spc="80" dirty="0">
                        <a:solidFill>
                          <a:srgbClr val="000000">
                            <a:alpha val="100000"/>
                          </a:srgbClr>
                        </a:solidFill>
                        <a:latin typeface="幼圆" panose="02010509060101010101" charset="-122"/>
                        <a:ea typeface="幼圆" panose="02010509060101010101" charset="-122"/>
                        <a:cs typeface="幼圆" panose="02010509060101010101" charset="-122"/>
                      </a:endParaRPr>
                    </a:p>
                    <a:p>
                      <a:pPr algn="l" rtl="0" eaLnBrk="0">
                        <a:lnSpc>
                          <a:spcPct val="146000"/>
                        </a:lnSpc>
                      </a:pPr>
                      <a:endParaRPr sz="1000" dirty="0">
                        <a:latin typeface="Arial" panose="020B0604020202020204"/>
                        <a:ea typeface="Arial" panose="020B0604020202020204"/>
                        <a:cs typeface="Arial" panose="020B0604020202020204"/>
                      </a:endParaRPr>
                    </a:p>
                    <a:p>
                      <a:pPr marL="1228090" indent="-262890" algn="l" rtl="0" eaLnBrk="0">
                        <a:lnSpc>
                          <a:spcPct val="12700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err="1">
                          <a:solidFill>
                            <a:srgbClr val="000000">
                              <a:alpha val="100000"/>
                            </a:srgbClr>
                          </a:solidFill>
                          <a:latin typeface="楷体" panose="02010609060101010101" charset="-122"/>
                          <a:ea typeface="楷体" panose="02010609060101010101" charset="-122"/>
                          <a:cs typeface="楷体" panose="02010609060101010101" charset="-122"/>
                        </a:rPr>
                        <a:t>考虑一</a:t>
                      </a:r>
                      <a:r>
                        <a:rPr sz="2100" kern="0" spc="50" dirty="0" err="1">
                          <a:solidFill>
                            <a:srgbClr val="000000">
                              <a:alpha val="100000"/>
                            </a:srgbClr>
                          </a:solidFill>
                          <a:latin typeface="楷体" panose="02010609060101010101" charset="-122"/>
                          <a:ea typeface="楷体" panose="02010609060101010101" charset="-122"/>
                          <a:cs typeface="楷体" panose="02010609060101010101" charset="-122"/>
                        </a:rPr>
                        <a:t>般的多元回归模型，该模型有</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(K -</a:t>
                      </a:r>
                      <a:r>
                        <a:rPr sz="21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个解释变量</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39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K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个未知系数：</a:t>
                      </a:r>
                      <a:endParaRPr sz="2100" dirty="0">
                        <a:latin typeface="楷体" panose="02010609060101010101" charset="-122"/>
                        <a:ea typeface="楷体" panose="02010609060101010101" charset="-122"/>
                        <a:cs typeface="楷体" panose="02010609060101010101" charset="-122"/>
                      </a:endParaRPr>
                    </a:p>
                    <a:p>
                      <a:pPr algn="l" rtl="0" eaLnBrk="0">
                        <a:lnSpc>
                          <a:spcPct val="136000"/>
                        </a:lnSpc>
                      </a:pPr>
                      <a:endParaRPr sz="1000" dirty="0">
                        <a:latin typeface="Arial" panose="020B0604020202020204"/>
                        <a:ea typeface="Arial" panose="020B0604020202020204"/>
                        <a:cs typeface="Arial" panose="020B0604020202020204"/>
                      </a:endParaRPr>
                    </a:p>
                    <a:p>
                      <a:pPr algn="l" rtl="0" eaLnBrk="0">
                        <a:lnSpc>
                          <a:spcPct val="137000"/>
                        </a:lnSpc>
                      </a:pPr>
                      <a:endParaRPr sz="1000" dirty="0">
                        <a:latin typeface="Arial" panose="020B0604020202020204"/>
                        <a:ea typeface="Arial" panose="020B0604020202020204"/>
                        <a:cs typeface="Arial" panose="020B0604020202020204"/>
                      </a:endParaRPr>
                    </a:p>
                    <a:p>
                      <a:pPr marL="1632585" algn="l" rtl="0" eaLnBrk="0">
                        <a:lnSpc>
                          <a:spcPts val="3165"/>
                        </a:lnSpc>
                        <a:spcBef>
                          <a:spcPts val="755"/>
                        </a:spcBef>
                      </a:pPr>
                      <a:r>
                        <a:rPr sz="2500" i="1" kern="0" spc="20" dirty="0">
                          <a:solidFill>
                            <a:srgbClr val="000000">
                              <a:alpha val="100000"/>
                            </a:srgbClr>
                          </a:solidFill>
                          <a:latin typeface="Times New Roman" panose="02020603050405020304"/>
                          <a:ea typeface="Times New Roman" panose="02020603050405020304"/>
                          <a:cs typeface="Times New Roman" panose="02020603050405020304"/>
                        </a:rPr>
                        <a:t>y </a:t>
                      </a:r>
                      <a:r>
                        <a:rPr sz="2500" kern="0" spc="20" dirty="0">
                          <a:solidFill>
                            <a:srgbClr val="000000">
                              <a:alpha val="100000"/>
                            </a:srgbClr>
                          </a:solidFill>
                          <a:latin typeface="Arial" panose="020B0604020202020204"/>
                          <a:ea typeface="Arial" panose="020B0604020202020204"/>
                          <a:cs typeface="Arial" panose="020B0604020202020204"/>
                        </a:rPr>
                        <a:t>= </a:t>
                      </a:r>
                      <a:r>
                        <a:rPr sz="25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0" baseline="-14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20" dirty="0">
                          <a:solidFill>
                            <a:srgbClr val="000000">
                              <a:alpha val="100000"/>
                            </a:srgbClr>
                          </a:solidFill>
                          <a:latin typeface="Arial" panose="020B0604020202020204"/>
                          <a:ea typeface="Arial" panose="020B0604020202020204"/>
                          <a:cs typeface="Arial" panose="020B0604020202020204"/>
                        </a:rPr>
                        <a:t>+</a:t>
                      </a:r>
                      <a:r>
                        <a:rPr sz="2500" kern="0" spc="-210" dirty="0">
                          <a:solidFill>
                            <a:srgbClr val="000000">
                              <a:alpha val="100000"/>
                            </a:srgbClr>
                          </a:solidFill>
                          <a:latin typeface="Arial" panose="020B0604020202020204"/>
                          <a:ea typeface="Arial" panose="020B0604020202020204"/>
                          <a:cs typeface="Arial" panose="020B0604020202020204"/>
                        </a:rPr>
                        <a:t> </a:t>
                      </a:r>
                      <a:r>
                        <a:rPr sz="25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20" baseline="-14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5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20" baseline="-14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20" dirty="0">
                          <a:solidFill>
                            <a:srgbClr val="000000">
                              <a:alpha val="100000"/>
                            </a:srgbClr>
                          </a:solidFill>
                          <a:latin typeface="Arial" panose="020B0604020202020204"/>
                          <a:ea typeface="Arial" panose="020B0604020202020204"/>
                          <a:cs typeface="Arial" panose="020B0604020202020204"/>
                        </a:rPr>
                        <a:t>+</a:t>
                      </a:r>
                      <a:r>
                        <a:rPr sz="2500" kern="0" spc="-210" dirty="0">
                          <a:solidFill>
                            <a:srgbClr val="000000">
                              <a:alpha val="100000"/>
                            </a:srgbClr>
                          </a:solidFill>
                          <a:latin typeface="Arial" panose="020B0604020202020204"/>
                          <a:ea typeface="Arial" panose="020B0604020202020204"/>
                          <a:cs typeface="Arial" panose="020B0604020202020204"/>
                        </a:rPr>
                        <a:t> </a:t>
                      </a:r>
                      <a:r>
                        <a:rPr sz="25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200" kern="0" spc="10" baseline="-14000" dirty="0">
                          <a:solidFill>
                            <a:srgbClr val="000000">
                              <a:alpha val="100000"/>
                            </a:srgbClr>
                          </a:solidFill>
                          <a:latin typeface="Times New Roman" panose="02020603050405020304"/>
                          <a:ea typeface="Times New Roman" panose="02020603050405020304"/>
                          <a:cs typeface="Times New Roman" panose="02020603050405020304"/>
                        </a:rPr>
                        <a:t>3</a:t>
                      </a:r>
                      <a:r>
                        <a:rPr sz="25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2200" kern="0" spc="10" baseline="-14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34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 dirty="0">
                          <a:solidFill>
                            <a:srgbClr val="000000">
                              <a:alpha val="100000"/>
                            </a:srgbClr>
                          </a:solidFill>
                          <a:latin typeface="Arial" panose="020B0604020202020204"/>
                          <a:ea typeface="Arial" panose="020B0604020202020204"/>
                          <a:cs typeface="Arial" panose="020B0604020202020204"/>
                        </a:rPr>
                        <a:t>+    +</a:t>
                      </a:r>
                      <a:r>
                        <a:rPr sz="2500" kern="0" spc="-200" dirty="0">
                          <a:solidFill>
                            <a:srgbClr val="000000">
                              <a:alpha val="100000"/>
                            </a:srgbClr>
                          </a:solidFill>
                          <a:latin typeface="Arial" panose="020B0604020202020204"/>
                          <a:ea typeface="Arial" panose="020B0604020202020204"/>
                          <a:cs typeface="Arial" panose="020B0604020202020204"/>
                        </a:rPr>
                        <a:t> </a:t>
                      </a:r>
                      <a:r>
                        <a:rPr sz="25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2200" i="1" kern="0" spc="0" baseline="-14000" dirty="0">
                          <a:solidFill>
                            <a:srgbClr val="000000">
                              <a:alpha val="100000"/>
                            </a:srgbClr>
                          </a:solidFill>
                          <a:latin typeface="Times New Roman" panose="02020603050405020304"/>
                          <a:ea typeface="Times New Roman" panose="02020603050405020304"/>
                          <a:cs typeface="Times New Roman" panose="02020603050405020304"/>
                        </a:rPr>
                        <a:t>K</a:t>
                      </a:r>
                      <a:r>
                        <a:rPr sz="25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200" i="1" kern="0" spc="0" baseline="-14000" dirty="0">
                          <a:solidFill>
                            <a:srgbClr val="000000">
                              <a:alpha val="100000"/>
                            </a:srgbClr>
                          </a:solidFill>
                          <a:latin typeface="Times New Roman" panose="02020603050405020304"/>
                          <a:ea typeface="Times New Roman" panose="02020603050405020304"/>
                          <a:cs typeface="Times New Roman" panose="02020603050405020304"/>
                        </a:rPr>
                        <a:t>K</a:t>
                      </a:r>
                      <a:r>
                        <a:rPr sz="14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 dirty="0">
                          <a:solidFill>
                            <a:srgbClr val="000000">
                              <a:alpha val="100000"/>
                            </a:srgbClr>
                          </a:solidFill>
                          <a:latin typeface="Arial" panose="020B0604020202020204"/>
                          <a:ea typeface="Arial" panose="020B0604020202020204"/>
                          <a:cs typeface="Arial" panose="020B0604020202020204"/>
                        </a:rPr>
                        <a:t>+</a:t>
                      </a:r>
                      <a:r>
                        <a:rPr sz="2500" kern="0" spc="-190" dirty="0">
                          <a:solidFill>
                            <a:srgbClr val="000000">
                              <a:alpha val="100000"/>
                            </a:srgbClr>
                          </a:solidFill>
                          <a:latin typeface="Arial" panose="020B0604020202020204"/>
                          <a:ea typeface="Arial" panose="020B0604020202020204"/>
                          <a:cs typeface="Arial" panose="020B0604020202020204"/>
                        </a:rPr>
                        <a:t> </a:t>
                      </a:r>
                      <a:r>
                        <a:rPr sz="2500" i="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5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500" kern="0" spc="10" dirty="0">
                          <a:solidFill>
                            <a:srgbClr val="000000">
                              <a:alpha val="100000"/>
                            </a:srgbClr>
                          </a:solidFill>
                          <a:latin typeface="Times New Roman" panose="02020603050405020304"/>
                          <a:ea typeface="Times New Roman" panose="02020603050405020304"/>
                          <a:cs typeface="Times New Roman" panose="02020603050405020304"/>
                        </a:rPr>
                        <a:t>5.</a:t>
                      </a:r>
                      <a:r>
                        <a:rPr lang="en-US" altLang="zh-CN" sz="2500" kern="0" spc="10" dirty="0">
                          <a:solidFill>
                            <a:srgbClr val="000000">
                              <a:alpha val="100000"/>
                            </a:srgbClr>
                          </a:solidFill>
                          <a:latin typeface="Times New Roman" panose="02020603050405020304"/>
                          <a:ea typeface="Times New Roman" panose="02020603050405020304"/>
                          <a:cs typeface="Times New Roman" panose="02020603050405020304"/>
                        </a:rPr>
                        <a:t>1</a:t>
                      </a:r>
                      <a:r>
                        <a:rPr sz="25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5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142000"/>
                        </a:lnSpc>
                      </a:pPr>
                      <a:endParaRPr sz="1000" dirty="0">
                        <a:latin typeface="Arial" panose="020B0604020202020204"/>
                        <a:ea typeface="Arial" panose="020B0604020202020204"/>
                        <a:cs typeface="Arial" panose="020B0604020202020204"/>
                      </a:endParaRPr>
                    </a:p>
                    <a:p>
                      <a:pPr algn="l" rtl="0" eaLnBrk="0">
                        <a:lnSpc>
                          <a:spcPct val="143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为检验我们是否构建了一个可靠</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的解释模型，设定如下</a:t>
                      </a:r>
                      <a:endParaRPr sz="2100" dirty="0">
                        <a:latin typeface="楷体" panose="02010609060101010101" charset="-122"/>
                        <a:ea typeface="楷体" panose="02010609060101010101" charset="-122"/>
                        <a:cs typeface="楷体" panose="02010609060101010101" charset="-122"/>
                      </a:endParaRPr>
                    </a:p>
                    <a:p>
                      <a:pPr marL="1233805" algn="l" rtl="0" eaLnBrk="0">
                        <a:lnSpc>
                          <a:spcPts val="3960"/>
                        </a:lnSpc>
                      </a:pP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原假设和备择假设：</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1826260" algn="l" rtl="0" eaLnBrk="0">
                        <a:lnSpc>
                          <a:spcPct val="92000"/>
                        </a:lnSpc>
                        <a:spcBef>
                          <a:spcPts val="690"/>
                        </a:spcBef>
                      </a:pPr>
                      <a:r>
                        <a:rPr sz="2300" i="1" kern="0" spc="20" dirty="0">
                          <a:solidFill>
                            <a:srgbClr val="000000">
                              <a:alpha val="100000"/>
                            </a:srgbClr>
                          </a:solidFill>
                          <a:latin typeface="Times New Roman" panose="02020603050405020304"/>
                          <a:ea typeface="Times New Roman" panose="02020603050405020304"/>
                          <a:cs typeface="Times New Roman" panose="02020603050405020304"/>
                        </a:rPr>
                        <a:t>H</a:t>
                      </a:r>
                      <a:r>
                        <a:rPr sz="2000" kern="0" spc="20" baseline="-26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000" kern="0" spc="2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3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0,β</a:t>
                      </a:r>
                      <a:r>
                        <a:rPr sz="2000" kern="0" spc="20" baseline="-26000" dirty="0">
                          <a:solidFill>
                            <a:srgbClr val="000000">
                              <a:alpha val="100000"/>
                            </a:srgbClr>
                          </a:solidFill>
                          <a:latin typeface="Times New Roman" panose="02020603050405020304"/>
                          <a:ea typeface="Times New Roman" panose="02020603050405020304"/>
                          <a:cs typeface="Times New Roman" panose="02020603050405020304"/>
                        </a:rPr>
                        <a:t>3</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0,</a:t>
                      </a:r>
                      <a:r>
                        <a:rPr sz="23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2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2000" i="1" kern="0" spc="20" baseline="-26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 </a:t>
                      </a:r>
                      <a:r>
                        <a:rPr sz="2300" kern="0" spc="20" dirty="0">
                          <a:solidFill>
                            <a:srgbClr val="000000">
                              <a:alpha val="100000"/>
                            </a:srgbClr>
                          </a:solidFill>
                          <a:latin typeface="Times New Roman" panose="02020603050405020304"/>
                          <a:ea typeface="Times New Roman" panose="02020603050405020304"/>
                          <a:cs typeface="Times New Roman" panose="02020603050405020304"/>
                        </a:rPr>
                        <a:t>0</a:t>
                      </a:r>
                      <a:endParaRPr sz="2300" dirty="0">
                        <a:latin typeface="Times New Roman" panose="02020603050405020304"/>
                        <a:ea typeface="Times New Roman" panose="02020603050405020304"/>
                        <a:cs typeface="Times New Roman" panose="02020603050405020304"/>
                      </a:endParaRPr>
                    </a:p>
                    <a:p>
                      <a:pPr algn="l" rtl="0" eaLnBrk="0">
                        <a:lnSpc>
                          <a:spcPct val="110000"/>
                        </a:lnSpc>
                      </a:pPr>
                      <a:endParaRPr sz="600" dirty="0">
                        <a:latin typeface="Arial" panose="020B0604020202020204"/>
                        <a:ea typeface="Arial" panose="020B0604020202020204"/>
                        <a:cs typeface="Arial" panose="020B0604020202020204"/>
                      </a:endParaRPr>
                    </a:p>
                    <a:p>
                      <a:pPr marL="1826260" algn="l" rtl="0" eaLnBrk="0">
                        <a:lnSpc>
                          <a:spcPts val="2880"/>
                        </a:lnSpc>
                        <a:spcBef>
                          <a:spcPts val="5"/>
                        </a:spcBef>
                      </a:pPr>
                      <a:r>
                        <a:rPr sz="2300" i="1" kern="0" spc="40" dirty="0">
                          <a:solidFill>
                            <a:srgbClr val="000000">
                              <a:alpha val="100000"/>
                            </a:srgbClr>
                          </a:solidFill>
                          <a:latin typeface="Times New Roman" panose="02020603050405020304"/>
                          <a:ea typeface="Times New Roman" panose="02020603050405020304"/>
                          <a:cs typeface="Times New Roman" panose="02020603050405020304"/>
                        </a:rPr>
                        <a:t>H</a:t>
                      </a:r>
                      <a:r>
                        <a:rPr sz="2000" kern="0" spc="40" baseline="-18000" dirty="0">
                          <a:solidFill>
                            <a:srgbClr val="000000">
                              <a:alpha val="100000"/>
                            </a:srgbClr>
                          </a:solidFill>
                          <a:latin typeface="Times New Roman" panose="02020603050405020304"/>
                          <a:ea typeface="Times New Roman" panose="02020603050405020304"/>
                          <a:cs typeface="Times New Roman" panose="02020603050405020304"/>
                        </a:rPr>
                        <a:t>1</a:t>
                      </a:r>
                      <a:r>
                        <a:rPr sz="1300"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40" dirty="0">
                          <a:solidFill>
                            <a:srgbClr val="000000">
                              <a:alpha val="100000"/>
                            </a:srgbClr>
                          </a:solidFill>
                          <a:latin typeface="Times New Roman" panose="02020603050405020304"/>
                          <a:ea typeface="Times New Roman" panose="02020603050405020304"/>
                          <a:cs typeface="Times New Roman" panose="02020603050405020304"/>
                        </a:rPr>
                        <a:t>:</a:t>
                      </a:r>
                      <a:r>
                        <a:rPr sz="2300" kern="0" spc="5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对</a:t>
                      </a:r>
                      <a:r>
                        <a:rPr sz="2300" i="1" kern="0" spc="40" dirty="0">
                          <a:solidFill>
                            <a:srgbClr val="000000">
                              <a:alpha val="100000"/>
                            </a:srgbClr>
                          </a:solidFill>
                          <a:latin typeface="Times New Roman" panose="02020603050405020304"/>
                          <a:ea typeface="Times New Roman" panose="02020603050405020304"/>
                          <a:cs typeface="Times New Roman" panose="02020603050405020304"/>
                        </a:rPr>
                        <a:t>k </a:t>
                      </a:r>
                      <a:r>
                        <a:rPr sz="2300" kern="0" spc="40" dirty="0">
                          <a:solidFill>
                            <a:srgbClr val="000000">
                              <a:alpha val="100000"/>
                            </a:srgbClr>
                          </a:solidFill>
                          <a:latin typeface="Arial" panose="020B0604020202020204"/>
                          <a:ea typeface="Arial" panose="020B0604020202020204"/>
                          <a:cs typeface="Arial" panose="020B0604020202020204"/>
                        </a:rPr>
                        <a:t>= </a:t>
                      </a:r>
                      <a:r>
                        <a:rPr sz="2300" kern="0" spc="40" dirty="0">
                          <a:solidFill>
                            <a:srgbClr val="000000">
                              <a:alpha val="100000"/>
                            </a:srgbClr>
                          </a:solidFill>
                          <a:latin typeface="Times New Roman" panose="02020603050405020304"/>
                          <a:ea typeface="Times New Roman" panose="02020603050405020304"/>
                          <a:cs typeface="Times New Roman" panose="02020603050405020304"/>
                        </a:rPr>
                        <a:t>2,3,    </a:t>
                      </a:r>
                      <a:r>
                        <a:rPr sz="2300" i="1" kern="0" spc="40" dirty="0">
                          <a:solidFill>
                            <a:srgbClr val="000000">
                              <a:alpha val="100000"/>
                            </a:srgbClr>
                          </a:solidFill>
                          <a:latin typeface="Times New Roman" panose="02020603050405020304"/>
                          <a:ea typeface="Times New Roman" panose="02020603050405020304"/>
                          <a:cs typeface="Times New Roman" panose="02020603050405020304"/>
                        </a:rPr>
                        <a:t>K</a:t>
                      </a:r>
                      <a:r>
                        <a:rPr sz="2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，至少有</a:t>
                      </a:r>
                      <a:r>
                        <a:rPr sz="2300" kern="0" spc="30" dirty="0">
                          <a:solidFill>
                            <a:srgbClr val="000000">
                              <a:alpha val="100000"/>
                            </a:srgbClr>
                          </a:solidFill>
                          <a:latin typeface="Times New Roman" panose="02020603050405020304"/>
                          <a:ea typeface="Times New Roman" panose="02020603050405020304"/>
                          <a:cs typeface="Times New Roman" panose="02020603050405020304"/>
                        </a:rPr>
                        <a:t>1</a:t>
                      </a:r>
                      <a:r>
                        <a:rPr sz="2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个</a:t>
                      </a:r>
                      <a:r>
                        <a:rPr sz="2300" kern="0" spc="30" dirty="0">
                          <a:solidFill>
                            <a:srgbClr val="000000">
                              <a:alpha val="100000"/>
                            </a:srgbClr>
                          </a:solidFill>
                          <a:latin typeface="Times New Roman" panose="02020603050405020304"/>
                          <a:ea typeface="Times New Roman" panose="02020603050405020304"/>
                          <a:cs typeface="Times New Roman" panose="02020603050405020304"/>
                        </a:rPr>
                        <a:t>β</a:t>
                      </a:r>
                      <a:r>
                        <a:rPr sz="2000" i="1" kern="0" spc="30" baseline="-18000" dirty="0">
                          <a:solidFill>
                            <a:srgbClr val="000000">
                              <a:alpha val="100000"/>
                            </a:srgbClr>
                          </a:solidFill>
                          <a:latin typeface="Times New Roman" panose="02020603050405020304"/>
                          <a:ea typeface="Times New Roman" panose="02020603050405020304"/>
                          <a:cs typeface="Times New Roman" panose="02020603050405020304"/>
                        </a:rPr>
                        <a:t>k</a:t>
                      </a:r>
                      <a:r>
                        <a:rPr sz="13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不等于</a:t>
                      </a:r>
                      <a:r>
                        <a:rPr sz="2300" kern="0" spc="30" dirty="0">
                          <a:solidFill>
                            <a:srgbClr val="000000">
                              <a:alpha val="100000"/>
                            </a:srgbClr>
                          </a:solidFill>
                          <a:latin typeface="Times New Roman" panose="02020603050405020304"/>
                          <a:ea typeface="Times New Roman" panose="02020603050405020304"/>
                          <a:cs typeface="Times New Roman" panose="02020603050405020304"/>
                        </a:rPr>
                        <a:t>0</a:t>
                      </a:r>
                      <a:r>
                        <a:rPr sz="23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3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58825">
                <a:tc>
                  <a:txBody>
                    <a:bodyPr/>
                    <a:lstStyle/>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marL="22542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54" name="picture 54"/>
          <p:cNvPicPr>
            <a:picLocks noChangeAspect="1"/>
          </p:cNvPicPr>
          <p:nvPr/>
        </p:nvPicPr>
        <p:blipFill>
          <a:blip r:embed="rId1"/>
          <a:stretch>
            <a:fillRect/>
          </a:stretch>
        </p:blipFill>
        <p:spPr>
          <a:xfrm rot="21600000">
            <a:off x="3787633" y="5648469"/>
            <a:ext cx="240121" cy="49488"/>
          </a:xfrm>
          <a:prstGeom prst="rect">
            <a:avLst/>
          </a:prstGeom>
        </p:spPr>
      </p:pic>
      <p:pic>
        <p:nvPicPr>
          <p:cNvPr id="56" name="picture 56"/>
          <p:cNvPicPr>
            <a:picLocks noChangeAspect="1"/>
          </p:cNvPicPr>
          <p:nvPr/>
        </p:nvPicPr>
        <p:blipFill>
          <a:blip r:embed="rId2"/>
          <a:stretch>
            <a:fillRect/>
          </a:stretch>
        </p:blipFill>
        <p:spPr>
          <a:xfrm rot="21600000">
            <a:off x="4084916" y="5177187"/>
            <a:ext cx="250153" cy="49759"/>
          </a:xfrm>
          <a:prstGeom prst="rect">
            <a:avLst/>
          </a:prstGeom>
        </p:spPr>
      </p:pic>
      <p:pic>
        <p:nvPicPr>
          <p:cNvPr id="58" name="picture 58"/>
          <p:cNvPicPr>
            <a:picLocks noChangeAspect="1"/>
          </p:cNvPicPr>
          <p:nvPr/>
        </p:nvPicPr>
        <p:blipFill>
          <a:blip r:embed="rId3"/>
          <a:stretch>
            <a:fillRect/>
          </a:stretch>
        </p:blipFill>
        <p:spPr>
          <a:xfrm rot="21600000">
            <a:off x="4473302" y="2920057"/>
            <a:ext cx="262010" cy="49863"/>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 name="table 62"/>
          <p:cNvGraphicFramePr>
            <a:graphicFrameLocks noGrp="1"/>
          </p:cNvGraphicFramePr>
          <p:nvPr/>
        </p:nvGraphicFramePr>
        <p:xfrm>
          <a:off x="60832" y="66928"/>
          <a:ext cx="9018905" cy="6699248"/>
        </p:xfrm>
        <a:graphic>
          <a:graphicData uri="http://schemas.openxmlformats.org/drawingml/2006/table">
            <a:tbl>
              <a:tblPr/>
              <a:tblGrid>
                <a:gridCol w="9018905"/>
              </a:tblGrid>
              <a:tr h="5518784">
                <a:tc>
                  <a:txBody>
                    <a:bodyPr/>
                    <a:lstStyle/>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marL="1266190" indent="-300990" algn="l" rtl="0" eaLnBrk="0">
                        <a:lnSpc>
                          <a:spcPct val="128000"/>
                        </a:lnSpc>
                        <a:spcBef>
                          <a:spcPts val="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由于我们</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对是否构建了一个可靠的解释模型进行检验，</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因此上面的检验也被称之为回归模型总体显著性检验。</a:t>
                      </a:r>
                      <a:endParaRPr sz="2100" dirty="0">
                        <a:latin typeface="楷体" panose="02010609060101010101" charset="-122"/>
                        <a:ea typeface="楷体" panose="02010609060101010101" charset="-122"/>
                        <a:cs typeface="楷体" panose="020106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marL="1220470" indent="-255270" algn="l" rtl="0" eaLnBrk="0">
                        <a:lnSpc>
                          <a:spcPct val="128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给定</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t</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分布只能用于检</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验单个原假设，我们采用</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F</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检验来</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检验上面的联合原假设。</a:t>
                      </a:r>
                      <a:endParaRPr sz="2100" dirty="0">
                        <a:latin typeface="楷体" panose="02010609060101010101" charset="-122"/>
                        <a:ea typeface="楷体" panose="02010609060101010101" charset="-122"/>
                        <a:cs typeface="楷体" panose="02010609060101010101" charset="-122"/>
                      </a:endParaRPr>
                    </a:p>
                    <a:p>
                      <a:pPr algn="l" rtl="0" eaLnBrk="0">
                        <a:lnSpc>
                          <a:spcPct val="123000"/>
                        </a:lnSpc>
                      </a:pPr>
                      <a:endParaRPr sz="1000" dirty="0">
                        <a:latin typeface="Arial" panose="020B0604020202020204"/>
                        <a:ea typeface="Arial" panose="020B0604020202020204"/>
                        <a:cs typeface="Arial" panose="020B0604020202020204"/>
                      </a:endParaRPr>
                    </a:p>
                    <a:p>
                      <a:pPr marL="1249045" indent="-283845" algn="l" rtl="0" eaLnBrk="0">
                        <a:lnSpc>
                          <a:spcPct val="121000"/>
                        </a:lnSpc>
                        <a:spcBef>
                          <a:spcPts val="72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方程（</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5.</a:t>
                      </a:r>
                      <a:r>
                        <a:rPr lang="en-US" altLang="zh-CN" sz="2100"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）给出的是无约束模型；</a:t>
                      </a:r>
                      <a:r>
                        <a:rPr sz="2400" kern="0" spc="40" dirty="0">
                          <a:solidFill>
                            <a:srgbClr val="000000">
                              <a:alpha val="100000"/>
                            </a:srgbClr>
                          </a:solidFill>
                          <a:latin typeface="楷体" panose="02010609060101010101" charset="-122"/>
                          <a:ea typeface="楷体" panose="02010609060101010101" charset="-122"/>
                          <a:cs typeface="楷体" panose="02010609060101010101" charset="-122"/>
                        </a:rPr>
                        <a:t>假定原假设为真时</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80" dirty="0">
                          <a:solidFill>
                            <a:srgbClr val="000000">
                              <a:alpha val="100000"/>
                            </a:srgbClr>
                          </a:solidFill>
                          <a:latin typeface="楷体" panose="02010609060101010101" charset="-122"/>
                          <a:ea typeface="楷体" panose="02010609060101010101" charset="-122"/>
                          <a:cs typeface="楷体" panose="02010609060101010101" charset="-122"/>
                        </a:rPr>
                        <a:t>的有约束模型为：</a:t>
                      </a:r>
                      <a:endParaRPr sz="2400" dirty="0">
                        <a:latin typeface="楷体" panose="02010609060101010101" charset="-122"/>
                        <a:ea typeface="楷体" panose="02010609060101010101" charset="-122"/>
                        <a:cs typeface="楷体" panose="02010609060101010101" charset="-122"/>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4000"/>
                        </a:lnSpc>
                      </a:pPr>
                      <a:endParaRPr sz="600" dirty="0">
                        <a:latin typeface="Arial" panose="020B0604020202020204"/>
                        <a:ea typeface="Arial" panose="020B0604020202020204"/>
                        <a:cs typeface="Arial" panose="020B0604020202020204"/>
                      </a:endParaRPr>
                    </a:p>
                    <a:p>
                      <a:pPr marL="3169285" algn="l" rtl="0" eaLnBrk="0">
                        <a:lnSpc>
                          <a:spcPts val="3035"/>
                        </a:lnSpc>
                        <a:spcBef>
                          <a:spcPts val="5"/>
                        </a:spcBef>
                      </a:pPr>
                      <a:r>
                        <a:rPr sz="2500" i="1" kern="0" spc="-30" dirty="0">
                          <a:solidFill>
                            <a:srgbClr val="000000">
                              <a:alpha val="100000"/>
                            </a:srgbClr>
                          </a:solidFill>
                          <a:latin typeface="Times New Roman" panose="02020603050405020304"/>
                          <a:ea typeface="Times New Roman" panose="02020603050405020304"/>
                          <a:cs typeface="Times New Roman" panose="02020603050405020304"/>
                        </a:rPr>
                        <a:t>y</a:t>
                      </a:r>
                      <a:r>
                        <a:rPr sz="2300" i="1" kern="0" spc="-3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30" dirty="0">
                          <a:solidFill>
                            <a:srgbClr val="000000">
                              <a:alpha val="100000"/>
                            </a:srgbClr>
                          </a:solidFill>
                          <a:latin typeface="Arial" panose="020B0604020202020204"/>
                          <a:ea typeface="Arial" panose="020B0604020202020204"/>
                          <a:cs typeface="Arial" panose="020B0604020202020204"/>
                        </a:rPr>
                        <a:t>=</a:t>
                      </a:r>
                      <a:r>
                        <a:rPr sz="2500" kern="0" spc="-80" dirty="0">
                          <a:solidFill>
                            <a:srgbClr val="000000">
                              <a:alpha val="100000"/>
                            </a:srgbClr>
                          </a:solidFill>
                          <a:latin typeface="Arial" panose="020B0604020202020204"/>
                          <a:ea typeface="Arial" panose="020B0604020202020204"/>
                          <a:cs typeface="Arial" panose="020B0604020202020204"/>
                        </a:rPr>
                        <a:t> </a:t>
                      </a:r>
                      <a:r>
                        <a:rPr sz="2500" kern="0" spc="-30" dirty="0">
                          <a:solidFill>
                            <a:srgbClr val="000000">
                              <a:alpha val="100000"/>
                            </a:srgbClr>
                          </a:solidFill>
                          <a:latin typeface="Arial" panose="020B0604020202020204"/>
                          <a:ea typeface="Arial" panose="020B0604020202020204"/>
                          <a:cs typeface="Arial" panose="020B0604020202020204"/>
                        </a:rPr>
                        <a:t>β</a:t>
                      </a:r>
                      <a:r>
                        <a:rPr sz="2300" kern="0" spc="-30" baseline="-1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30" dirty="0">
                          <a:solidFill>
                            <a:srgbClr val="000000">
                              <a:alpha val="100000"/>
                            </a:srgbClr>
                          </a:solidFill>
                          <a:latin typeface="Arial" panose="020B0604020202020204"/>
                          <a:ea typeface="Arial" panose="020B0604020202020204"/>
                          <a:cs typeface="Arial" panose="020B0604020202020204"/>
                        </a:rPr>
                        <a:t>+ </a:t>
                      </a:r>
                      <a:r>
                        <a:rPr sz="2500" i="1" kern="0" spc="-30" dirty="0">
                          <a:solidFill>
                            <a:srgbClr val="000000">
                              <a:alpha val="100000"/>
                            </a:srgbClr>
                          </a:solidFill>
                          <a:latin typeface="Times New Roman" panose="02020603050405020304"/>
                          <a:ea typeface="Times New Roman" panose="02020603050405020304"/>
                          <a:cs typeface="Times New Roman" panose="02020603050405020304"/>
                        </a:rPr>
                        <a:t>e</a:t>
                      </a:r>
                      <a:r>
                        <a:rPr sz="2300" i="1" kern="0" spc="-30" baseline="-13000" dirty="0">
                          <a:solidFill>
                            <a:srgbClr val="000000">
                              <a:alpha val="100000"/>
                            </a:srgbClr>
                          </a:solidFill>
                          <a:latin typeface="Times New Roman" panose="02020603050405020304"/>
                          <a:ea typeface="Times New Roman" panose="02020603050405020304"/>
                          <a:cs typeface="Times New Roman" panose="02020603050405020304"/>
                        </a:rPr>
                        <a:t>i</a:t>
                      </a:r>
                      <a:r>
                        <a:rPr sz="14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14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300" kern="0" spc="-40" dirty="0">
                          <a:solidFill>
                            <a:srgbClr val="000000">
                              <a:alpha val="100000"/>
                            </a:srgbClr>
                          </a:solidFill>
                          <a:latin typeface="Times New Roman" panose="02020603050405020304"/>
                          <a:ea typeface="Times New Roman" panose="02020603050405020304"/>
                          <a:cs typeface="Times New Roman" panose="02020603050405020304"/>
                        </a:rPr>
                        <a:t>5.</a:t>
                      </a:r>
                      <a:r>
                        <a:rPr lang="en-US" altLang="zh-CN" sz="2300" kern="0" spc="-40" dirty="0">
                          <a:solidFill>
                            <a:srgbClr val="000000">
                              <a:alpha val="100000"/>
                            </a:srgbClr>
                          </a:solidFill>
                          <a:latin typeface="Times New Roman" panose="02020603050405020304"/>
                          <a:ea typeface="Times New Roman" panose="02020603050405020304"/>
                          <a:cs typeface="Times New Roman" panose="02020603050405020304"/>
                        </a:rPr>
                        <a:t>2</a:t>
                      </a:r>
                      <a:r>
                        <a:rPr sz="2300" kern="0" spc="-4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2300"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180464">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24155" algn="l" rtl="0" eaLnBrk="0">
                        <a:lnSpc>
                          <a:spcPct val="75000"/>
                        </a:lnSpc>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12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table 66"/>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542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13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1455" algn="l" rtl="0" eaLnBrk="0">
                        <a:lnSpc>
                          <a:spcPts val="2955"/>
                        </a:lnSpc>
                        <a:spcBef>
                          <a:spcPts val="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在（</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5.</a:t>
                      </a:r>
                      <a:r>
                        <a:rPr lang="en-US" altLang="zh-CN" sz="2100" kern="0" spc="1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）有约束模型中，</a:t>
                      </a:r>
                      <a:r>
                        <a:rPr sz="2100" kern="0" spc="53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0" dirty="0">
                          <a:solidFill>
                            <a:srgbClr val="000000">
                              <a:alpha val="100000"/>
                            </a:srgbClr>
                          </a:solidFill>
                          <a:latin typeface="Cambria" panose="02040503050406030204"/>
                          <a:ea typeface="Cambria" panose="02040503050406030204"/>
                          <a:cs typeface="Cambria" panose="02040503050406030204"/>
                        </a:rPr>
                        <a:t>#</a:t>
                      </a:r>
                      <a:r>
                        <a:rPr sz="2400" kern="0" spc="10" baseline="-11000" dirty="0">
                          <a:solidFill>
                            <a:srgbClr val="000000">
                              <a:alpha val="100000"/>
                            </a:srgbClr>
                          </a:solidFill>
                          <a:latin typeface="Perpetua" panose="02020502060401020303"/>
                          <a:ea typeface="Perpetua" panose="02020502060401020303"/>
                          <a:cs typeface="Perpetua" panose="02020502060401020303"/>
                        </a:rPr>
                        <a:t>1</a:t>
                      </a:r>
                      <a:r>
                        <a:rPr sz="1500" kern="0" spc="-130" dirty="0">
                          <a:solidFill>
                            <a:srgbClr val="000000">
                              <a:alpha val="100000"/>
                            </a:srgbClr>
                          </a:solidFill>
                          <a:latin typeface="Perpetua" panose="02020502060401020303"/>
                          <a:ea typeface="Perpetua" panose="02020502060401020303"/>
                          <a:cs typeface="Perpetua" panose="02020502060401020303"/>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的最</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小二乘估计量为：</a:t>
                      </a:r>
                      <a:endParaRPr sz="2100" dirty="0">
                        <a:latin typeface="楷体" panose="02010609060101010101" charset="-122"/>
                        <a:ea typeface="楷体" panose="02010609060101010101" charset="-122"/>
                        <a:cs typeface="楷体" panose="02010609060101010101" charset="-122"/>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633980" algn="l" rtl="0" eaLnBrk="0">
                        <a:lnSpc>
                          <a:spcPts val="3770"/>
                        </a:lnSpc>
                        <a:spcBef>
                          <a:spcPts val="300"/>
                        </a:spcBef>
                        <a:tabLst>
                          <a:tab pos="485902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这一有约束模型的误差平方和为：</a:t>
                      </a:r>
                      <a:endParaRPr sz="2100" dirty="0">
                        <a:latin typeface="楷体" panose="02010609060101010101" charset="-122"/>
                        <a:ea typeface="楷体" panose="02010609060101010101" charset="-122"/>
                        <a:cs typeface="楷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marL="1567815" algn="l" rtl="0" eaLnBrk="0">
                        <a:lnSpc>
                          <a:spcPts val="5170"/>
                        </a:lnSpc>
                        <a:spcBef>
                          <a:spcPts val="305"/>
                        </a:spcBef>
                        <a:tabLst>
                          <a:tab pos="594995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92000"/>
                        </a:lnSpc>
                      </a:pPr>
                      <a:endParaRPr sz="1000" dirty="0">
                        <a:latin typeface="Arial" panose="020B0604020202020204"/>
                        <a:ea typeface="Arial" panose="020B0604020202020204"/>
                        <a:cs typeface="Arial" panose="020B0604020202020204"/>
                      </a:endParaRPr>
                    </a:p>
                    <a:p>
                      <a:pPr marL="211455" algn="l" rtl="0" eaLnBrk="0">
                        <a:lnSpc>
                          <a:spcPct val="87000"/>
                        </a:lnSpc>
                        <a:spcBef>
                          <a:spcPts val="630"/>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因此，为检验模型的总体显著性</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，修改</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F</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检验统计量为：</a:t>
                      </a:r>
                      <a:endParaRPr sz="2100" dirty="0">
                        <a:latin typeface="楷体" panose="02010609060101010101" charset="-122"/>
                        <a:ea typeface="楷体" panose="02010609060101010101" charset="-122"/>
                        <a:cs typeface="楷体" panose="02010609060101010101" charset="-122"/>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29000"/>
                        </a:lnSpc>
                      </a:pPr>
                      <a:endParaRPr sz="200" dirty="0">
                        <a:latin typeface="Arial" panose="020B0604020202020204"/>
                        <a:ea typeface="Arial" panose="020B0604020202020204"/>
                        <a:cs typeface="Arial" panose="020B0604020202020204"/>
                      </a:endParaRPr>
                    </a:p>
                    <a:p>
                      <a:pPr marL="2327910" algn="l" rtl="0" eaLnBrk="0">
                        <a:lnSpc>
                          <a:spcPts val="6220"/>
                        </a:lnSpc>
                        <a:spcBef>
                          <a:spcPts val="0"/>
                        </a:spcBef>
                        <a:tabLst>
                          <a:tab pos="51816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68" name="picture 68"/>
          <p:cNvPicPr>
            <a:picLocks noChangeAspect="1"/>
          </p:cNvPicPr>
          <p:nvPr/>
        </p:nvPicPr>
        <p:blipFill>
          <a:blip r:embed="rId1"/>
          <a:stretch>
            <a:fillRect/>
          </a:stretch>
        </p:blipFill>
        <p:spPr>
          <a:xfrm rot="21600000">
            <a:off x="3143025" y="5179397"/>
            <a:ext cx="2853799" cy="790254"/>
          </a:xfrm>
          <a:prstGeom prst="rect">
            <a:avLst/>
          </a:prstGeom>
        </p:spPr>
      </p:pic>
      <p:pic>
        <p:nvPicPr>
          <p:cNvPr id="70" name="picture 70"/>
          <p:cNvPicPr>
            <a:picLocks noChangeAspect="1"/>
          </p:cNvPicPr>
          <p:nvPr/>
        </p:nvPicPr>
        <p:blipFill>
          <a:blip r:embed="rId2"/>
          <a:stretch>
            <a:fillRect/>
          </a:stretch>
        </p:blipFill>
        <p:spPr>
          <a:xfrm rot="21600000">
            <a:off x="2382707" y="3297498"/>
            <a:ext cx="4382239" cy="656467"/>
          </a:xfrm>
          <a:prstGeom prst="rect">
            <a:avLst/>
          </a:prstGeom>
        </p:spPr>
      </p:pic>
      <p:pic>
        <p:nvPicPr>
          <p:cNvPr id="72" name="picture 72"/>
          <p:cNvPicPr>
            <a:picLocks noChangeAspect="1"/>
          </p:cNvPicPr>
          <p:nvPr/>
        </p:nvPicPr>
        <p:blipFill>
          <a:blip r:embed="rId3"/>
          <a:stretch>
            <a:fillRect/>
          </a:stretch>
        </p:blipFill>
        <p:spPr>
          <a:xfrm rot="21600000">
            <a:off x="3448831" y="1567923"/>
            <a:ext cx="2225606" cy="478797"/>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 name="table 76"/>
          <p:cNvGraphicFramePr>
            <a:graphicFrameLocks noGrp="1"/>
          </p:cNvGraphicFramePr>
          <p:nvPr/>
        </p:nvGraphicFramePr>
        <p:xfrm>
          <a:off x="60832" y="66928"/>
          <a:ext cx="9018905" cy="6699250"/>
        </p:xfrm>
        <a:graphic>
          <a:graphicData uri="http://schemas.openxmlformats.org/drawingml/2006/table">
            <a:tbl>
              <a:tblPr/>
              <a:tblGrid>
                <a:gridCol w="745490"/>
                <a:gridCol w="8273415"/>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27330" algn="l" rtl="0" eaLnBrk="0">
                        <a:lnSpc>
                          <a:spcPct val="75000"/>
                        </a:lnSpc>
                        <a:spcBef>
                          <a:spcPts val="5"/>
                        </a:spcBef>
                      </a:pPr>
                      <a:r>
                        <a:rPr sz="1400" b="1" kern="0" spc="-70" dirty="0">
                          <a:solidFill>
                            <a:srgbClr val="FFFFFF">
                              <a:alpha val="100000"/>
                            </a:srgbClr>
                          </a:solidFill>
                          <a:latin typeface="Franklin Gothic Book" panose="020B0503020102020204"/>
                          <a:ea typeface="Franklin Gothic Book" panose="020B0503020102020204"/>
                          <a:cs typeface="Franklin Gothic Book" panose="020B0503020102020204"/>
                        </a:rPr>
                        <a:t>14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06375" algn="l" rtl="0" eaLnBrk="0">
                        <a:lnSpc>
                          <a:spcPct val="85000"/>
                        </a:lnSpc>
                      </a:pPr>
                      <a:r>
                        <a:rPr sz="20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30" dirty="0">
                          <a:solidFill>
                            <a:srgbClr val="000000">
                              <a:alpha val="100000"/>
                            </a:srgbClr>
                          </a:solidFill>
                          <a:latin typeface="楷体" panose="02010609060101010101" charset="-122"/>
                          <a:ea typeface="楷体" panose="02010609060101010101" charset="-122"/>
                          <a:cs typeface="楷体" panose="02010609060101010101" charset="-122"/>
                        </a:rPr>
                        <a:t>回归模型总体显著性检验的例</a:t>
                      </a:r>
                      <a:r>
                        <a:rPr sz="2400" b="1" kern="0" spc="-40" dirty="0">
                          <a:solidFill>
                            <a:srgbClr val="000000">
                              <a:alpha val="100000"/>
                            </a:srgbClr>
                          </a:solidFill>
                          <a:latin typeface="楷体" panose="02010609060101010101" charset="-122"/>
                          <a:ea typeface="楷体" panose="02010609060101010101" charset="-122"/>
                          <a:cs typeface="楷体" panose="02010609060101010101" charset="-122"/>
                        </a:rPr>
                        <a:t>子</a:t>
                      </a:r>
                      <a:endParaRPr sz="2400" dirty="0">
                        <a:latin typeface="楷体" panose="02010609060101010101" charset="-122"/>
                        <a:ea typeface="楷体" panose="02010609060101010101" charset="-122"/>
                        <a:cs typeface="楷体" panose="02010609060101010101" charset="-122"/>
                      </a:endParaRPr>
                    </a:p>
                    <a:p>
                      <a:pPr algn="l" rtl="0" eaLnBrk="0">
                        <a:lnSpc>
                          <a:spcPct val="102000"/>
                        </a:lnSpc>
                      </a:pPr>
                      <a:endParaRPr sz="1000" dirty="0">
                        <a:latin typeface="Arial" panose="020B0604020202020204"/>
                        <a:ea typeface="Arial" panose="020B0604020202020204"/>
                        <a:cs typeface="Arial" panose="020B0604020202020204"/>
                      </a:endParaRPr>
                    </a:p>
                    <a:p>
                      <a:pPr marL="202565" algn="l" rtl="0" eaLnBrk="0">
                        <a:lnSpc>
                          <a:spcPct val="80000"/>
                        </a:lnSpc>
                        <a:spcBef>
                          <a:spcPts val="610"/>
                        </a:spcBef>
                      </a:pPr>
                      <a:r>
                        <a:rPr sz="17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60" dirty="0">
                          <a:solidFill>
                            <a:srgbClr val="000000">
                              <a:alpha val="100000"/>
                            </a:srgbClr>
                          </a:solidFill>
                          <a:latin typeface="Times New Roman" panose="02020603050405020304"/>
                          <a:ea typeface="Times New Roman" panose="02020603050405020304"/>
                          <a:cs typeface="Times New Roman" panose="02020603050405020304"/>
                        </a:rPr>
                        <a:t>1.</a:t>
                      </a:r>
                      <a:r>
                        <a:rPr sz="20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60" dirty="0">
                          <a:solidFill>
                            <a:srgbClr val="000000">
                              <a:alpha val="100000"/>
                            </a:srgbClr>
                          </a:solidFill>
                          <a:latin typeface="楷体" panose="02010609060101010101" charset="-122"/>
                          <a:ea typeface="楷体" panose="02010609060101010101" charset="-122"/>
                          <a:cs typeface="楷体" panose="02010609060101010101" charset="-122"/>
                        </a:rPr>
                        <a:t>原假设</a:t>
                      </a:r>
                      <a:r>
                        <a:rPr sz="2000" kern="0" spc="-70" dirty="0">
                          <a:solidFill>
                            <a:srgbClr val="000000">
                              <a:alpha val="100000"/>
                            </a:srgbClr>
                          </a:solidFill>
                          <a:latin typeface="楷体" panose="02010609060101010101" charset="-122"/>
                          <a:ea typeface="楷体" panose="02010609060101010101" charset="-122"/>
                          <a:cs typeface="楷体" panose="02010609060101010101" charset="-122"/>
                        </a:rPr>
                        <a:t>为：</a:t>
                      </a:r>
                      <a:endParaRPr sz="2000" dirty="0">
                        <a:latin typeface="楷体" panose="02010609060101010101" charset="-122"/>
                        <a:ea typeface="楷体" panose="02010609060101010101" charset="-122"/>
                        <a:cs typeface="楷体" panose="02010609060101010101" charset="-122"/>
                      </a:endParaRPr>
                    </a:p>
                    <a:p>
                      <a:pPr marL="2183765" algn="l" rtl="0" eaLnBrk="0">
                        <a:lnSpc>
                          <a:spcPct val="88000"/>
                        </a:lnSpc>
                        <a:spcBef>
                          <a:spcPts val="20"/>
                        </a:spcBef>
                      </a:pPr>
                      <a:r>
                        <a:rPr sz="1900" i="1" kern="0" spc="10" dirty="0">
                          <a:solidFill>
                            <a:srgbClr val="000000">
                              <a:alpha val="100000"/>
                            </a:srgbClr>
                          </a:solidFill>
                          <a:latin typeface="Times New Roman" panose="02020603050405020304"/>
                          <a:ea typeface="Times New Roman" panose="02020603050405020304"/>
                          <a:cs typeface="Times New Roman" panose="02020603050405020304"/>
                        </a:rPr>
                        <a:t>H</a:t>
                      </a:r>
                      <a:r>
                        <a:rPr sz="1700" kern="0" spc="10" baseline="-25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Arial" panose="020B0604020202020204"/>
                          <a:ea typeface="Arial" panose="020B0604020202020204"/>
                          <a:cs typeface="Arial" panose="020B06040202020202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0,β</a:t>
                      </a:r>
                      <a:r>
                        <a:rPr sz="1700" kern="0" spc="1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Arial" panose="020B0604020202020204"/>
                          <a:ea typeface="Arial" panose="020B0604020202020204"/>
                          <a:cs typeface="Arial" panose="020B0604020202020204"/>
                        </a:rPr>
                        <a:t>=</a:t>
                      </a:r>
                      <a:r>
                        <a:rPr sz="1900" kern="0" spc="0" dirty="0">
                          <a:solidFill>
                            <a:srgbClr val="000000">
                              <a:alpha val="100000"/>
                            </a:srgbClr>
                          </a:solidFill>
                          <a:latin typeface="Arial" panose="020B0604020202020204"/>
                          <a:ea typeface="Arial" panose="020B0604020202020204"/>
                          <a:cs typeface="Arial" panose="020B0604020202020204"/>
                        </a:rPr>
                        <a:t> </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0,β</a:t>
                      </a:r>
                      <a:r>
                        <a:rPr sz="1700" kern="0" spc="0" baseline="-25000" dirty="0">
                          <a:solidFill>
                            <a:srgbClr val="000000">
                              <a:alpha val="100000"/>
                            </a:srgbClr>
                          </a:solidFill>
                          <a:latin typeface="Times New Roman" panose="02020603050405020304"/>
                          <a:ea typeface="Times New Roman" panose="02020603050405020304"/>
                          <a:cs typeface="Times New Roman" panose="02020603050405020304"/>
                        </a:rPr>
                        <a:t>4</a:t>
                      </a:r>
                      <a:r>
                        <a:rPr sz="1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0" dirty="0">
                          <a:solidFill>
                            <a:srgbClr val="000000">
                              <a:alpha val="100000"/>
                            </a:srgbClr>
                          </a:solidFill>
                          <a:latin typeface="Arial" panose="020B0604020202020204"/>
                          <a:ea typeface="Arial" panose="020B0604020202020204"/>
                          <a:cs typeface="Arial" panose="020B0604020202020204"/>
                        </a:rPr>
                        <a:t>= </a:t>
                      </a:r>
                      <a:r>
                        <a:rPr sz="1900" kern="0" spc="0" dirty="0">
                          <a:solidFill>
                            <a:srgbClr val="000000">
                              <a:alpha val="100000"/>
                            </a:srgbClr>
                          </a:solidFill>
                          <a:latin typeface="Times New Roman" panose="02020603050405020304"/>
                          <a:ea typeface="Times New Roman" panose="02020603050405020304"/>
                          <a:cs typeface="Times New Roman" panose="02020603050405020304"/>
                        </a:rPr>
                        <a:t>0</a:t>
                      </a:r>
                      <a:endParaRPr sz="1900" dirty="0">
                        <a:latin typeface="Times New Roman" panose="02020603050405020304"/>
                        <a:ea typeface="Times New Roman" panose="02020603050405020304"/>
                        <a:cs typeface="Times New Roman" panose="02020603050405020304"/>
                      </a:endParaRPr>
                    </a:p>
                    <a:p>
                      <a:pPr marL="2183765" algn="l" rtl="0" eaLnBrk="0">
                        <a:lnSpc>
                          <a:spcPts val="2385"/>
                        </a:lnSpc>
                        <a:spcBef>
                          <a:spcPts val="510"/>
                        </a:spcBef>
                      </a:pPr>
                      <a:r>
                        <a:rPr sz="1900" i="1" kern="0" spc="-20" dirty="0">
                          <a:solidFill>
                            <a:srgbClr val="000000">
                              <a:alpha val="100000"/>
                            </a:srgbClr>
                          </a:solidFill>
                          <a:latin typeface="Times New Roman" panose="02020603050405020304"/>
                          <a:ea typeface="Times New Roman" panose="02020603050405020304"/>
                          <a:cs typeface="Times New Roman" panose="02020603050405020304"/>
                        </a:rPr>
                        <a:t>H</a:t>
                      </a:r>
                      <a:r>
                        <a:rPr sz="1700" kern="0" spc="-20" baseline="-17000" dirty="0">
                          <a:solidFill>
                            <a:srgbClr val="000000">
                              <a:alpha val="100000"/>
                            </a:srgbClr>
                          </a:solidFill>
                          <a:latin typeface="Times New Roman" panose="02020603050405020304"/>
                          <a:ea typeface="Times New Roman" panose="02020603050405020304"/>
                          <a:cs typeface="Times New Roman" panose="02020603050405020304"/>
                        </a:rPr>
                        <a:t>1</a:t>
                      </a:r>
                      <a:r>
                        <a:rPr sz="11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1900" kern="0" spc="43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20" baseline="-17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27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50" baseline="-17000" dirty="0">
                          <a:solidFill>
                            <a:srgbClr val="000000">
                              <a:alpha val="100000"/>
                            </a:srgbClr>
                          </a:solidFill>
                          <a:latin typeface="Times New Roman" panose="02020603050405020304"/>
                          <a:ea typeface="Times New Roman" panose="02020603050405020304"/>
                          <a:cs typeface="Times New Roman" panose="02020603050405020304"/>
                        </a:rPr>
                        <a:t>3</a:t>
                      </a:r>
                      <a:r>
                        <a:rPr sz="11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1900" kern="0" spc="-300" dirty="0">
                          <a:solidFill>
                            <a:srgbClr val="000000">
                              <a:alpha val="100000"/>
                            </a:srgbClr>
                          </a:solidFill>
                          <a:latin typeface="Times New Roman" panose="02020603050405020304"/>
                          <a:ea typeface="Times New Roman" panose="02020603050405020304"/>
                          <a:cs typeface="Times New Roman" panose="02020603050405020304"/>
                        </a:rPr>
                        <a:t>β</a:t>
                      </a:r>
                      <a:r>
                        <a:rPr sz="1700" kern="0" spc="10" baseline="-17000" dirty="0">
                          <a:solidFill>
                            <a:srgbClr val="000000">
                              <a:alpha val="100000"/>
                            </a:srgbClr>
                          </a:solidFill>
                          <a:latin typeface="Times New Roman" panose="02020603050405020304"/>
                          <a:ea typeface="Times New Roman" panose="02020603050405020304"/>
                          <a:cs typeface="Times New Roman" panose="02020603050405020304"/>
                        </a:rPr>
                        <a:t>4</a:t>
                      </a:r>
                      <a:r>
                        <a:rPr sz="11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至少有一个不为</a:t>
                      </a:r>
                      <a:r>
                        <a:rPr sz="19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0；</a:t>
                      </a:r>
                      <a:endParaRPr sz="1900" dirty="0">
                        <a:latin typeface="宋体" panose="02010600030101010101" pitchFamily="2" charset="-122"/>
                        <a:ea typeface="宋体" panose="02010600030101010101" pitchFamily="2" charset="-122"/>
                        <a:cs typeface="宋体" panose="02010600030101010101" pitchFamily="2" charset="-122"/>
                      </a:endParaRPr>
                    </a:p>
                    <a:p>
                      <a:pPr marL="202565" algn="l" rtl="0" eaLnBrk="0">
                        <a:lnSpc>
                          <a:spcPts val="2500"/>
                        </a:lnSpc>
                        <a:spcBef>
                          <a:spcPts val="355"/>
                        </a:spcBef>
                      </a:pPr>
                      <a:r>
                        <a:rPr sz="2600" kern="0" spc="-30" baseline="900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600" kern="0" spc="1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3000" kern="0" spc="-30" baseline="7000" dirty="0">
                          <a:solidFill>
                            <a:srgbClr val="000000">
                              <a:alpha val="100000"/>
                            </a:srgbClr>
                          </a:solidFill>
                          <a:latin typeface="Times New Roman" panose="02020603050405020304"/>
                          <a:ea typeface="Times New Roman" panose="02020603050405020304"/>
                          <a:cs typeface="Times New Roman" panose="02020603050405020304"/>
                        </a:rPr>
                        <a:t>2.</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30" baseline="7000" dirty="0">
                          <a:solidFill>
                            <a:srgbClr val="000000">
                              <a:alpha val="100000"/>
                            </a:srgbClr>
                          </a:solidFill>
                          <a:latin typeface="楷体" panose="02010609060101010101" charset="-122"/>
                          <a:ea typeface="楷体" panose="02010609060101010101" charset="-122"/>
                          <a:cs typeface="楷体" panose="02010609060101010101" charset="-122"/>
                        </a:rPr>
                        <a:t>如果</a:t>
                      </a:r>
                      <a:r>
                        <a:rPr sz="3000" i="1" kern="0" spc="-30" baseline="7000" dirty="0">
                          <a:solidFill>
                            <a:srgbClr val="000000">
                              <a:alpha val="100000"/>
                            </a:srgbClr>
                          </a:solidFill>
                          <a:latin typeface="Times New Roman" panose="02020603050405020304"/>
                          <a:ea typeface="Times New Roman" panose="02020603050405020304"/>
                          <a:cs typeface="Times New Roman" panose="02020603050405020304"/>
                        </a:rPr>
                        <a:t>H</a:t>
                      </a:r>
                      <a:r>
                        <a:rPr sz="2200" kern="0" spc="-30" baseline="-14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30" baseline="7000" dirty="0">
                          <a:solidFill>
                            <a:srgbClr val="000000">
                              <a:alpha val="100000"/>
                            </a:srgbClr>
                          </a:solidFill>
                          <a:latin typeface="楷体" panose="02010609060101010101" charset="-122"/>
                          <a:ea typeface="楷体" panose="02010609060101010101" charset="-122"/>
                          <a:cs typeface="楷体" panose="02010609060101010101" charset="-122"/>
                        </a:rPr>
                        <a:t>为真</a:t>
                      </a:r>
                      <a:r>
                        <a:rPr sz="1900" kern="0" spc="0" dirty="0">
                          <a:solidFill>
                            <a:srgbClr val="000000">
                              <a:alpha val="100000"/>
                            </a:srgbClr>
                          </a:solidFill>
                          <a:latin typeface="楷体" panose="02010609060101010101" charset="-122"/>
                          <a:ea typeface="楷体" panose="02010609060101010101" charset="-122"/>
                          <a:cs typeface="楷体" panose="02010609060101010101" charset="-122"/>
                        </a:rPr>
                        <a:t>  </a:t>
                      </a:r>
                      <a:endParaRPr sz="1900" dirty="0">
                        <a:latin typeface="楷体" panose="02010609060101010101" charset="-122"/>
                        <a:ea typeface="楷体" panose="02010609060101010101" charset="-122"/>
                        <a:cs typeface="楷体" panose="02010609060101010101" charset="-122"/>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461645" indent="-259080" algn="l" rtl="0" eaLnBrk="0">
                        <a:lnSpc>
                          <a:spcPct val="115000"/>
                        </a:lnSpc>
                        <a:spcBef>
                          <a:spcPts val="605"/>
                        </a:spcBef>
                      </a:pPr>
                      <a:r>
                        <a:rPr sz="17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3.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采用</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5%</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的显著性水平，我们发现自</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由度为</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(3,71)</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的</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F</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分布的临界</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     值为</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F</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c</a:t>
                      </a:r>
                      <a:r>
                        <a:rPr sz="13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2.734 </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；因此，如果</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F ≥ 2.734</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我们拒绝</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H</a:t>
                      </a:r>
                      <a:r>
                        <a:rPr sz="2000" kern="0" spc="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a:t>
                      </a:r>
                      <a:endParaRPr sz="2000" dirty="0">
                        <a:latin typeface="楷体" panose="02010609060101010101" charset="-122"/>
                        <a:ea typeface="楷体" panose="02010609060101010101" charset="-122"/>
                        <a:cs typeface="楷体" panose="02010609060101010101" charset="-122"/>
                      </a:endParaRPr>
                    </a:p>
                    <a:p>
                      <a:pPr marL="202565" algn="l" rtl="0" eaLnBrk="0">
                        <a:lnSpc>
                          <a:spcPct val="90000"/>
                        </a:lnSpc>
                        <a:spcBef>
                          <a:spcPts val="1080"/>
                        </a:spcBef>
                      </a:pPr>
                      <a:r>
                        <a:rPr sz="17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4</a:t>
                      </a:r>
                      <a:r>
                        <a:rPr sz="2000" i="1" kern="0" spc="-20" dirty="0">
                          <a:solidFill>
                            <a:srgbClr val="000000">
                              <a:alpha val="100000"/>
                            </a:srgbClr>
                          </a:solidFill>
                          <a:latin typeface="Times New Roman" panose="02020603050405020304"/>
                          <a:ea typeface="Times New Roman" panose="02020603050405020304"/>
                          <a:cs typeface="Times New Roman" panose="02020603050405020304"/>
                        </a:rPr>
                        <a:t>. SST</a:t>
                      </a:r>
                      <a:r>
                        <a:rPr sz="2000" i="1"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 3115.482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和</a:t>
                      </a:r>
                      <a:r>
                        <a:rPr sz="2000" kern="0" spc="-490" dirty="0">
                          <a:solidFill>
                            <a:srgbClr val="000000">
                              <a:alpha val="100000"/>
                            </a:srgbClr>
                          </a:solidFill>
                          <a:latin typeface="楷体" panose="02010609060101010101" charset="-122"/>
                          <a:ea typeface="楷体" panose="02010609060101010101" charset="-122"/>
                          <a:cs typeface="楷体" panose="02010609060101010101" charset="-122"/>
                        </a:rPr>
                        <a:t> </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SSE </a:t>
                      </a:r>
                      <a:r>
                        <a:rPr sz="20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0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30" dirty="0">
                          <a:solidFill>
                            <a:srgbClr val="000000">
                              <a:alpha val="100000"/>
                            </a:srgbClr>
                          </a:solidFill>
                          <a:latin typeface="Times New Roman" panose="02020603050405020304"/>
                          <a:ea typeface="Times New Roman" panose="02020603050405020304"/>
                          <a:cs typeface="Times New Roman" panose="02020603050405020304"/>
                        </a:rPr>
                        <a:t>1532.084 </a:t>
                      </a:r>
                      <a:r>
                        <a:rPr sz="2000" kern="0" spc="-30" dirty="0">
                          <a:solidFill>
                            <a:srgbClr val="000000">
                              <a:alpha val="100000"/>
                            </a:srgbClr>
                          </a:solidFill>
                          <a:latin typeface="楷体" panose="02010609060101010101" charset="-122"/>
                          <a:ea typeface="楷体" panose="02010609060101010101" charset="-122"/>
                          <a:cs typeface="楷体" panose="02010609060101010101" charset="-122"/>
                        </a:rPr>
                        <a:t>，求出</a:t>
                      </a:r>
                      <a:r>
                        <a:rPr sz="2000" kern="0" spc="-30" dirty="0">
                          <a:solidFill>
                            <a:srgbClr val="000000">
                              <a:alpha val="100000"/>
                            </a:srgbClr>
                          </a:solidFill>
                          <a:latin typeface="Times New Roman" panose="02020603050405020304"/>
                          <a:ea typeface="Times New Roman" panose="02020603050405020304"/>
                          <a:cs typeface="Times New Roman" panose="02020603050405020304"/>
                        </a:rPr>
                        <a:t>F</a:t>
                      </a:r>
                      <a:r>
                        <a:rPr sz="2000" kern="0" spc="-30" dirty="0">
                          <a:solidFill>
                            <a:srgbClr val="000000">
                              <a:alpha val="100000"/>
                            </a:srgbClr>
                          </a:solidFill>
                          <a:latin typeface="楷体" panose="02010609060101010101" charset="-122"/>
                          <a:ea typeface="楷体" panose="02010609060101010101" charset="-122"/>
                          <a:cs typeface="楷体" panose="02010609060101010101" charset="-122"/>
                        </a:rPr>
                        <a:t>统计量的样本值：</a:t>
                      </a:r>
                      <a:endParaRPr sz="20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1028700" algn="l" rtl="0" eaLnBrk="0">
                        <a:lnSpc>
                          <a:spcPts val="5320"/>
                        </a:lnSpc>
                        <a:spcBef>
                          <a:spcPts val="300"/>
                        </a:spcBef>
                        <a:tabLst>
                          <a:tab pos="692658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marL="202565" algn="l" rtl="0" eaLnBrk="0">
                        <a:lnSpc>
                          <a:spcPct val="87000"/>
                        </a:lnSpc>
                        <a:spcBef>
                          <a:spcPts val="605"/>
                        </a:spcBef>
                      </a:pPr>
                      <a:r>
                        <a:rPr sz="17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p</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-value  = </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P</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F</a:t>
                      </a:r>
                      <a:r>
                        <a:rPr sz="2000" i="1"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 24.459) = 0.0000</a:t>
                      </a:r>
                      <a:endParaRPr sz="2000" dirty="0">
                        <a:latin typeface="Times New Roman" panose="02020603050405020304"/>
                        <a:ea typeface="Times New Roman" panose="02020603050405020304"/>
                        <a:cs typeface="Times New Roman" panose="02020603050405020304"/>
                      </a:endParaRPr>
                    </a:p>
                    <a:p>
                      <a:pPr algn="l" rtl="0" eaLnBrk="0">
                        <a:lnSpc>
                          <a:spcPct val="110000"/>
                        </a:lnSpc>
                      </a:pPr>
                      <a:endParaRPr sz="9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459105" indent="-256540" algn="l" rtl="0" eaLnBrk="0">
                        <a:lnSpc>
                          <a:spcPct val="115000"/>
                        </a:lnSpc>
                      </a:pPr>
                      <a:r>
                        <a:rPr sz="17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7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5.</a:t>
                      </a:r>
                      <a:r>
                        <a:rPr sz="20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由于</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24.459 &gt; 2.734,</a:t>
                      </a:r>
                      <a:r>
                        <a:rPr sz="20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我们拒绝</a:t>
                      </a:r>
                      <a:r>
                        <a:rPr sz="2000" i="1" kern="0" spc="-20" dirty="0">
                          <a:solidFill>
                            <a:srgbClr val="000000">
                              <a:alpha val="100000"/>
                            </a:srgbClr>
                          </a:solidFill>
                          <a:latin typeface="Times New Roman" panose="02020603050405020304"/>
                          <a:ea typeface="Times New Roman" panose="02020603050405020304"/>
                          <a:cs typeface="Times New Roman" panose="02020603050405020304"/>
                        </a:rPr>
                        <a:t>H</a:t>
                      </a:r>
                      <a:r>
                        <a:rPr sz="2000" kern="0" spc="-2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。得到结论：估计得到的关系是</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     显著的。注意到这一结论与分别采用</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t</a:t>
                      </a:r>
                      <a:r>
                        <a:rPr sz="2000" kern="0" spc="0" dirty="0">
                          <a:solidFill>
                            <a:srgbClr val="000000">
                              <a:alpha val="100000"/>
                            </a:srgbClr>
                          </a:solidFill>
                          <a:latin typeface="楷体" panose="02010609060101010101" charset="-122"/>
                          <a:ea typeface="楷体" panose="02010609060101010101" charset="-122"/>
                          <a:cs typeface="楷体" panose="02010609060101010101" charset="-122"/>
                        </a:rPr>
                        <a:t>检验对每个系数进行显著性      </a:t>
                      </a:r>
                      <a:r>
                        <a:rPr sz="2000" kern="0" spc="-10" dirty="0">
                          <a:solidFill>
                            <a:srgbClr val="000000">
                              <a:alpha val="100000"/>
                            </a:srgbClr>
                          </a:solidFill>
                          <a:latin typeface="楷体" panose="02010609060101010101" charset="-122"/>
                          <a:ea typeface="楷体" panose="02010609060101010101" charset="-122"/>
                          <a:cs typeface="楷体" panose="02010609060101010101" charset="-122"/>
                        </a:rPr>
                        <a:t>检验得到的结论是一致</a:t>
                      </a:r>
                      <a:r>
                        <a:rPr sz="2000" kern="0" spc="-20" dirty="0">
                          <a:solidFill>
                            <a:srgbClr val="000000">
                              <a:alpha val="100000"/>
                            </a:srgbClr>
                          </a:solidFill>
                          <a:latin typeface="楷体" panose="02010609060101010101" charset="-122"/>
                          <a:ea typeface="楷体" panose="02010609060101010101" charset="-122"/>
                          <a:cs typeface="楷体" panose="02010609060101010101" charset="-122"/>
                        </a:rPr>
                        <a:t>的。</a:t>
                      </a:r>
                      <a:endParaRPr sz="20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78" name="picture 78"/>
          <p:cNvPicPr>
            <a:picLocks noChangeAspect="1"/>
          </p:cNvPicPr>
          <p:nvPr/>
        </p:nvPicPr>
        <p:blipFill>
          <a:blip r:embed="rId1"/>
          <a:stretch>
            <a:fillRect/>
          </a:stretch>
        </p:blipFill>
        <p:spPr>
          <a:xfrm rot="21600000">
            <a:off x="1835081" y="4115229"/>
            <a:ext cx="5898153" cy="676000"/>
          </a:xfrm>
          <a:prstGeom prst="rect">
            <a:avLst/>
          </a:prstGeom>
        </p:spPr>
      </p:pic>
      <p:pic>
        <p:nvPicPr>
          <p:cNvPr id="80" name="picture 80"/>
          <p:cNvPicPr>
            <a:picLocks noChangeAspect="1"/>
          </p:cNvPicPr>
          <p:nvPr/>
        </p:nvPicPr>
        <p:blipFill>
          <a:blip r:embed="rId2"/>
          <a:stretch>
            <a:fillRect/>
          </a:stretch>
        </p:blipFill>
        <p:spPr>
          <a:xfrm rot="21600000">
            <a:off x="2891761" y="1906933"/>
            <a:ext cx="3338196" cy="759322"/>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4" name="table 234"/>
          <p:cNvGraphicFramePr>
            <a:graphicFrameLocks noGrp="1"/>
          </p:cNvGraphicFramePr>
          <p:nvPr/>
        </p:nvGraphicFramePr>
        <p:xfrm>
          <a:off x="60832" y="66928"/>
          <a:ext cx="9018903" cy="6699250"/>
        </p:xfrm>
        <a:graphic>
          <a:graphicData uri="http://schemas.openxmlformats.org/drawingml/2006/table">
            <a:tbl>
              <a:tblPr/>
              <a:tblGrid>
                <a:gridCol w="598169"/>
                <a:gridCol w="8420734"/>
              </a:tblGrid>
              <a:tr h="1245235">
                <a:tc gridSpan="2">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535045" algn="l" rtl="0" eaLnBrk="0">
                        <a:lnSpc>
                          <a:spcPct val="87000"/>
                        </a:lnSpc>
                        <a:spcBef>
                          <a:spcPts val="5"/>
                        </a:spcBef>
                      </a:pPr>
                      <a:r>
                        <a:rPr lang="zh-CN" altLang="en-US" sz="2600" b="1" kern="0" spc="-40" dirty="0">
                          <a:solidFill>
                            <a:srgbClr val="000000">
                              <a:alpha val="100000"/>
                            </a:srgbClr>
                          </a:solidFill>
                          <a:latin typeface="黑体" panose="02010609060101010101" charset="-122"/>
                          <a:ea typeface="黑体" panose="02010609060101010101" charset="-122"/>
                          <a:cs typeface="黑体" panose="02010609060101010101" charset="-122"/>
                        </a:rPr>
                        <a:t>二</a:t>
                      </a:r>
                      <a:r>
                        <a:rPr sz="2600" b="1" kern="0" spc="-40" dirty="0">
                          <a:solidFill>
                            <a:srgbClr val="000000">
                              <a:alpha val="100000"/>
                            </a:srgbClr>
                          </a:solidFill>
                          <a:latin typeface="黑体" panose="02010609060101010101" charset="-122"/>
                          <a:ea typeface="黑体" panose="02010609060101010101" charset="-122"/>
                          <a:cs typeface="黑体" panose="02010609060101010101" charset="-122"/>
                        </a:rPr>
                        <a:t>、模型设定</a:t>
                      </a:r>
                      <a:endParaRPr sz="2600" dirty="0">
                        <a:latin typeface="黑体" panose="02010609060101010101" charset="-122"/>
                        <a:ea typeface="黑体" panose="02010609060101010101" charset="-122"/>
                        <a:cs typeface="黑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5454015">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31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93000"/>
                        </a:lnSpc>
                      </a:pPr>
                      <a:endParaRPr sz="1000" dirty="0">
                        <a:latin typeface="Arial" panose="020B0604020202020204"/>
                        <a:ea typeface="Arial" panose="020B0604020202020204"/>
                        <a:cs typeface="Arial" panose="020B0604020202020204"/>
                      </a:endParaRPr>
                    </a:p>
                    <a:p>
                      <a:pPr marL="55880" algn="l" rtl="0" eaLnBrk="0">
                        <a:lnSpc>
                          <a:spcPct val="87000"/>
                        </a:lnSpc>
                        <a:spcBef>
                          <a:spcPts val="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任何计量经济研究的第一步是选择模型</a:t>
                      </a:r>
                      <a:endParaRPr sz="2100" dirty="0">
                        <a:latin typeface="楷体" panose="02010609060101010101" charset="-122"/>
                        <a:ea typeface="楷体" panose="02010609060101010101" charset="-122"/>
                        <a:cs typeface="楷体" panose="02010609060101010101" charset="-122"/>
                      </a:endParaRPr>
                    </a:p>
                    <a:p>
                      <a:pPr algn="l" rtl="0" eaLnBrk="0">
                        <a:lnSpc>
                          <a:spcPct val="123000"/>
                        </a:lnSpc>
                      </a:pPr>
                      <a:endParaRPr sz="1000" dirty="0">
                        <a:latin typeface="Arial" panose="020B0604020202020204"/>
                        <a:ea typeface="Arial" panose="020B0604020202020204"/>
                        <a:cs typeface="Arial" panose="020B0604020202020204"/>
                      </a:endParaRPr>
                    </a:p>
                    <a:p>
                      <a:pPr marL="55880" algn="l" rtl="0" eaLnBrk="0">
                        <a:lnSpc>
                          <a:spcPct val="87000"/>
                        </a:lnSpc>
                        <a:spcBef>
                          <a:spcPts val="63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在选择模型时</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，需要重点考虑什么？</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55880" algn="l" rtl="0" eaLnBrk="0">
                        <a:lnSpc>
                          <a:spcPct val="87000"/>
                        </a:lnSpc>
                        <a:spcBef>
                          <a:spcPts val="64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选择错误模型的后果是什么？</a:t>
                      </a:r>
                      <a:endParaRPr sz="2100" dirty="0">
                        <a:latin typeface="楷体" panose="02010609060101010101" charset="-122"/>
                        <a:ea typeface="楷体" panose="02010609060101010101" charset="-122"/>
                        <a:cs typeface="楷体" panose="02010609060101010101" charset="-122"/>
                      </a:endParaRPr>
                    </a:p>
                    <a:p>
                      <a:pPr algn="l" rtl="0" eaLnBrk="0">
                        <a:lnSpc>
                          <a:spcPct val="122000"/>
                        </a:lnSpc>
                      </a:pPr>
                      <a:endParaRPr sz="1000" dirty="0">
                        <a:latin typeface="Arial" panose="020B0604020202020204"/>
                        <a:ea typeface="Arial" panose="020B0604020202020204"/>
                        <a:cs typeface="Arial" panose="020B0604020202020204"/>
                      </a:endParaRPr>
                    </a:p>
                    <a:p>
                      <a:pPr marL="55880" algn="l" rtl="0" eaLnBrk="0">
                        <a:lnSpc>
                          <a:spcPct val="87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有没有方法评估</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一个模型是否合意？</a:t>
                      </a:r>
                      <a:endParaRPr sz="2100" dirty="0">
                        <a:latin typeface="楷体" panose="02010609060101010101" charset="-122"/>
                        <a:ea typeface="楷体" panose="02010609060101010101" charset="-122"/>
                        <a:cs typeface="楷体" panose="02010609060101010101" charset="-122"/>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marL="55880" algn="l" rtl="0" eaLnBrk="0">
                        <a:lnSpc>
                          <a:spcPct val="87000"/>
                        </a:lnSpc>
                        <a:spcBef>
                          <a:spcPts val="63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模型选择的三种基本特征：</a:t>
                      </a:r>
                      <a:endParaRPr sz="2100" dirty="0">
                        <a:latin typeface="楷体" panose="02010609060101010101" charset="-122"/>
                        <a:ea typeface="楷体" panose="02010609060101010101" charset="-122"/>
                        <a:cs typeface="楷体" panose="02010609060101010101" charset="-122"/>
                      </a:endParaRPr>
                    </a:p>
                    <a:p>
                      <a:pPr algn="l" rtl="0" eaLnBrk="0">
                        <a:lnSpc>
                          <a:spcPct val="121000"/>
                        </a:lnSpc>
                      </a:pPr>
                      <a:endParaRPr sz="1000" dirty="0">
                        <a:latin typeface="Arial" panose="020B0604020202020204"/>
                        <a:ea typeface="Arial" panose="020B0604020202020204"/>
                        <a:cs typeface="Arial" panose="020B0604020202020204"/>
                      </a:endParaRPr>
                    </a:p>
                    <a:p>
                      <a:pPr marL="55880" algn="l" rtl="0" eaLnBrk="0">
                        <a:lnSpc>
                          <a:spcPct val="94000"/>
                        </a:lnSpc>
                        <a:spcBef>
                          <a:spcPts val="64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）函数形式的选择</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55880" algn="l" rtl="0" eaLnBrk="0">
                        <a:lnSpc>
                          <a:spcPct val="94000"/>
                        </a:lnSpc>
                        <a:spcBef>
                          <a:spcPts val="63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）解释变量的选择</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55880" algn="l" rtl="0" eaLnBrk="0">
                        <a:lnSpc>
                          <a:spcPct val="94000"/>
                        </a:lnSpc>
                        <a:spcBef>
                          <a:spcPts val="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）假设</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MR</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MR</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6</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是</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否满足</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8" name="table 238"/>
          <p:cNvGraphicFramePr>
            <a:graphicFrameLocks noGrp="1"/>
          </p:cNvGraphicFramePr>
          <p:nvPr/>
        </p:nvGraphicFramePr>
        <p:xfrm>
          <a:off x="60832" y="66928"/>
          <a:ext cx="9018905" cy="6699250"/>
        </p:xfrm>
        <a:graphic>
          <a:graphicData uri="http://schemas.openxmlformats.org/drawingml/2006/table">
            <a:tbl>
              <a:tblPr/>
              <a:tblGrid>
                <a:gridCol w="9018905"/>
              </a:tblGrid>
              <a:tr h="4914900">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40" dirty="0">
                          <a:solidFill>
                            <a:srgbClr val="000000">
                              <a:alpha val="100000"/>
                            </a:srgbClr>
                          </a:solidFill>
                          <a:latin typeface="楷体" panose="02010609060101010101" charset="-122"/>
                          <a:ea typeface="楷体" panose="02010609060101010101" charset="-122"/>
                          <a:cs typeface="楷体" panose="02010609060101010101" charset="-122"/>
                        </a:rPr>
                        <a:t>（一）遗漏重要变量</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3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选择的模型遗</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漏重要变量是有可能的</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920115" indent="-266065" algn="l" rtl="0" eaLnBrk="0">
                        <a:lnSpc>
                          <a:spcPct val="12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经济理论可能忽略了某个变量，或数</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据缺失导致我们放弃</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某个经济理论提议的变量。</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7843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2" name="table 242"/>
          <p:cNvGraphicFramePr>
            <a:graphicFrameLocks noGrp="1"/>
          </p:cNvGraphicFramePr>
          <p:nvPr/>
        </p:nvGraphicFramePr>
        <p:xfrm>
          <a:off x="60832" y="66928"/>
          <a:ext cx="9018905" cy="6699249"/>
        </p:xfrm>
        <a:graphic>
          <a:graphicData uri="http://schemas.openxmlformats.org/drawingml/2006/table">
            <a:tbl>
              <a:tblPr/>
              <a:tblGrid>
                <a:gridCol w="9018905"/>
              </a:tblGrid>
              <a:tr h="5986145">
                <a:tc>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965200" algn="l" rtl="0" eaLnBrk="0">
                        <a:lnSpc>
                          <a:spcPct val="8700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考虑如下模型:</a:t>
                      </a:r>
                      <a:endParaRPr sz="2100" dirty="0">
                        <a:latin typeface="楷体" panose="02010609060101010101" charset="-122"/>
                        <a:ea typeface="楷体" panose="02010609060101010101" charset="-122"/>
                        <a:cs typeface="楷体" panose="02010609060101010101" charset="-122"/>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algn="l" rtl="0" eaLnBrk="0">
                        <a:lnSpc>
                          <a:spcPct val="122000"/>
                        </a:lnSpc>
                      </a:pPr>
                      <a:endParaRPr sz="1000" dirty="0">
                        <a:latin typeface="Arial" panose="020B0604020202020204"/>
                        <a:ea typeface="Arial" panose="020B0604020202020204"/>
                        <a:cs typeface="Arial" panose="020B0604020202020204"/>
                      </a:endParaRPr>
                    </a:p>
                    <a:p>
                      <a:pPr marL="2407920" algn="l" rtl="0" eaLnBrk="0">
                        <a:lnSpc>
                          <a:spcPct val="72000"/>
                        </a:lnSpc>
                        <a:spcBef>
                          <a:spcPts val="365"/>
                        </a:spcBef>
                      </a:pPr>
                      <a:r>
                        <a:rPr sz="1200" kern="0" spc="-10" dirty="0">
                          <a:solidFill>
                            <a:srgbClr val="000000">
                              <a:alpha val="100000"/>
                            </a:srgbClr>
                          </a:solidFill>
                          <a:latin typeface="Arial" panose="020B0604020202020204"/>
                          <a:ea typeface="Arial" panose="020B0604020202020204"/>
                          <a:cs typeface="Arial" panose="020B0604020202020204"/>
                        </a:rPr>
                        <a:t>Λ</a:t>
                      </a:r>
                      <a:endParaRPr sz="1200" dirty="0">
                        <a:latin typeface="Arial" panose="020B0604020202020204"/>
                        <a:ea typeface="Arial" panose="020B0604020202020204"/>
                        <a:cs typeface="Arial" panose="020B0604020202020204"/>
                      </a:endParaRPr>
                    </a:p>
                    <a:p>
                      <a:pPr marL="1939290" algn="l" rtl="0" eaLnBrk="0">
                        <a:lnSpc>
                          <a:spcPct val="77000"/>
                        </a:lnSpc>
                        <a:spcBef>
                          <a:spcPts val="5"/>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FAMINC</a:t>
                      </a:r>
                      <a:r>
                        <a:rPr sz="21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5534</a:t>
                      </a:r>
                      <a:r>
                        <a:rPr sz="21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7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3132</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HEDU</a:t>
                      </a:r>
                      <a:r>
                        <a:rPr sz="2100" kern="0" spc="50" dirty="0">
                          <a:solidFill>
                            <a:srgbClr val="000000">
                              <a:alpha val="100000"/>
                            </a:srgbClr>
                          </a:solidFill>
                          <a:latin typeface="Arial" panose="020B0604020202020204"/>
                          <a:ea typeface="Arial" panose="020B0604020202020204"/>
                          <a:cs typeface="Arial" panose="020B0604020202020204"/>
                        </a:rPr>
                        <a:t>+</a:t>
                      </a:r>
                      <a:r>
                        <a:rPr sz="2100" kern="0" spc="-16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4523</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WEDU</a:t>
                      </a:r>
                      <a:endParaRPr sz="2100" dirty="0">
                        <a:latin typeface="Times New Roman" panose="02020603050405020304"/>
                        <a:ea typeface="Times New Roman" panose="02020603050405020304"/>
                        <a:cs typeface="Times New Roman" panose="02020603050405020304"/>
                      </a:endParaRPr>
                    </a:p>
                    <a:p>
                      <a:pPr marL="2193925" algn="l" rtl="0" eaLnBrk="0">
                        <a:lnSpc>
                          <a:spcPct val="85000"/>
                        </a:lnSpc>
                        <a:spcBef>
                          <a:spcPts val="1120"/>
                        </a:spcBef>
                      </a:pPr>
                      <a:r>
                        <a:rPr sz="2800" kern="0" spc="-40" dirty="0">
                          <a:solidFill>
                            <a:srgbClr val="000000">
                              <a:alpha val="100000"/>
                            </a:srgbClr>
                          </a:solidFill>
                          <a:latin typeface="Arial" panose="020B0604020202020204"/>
                          <a:ea typeface="Arial" panose="020B0604020202020204"/>
                          <a:cs typeface="Arial" panose="020B0604020202020204"/>
                        </a:rPr>
                        <a:t>(</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se</a:t>
                      </a:r>
                      <a:r>
                        <a:rPr sz="2800" kern="0" spc="-4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11230</a:t>
                      </a:r>
                      <a:r>
                        <a:rPr sz="2800" kern="0" spc="-40" dirty="0">
                          <a:solidFill>
                            <a:srgbClr val="000000">
                              <a:alpha val="100000"/>
                            </a:srgbClr>
                          </a:solidFill>
                          <a:latin typeface="Arial" panose="020B0604020202020204"/>
                          <a:ea typeface="Arial" panose="020B0604020202020204"/>
                          <a:cs typeface="Arial" panose="020B0604020202020204"/>
                        </a:rPr>
                        <a:t>)</a:t>
                      </a:r>
                      <a:r>
                        <a:rPr sz="2800" kern="0" spc="90" dirty="0">
                          <a:solidFill>
                            <a:srgbClr val="000000">
                              <a:alpha val="100000"/>
                            </a:srgbClr>
                          </a:solidFill>
                          <a:latin typeface="Arial" panose="020B0604020202020204"/>
                          <a:ea typeface="Arial" panose="020B0604020202020204"/>
                          <a:cs typeface="Arial" panose="020B0604020202020204"/>
                        </a:rPr>
                        <a:t>  </a:t>
                      </a:r>
                      <a:r>
                        <a:rPr sz="2800" kern="0" spc="-40" dirty="0">
                          <a:solidFill>
                            <a:srgbClr val="000000">
                              <a:alpha val="100000"/>
                            </a:srgbClr>
                          </a:solidFill>
                          <a:latin typeface="Arial" panose="020B0604020202020204"/>
                          <a:ea typeface="Arial" panose="020B0604020202020204"/>
                          <a:cs typeface="Arial" panose="020B0604020202020204"/>
                        </a:rPr>
                        <a:t>(</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803</a:t>
                      </a:r>
                      <a:r>
                        <a:rPr sz="2800" kern="0" spc="-40" dirty="0">
                          <a:solidFill>
                            <a:srgbClr val="000000">
                              <a:alpha val="100000"/>
                            </a:srgbClr>
                          </a:solidFill>
                          <a:latin typeface="Arial" panose="020B0604020202020204"/>
                          <a:ea typeface="Arial" panose="020B0604020202020204"/>
                          <a:cs typeface="Arial" panose="020B0604020202020204"/>
                        </a:rPr>
                        <a:t>)       </a:t>
                      </a:r>
                      <a:r>
                        <a:rPr sz="2800" kern="0" spc="-5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1066</a:t>
                      </a:r>
                      <a:r>
                        <a:rPr sz="2800" kern="0" spc="-50" dirty="0">
                          <a:solidFill>
                            <a:srgbClr val="000000">
                              <a:alpha val="100000"/>
                            </a:srgbClr>
                          </a:solidFill>
                          <a:latin typeface="Arial" panose="020B0604020202020204"/>
                          <a:ea typeface="Arial" panose="020B0604020202020204"/>
                          <a:cs typeface="Arial" panose="020B0604020202020204"/>
                        </a:rPr>
                        <a:t>)</a:t>
                      </a:r>
                      <a:endParaRPr sz="2800" dirty="0">
                        <a:latin typeface="Arial" panose="020B0604020202020204"/>
                        <a:ea typeface="Arial" panose="020B0604020202020204"/>
                        <a:cs typeface="Arial" panose="020B0604020202020204"/>
                      </a:endParaRPr>
                    </a:p>
                    <a:p>
                      <a:pPr marL="1939290" algn="l" rtl="0" eaLnBrk="0">
                        <a:lnSpc>
                          <a:spcPct val="85000"/>
                        </a:lnSpc>
                        <a:spcBef>
                          <a:spcPts val="800"/>
                        </a:spcBef>
                      </a:pPr>
                      <a:r>
                        <a:rPr sz="2800" kern="0" spc="0" dirty="0">
                          <a:solidFill>
                            <a:srgbClr val="000000">
                              <a:alpha val="100000"/>
                            </a:srgbClr>
                          </a:solidFill>
                          <a:latin typeface="Arial" panose="020B0604020202020204"/>
                          <a:ea typeface="Arial" panose="020B0604020202020204"/>
                          <a:cs typeface="Arial" panose="020B06040202020202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-value</a:t>
                      </a:r>
                      <a:r>
                        <a:rPr sz="2800" kern="0" spc="0" dirty="0">
                          <a:solidFill>
                            <a:srgbClr val="000000">
                              <a:alpha val="100000"/>
                            </a:srgbClr>
                          </a:solidFill>
                          <a:latin typeface="Arial" panose="020B0604020202020204"/>
                          <a:ea typeface="Arial" panose="020B0604020202020204"/>
                          <a:cs typeface="Arial" panose="020B06040202020202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0.622</a:t>
                      </a:r>
                      <a:r>
                        <a:rPr sz="2800" kern="0" spc="0" dirty="0">
                          <a:solidFill>
                            <a:srgbClr val="000000">
                              <a:alpha val="100000"/>
                            </a:srgbClr>
                          </a:solidFill>
                          <a:latin typeface="Arial" panose="020B0604020202020204"/>
                          <a:ea typeface="Arial" panose="020B0604020202020204"/>
                          <a:cs typeface="Arial" panose="020B0604020202020204"/>
                        </a:rPr>
                        <a:t>)</a:t>
                      </a:r>
                      <a:r>
                        <a:rPr sz="2800" kern="0" spc="440" dirty="0">
                          <a:solidFill>
                            <a:srgbClr val="000000">
                              <a:alpha val="100000"/>
                            </a:srgbClr>
                          </a:solidFill>
                          <a:latin typeface="Arial" panose="020B0604020202020204"/>
                          <a:ea typeface="Arial" panose="020B0604020202020204"/>
                          <a:cs typeface="Arial" panose="020B0604020202020204"/>
                        </a:rPr>
                        <a:t> </a:t>
                      </a:r>
                      <a:r>
                        <a:rPr sz="2800" kern="0" spc="0" dirty="0">
                          <a:solidFill>
                            <a:srgbClr val="000000">
                              <a:alpha val="100000"/>
                            </a:srgbClr>
                          </a:solidFill>
                          <a:latin typeface="Arial" panose="020B0604020202020204"/>
                          <a:ea typeface="Arial" panose="020B0604020202020204"/>
                          <a:cs typeface="Arial" panose="020B0604020202020204"/>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0.00</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0</a:t>
                      </a:r>
                      <a:r>
                        <a:rPr sz="2800" kern="0" spc="-10" dirty="0">
                          <a:solidFill>
                            <a:srgbClr val="000000">
                              <a:alpha val="100000"/>
                            </a:srgbClr>
                          </a:solidFill>
                          <a:latin typeface="Arial" panose="020B0604020202020204"/>
                          <a:ea typeface="Arial" panose="020B0604020202020204"/>
                          <a:cs typeface="Arial" panose="020B0604020202020204"/>
                        </a:rPr>
                        <a:t>)</a:t>
                      </a:r>
                      <a:r>
                        <a:rPr sz="2800" kern="0" spc="40" dirty="0">
                          <a:solidFill>
                            <a:srgbClr val="000000">
                              <a:alpha val="100000"/>
                            </a:srgbClr>
                          </a:solidFill>
                          <a:latin typeface="Arial" panose="020B0604020202020204"/>
                          <a:ea typeface="Arial" panose="020B0604020202020204"/>
                          <a:cs typeface="Arial" panose="020B0604020202020204"/>
                        </a:rPr>
                        <a:t>        </a:t>
                      </a:r>
                      <a:r>
                        <a:rPr sz="2800" kern="0" spc="-1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0.000</a:t>
                      </a:r>
                      <a:r>
                        <a:rPr sz="2800" kern="0" spc="-10" dirty="0">
                          <a:solidFill>
                            <a:srgbClr val="000000">
                              <a:alpha val="100000"/>
                            </a:srgbClr>
                          </a:solidFill>
                          <a:latin typeface="Arial" panose="020B0604020202020204"/>
                          <a:ea typeface="Arial" panose="020B0604020202020204"/>
                          <a:cs typeface="Arial" panose="020B0604020202020204"/>
                        </a:rPr>
                        <a:t>)</a:t>
                      </a:r>
                      <a:endParaRPr sz="28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4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如果我们错误地忽略了妻子教育程度这一变量：</a:t>
                      </a:r>
                      <a:endParaRPr sz="21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marL="3133090" algn="l" rtl="0" eaLnBrk="0">
                        <a:lnSpc>
                          <a:spcPct val="72000"/>
                        </a:lnSpc>
                        <a:spcBef>
                          <a:spcPts val="360"/>
                        </a:spcBef>
                      </a:pPr>
                      <a:r>
                        <a:rPr sz="1200" kern="0" spc="-10" dirty="0">
                          <a:solidFill>
                            <a:srgbClr val="000000">
                              <a:alpha val="100000"/>
                            </a:srgbClr>
                          </a:solidFill>
                          <a:latin typeface="Arial" panose="020B0604020202020204"/>
                          <a:ea typeface="Arial" panose="020B0604020202020204"/>
                          <a:cs typeface="Arial" panose="020B0604020202020204"/>
                        </a:rPr>
                        <a:t>Λ</a:t>
                      </a:r>
                      <a:endParaRPr sz="1200" dirty="0">
                        <a:latin typeface="Arial" panose="020B0604020202020204"/>
                        <a:ea typeface="Arial" panose="020B0604020202020204"/>
                        <a:cs typeface="Arial" panose="020B0604020202020204"/>
                      </a:endParaRPr>
                    </a:p>
                    <a:p>
                      <a:pPr marL="2664460" algn="l" rtl="0" eaLnBrk="0">
                        <a:lnSpc>
                          <a:spcPct val="77000"/>
                        </a:lnSpc>
                        <a:spcBef>
                          <a:spcPts val="5"/>
                        </a:spcBef>
                      </a:pP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FAMINC</a:t>
                      </a:r>
                      <a:r>
                        <a:rPr sz="2100" i="1" kern="0" spc="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4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26191</a:t>
                      </a:r>
                      <a:r>
                        <a:rPr sz="2100" kern="0" spc="40" dirty="0">
                          <a:solidFill>
                            <a:srgbClr val="000000">
                              <a:alpha val="100000"/>
                            </a:srgbClr>
                          </a:solidFill>
                          <a:latin typeface="Arial" panose="020B0604020202020204"/>
                          <a:ea typeface="Arial" panose="020B0604020202020204"/>
                          <a:cs typeface="Arial" panose="020B0604020202020204"/>
                        </a:rPr>
                        <a:t>+</a:t>
                      </a:r>
                      <a:r>
                        <a:rPr sz="2100" kern="0" spc="-100" dirty="0">
                          <a:solidFill>
                            <a:srgbClr val="000000">
                              <a:alpha val="100000"/>
                            </a:srgbClr>
                          </a:solidFill>
                          <a:latin typeface="Arial" panose="020B0604020202020204"/>
                          <a:ea typeface="Arial" panose="020B0604020202020204"/>
                          <a:cs typeface="Arial" panose="020B0604020202020204"/>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5155</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HEDU</a:t>
                      </a:r>
                      <a:endParaRPr sz="2100" dirty="0">
                        <a:latin typeface="Times New Roman" panose="02020603050405020304"/>
                        <a:ea typeface="Times New Roman" panose="02020603050405020304"/>
                        <a:cs typeface="Times New Roman" panose="02020603050405020304"/>
                      </a:endParaRPr>
                    </a:p>
                    <a:p>
                      <a:pPr marL="2919730" algn="l" rtl="0" eaLnBrk="0">
                        <a:lnSpc>
                          <a:spcPts val="3710"/>
                        </a:lnSpc>
                      </a:pPr>
                      <a:r>
                        <a:rPr sz="2800" kern="0" spc="-50" dirty="0">
                          <a:solidFill>
                            <a:srgbClr val="000000">
                              <a:alpha val="100000"/>
                            </a:srgbClr>
                          </a:solidFill>
                          <a:latin typeface="Arial" panose="020B0604020202020204"/>
                          <a:ea typeface="Arial" panose="020B0604020202020204"/>
                          <a:cs typeface="Arial" panose="020B0604020202020204"/>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se</a:t>
                      </a:r>
                      <a:r>
                        <a:rPr sz="2800" kern="0" spc="-50" dirty="0">
                          <a:solidFill>
                            <a:srgbClr val="000000">
                              <a:alpha val="100000"/>
                            </a:srgbClr>
                          </a:solidFill>
                          <a:latin typeface="Arial" panose="020B0604020202020204"/>
                          <a:ea typeface="Arial" panose="020B0604020202020204"/>
                          <a:cs typeface="Arial" panose="020B0604020202020204"/>
                        </a:rPr>
                        <a:t>)</a:t>
                      </a:r>
                      <a:r>
                        <a:rPr sz="2800" kern="0" spc="0" dirty="0">
                          <a:solidFill>
                            <a:srgbClr val="000000">
                              <a:alpha val="100000"/>
                            </a:srgbClr>
                          </a:solidFill>
                          <a:latin typeface="Arial" panose="020B0604020202020204"/>
                          <a:ea typeface="Arial" panose="020B0604020202020204"/>
                          <a:cs typeface="Arial" panose="020B0604020202020204"/>
                        </a:rPr>
                        <a:t>       </a:t>
                      </a:r>
                      <a:r>
                        <a:rPr sz="2800" kern="0" spc="-50" dirty="0">
                          <a:solidFill>
                            <a:srgbClr val="000000">
                              <a:alpha val="100000"/>
                            </a:srgbClr>
                          </a:solidFill>
                          <a:latin typeface="Arial" panose="020B0604020202020204"/>
                          <a:ea typeface="Arial" panose="020B0604020202020204"/>
                          <a:cs typeface="Arial" panose="020B0604020202020204"/>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8541</a:t>
                      </a:r>
                      <a:r>
                        <a:rPr sz="2800" kern="0" spc="-50" dirty="0">
                          <a:solidFill>
                            <a:srgbClr val="000000">
                              <a:alpha val="100000"/>
                            </a:srgbClr>
                          </a:solidFill>
                          <a:latin typeface="Arial" panose="020B0604020202020204"/>
                          <a:ea typeface="Arial" panose="020B0604020202020204"/>
                          <a:cs typeface="Arial" panose="020B0604020202020204"/>
                        </a:rPr>
                        <a:t>)</a:t>
                      </a:r>
                      <a:r>
                        <a:rPr sz="2800" kern="0" spc="110" dirty="0">
                          <a:solidFill>
                            <a:srgbClr val="000000">
                              <a:alpha val="100000"/>
                            </a:srgbClr>
                          </a:solidFill>
                          <a:latin typeface="Arial" panose="020B0604020202020204"/>
                          <a:ea typeface="Arial" panose="020B0604020202020204"/>
                          <a:cs typeface="Arial" panose="020B0604020202020204"/>
                        </a:rPr>
                        <a:t>  </a:t>
                      </a:r>
                      <a:r>
                        <a:rPr sz="2800" kern="0" spc="-50" dirty="0">
                          <a:solidFill>
                            <a:srgbClr val="000000">
                              <a:alpha val="100000"/>
                            </a:srgbClr>
                          </a:solidFill>
                          <a:latin typeface="Arial" panose="020B0604020202020204"/>
                          <a:ea typeface="Arial" panose="020B0604020202020204"/>
                          <a:cs typeface="Arial" panose="020B0604020202020204"/>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658</a:t>
                      </a:r>
                      <a:r>
                        <a:rPr sz="2800" kern="0" spc="-50" dirty="0">
                          <a:solidFill>
                            <a:srgbClr val="000000">
                              <a:alpha val="100000"/>
                            </a:srgbClr>
                          </a:solidFill>
                          <a:latin typeface="Arial" panose="020B0604020202020204"/>
                          <a:ea typeface="Arial" panose="020B0604020202020204"/>
                          <a:cs typeface="Arial" panose="020B0604020202020204"/>
                        </a:rPr>
                        <a:t>)</a:t>
                      </a:r>
                      <a:endParaRPr sz="2800" dirty="0">
                        <a:latin typeface="Arial" panose="020B0604020202020204"/>
                        <a:ea typeface="Arial" panose="020B0604020202020204"/>
                        <a:cs typeface="Arial" panose="020B0604020202020204"/>
                      </a:endParaRPr>
                    </a:p>
                    <a:p>
                      <a:pPr algn="l" rtl="0" eaLnBrk="0">
                        <a:lnSpc>
                          <a:spcPct val="111000"/>
                        </a:lnSpc>
                      </a:pPr>
                      <a:endParaRPr sz="8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665095" algn="l" rtl="0" eaLnBrk="0">
                        <a:lnSpc>
                          <a:spcPct val="85000"/>
                        </a:lnSpc>
                      </a:pPr>
                      <a:r>
                        <a:rPr sz="2800" kern="0" spc="10" dirty="0">
                          <a:solidFill>
                            <a:srgbClr val="000000">
                              <a:alpha val="100000"/>
                            </a:srgbClr>
                          </a:solidFill>
                          <a:latin typeface="Arial" panose="020B0604020202020204"/>
                          <a:ea typeface="Arial" panose="020B0604020202020204"/>
                          <a:cs typeface="Arial" panose="020B0604020202020204"/>
                        </a:rPr>
                        <a:t>(</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p</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value</a:t>
                      </a:r>
                      <a:r>
                        <a:rPr sz="2800" kern="0" spc="10" dirty="0">
                          <a:solidFill>
                            <a:srgbClr val="000000">
                              <a:alpha val="100000"/>
                            </a:srgbClr>
                          </a:solidFill>
                          <a:latin typeface="Arial" panose="020B0604020202020204"/>
                          <a:ea typeface="Arial" panose="020B0604020202020204"/>
                          <a:cs typeface="Arial" panose="020B0604020202020204"/>
                        </a:rPr>
                        <a:t>)</a:t>
                      </a:r>
                      <a:r>
                        <a:rPr sz="2800" kern="0" spc="370" dirty="0">
                          <a:solidFill>
                            <a:srgbClr val="000000">
                              <a:alpha val="100000"/>
                            </a:srgbClr>
                          </a:solidFill>
                          <a:latin typeface="Arial" panose="020B0604020202020204"/>
                          <a:ea typeface="Arial" panose="020B0604020202020204"/>
                          <a:cs typeface="Arial" panose="020B0604020202020204"/>
                        </a:rPr>
                        <a:t>  </a:t>
                      </a:r>
                      <a:r>
                        <a:rPr sz="2800" kern="0" spc="1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0.002</a:t>
                      </a:r>
                      <a:r>
                        <a:rPr sz="2800" kern="0" spc="10" dirty="0">
                          <a:solidFill>
                            <a:srgbClr val="000000">
                              <a:alpha val="100000"/>
                            </a:srgbClr>
                          </a:solidFill>
                          <a:latin typeface="Arial" panose="020B0604020202020204"/>
                          <a:ea typeface="Arial" panose="020B0604020202020204"/>
                          <a:cs typeface="Arial" panose="020B0604020202020204"/>
                        </a:rPr>
                        <a:t>)(</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0.000</a:t>
                      </a:r>
                      <a:r>
                        <a:rPr sz="2800" kern="0" spc="10" dirty="0">
                          <a:solidFill>
                            <a:srgbClr val="000000">
                              <a:alpha val="100000"/>
                            </a:srgbClr>
                          </a:solidFill>
                          <a:latin typeface="Arial" panose="020B0604020202020204"/>
                          <a:ea typeface="Arial" panose="020B0604020202020204"/>
                          <a:cs typeface="Arial" panose="020B0604020202020204"/>
                        </a:rPr>
                        <a:t>)</a:t>
                      </a:r>
                      <a:endParaRPr sz="28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13104">
                <a:tc>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 name="table 246"/>
          <p:cNvGraphicFramePr>
            <a:graphicFrameLocks noGrp="1"/>
          </p:cNvGraphicFramePr>
          <p:nvPr/>
        </p:nvGraphicFramePr>
        <p:xfrm>
          <a:off x="60832" y="66928"/>
          <a:ext cx="9018905" cy="6699250"/>
        </p:xfrm>
        <a:graphic>
          <a:graphicData uri="http://schemas.openxmlformats.org/drawingml/2006/table">
            <a:tbl>
              <a:tblPr/>
              <a:tblGrid>
                <a:gridCol w="598805"/>
                <a:gridCol w="8420100"/>
              </a:tblGrid>
              <a:tr h="3925570">
                <a:tc gridSpan="2">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911860" indent="-257810" algn="l" rtl="0" eaLnBrk="0">
                        <a:lnSpc>
                          <a:spcPct val="130000"/>
                        </a:lnSpc>
                      </a:pP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与上式相比，下式因为忽</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略</a:t>
                      </a:r>
                      <a:r>
                        <a:rPr sz="21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WEDU</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导致我们高估丈夫教育年数</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额外提高一年带来的</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效应（高估额近</a:t>
                      </a:r>
                      <a:r>
                        <a:rPr sz="2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2000</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美元）</a:t>
                      </a:r>
                      <a:endParaRPr sz="2100" dirty="0">
                        <a:latin typeface="楷体" panose="02010609060101010101" charset="-122"/>
                        <a:ea typeface="楷体" panose="02010609060101010101" charset="-122"/>
                        <a:cs typeface="楷体" panose="02010609060101010101" charset="-122"/>
                      </a:endParaRPr>
                    </a:p>
                    <a:p>
                      <a:pPr algn="l" rtl="0" eaLnBrk="0">
                        <a:lnSpc>
                          <a:spcPct val="110000"/>
                        </a:lnSpc>
                      </a:pPr>
                      <a:endParaRPr sz="1000" dirty="0">
                        <a:latin typeface="Arial" panose="020B0604020202020204"/>
                        <a:ea typeface="Arial" panose="020B0604020202020204"/>
                        <a:cs typeface="Arial" panose="020B0604020202020204"/>
                      </a:endParaRPr>
                    </a:p>
                    <a:p>
                      <a:pPr marL="654050" algn="l" rtl="0" eaLnBrk="0">
                        <a:lnSpc>
                          <a:spcPct val="94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相关变量（系数不为</a:t>
                      </a:r>
                      <a:r>
                        <a:rPr sz="2100" kern="0" spc="70" dirty="0">
                          <a:solidFill>
                            <a:srgbClr val="000000">
                              <a:alpha val="100000"/>
                            </a:srgbClr>
                          </a:solidFill>
                          <a:latin typeface="微软雅黑" panose="020B0503020204020204" charset="-122"/>
                          <a:ea typeface="微软雅黑" panose="020B0503020204020204" charset="-122"/>
                          <a:cs typeface="微软雅黑" panose="020B0503020204020204" charset="-122"/>
                        </a:rPr>
                        <a:t>0</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的变量）的缺失导致估计是有偏的</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31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30"/>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这一偏误称之为遗</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漏变量偏误。</a:t>
                      </a:r>
                      <a:endParaRPr sz="21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marL="654050" algn="l" rtl="0" eaLnBrk="0">
                        <a:lnSpc>
                          <a:spcPct val="94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写出一个一般的</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方程</a:t>
                      </a:r>
                      <a:r>
                        <a:rPr sz="210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2100" dirty="0">
                        <a:latin typeface="微软雅黑" panose="020B0503020204020204" charset="-122"/>
                        <a:ea typeface="微软雅黑" panose="020B0503020204020204" charset="-122"/>
                        <a:cs typeface="微软雅黑" panose="020B0503020204020204" charset="-122"/>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3287395" algn="l" rtl="0" eaLnBrk="0">
                        <a:lnSpc>
                          <a:spcPct val="95000"/>
                        </a:lnSpc>
                        <a:spcBef>
                          <a:spcPts val="0"/>
                        </a:spcBef>
                      </a:pPr>
                      <a:r>
                        <a:rPr sz="2100" i="1" kern="0" spc="-90" dirty="0">
                          <a:solidFill>
                            <a:srgbClr val="000000">
                              <a:alpha val="100000"/>
                            </a:srgbClr>
                          </a:solidFill>
                          <a:latin typeface="Times New Roman" panose="02020603050405020304"/>
                          <a:ea typeface="Times New Roman" panose="02020603050405020304"/>
                          <a:cs typeface="Times New Roman" panose="02020603050405020304"/>
                        </a:rPr>
                        <a:t>y</a:t>
                      </a:r>
                      <a:r>
                        <a:rPr sz="2100" i="1"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90" dirty="0">
                          <a:solidFill>
                            <a:srgbClr val="000000">
                              <a:alpha val="100000"/>
                            </a:srgbClr>
                          </a:solidFill>
                          <a:latin typeface="Arial" panose="020B0604020202020204"/>
                          <a:ea typeface="Arial" panose="020B0604020202020204"/>
                          <a:cs typeface="Arial" panose="020B0604020202020204"/>
                        </a:rPr>
                        <a:t>= </a:t>
                      </a:r>
                      <a:r>
                        <a:rPr sz="21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r>
                        <a:rPr sz="2100" kern="0" spc="-5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0" kern="0" spc="-9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1</a:t>
                      </a:r>
                      <a:r>
                        <a:rPr sz="12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Arial" panose="020B0604020202020204"/>
                          <a:ea typeface="Arial" panose="020B0604020202020204"/>
                          <a:cs typeface="Arial" panose="020B0604020202020204"/>
                        </a:rPr>
                        <a:t>+</a:t>
                      </a:r>
                      <a:r>
                        <a:rPr sz="2100" kern="0" spc="-160" dirty="0">
                          <a:solidFill>
                            <a:srgbClr val="000000">
                              <a:alpha val="100000"/>
                            </a:srgbClr>
                          </a:solidFill>
                          <a:latin typeface="Arial" panose="020B0604020202020204"/>
                          <a:ea typeface="Arial" panose="020B0604020202020204"/>
                          <a:cs typeface="Arial" panose="020B0604020202020204"/>
                        </a:rPr>
                        <a:t> </a:t>
                      </a:r>
                      <a:r>
                        <a:rPr sz="2100" kern="0" spc="-25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r>
                        <a:rPr sz="1900"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2</a:t>
                      </a:r>
                      <a:r>
                        <a:rPr sz="1200" kern="0" spc="2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60" dirty="0">
                          <a:solidFill>
                            <a:srgbClr val="000000">
                              <a:alpha val="100000"/>
                            </a:srgbClr>
                          </a:solidFill>
                          <a:latin typeface="Arial" panose="020B0604020202020204"/>
                          <a:ea typeface="Arial" panose="020B0604020202020204"/>
                          <a:cs typeface="Arial" panose="020B0604020202020204"/>
                        </a:rPr>
                        <a:t> </a:t>
                      </a:r>
                      <a:r>
                        <a:rPr sz="21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β</a:t>
                      </a:r>
                      <a:r>
                        <a:rPr sz="1900"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30" baseline="-2500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1200" kern="0" spc="2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Arial" panose="020B0604020202020204"/>
                          <a:ea typeface="Arial" panose="020B0604020202020204"/>
                          <a:cs typeface="Arial" panose="020B0604020202020204"/>
                        </a:rPr>
                        <a:t>+</a:t>
                      </a:r>
                      <a:r>
                        <a:rPr sz="2100" kern="0" spc="-140" dirty="0">
                          <a:solidFill>
                            <a:srgbClr val="000000">
                              <a:alpha val="100000"/>
                            </a:srgbClr>
                          </a:solidFill>
                          <a:latin typeface="Arial" panose="020B0604020202020204"/>
                          <a:ea typeface="Arial" panose="020B0604020202020204"/>
                          <a:cs typeface="Arial" panose="020B0604020202020204"/>
                        </a:rPr>
                        <a:t> </a:t>
                      </a:r>
                      <a:r>
                        <a:rPr sz="2100" i="1" kern="0" spc="-30" dirty="0">
                          <a:solidFill>
                            <a:srgbClr val="000000">
                              <a:alpha val="100000"/>
                            </a:srgbClr>
                          </a:solidFill>
                          <a:latin typeface="Times New Roman" panose="02020603050405020304"/>
                          <a:ea typeface="Times New Roman" panose="02020603050405020304"/>
                          <a:cs typeface="Times New Roman" panose="02020603050405020304"/>
                        </a:rPr>
                        <a:t>e</a:t>
                      </a:r>
                      <a:endParaRPr sz="21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2773680">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eaLnBrk="0">
                        <a:lnSpc>
                          <a:spcPct val="110000"/>
                        </a:lnSpc>
                      </a:pPr>
                      <a:endParaRPr sz="900" dirty="0">
                        <a:latin typeface="Arial" panose="020B0604020202020204"/>
                        <a:ea typeface="Arial" panose="020B0604020202020204"/>
                        <a:cs typeface="Arial" panose="020B0604020202020204"/>
                      </a:endParaRPr>
                    </a:p>
                    <a:p>
                      <a:pPr marL="56515" algn="l" rtl="0" eaLnBrk="0">
                        <a:lnSpc>
                          <a:spcPts val="2995"/>
                        </a:lnSpc>
                        <a:spcBef>
                          <a:spcPts val="0"/>
                        </a:spcBef>
                      </a:pPr>
                      <a:r>
                        <a:rPr sz="20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400" kern="0" spc="-60" dirty="0">
                          <a:solidFill>
                            <a:srgbClr val="000000">
                              <a:alpha val="100000"/>
                            </a:srgbClr>
                          </a:solidFill>
                          <a:latin typeface="楷体" panose="02010609060101010101" charset="-122"/>
                          <a:ea typeface="楷体" panose="02010609060101010101" charset="-122"/>
                          <a:cs typeface="楷体" panose="02010609060101010101" charset="-122"/>
                        </a:rPr>
                        <a:t>忽略</a:t>
                      </a:r>
                      <a:r>
                        <a:rPr sz="2400" i="1" kern="0" spc="-60" dirty="0">
                          <a:solidFill>
                            <a:srgbClr val="000000">
                              <a:alpha val="100000"/>
                            </a:srgbClr>
                          </a:solidFill>
                          <a:latin typeface="Times New Roman" panose="02020603050405020304"/>
                          <a:ea typeface="Times New Roman" panose="02020603050405020304"/>
                          <a:cs typeface="Times New Roman" panose="02020603050405020304"/>
                        </a:rPr>
                        <a:t>x</a:t>
                      </a:r>
                      <a:r>
                        <a:rPr sz="2400" kern="0" spc="-60" baseline="-1500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1500" kern="0" spc="2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楷体" panose="02010609060101010101" charset="-122"/>
                          <a:ea typeface="楷体" panose="02010609060101010101" charset="-122"/>
                          <a:cs typeface="楷体" panose="02010609060101010101" charset="-122"/>
                        </a:rPr>
                        <a:t>等价于施加约束</a:t>
                      </a:r>
                      <a:r>
                        <a:rPr sz="2400" kern="0" spc="-1160" dirty="0">
                          <a:solidFill>
                            <a:srgbClr val="000000">
                              <a:alpha val="100000"/>
                            </a:srgbClr>
                          </a:solidFill>
                          <a:latin typeface="微软雅黑" panose="020B0503020204020204" charset="-122"/>
                          <a:ea typeface="微软雅黑" panose="020B0503020204020204" charset="-122"/>
                          <a:cs typeface="微软雅黑" panose="020B0503020204020204" charset="-122"/>
                        </a:rPr>
                        <a:t>阝</a:t>
                      </a:r>
                      <a:r>
                        <a:rPr sz="2400" kern="0" spc="-110" baseline="-15000" dirty="0">
                          <a:solidFill>
                            <a:srgbClr val="000000">
                              <a:alpha val="100000"/>
                            </a:srgbClr>
                          </a:solidFill>
                          <a:latin typeface="微软雅黑" panose="020B0503020204020204" charset="-122"/>
                          <a:ea typeface="微软雅黑" panose="020B0503020204020204" charset="-122"/>
                          <a:cs typeface="微软雅黑" panose="020B0503020204020204" charset="-122"/>
                        </a:rPr>
                        <a:t>3</a:t>
                      </a:r>
                      <a:r>
                        <a:rPr sz="150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40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 0</a:t>
                      </a:r>
                      <a:r>
                        <a:rPr sz="2400" kern="0" spc="-60" dirty="0">
                          <a:solidFill>
                            <a:srgbClr val="000000">
                              <a:alpha val="100000"/>
                            </a:srgbClr>
                          </a:solidFill>
                          <a:latin typeface="楷体" panose="02010609060101010101" charset="-122"/>
                          <a:ea typeface="楷体" panose="02010609060101010101" charset="-122"/>
                          <a:cs typeface="楷体" panose="02010609060101010101" charset="-122"/>
                        </a:rPr>
                        <a:t>，这可以看作是对参数</a:t>
                      </a:r>
                      <a:endParaRPr sz="2400" dirty="0">
                        <a:latin typeface="楷体" panose="02010609060101010101" charset="-122"/>
                        <a:ea typeface="楷体" panose="02010609060101010101" charset="-122"/>
                        <a:cs typeface="楷体" panose="02010609060101010101" charset="-122"/>
                      </a:endParaRPr>
                    </a:p>
                    <a:p>
                      <a:pPr marL="321310" algn="l" rtl="0" eaLnBrk="0">
                        <a:lnSpc>
                          <a:spcPts val="3725"/>
                        </a:lnSpc>
                      </a:pP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施加了不正确的约束的例子。</a:t>
                      </a:r>
                      <a:r>
                        <a:rPr sz="2400" kern="0" spc="10" dirty="0">
                          <a:solidFill>
                            <a:srgbClr val="000000">
                              <a:alpha val="100000"/>
                            </a:srgbClr>
                          </a:solidFill>
                          <a:latin typeface="楷体" panose="02010609060101010101" charset="-122"/>
                          <a:ea typeface="楷体" panose="02010609060101010101" charset="-122"/>
                          <a:cs typeface="楷体" panose="02010609060101010101" charset="-122"/>
                        </a:rPr>
                        <a:t>偏误等于:</a:t>
                      </a:r>
                      <a:endParaRPr sz="2400" dirty="0">
                        <a:latin typeface="楷体" panose="02010609060101010101" charset="-122"/>
                        <a:ea typeface="楷体" panose="02010609060101010101" charset="-122"/>
                        <a:cs typeface="楷体" panose="02010609060101010101" charset="-122"/>
                      </a:endParaRPr>
                    </a:p>
                    <a:p>
                      <a:pPr algn="l" rtl="0" eaLnBrk="0">
                        <a:lnSpc>
                          <a:spcPct val="156000"/>
                        </a:lnSpc>
                      </a:pPr>
                      <a:endParaRPr sz="1000" dirty="0">
                        <a:latin typeface="Arial" panose="020B0604020202020204"/>
                        <a:ea typeface="Arial" panose="020B0604020202020204"/>
                        <a:cs typeface="Arial" panose="020B0604020202020204"/>
                      </a:endParaRPr>
                    </a:p>
                    <a:p>
                      <a:pPr algn="l" rtl="0" eaLnBrk="0">
                        <a:lnSpc>
                          <a:spcPct val="126000"/>
                        </a:lnSpc>
                      </a:pPr>
                      <a:endParaRPr sz="200" dirty="0">
                        <a:latin typeface="Arial" panose="020B0604020202020204"/>
                        <a:ea typeface="Arial" panose="020B0604020202020204"/>
                        <a:cs typeface="Arial" panose="020B0604020202020204"/>
                      </a:endParaRPr>
                    </a:p>
                    <a:p>
                      <a:pPr marL="1722755" algn="l" rtl="0" eaLnBrk="0">
                        <a:lnSpc>
                          <a:spcPts val="8375"/>
                        </a:lnSpc>
                        <a:spcBef>
                          <a:spcPts val="0"/>
                        </a:spcBef>
                        <a:tabLst>
                          <a:tab pos="608266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48" name="picture 248"/>
          <p:cNvPicPr>
            <a:picLocks noChangeAspect="1"/>
          </p:cNvPicPr>
          <p:nvPr/>
        </p:nvPicPr>
        <p:blipFill>
          <a:blip r:embed="rId1"/>
          <a:stretch>
            <a:fillRect/>
          </a:stretch>
        </p:blipFill>
        <p:spPr>
          <a:xfrm rot="21600000">
            <a:off x="2382503" y="5273216"/>
            <a:ext cx="4359968" cy="1063564"/>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2" name="table 252"/>
          <p:cNvGraphicFramePr>
            <a:graphicFrameLocks noGrp="1"/>
          </p:cNvGraphicFramePr>
          <p:nvPr/>
        </p:nvGraphicFramePr>
        <p:xfrm>
          <a:off x="60832" y="66928"/>
          <a:ext cx="9018905" cy="6699248"/>
        </p:xfrm>
        <a:graphic>
          <a:graphicData uri="http://schemas.openxmlformats.org/drawingml/2006/table">
            <a:tbl>
              <a:tblPr/>
              <a:tblGrid>
                <a:gridCol w="9018905"/>
              </a:tblGrid>
              <a:tr h="5875654">
                <a:tc>
                  <a:txBody>
                    <a:bodyPr/>
                    <a:lstStyle/>
                    <a:p>
                      <a:pPr algn="l" rtl="0" eaLnBrk="0">
                        <a:lnSpc>
                          <a:spcPct val="100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marL="968375" algn="l" rtl="0" eaLnBrk="0">
                        <a:lnSpc>
                          <a:spcPct val="97000"/>
                        </a:lnSpc>
                      </a:pPr>
                      <a:r>
                        <a:rPr sz="22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200" kern="0" spc="5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600" kern="0" spc="-80" dirty="0">
                          <a:solidFill>
                            <a:srgbClr val="000000">
                              <a:alpha val="100000"/>
                            </a:srgbClr>
                          </a:solidFill>
                          <a:latin typeface="楷体" panose="02010609060101010101" charset="-122"/>
                          <a:ea typeface="楷体" panose="02010609060101010101" charset="-122"/>
                          <a:cs typeface="楷体" panose="02010609060101010101" charset="-122"/>
                        </a:rPr>
                        <a:t>注意到</a:t>
                      </a:r>
                      <a:r>
                        <a:rPr sz="2600" kern="0" spc="-80" dirty="0">
                          <a:solidFill>
                            <a:srgbClr val="000000">
                              <a:alpha val="100000"/>
                            </a:srgbClr>
                          </a:solidFill>
                          <a:latin typeface="Perpetua" panose="02020502060401020303"/>
                          <a:ea typeface="Perpetua" panose="02020502060401020303"/>
                          <a:cs typeface="Perpetua" panose="02020502060401020303"/>
                        </a:rPr>
                        <a:t>:</a:t>
                      </a:r>
                      <a:endParaRPr sz="2600" dirty="0">
                        <a:latin typeface="Perpetua" panose="02020502060401020303"/>
                        <a:ea typeface="Perpetua" panose="02020502060401020303"/>
                        <a:cs typeface="Perpetua" panose="02020502060401020303"/>
                      </a:endParaRPr>
                    </a:p>
                    <a:p>
                      <a:pPr algn="l" rtl="0" eaLnBrk="0">
                        <a:lnSpc>
                          <a:spcPct val="100000"/>
                        </a:lnSpc>
                      </a:pPr>
                      <a:endParaRPr sz="1000" dirty="0">
                        <a:latin typeface="Arial" panose="020B0604020202020204"/>
                        <a:ea typeface="Arial" panose="020B0604020202020204"/>
                        <a:cs typeface="Arial" panose="020B0604020202020204"/>
                      </a:endParaRPr>
                    </a:p>
                    <a:p>
                      <a:pPr marL="2452370" indent="-1015365" algn="l" rtl="0" eaLnBrk="0">
                        <a:lnSpc>
                          <a:spcPct val="110000"/>
                        </a:lnSpc>
                        <a:spcBef>
                          <a:spcPts val="730"/>
                        </a:spcBef>
                      </a:pPr>
                      <a:r>
                        <a:rPr sz="2400" kern="0" spc="-190" dirty="0">
                          <a:solidFill>
                            <a:srgbClr val="000000">
                              <a:alpha val="100000"/>
                            </a:srgbClr>
                          </a:solidFill>
                          <a:latin typeface="Perpetua" panose="02020502060401020303"/>
                          <a:ea typeface="Perpetua" panose="02020502060401020303"/>
                          <a:cs typeface="Perpetua" panose="02020502060401020303"/>
                        </a:rPr>
                        <a:t>1.</a:t>
                      </a:r>
                      <a:r>
                        <a:rPr sz="2400" kern="0" spc="40" dirty="0">
                          <a:solidFill>
                            <a:srgbClr val="000000">
                              <a:alpha val="100000"/>
                            </a:srgbClr>
                          </a:solidFill>
                          <a:latin typeface="Perpetua" panose="02020502060401020303"/>
                          <a:ea typeface="Perpetua" panose="02020502060401020303"/>
                          <a:cs typeface="Perpetua" panose="02020502060401020303"/>
                        </a:rPr>
                        <a:t>    </a:t>
                      </a:r>
                      <a:r>
                        <a:rPr sz="2400" kern="0" spc="-190" dirty="0">
                          <a:solidFill>
                            <a:srgbClr val="000000">
                              <a:alpha val="100000"/>
                            </a:srgbClr>
                          </a:solidFill>
                          <a:latin typeface="Cambria" panose="02040503050406030204"/>
                          <a:ea typeface="Cambria" panose="02040503050406030204"/>
                          <a:cs typeface="Cambria" panose="02040503050406030204"/>
                        </a:rPr>
                        <a:t>#</a:t>
                      </a:r>
                      <a:r>
                        <a:rPr sz="2400" kern="0" spc="-30" baseline="-24000" dirty="0">
                          <a:solidFill>
                            <a:srgbClr val="000000">
                              <a:alpha val="100000"/>
                            </a:srgbClr>
                          </a:solidFill>
                          <a:latin typeface="Perpetua" panose="02020502060401020303"/>
                          <a:ea typeface="Perpetua" panose="02020502060401020303"/>
                          <a:cs typeface="Perpetua" panose="02020502060401020303"/>
                        </a:rPr>
                        <a:t>3</a:t>
                      </a:r>
                      <a:r>
                        <a:rPr sz="1500" kern="0" spc="-30" dirty="0">
                          <a:solidFill>
                            <a:srgbClr val="000000">
                              <a:alpha val="100000"/>
                            </a:srgbClr>
                          </a:solidFill>
                          <a:latin typeface="Perpetua" panose="02020502060401020303"/>
                          <a:ea typeface="Perpetua" panose="02020502060401020303"/>
                          <a:cs typeface="Perpetua" panose="02020502060401020303"/>
                        </a:rPr>
                        <a:t>  </a:t>
                      </a:r>
                      <a:r>
                        <a:rPr sz="2400" kern="0" spc="-30" dirty="0">
                          <a:solidFill>
                            <a:srgbClr val="000000">
                              <a:alpha val="100000"/>
                            </a:srgbClr>
                          </a:solidFill>
                          <a:latin typeface="Perpetua" panose="02020502060401020303"/>
                          <a:ea typeface="Perpetua" panose="02020502060401020303"/>
                          <a:cs typeface="Perpetua" panose="02020502060401020303"/>
                        </a:rPr>
                        <a:t>&gt; 0  </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因为妻子的教育对家庭收入具有正向影响；</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200" kern="0" spc="-10" dirty="0">
                          <a:solidFill>
                            <a:srgbClr val="000000">
                              <a:alpha val="100000"/>
                            </a:srgbClr>
                          </a:solidFill>
                          <a:latin typeface="Arial" panose="020B0604020202020204"/>
                          <a:ea typeface="Arial" panose="020B0604020202020204"/>
                          <a:cs typeface="Arial" panose="020B0604020202020204"/>
                        </a:rPr>
                        <a:t>Λ</a:t>
                      </a:r>
                      <a:endParaRPr sz="1200" dirty="0">
                        <a:latin typeface="Arial" panose="020B0604020202020204"/>
                        <a:ea typeface="Arial" panose="020B0604020202020204"/>
                        <a:cs typeface="Arial" panose="020B0604020202020204"/>
                      </a:endParaRPr>
                    </a:p>
                    <a:p>
                      <a:pPr marL="1431925" indent="-12065" algn="l" rtl="0" eaLnBrk="0">
                        <a:lnSpc>
                          <a:spcPct val="113000"/>
                        </a:lnSpc>
                        <a:spcBef>
                          <a:spcPts val="20"/>
                        </a:spcBef>
                      </a:pPr>
                      <a:r>
                        <a:rPr sz="2400" kern="0" spc="-20" dirty="0">
                          <a:solidFill>
                            <a:srgbClr val="000000">
                              <a:alpha val="100000"/>
                            </a:srgbClr>
                          </a:solidFill>
                          <a:latin typeface="Perpetua" panose="02020502060401020303"/>
                          <a:ea typeface="Perpetua" panose="02020502060401020303"/>
                          <a:cs typeface="Perpetua" panose="02020502060401020303"/>
                        </a:rPr>
                        <a:t>2.</a:t>
                      </a:r>
                      <a:r>
                        <a:rPr sz="2400" kern="0" spc="150" dirty="0">
                          <a:solidFill>
                            <a:srgbClr val="000000">
                              <a:alpha val="100000"/>
                            </a:srgbClr>
                          </a:solidFill>
                          <a:latin typeface="Perpetua" panose="02020502060401020303"/>
                          <a:ea typeface="Perpetua" panose="02020502060401020303"/>
                          <a:cs typeface="Perpetua" panose="02020502060401020303"/>
                        </a:rPr>
                        <a:t>   </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cov</a:t>
                      </a:r>
                      <a:r>
                        <a:rPr sz="21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20" dirty="0">
                          <a:solidFill>
                            <a:srgbClr val="000000">
                              <a:alpha val="100000"/>
                            </a:srgbClr>
                          </a:solidFill>
                          <a:latin typeface="Arial" panose="020B0604020202020204"/>
                          <a:ea typeface="Arial" panose="020B0604020202020204"/>
                          <a:cs typeface="Arial" panose="020B0604020202020204"/>
                        </a:rPr>
                        <a:t>(</a:t>
                      </a:r>
                      <a:r>
                        <a:rPr sz="21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20" baseline="-16000" dirty="0">
                          <a:solidFill>
                            <a:srgbClr val="000000">
                              <a:alpha val="100000"/>
                            </a:srgbClr>
                          </a:solidFill>
                          <a:latin typeface="Times New Roman" panose="02020603050405020304"/>
                          <a:ea typeface="Times New Roman" panose="02020603050405020304"/>
                          <a:cs typeface="Times New Roman" panose="02020603050405020304"/>
                        </a:rPr>
                        <a:t>2</a:t>
                      </a:r>
                      <a:r>
                        <a:rPr sz="3300" kern="0" spc="-20" baseline="-900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33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1900" kern="0" spc="-20" baseline="-22000" dirty="0">
                          <a:solidFill>
                            <a:srgbClr val="000000">
                              <a:alpha val="100000"/>
                            </a:srgbClr>
                          </a:solidFill>
                          <a:latin typeface="Times New Roman" panose="02020603050405020304"/>
                          <a:ea typeface="Times New Roman" panose="02020603050405020304"/>
                          <a:cs typeface="Times New Roman" panose="02020603050405020304"/>
                        </a:rPr>
                        <a:t>3</a:t>
                      </a:r>
                      <a:r>
                        <a:rPr sz="12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800" kern="0" spc="-20" dirty="0">
                          <a:solidFill>
                            <a:srgbClr val="000000">
                              <a:alpha val="100000"/>
                            </a:srgbClr>
                          </a:solidFill>
                          <a:latin typeface="Arial" panose="020B0604020202020204"/>
                          <a:ea typeface="Arial" panose="020B0604020202020204"/>
                          <a:cs typeface="Arial" panose="020B0604020202020204"/>
                        </a:rPr>
                        <a:t>)</a:t>
                      </a:r>
                      <a:r>
                        <a:rPr sz="2800" kern="0" spc="-250" dirty="0">
                          <a:solidFill>
                            <a:srgbClr val="000000">
                              <a:alpha val="100000"/>
                            </a:srgbClr>
                          </a:solidFill>
                          <a:latin typeface="Arial" panose="020B0604020202020204"/>
                          <a:ea typeface="Arial" panose="020B0604020202020204"/>
                          <a:cs typeface="Arial" panose="020B0604020202020204"/>
                        </a:rPr>
                        <a:t> </a:t>
                      </a:r>
                      <a:r>
                        <a:rPr sz="3300" kern="0" spc="-20" baseline="3000" dirty="0">
                          <a:solidFill>
                            <a:srgbClr val="000000">
                              <a:alpha val="100000"/>
                            </a:srgbClr>
                          </a:solidFill>
                          <a:latin typeface="Arial" panose="020B0604020202020204"/>
                          <a:ea typeface="Arial" panose="020B0604020202020204"/>
                          <a:cs typeface="Arial" panose="020B0604020202020204"/>
                        </a:rPr>
                        <a:t>&gt;</a:t>
                      </a:r>
                      <a:r>
                        <a:rPr sz="2100" kern="0" spc="-20" dirty="0">
                          <a:solidFill>
                            <a:srgbClr val="000000">
                              <a:alpha val="100000"/>
                            </a:srgbClr>
                          </a:solidFill>
                          <a:latin typeface="Arial" panose="020B0604020202020204"/>
                          <a:ea typeface="Arial" panose="020B0604020202020204"/>
                          <a:cs typeface="Arial" panose="020B0604020202020204"/>
                        </a:rPr>
                        <a:t> </a:t>
                      </a:r>
                      <a:r>
                        <a:rPr sz="3300" kern="0" spc="-20" baseline="3000" dirty="0">
                          <a:solidFill>
                            <a:srgbClr val="000000">
                              <a:alpha val="100000"/>
                            </a:srgbClr>
                          </a:solidFill>
                          <a:latin typeface="Times New Roman" panose="02020603050405020304"/>
                          <a:ea typeface="Times New Roman" panose="02020603050405020304"/>
                          <a:cs typeface="Times New Roman" panose="02020603050405020304"/>
                        </a:rPr>
                        <a:t>0</a:t>
                      </a:r>
                      <a:r>
                        <a:rPr sz="2100" kern="0" spc="46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20" dirty="0">
                          <a:solidFill>
                            <a:srgbClr val="000000">
                              <a:alpha val="100000"/>
                            </a:srgbClr>
                          </a:solidFill>
                          <a:latin typeface="楷体" panose="02010609060101010101" charset="-122"/>
                          <a:ea typeface="楷体" panose="02010609060101010101" charset="-122"/>
                          <a:cs typeface="楷体" panose="02010609060101010101" charset="-122"/>
                        </a:rPr>
                        <a:t>因为丈夫和妻子的教育程度是正</a:t>
                      </a:r>
                      <a:r>
                        <a:rPr sz="2400" kern="0" spc="-30" dirty="0">
                          <a:solidFill>
                            <a:srgbClr val="000000">
                              <a:alpha val="100000"/>
                            </a:srgbClr>
                          </a:solidFill>
                          <a:latin typeface="楷体" panose="02010609060101010101" charset="-122"/>
                          <a:ea typeface="楷体" panose="02010609060101010101" charset="-122"/>
                          <a:cs typeface="楷体" panose="02010609060101010101" charset="-122"/>
                        </a:rPr>
                        <a:t>相关</a:t>
                      </a:r>
                      <a:r>
                        <a:rPr sz="24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400" kern="0" spc="-170" dirty="0">
                          <a:solidFill>
                            <a:srgbClr val="000000">
                              <a:alpha val="100000"/>
                            </a:srgbClr>
                          </a:solidFill>
                          <a:latin typeface="楷体" panose="02010609060101010101" charset="-122"/>
                          <a:ea typeface="楷体" panose="02010609060101010101" charset="-122"/>
                          <a:cs typeface="楷体" panose="02010609060101010101" charset="-122"/>
                        </a:rPr>
                        <a:t>的；</a:t>
                      </a:r>
                      <a:endParaRPr sz="2400" dirty="0">
                        <a:latin typeface="楷体" panose="02010609060101010101" charset="-122"/>
                        <a:ea typeface="楷体" panose="02010609060101010101" charset="-122"/>
                        <a:cs typeface="楷体" panose="02010609060101010101" charset="-122"/>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15000"/>
                        </a:lnSpc>
                      </a:pPr>
                      <a:endParaRPr sz="500" dirty="0">
                        <a:latin typeface="Arial" panose="020B0604020202020204"/>
                        <a:ea typeface="Arial" panose="020B0604020202020204"/>
                        <a:cs typeface="Arial" panose="020B0604020202020204"/>
                      </a:endParaRPr>
                    </a:p>
                    <a:p>
                      <a:pPr marL="1286510" algn="l" rtl="0" eaLnBrk="0">
                        <a:lnSpc>
                          <a:spcPct val="87000"/>
                        </a:lnSpc>
                        <a:spcBef>
                          <a:spcPts val="5"/>
                        </a:spcBef>
                      </a:pPr>
                      <a:r>
                        <a:rPr sz="1900" kern="0" spc="-130" dirty="0">
                          <a:solidFill>
                            <a:srgbClr val="9B2D1F">
                              <a:alpha val="100000"/>
                            </a:srgbClr>
                          </a:solidFill>
                          <a:latin typeface="微软雅黑" panose="020B0503020204020204" charset="-122"/>
                          <a:ea typeface="微软雅黑" panose="020B0503020204020204" charset="-122"/>
                          <a:cs typeface="微软雅黑" panose="020B0503020204020204" charset="-122"/>
                        </a:rPr>
                        <a:t>●  </a:t>
                      </a:r>
                      <a:r>
                        <a:rPr sz="2300" kern="0" spc="-130" dirty="0">
                          <a:solidFill>
                            <a:srgbClr val="000000">
                              <a:alpha val="100000"/>
                            </a:srgbClr>
                          </a:solidFill>
                          <a:latin typeface="楷体" panose="02010609060101010101" charset="-122"/>
                          <a:ea typeface="楷体" panose="02010609060101010101" charset="-122"/>
                          <a:cs typeface="楷体" panose="02010609060101010101" charset="-122"/>
                        </a:rPr>
                        <a:t>因此偏误为正。</a:t>
                      </a:r>
                      <a:endParaRPr sz="23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823594">
                <a:tc>
                  <a:txBody>
                    <a:bodyPr/>
                    <a:lstStyle/>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272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54" name="picture 254"/>
          <p:cNvPicPr>
            <a:picLocks noChangeAspect="1"/>
          </p:cNvPicPr>
          <p:nvPr/>
        </p:nvPicPr>
        <p:blipFill>
          <a:blip r:embed="rId1"/>
          <a:stretch>
            <a:fillRect/>
          </a:stretch>
        </p:blipFill>
        <p:spPr>
          <a:xfrm rot="21600000">
            <a:off x="762000" y="332232"/>
            <a:ext cx="7620000" cy="2324099"/>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8" name="table 258"/>
          <p:cNvGraphicFramePr>
            <a:graphicFrameLocks noGrp="1"/>
          </p:cNvGraphicFramePr>
          <p:nvPr/>
        </p:nvGraphicFramePr>
        <p:xfrm>
          <a:off x="60832" y="66928"/>
          <a:ext cx="9018905" cy="6699248"/>
        </p:xfrm>
        <a:graphic>
          <a:graphicData uri="http://schemas.openxmlformats.org/drawingml/2006/table">
            <a:tbl>
              <a:tblPr/>
              <a:tblGrid>
                <a:gridCol w="9018905"/>
              </a:tblGrid>
              <a:tr h="5353684">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965200" algn="l" rtl="0" eaLnBrk="0">
                        <a:lnSpc>
                          <a:spcPts val="2555"/>
                        </a:lnSpc>
                        <a:spcBef>
                          <a:spcPts val="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考虑如下模型</a:t>
                      </a:r>
                      <a:r>
                        <a:rPr sz="2100" kern="0" spc="50" dirty="0">
                          <a:solidFill>
                            <a:srgbClr val="000000">
                              <a:alpha val="100000"/>
                            </a:srgbClr>
                          </a:solidFill>
                          <a:latin typeface="Perpetua" panose="02020502060401020303"/>
                          <a:ea typeface="Perpetua" panose="02020502060401020303"/>
                          <a:cs typeface="Perpetua" panose="02020502060401020303"/>
                        </a:rPr>
                        <a:t>:</a:t>
                      </a:r>
                      <a:endParaRPr sz="2100" dirty="0">
                        <a:latin typeface="Perpetua" panose="02020502060401020303"/>
                        <a:ea typeface="Perpetua" panose="02020502060401020303"/>
                        <a:cs typeface="Perpetua" panose="02020502060401020303"/>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1783080" algn="l" rtl="0" eaLnBrk="0">
                        <a:lnSpc>
                          <a:spcPct val="70000"/>
                        </a:lnSpc>
                        <a:spcBef>
                          <a:spcPts val="365"/>
                        </a:spcBef>
                      </a:pPr>
                      <a:r>
                        <a:rPr sz="1200" kern="0" spc="-10" dirty="0">
                          <a:solidFill>
                            <a:srgbClr val="000000">
                              <a:alpha val="100000"/>
                            </a:srgbClr>
                          </a:solidFill>
                          <a:latin typeface="Arial" panose="020B0604020202020204"/>
                          <a:ea typeface="Arial" panose="020B0604020202020204"/>
                          <a:cs typeface="Arial" panose="020B0604020202020204"/>
                        </a:rPr>
                        <a:t>Λ</a:t>
                      </a:r>
                      <a:endParaRPr sz="1200" dirty="0">
                        <a:latin typeface="Arial" panose="020B0604020202020204"/>
                        <a:ea typeface="Arial" panose="020B0604020202020204"/>
                        <a:cs typeface="Arial" panose="020B0604020202020204"/>
                      </a:endParaRPr>
                    </a:p>
                    <a:p>
                      <a:pPr marL="1325245" algn="l" rtl="0" eaLnBrk="0">
                        <a:lnSpc>
                          <a:spcPct val="79000"/>
                        </a:lnSpc>
                        <a:spcBef>
                          <a:spcPts val="5"/>
                        </a:spcBef>
                      </a:pP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FAMINC</a:t>
                      </a:r>
                      <a:r>
                        <a:rPr sz="2000" i="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10" dirty="0">
                          <a:solidFill>
                            <a:srgbClr val="000000">
                              <a:alpha val="100000"/>
                            </a:srgbClr>
                          </a:solidFill>
                          <a:latin typeface="Arial" panose="020B0604020202020204"/>
                          <a:ea typeface="Arial" panose="020B0604020202020204"/>
                          <a:cs typeface="Arial" panose="020B0604020202020204"/>
                        </a:rPr>
                        <a:t>= −</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7755</a:t>
                      </a:r>
                      <a:r>
                        <a:rPr sz="2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110" dirty="0">
                          <a:solidFill>
                            <a:srgbClr val="000000">
                              <a:alpha val="100000"/>
                            </a:srgbClr>
                          </a:solidFill>
                          <a:latin typeface="Arial" panose="020B0604020202020204"/>
                          <a:ea typeface="Arial" panose="020B0604020202020204"/>
                          <a:cs typeface="Arial" panose="020B0604020202020204"/>
                        </a:rPr>
                        <a:t>+</a:t>
                      </a:r>
                      <a:r>
                        <a:rPr sz="2000" kern="0" spc="-140" dirty="0">
                          <a:solidFill>
                            <a:srgbClr val="000000">
                              <a:alpha val="100000"/>
                            </a:srgbClr>
                          </a:solidFill>
                          <a:latin typeface="Arial" panose="020B0604020202020204"/>
                          <a:ea typeface="Arial" panose="020B0604020202020204"/>
                          <a:cs typeface="Arial" panose="020B0604020202020204"/>
                        </a:rPr>
                        <a:t> </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3212</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HEDU</a:t>
                      </a:r>
                      <a:r>
                        <a:rPr sz="2000" kern="0" spc="110" dirty="0">
                          <a:solidFill>
                            <a:srgbClr val="000000">
                              <a:alpha val="100000"/>
                            </a:srgbClr>
                          </a:solidFill>
                          <a:latin typeface="Arial" panose="020B0604020202020204"/>
                          <a:ea typeface="Arial" panose="020B0604020202020204"/>
                          <a:cs typeface="Arial" panose="020B0604020202020204"/>
                        </a:rPr>
                        <a:t>+</a:t>
                      </a:r>
                      <a:r>
                        <a:rPr sz="2000" kern="0" spc="-130" dirty="0">
                          <a:solidFill>
                            <a:srgbClr val="000000">
                              <a:alpha val="100000"/>
                            </a:srgbClr>
                          </a:solidFill>
                          <a:latin typeface="Arial" panose="020B0604020202020204"/>
                          <a:ea typeface="Arial" panose="020B0604020202020204"/>
                          <a:cs typeface="Arial" panose="020B0604020202020204"/>
                        </a:rPr>
                        <a:t> </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4777</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WEDU</a:t>
                      </a:r>
                      <a:r>
                        <a:rPr sz="2000" kern="0" spc="110" dirty="0">
                          <a:solidFill>
                            <a:srgbClr val="000000">
                              <a:alpha val="100000"/>
                            </a:srgbClr>
                          </a:solidFill>
                          <a:latin typeface="Arial" panose="020B0604020202020204"/>
                          <a:ea typeface="Arial" panose="020B0604020202020204"/>
                          <a:cs typeface="Arial" panose="020B0604020202020204"/>
                        </a:rPr>
                        <a:t>−</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14311</a:t>
                      </a:r>
                      <a:r>
                        <a:rPr sz="2000" i="1" kern="0" spc="0" dirty="0">
                          <a:solidFill>
                            <a:srgbClr val="000000">
                              <a:alpha val="100000"/>
                            </a:srgbClr>
                          </a:solidFill>
                          <a:latin typeface="Times New Roman" panose="02020603050405020304"/>
                          <a:ea typeface="Times New Roman" panose="02020603050405020304"/>
                          <a:cs typeface="Times New Roman" panose="02020603050405020304"/>
                        </a:rPr>
                        <a:t>KL</a:t>
                      </a:r>
                      <a:r>
                        <a:rPr sz="2000" kern="0" spc="110" dirty="0">
                          <a:solidFill>
                            <a:srgbClr val="000000">
                              <a:alpha val="100000"/>
                            </a:srgbClr>
                          </a:solidFill>
                          <a:latin typeface="Times New Roman" panose="02020603050405020304"/>
                          <a:ea typeface="Times New Roman" panose="02020603050405020304"/>
                          <a:cs typeface="Times New Roman" panose="02020603050405020304"/>
                        </a:rPr>
                        <a:t>6</a:t>
                      </a:r>
                      <a:endParaRPr sz="2000" dirty="0">
                        <a:latin typeface="Times New Roman" panose="02020603050405020304"/>
                        <a:ea typeface="Times New Roman" panose="02020603050405020304"/>
                        <a:cs typeface="Times New Roman" panose="02020603050405020304"/>
                      </a:endParaRPr>
                    </a:p>
                    <a:p>
                      <a:pPr marL="1574800" algn="l" rtl="0" eaLnBrk="0">
                        <a:lnSpc>
                          <a:spcPct val="85000"/>
                        </a:lnSpc>
                        <a:spcBef>
                          <a:spcPts val="1100"/>
                        </a:spcBef>
                      </a:pPr>
                      <a:r>
                        <a:rPr sz="2700" kern="0" spc="-20" dirty="0">
                          <a:solidFill>
                            <a:srgbClr val="000000">
                              <a:alpha val="100000"/>
                            </a:srgbClr>
                          </a:solidFill>
                          <a:latin typeface="Arial" panose="020B0604020202020204"/>
                          <a:ea typeface="Arial" panose="020B0604020202020204"/>
                          <a:cs typeface="Arial" panose="020B0604020202020204"/>
                        </a:rPr>
                        <a:t>(</a:t>
                      </a:r>
                      <a:r>
                        <a:rPr sz="2000" i="1" kern="0" spc="-20" dirty="0">
                          <a:solidFill>
                            <a:srgbClr val="000000">
                              <a:alpha val="100000"/>
                            </a:srgbClr>
                          </a:solidFill>
                          <a:latin typeface="Times New Roman" panose="02020603050405020304"/>
                          <a:ea typeface="Times New Roman" panose="02020603050405020304"/>
                          <a:cs typeface="Times New Roman" panose="02020603050405020304"/>
                        </a:rPr>
                        <a:t>se</a:t>
                      </a:r>
                      <a:r>
                        <a:rPr sz="2700" kern="0" spc="-20" dirty="0">
                          <a:solidFill>
                            <a:srgbClr val="000000">
                              <a:alpha val="100000"/>
                            </a:srgbClr>
                          </a:solidFill>
                          <a:latin typeface="Arial" panose="020B0604020202020204"/>
                          <a:ea typeface="Arial" panose="020B0604020202020204"/>
                          <a:cs typeface="Arial" panose="020B0604020202020204"/>
                        </a:rPr>
                        <a:t>)</a:t>
                      </a:r>
                      <a:r>
                        <a:rPr sz="2700" kern="0" spc="110" dirty="0">
                          <a:solidFill>
                            <a:srgbClr val="000000">
                              <a:alpha val="100000"/>
                            </a:srgbClr>
                          </a:solidFill>
                          <a:latin typeface="Arial" panose="020B0604020202020204"/>
                          <a:ea typeface="Arial" panose="020B0604020202020204"/>
                          <a:cs typeface="Arial" panose="020B0604020202020204"/>
                        </a:rPr>
                        <a:t>     </a:t>
                      </a:r>
                      <a:r>
                        <a:rPr sz="2700" kern="0" spc="-20" dirty="0">
                          <a:solidFill>
                            <a:srgbClr val="000000">
                              <a:alpha val="100000"/>
                            </a:srgbClr>
                          </a:solidFill>
                          <a:latin typeface="Arial" panose="020B0604020202020204"/>
                          <a:ea typeface="Arial" panose="020B0604020202020204"/>
                          <a:cs typeface="Arial" panose="020B0604020202020204"/>
                        </a:rPr>
                        <a:t>(</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11163</a:t>
                      </a:r>
                      <a:r>
                        <a:rPr sz="2700" kern="0" spc="-20" dirty="0">
                          <a:solidFill>
                            <a:srgbClr val="000000">
                              <a:alpha val="100000"/>
                            </a:srgbClr>
                          </a:solidFill>
                          <a:latin typeface="Arial" panose="020B0604020202020204"/>
                          <a:ea typeface="Arial" panose="020B0604020202020204"/>
                          <a:cs typeface="Arial" panose="020B0604020202020204"/>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797</a:t>
                      </a:r>
                      <a:r>
                        <a:rPr sz="2700" kern="0" spc="-20" dirty="0">
                          <a:solidFill>
                            <a:srgbClr val="000000">
                              <a:alpha val="100000"/>
                            </a:srgbClr>
                          </a:solidFill>
                          <a:latin typeface="Arial" panose="020B0604020202020204"/>
                          <a:ea typeface="Arial" panose="020B0604020202020204"/>
                          <a:cs typeface="Arial" panose="020B0604020202020204"/>
                        </a:rPr>
                        <a:t>)</a:t>
                      </a:r>
                      <a:r>
                        <a:rPr sz="2700" kern="0" spc="80" dirty="0">
                          <a:solidFill>
                            <a:srgbClr val="000000">
                              <a:alpha val="100000"/>
                            </a:srgbClr>
                          </a:solidFill>
                          <a:latin typeface="Arial" panose="020B0604020202020204"/>
                          <a:ea typeface="Arial" panose="020B0604020202020204"/>
                          <a:cs typeface="Arial" panose="020B0604020202020204"/>
                        </a:rPr>
                        <a:t>         </a:t>
                      </a:r>
                      <a:r>
                        <a:rPr sz="2700" kern="0" spc="-20" dirty="0">
                          <a:solidFill>
                            <a:srgbClr val="000000">
                              <a:alpha val="100000"/>
                            </a:srgbClr>
                          </a:solidFill>
                          <a:latin typeface="Arial" panose="020B0604020202020204"/>
                          <a:ea typeface="Arial" panose="020B0604020202020204"/>
                          <a:cs typeface="Arial" panose="020B0604020202020204"/>
                        </a:rPr>
                        <a:t>(</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1061</a:t>
                      </a:r>
                      <a:r>
                        <a:rPr sz="2700" kern="0" spc="-20" dirty="0">
                          <a:solidFill>
                            <a:srgbClr val="000000">
                              <a:alpha val="100000"/>
                            </a:srgbClr>
                          </a:solidFill>
                          <a:latin typeface="Arial" panose="020B0604020202020204"/>
                          <a:ea typeface="Arial" panose="020B0604020202020204"/>
                          <a:cs typeface="Arial" panose="020B0604020202020204"/>
                        </a:rPr>
                        <a:t>)</a:t>
                      </a:r>
                      <a:r>
                        <a:rPr sz="2700" kern="0" spc="20" dirty="0">
                          <a:solidFill>
                            <a:srgbClr val="000000">
                              <a:alpha val="100000"/>
                            </a:srgbClr>
                          </a:solidFill>
                          <a:latin typeface="Arial" panose="020B0604020202020204"/>
                          <a:ea typeface="Arial" panose="020B0604020202020204"/>
                          <a:cs typeface="Arial" panose="020B0604020202020204"/>
                        </a:rPr>
                        <a:t>         </a:t>
                      </a:r>
                      <a:r>
                        <a:rPr sz="2700" kern="0" spc="-20" dirty="0">
                          <a:solidFill>
                            <a:srgbClr val="000000">
                              <a:alpha val="100000"/>
                            </a:srgbClr>
                          </a:solidFill>
                          <a:latin typeface="Arial" panose="020B0604020202020204"/>
                          <a:ea typeface="Arial" panose="020B0604020202020204"/>
                          <a:cs typeface="Arial" panose="020B0604020202020204"/>
                        </a:rPr>
                        <a:t>(</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5004</a:t>
                      </a:r>
                      <a:r>
                        <a:rPr sz="2700" kern="0" spc="-20" dirty="0">
                          <a:solidFill>
                            <a:srgbClr val="000000">
                              <a:alpha val="100000"/>
                            </a:srgbClr>
                          </a:solidFill>
                          <a:latin typeface="Arial" panose="020B0604020202020204"/>
                          <a:ea typeface="Arial" panose="020B0604020202020204"/>
                          <a:cs typeface="Arial" panose="020B0604020202020204"/>
                        </a:rPr>
                        <a:t>)</a:t>
                      </a:r>
                      <a:endParaRPr sz="2700" dirty="0">
                        <a:latin typeface="Arial" panose="020B0604020202020204"/>
                        <a:ea typeface="Arial" panose="020B0604020202020204"/>
                        <a:cs typeface="Arial" panose="020B0604020202020204"/>
                      </a:endParaRPr>
                    </a:p>
                    <a:p>
                      <a:pPr marL="1325880" algn="l" rtl="0" eaLnBrk="0">
                        <a:lnSpc>
                          <a:spcPct val="85000"/>
                        </a:lnSpc>
                        <a:spcBef>
                          <a:spcPts val="820"/>
                        </a:spcBef>
                      </a:pPr>
                      <a:r>
                        <a:rPr sz="2700" kern="0" spc="20" dirty="0">
                          <a:solidFill>
                            <a:srgbClr val="000000">
                              <a:alpha val="100000"/>
                            </a:srgbClr>
                          </a:solidFill>
                          <a:latin typeface="Arial" panose="020B0604020202020204"/>
                          <a:ea typeface="Arial" panose="020B0604020202020204"/>
                          <a:cs typeface="Arial" panose="020B0604020202020204"/>
                        </a:rPr>
                        <a:t>(</a:t>
                      </a:r>
                      <a:r>
                        <a:rPr sz="2000" i="1" kern="0" spc="20" dirty="0">
                          <a:solidFill>
                            <a:srgbClr val="000000">
                              <a:alpha val="100000"/>
                            </a:srgbClr>
                          </a:solidFill>
                          <a:latin typeface="Times New Roman" panose="02020603050405020304"/>
                          <a:ea typeface="Times New Roman" panose="02020603050405020304"/>
                          <a:cs typeface="Times New Roman" panose="02020603050405020304"/>
                        </a:rPr>
                        <a:t>p</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a:t>
                      </a:r>
                      <a:r>
                        <a:rPr sz="2000" kern="0" spc="0" dirty="0">
                          <a:solidFill>
                            <a:srgbClr val="000000">
                              <a:alpha val="100000"/>
                            </a:srgbClr>
                          </a:solidFill>
                          <a:latin typeface="Times New Roman" panose="02020603050405020304"/>
                          <a:ea typeface="Times New Roman" panose="02020603050405020304"/>
                          <a:cs typeface="Times New Roman" panose="02020603050405020304"/>
                        </a:rPr>
                        <a:t>value</a:t>
                      </a:r>
                      <a:r>
                        <a:rPr sz="2700" kern="0" spc="20" dirty="0">
                          <a:solidFill>
                            <a:srgbClr val="000000">
                              <a:alpha val="100000"/>
                            </a:srgbClr>
                          </a:solidFill>
                          <a:latin typeface="Arial" panose="020B0604020202020204"/>
                          <a:ea typeface="Arial" panose="020B0604020202020204"/>
                          <a:cs typeface="Arial" panose="020B0604020202020204"/>
                        </a:rPr>
                        <a:t>)  (</a:t>
                      </a:r>
                      <a:r>
                        <a:rPr sz="2000" kern="0" spc="20" dirty="0">
                          <a:solidFill>
                            <a:srgbClr val="000000">
                              <a:alpha val="100000"/>
                            </a:srgbClr>
                          </a:solidFill>
                          <a:latin typeface="Times New Roman" panose="02020603050405020304"/>
                          <a:ea typeface="Times New Roman" panose="02020603050405020304"/>
                          <a:cs typeface="Times New Roman" panose="02020603050405020304"/>
                        </a:rPr>
                        <a:t>0.488</a:t>
                      </a:r>
                      <a:r>
                        <a:rPr sz="2700" kern="0" spc="10" dirty="0">
                          <a:solidFill>
                            <a:srgbClr val="000000">
                              <a:alpha val="100000"/>
                            </a:srgbClr>
                          </a:solidFill>
                          <a:latin typeface="Arial" panose="020B0604020202020204"/>
                          <a:ea typeface="Arial" panose="020B0604020202020204"/>
                          <a:cs typeface="Arial" panose="020B0604020202020204"/>
                        </a:rPr>
                        <a:t>)</a:t>
                      </a:r>
                      <a:r>
                        <a:rPr sz="2700" kern="0" spc="430" dirty="0">
                          <a:solidFill>
                            <a:srgbClr val="000000">
                              <a:alpha val="100000"/>
                            </a:srgbClr>
                          </a:solidFill>
                          <a:latin typeface="Arial" panose="020B0604020202020204"/>
                          <a:ea typeface="Arial" panose="020B0604020202020204"/>
                          <a:cs typeface="Arial" panose="020B06040202020202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0.000</a:t>
                      </a:r>
                      <a:r>
                        <a:rPr sz="2700" kern="0" spc="10" dirty="0">
                          <a:solidFill>
                            <a:srgbClr val="000000">
                              <a:alpha val="100000"/>
                            </a:srgbClr>
                          </a:solidFill>
                          <a:latin typeface="Arial" panose="020B0604020202020204"/>
                          <a:ea typeface="Arial" panose="020B0604020202020204"/>
                          <a:cs typeface="Arial" panose="020B0604020202020204"/>
                        </a:rPr>
                        <a:t>)</a:t>
                      </a:r>
                      <a:r>
                        <a:rPr sz="2700" kern="0" spc="50" dirty="0">
                          <a:solidFill>
                            <a:srgbClr val="000000">
                              <a:alpha val="100000"/>
                            </a:srgbClr>
                          </a:solidFill>
                          <a:latin typeface="Arial" panose="020B0604020202020204"/>
                          <a:ea typeface="Arial" panose="020B0604020202020204"/>
                          <a:cs typeface="Arial" panose="020B06040202020202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0.000</a:t>
                      </a:r>
                      <a:r>
                        <a:rPr sz="2700" kern="0" spc="10" dirty="0">
                          <a:solidFill>
                            <a:srgbClr val="000000">
                              <a:alpha val="100000"/>
                            </a:srgbClr>
                          </a:solidFill>
                          <a:latin typeface="Arial" panose="020B0604020202020204"/>
                          <a:ea typeface="Arial" panose="020B0604020202020204"/>
                          <a:cs typeface="Arial" panose="020B0604020202020204"/>
                        </a:rPr>
                        <a:t>)</a:t>
                      </a:r>
                      <a:r>
                        <a:rPr sz="2700" kern="0" spc="50" dirty="0">
                          <a:solidFill>
                            <a:srgbClr val="000000">
                              <a:alpha val="100000"/>
                            </a:srgbClr>
                          </a:solidFill>
                          <a:latin typeface="Arial" panose="020B0604020202020204"/>
                          <a:ea typeface="Arial" panose="020B0604020202020204"/>
                          <a:cs typeface="Arial" panose="020B06040202020202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000" kern="0" spc="10" dirty="0">
                          <a:solidFill>
                            <a:srgbClr val="000000">
                              <a:alpha val="100000"/>
                            </a:srgbClr>
                          </a:solidFill>
                          <a:latin typeface="Times New Roman" panose="02020603050405020304"/>
                          <a:ea typeface="Times New Roman" panose="02020603050405020304"/>
                          <a:cs typeface="Times New Roman" panose="02020603050405020304"/>
                        </a:rPr>
                        <a:t>0.004</a:t>
                      </a:r>
                      <a:r>
                        <a:rPr sz="2700" kern="0" spc="10" dirty="0">
                          <a:solidFill>
                            <a:srgbClr val="000000">
                              <a:alpha val="100000"/>
                            </a:srgbClr>
                          </a:solidFill>
                          <a:latin typeface="Arial" panose="020B0604020202020204"/>
                          <a:ea typeface="Arial" panose="020B0604020202020204"/>
                          <a:cs typeface="Arial" panose="020B0604020202020204"/>
                        </a:rPr>
                        <a:t>)</a:t>
                      </a:r>
                      <a:endParaRPr sz="27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635"/>
                        </a:spcBef>
                      </a:pPr>
                      <a:r>
                        <a:rPr sz="1800" kern="0" spc="1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注意到</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HEDU</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WEDU</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的系数估计值</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并未明显改变；</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这一结果的出现是因为</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KL</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6</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与教育变量并无高度相关</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性。</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345564">
                <a:tc>
                  <a:txBody>
                    <a:bodyPr/>
                    <a:lstStyle/>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marL="212725"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2" name="table 262"/>
          <p:cNvGraphicFramePr>
            <a:graphicFrameLocks noGrp="1"/>
          </p:cNvGraphicFramePr>
          <p:nvPr/>
        </p:nvGraphicFramePr>
        <p:xfrm>
          <a:off x="60832" y="66928"/>
          <a:ext cx="9018904" cy="6699249"/>
        </p:xfrm>
        <a:graphic>
          <a:graphicData uri="http://schemas.openxmlformats.org/drawingml/2006/table">
            <a:tbl>
              <a:tblPr/>
              <a:tblGrid>
                <a:gridCol w="1981835"/>
                <a:gridCol w="1916429"/>
                <a:gridCol w="1468755"/>
                <a:gridCol w="1286510"/>
                <a:gridCol w="2365375"/>
              </a:tblGrid>
              <a:tr h="4034154">
                <a:tc gridSpan="5">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5"/>
                        </a:spcBef>
                      </a:pP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0" dirty="0">
                          <a:solidFill>
                            <a:srgbClr val="000000">
                              <a:alpha val="100000"/>
                            </a:srgbClr>
                          </a:solidFill>
                          <a:latin typeface="楷体" panose="02010609060101010101" charset="-122"/>
                          <a:ea typeface="楷体" panose="02010609060101010101" charset="-122"/>
                          <a:cs typeface="楷体" panose="02010609060101010101" charset="-122"/>
                        </a:rPr>
                        <a:t>（二）</a:t>
                      </a:r>
                      <a:r>
                        <a:rPr sz="2100" kern="0" spc="-560" dirty="0">
                          <a:solidFill>
                            <a:srgbClr val="000000">
                              <a:alpha val="100000"/>
                            </a:srgbClr>
                          </a:solidFill>
                          <a:latin typeface="楷体" panose="02010609060101010101" charset="-122"/>
                          <a:ea typeface="楷体" panose="02010609060101010101" charset="-122"/>
                          <a:cs typeface="楷体" panose="02010609060101010101" charset="-122"/>
                        </a:rPr>
                        <a:t> </a:t>
                      </a:r>
                      <a:r>
                        <a:rPr sz="2100" b="1" kern="0" spc="0" dirty="0">
                          <a:solidFill>
                            <a:srgbClr val="000000">
                              <a:alpha val="100000"/>
                            </a:srgbClr>
                          </a:solidFill>
                          <a:latin typeface="楷体" panose="02010609060101010101" charset="-122"/>
                          <a:ea typeface="楷体" panose="02010609060101010101" charset="-122"/>
                          <a:cs typeface="楷体" panose="02010609060101010101" charset="-122"/>
                        </a:rPr>
                        <a:t>引入无关变量</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你会认为一个好的的策略是：在模型中引入</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尽可能多的变量。</a:t>
                      </a:r>
                      <a:endParaRPr sz="2100" dirty="0">
                        <a:latin typeface="楷体" panose="02010609060101010101" charset="-122"/>
                        <a:ea typeface="楷体" panose="02010609060101010101" charset="-122"/>
                        <a:cs typeface="楷体" panose="02010609060101010101" charset="-122"/>
                      </a:endParaRPr>
                    </a:p>
                    <a:p>
                      <a:pPr algn="l" rtl="0" eaLnBrk="0">
                        <a:lnSpc>
                          <a:spcPct val="143000"/>
                        </a:lnSpc>
                      </a:pPr>
                      <a:endParaRPr sz="1000" dirty="0">
                        <a:latin typeface="Arial" panose="020B0604020202020204"/>
                        <a:ea typeface="Arial" panose="020B0604020202020204"/>
                        <a:cs typeface="Arial" panose="020B0604020202020204"/>
                      </a:endParaRPr>
                    </a:p>
                    <a:p>
                      <a:pPr marL="930275" indent="-276225" algn="l" rtl="0" eaLnBrk="0">
                        <a:lnSpc>
                          <a:spcPct val="12800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这样做不仅会让模型过于复杂，还会扩大估计结果的方差，</a:t>
                      </a:r>
                      <a:r>
                        <a:rPr sz="2100" kern="0" spc="-43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因</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为存在不相关变量。</a:t>
                      </a:r>
                      <a:endParaRPr sz="2100" dirty="0">
                        <a:latin typeface="楷体" panose="02010609060101010101" charset="-122"/>
                        <a:ea typeface="楷体" panose="02010609060101010101" charset="-122"/>
                        <a:cs typeface="楷体" panose="02010609060101010101" charset="-122"/>
                      </a:endParaRPr>
                    </a:p>
                    <a:p>
                      <a:pPr algn="l" rtl="0" eaLnBrk="0">
                        <a:lnSpc>
                          <a:spcPct val="121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考虑如下模型:</a:t>
                      </a:r>
                      <a:endParaRPr sz="2100" dirty="0">
                        <a:latin typeface="楷体" panose="02010609060101010101" charset="-122"/>
                        <a:ea typeface="楷体" panose="02010609060101010101" charset="-122"/>
                        <a:cs typeface="楷体" panose="02010609060101010101" charset="-122"/>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30000"/>
                        </a:lnSpc>
                      </a:pPr>
                      <a:endParaRPr sz="1000" dirty="0">
                        <a:latin typeface="Arial" panose="020B0604020202020204"/>
                        <a:ea typeface="Arial" panose="020B0604020202020204"/>
                        <a:cs typeface="Arial" panose="020B0604020202020204"/>
                      </a:endParaRPr>
                    </a:p>
                    <a:p>
                      <a:pPr marL="1383030" algn="l" rtl="0" eaLnBrk="0">
                        <a:lnSpc>
                          <a:spcPct val="75000"/>
                        </a:lnSpc>
                        <a:spcBef>
                          <a:spcPts val="305"/>
                        </a:spcBef>
                      </a:pPr>
                      <a:r>
                        <a:rPr sz="1000" kern="0" spc="-2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973455" algn="l" rtl="0" eaLnBrk="0">
                        <a:lnSpc>
                          <a:spcPct val="100000"/>
                        </a:lnSpc>
                        <a:spcBef>
                          <a:spcPts val="5"/>
                        </a:spcBef>
                      </a:pP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FAMINC</a:t>
                      </a:r>
                      <a:r>
                        <a:rPr sz="1800" i="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0" dirty="0">
                          <a:solidFill>
                            <a:srgbClr val="000000">
                              <a:alpha val="100000"/>
                            </a:srgbClr>
                          </a:solidFill>
                          <a:latin typeface="Arial" panose="020B0604020202020204"/>
                          <a:ea typeface="Arial" panose="020B0604020202020204"/>
                          <a:cs typeface="Arial" panose="020B0604020202020204"/>
                        </a:rPr>
                        <a:t>= −</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7759</a:t>
                      </a:r>
                      <a:r>
                        <a:rPr sz="18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0" dirty="0">
                          <a:solidFill>
                            <a:srgbClr val="000000">
                              <a:alpha val="100000"/>
                            </a:srgbClr>
                          </a:solidFill>
                          <a:latin typeface="Arial" panose="020B0604020202020204"/>
                          <a:ea typeface="Arial" panose="020B0604020202020204"/>
                          <a:cs typeface="Arial" panose="020B0604020202020204"/>
                        </a:rPr>
                        <a:t>+</a:t>
                      </a:r>
                      <a:r>
                        <a:rPr sz="1800" kern="0" spc="-140" dirty="0">
                          <a:solidFill>
                            <a:srgbClr val="000000">
                              <a:alpha val="100000"/>
                            </a:srgbClr>
                          </a:solidFill>
                          <a:latin typeface="Arial" panose="020B0604020202020204"/>
                          <a:ea typeface="Arial" panose="020B0604020202020204"/>
                          <a:cs typeface="Arial" panose="020B0604020202020204"/>
                        </a:rPr>
                        <a:t> </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3340</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HEDU</a:t>
                      </a:r>
                      <a:r>
                        <a:rPr sz="1800" kern="0" spc="100" dirty="0">
                          <a:solidFill>
                            <a:srgbClr val="000000">
                              <a:alpha val="100000"/>
                            </a:srgbClr>
                          </a:solidFill>
                          <a:latin typeface="Arial" panose="020B0604020202020204"/>
                          <a:ea typeface="Arial" panose="020B0604020202020204"/>
                          <a:cs typeface="Arial" panose="020B0604020202020204"/>
                        </a:rPr>
                        <a:t>+</a:t>
                      </a:r>
                      <a:r>
                        <a:rPr sz="1800" kern="0" spc="-140" dirty="0">
                          <a:solidFill>
                            <a:srgbClr val="000000">
                              <a:alpha val="100000"/>
                            </a:srgbClr>
                          </a:solidFill>
                          <a:latin typeface="Arial" panose="020B0604020202020204"/>
                          <a:ea typeface="Arial" panose="020B0604020202020204"/>
                          <a:cs typeface="Arial" panose="020B0604020202020204"/>
                        </a:rPr>
                        <a:t> </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5869</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WEDU</a:t>
                      </a:r>
                      <a:r>
                        <a:rPr sz="1800" kern="0" spc="100" dirty="0">
                          <a:solidFill>
                            <a:srgbClr val="000000">
                              <a:alpha val="100000"/>
                            </a:srgbClr>
                          </a:solidFill>
                          <a:latin typeface="Arial" panose="020B0604020202020204"/>
                          <a:ea typeface="Arial" panose="020B0604020202020204"/>
                          <a:cs typeface="Arial" panose="020B0604020202020204"/>
                        </a:rPr>
                        <a:t>−</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14200</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KL</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6</a:t>
                      </a:r>
                      <a:r>
                        <a:rPr sz="18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0" dirty="0">
                          <a:solidFill>
                            <a:srgbClr val="000000">
                              <a:alpha val="100000"/>
                            </a:srgbClr>
                          </a:solidFill>
                          <a:latin typeface="Arial" panose="020B0604020202020204"/>
                          <a:ea typeface="Arial" panose="020B0604020202020204"/>
                          <a:cs typeface="Arial" panose="020B0604020202020204"/>
                        </a:rPr>
                        <a:t>+</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889</a:t>
                      </a:r>
                      <a:r>
                        <a:rPr sz="18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100" baseline="-29000" dirty="0">
                          <a:solidFill>
                            <a:srgbClr val="000000">
                              <a:alpha val="100000"/>
                            </a:srgbClr>
                          </a:solidFill>
                          <a:latin typeface="Times New Roman" panose="02020603050405020304"/>
                          <a:ea typeface="Times New Roman" panose="02020603050405020304"/>
                          <a:cs typeface="Times New Roman" panose="02020603050405020304"/>
                        </a:rPr>
                        <a:t>5</a:t>
                      </a:r>
                      <a:r>
                        <a:rPr sz="1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kern="0" spc="100" dirty="0">
                          <a:solidFill>
                            <a:srgbClr val="000000">
                              <a:alpha val="100000"/>
                            </a:srgbClr>
                          </a:solidFill>
                          <a:latin typeface="Arial" panose="020B0604020202020204"/>
                          <a:ea typeface="Arial" panose="020B0604020202020204"/>
                          <a:cs typeface="Arial" panose="020B0604020202020204"/>
                        </a:rPr>
                        <a:t>−</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1067</a:t>
                      </a:r>
                      <a:r>
                        <a:rPr sz="1800" i="1" kern="0" spc="1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100" baseline="-29000" dirty="0">
                          <a:solidFill>
                            <a:srgbClr val="000000">
                              <a:alpha val="100000"/>
                            </a:srgbClr>
                          </a:solidFill>
                          <a:latin typeface="Times New Roman" panose="02020603050405020304"/>
                          <a:ea typeface="Times New Roman" panose="02020603050405020304"/>
                          <a:cs typeface="Times New Roman" panose="02020603050405020304"/>
                        </a:rPr>
                        <a:t>6</a:t>
                      </a:r>
                      <a:endParaRPr sz="1600" baseline="-29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64565">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1196340" algn="l" rtl="0" eaLnBrk="0">
                        <a:lnSpc>
                          <a:spcPct val="85000"/>
                        </a:lnSpc>
                      </a:pPr>
                      <a:r>
                        <a:rPr sz="2400" kern="0" spc="60" dirty="0">
                          <a:solidFill>
                            <a:srgbClr val="000000">
                              <a:alpha val="100000"/>
                            </a:srgbClr>
                          </a:solidFill>
                          <a:latin typeface="Arial" panose="020B0604020202020204"/>
                          <a:ea typeface="Arial" panose="020B0604020202020204"/>
                          <a:cs typeface="Arial" panose="020B0604020202020204"/>
                        </a:rPr>
                        <a:t>(</a:t>
                      </a:r>
                      <a:r>
                        <a:rPr sz="1800" i="1" kern="0" spc="0" dirty="0">
                          <a:solidFill>
                            <a:srgbClr val="000000">
                              <a:alpha val="100000"/>
                            </a:srgbClr>
                          </a:solidFill>
                          <a:latin typeface="Times New Roman" panose="02020603050405020304"/>
                          <a:ea typeface="Times New Roman" panose="02020603050405020304"/>
                          <a:cs typeface="Times New Roman" panose="02020603050405020304"/>
                        </a:rPr>
                        <a:t>se</a:t>
                      </a:r>
                      <a:r>
                        <a:rPr sz="2400" kern="0" spc="6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algn="l" rtl="0" eaLnBrk="0">
                        <a:lnSpc>
                          <a:spcPct val="103000"/>
                        </a:lnSpc>
                      </a:pPr>
                      <a:endParaRPr sz="600" dirty="0">
                        <a:latin typeface="Arial" panose="020B0604020202020204"/>
                        <a:ea typeface="Arial" panose="020B0604020202020204"/>
                        <a:cs typeface="Arial" panose="020B0604020202020204"/>
                      </a:endParaRPr>
                    </a:p>
                    <a:p>
                      <a:pPr marL="974090" algn="l" rtl="0" eaLnBrk="0">
                        <a:lnSpc>
                          <a:spcPct val="85000"/>
                        </a:lnSpc>
                        <a:spcBef>
                          <a:spcPts val="5"/>
                        </a:spcBef>
                      </a:pPr>
                      <a:r>
                        <a:rPr sz="2400" kern="0" spc="100" dirty="0">
                          <a:solidFill>
                            <a:srgbClr val="000000">
                              <a:alpha val="100000"/>
                            </a:srgbClr>
                          </a:solidFill>
                          <a:latin typeface="Arial" panose="020B0604020202020204"/>
                          <a:ea typeface="Arial" panose="020B0604020202020204"/>
                          <a:cs typeface="Arial" panose="020B0604020202020204"/>
                        </a:rPr>
                        <a:t>(</a:t>
                      </a:r>
                      <a:r>
                        <a:rPr sz="1800" i="1" kern="0" spc="100" dirty="0">
                          <a:solidFill>
                            <a:srgbClr val="000000">
                              <a:alpha val="100000"/>
                            </a:srgbClr>
                          </a:solidFill>
                          <a:latin typeface="Times New Roman" panose="02020603050405020304"/>
                          <a:ea typeface="Times New Roman" panose="02020603050405020304"/>
                          <a:cs typeface="Times New Roman" panose="02020603050405020304"/>
                        </a:rPr>
                        <a:t>p</a:t>
                      </a:r>
                      <a:r>
                        <a:rPr sz="1800" kern="0" spc="100" dirty="0">
                          <a:solidFill>
                            <a:srgbClr val="000000">
                              <a:alpha val="100000"/>
                            </a:srgbClr>
                          </a:solidFill>
                          <a:latin typeface="Times New Roman" panose="02020603050405020304"/>
                          <a:ea typeface="Times New Roman" panose="02020603050405020304"/>
                          <a:cs typeface="Times New Roman" panose="02020603050405020304"/>
                        </a:rPr>
                        <a:t>-</a:t>
                      </a:r>
                      <a:r>
                        <a:rPr sz="1800" kern="0" spc="0" dirty="0">
                          <a:solidFill>
                            <a:srgbClr val="000000">
                              <a:alpha val="100000"/>
                            </a:srgbClr>
                          </a:solidFill>
                          <a:latin typeface="Times New Roman" panose="02020603050405020304"/>
                          <a:ea typeface="Times New Roman" panose="02020603050405020304"/>
                          <a:cs typeface="Times New Roman" panose="02020603050405020304"/>
                        </a:rPr>
                        <a:t>value</a:t>
                      </a:r>
                      <a:r>
                        <a:rPr sz="2400" kern="0" spc="10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89535" algn="l" rtl="0" eaLnBrk="0">
                        <a:lnSpc>
                          <a:spcPct val="85000"/>
                        </a:lnSpc>
                      </a:pP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11195</a:t>
                      </a: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1250</a:t>
                      </a:r>
                      <a:r>
                        <a:rPr sz="2400" kern="0" spc="-1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algn="l" rtl="0" eaLnBrk="0">
                        <a:lnSpc>
                          <a:spcPct val="103000"/>
                        </a:lnSpc>
                      </a:pPr>
                      <a:endParaRPr sz="600" dirty="0">
                        <a:latin typeface="Arial" panose="020B0604020202020204"/>
                        <a:ea typeface="Arial" panose="020B0604020202020204"/>
                        <a:cs typeface="Arial" panose="020B0604020202020204"/>
                      </a:endParaRPr>
                    </a:p>
                    <a:p>
                      <a:pPr marL="104140" algn="l" rtl="0" eaLnBrk="0">
                        <a:lnSpc>
                          <a:spcPct val="85000"/>
                        </a:lnSpc>
                        <a:spcBef>
                          <a:spcPts val="5"/>
                        </a:spcBef>
                      </a:pPr>
                      <a:r>
                        <a:rPr sz="24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0.500</a:t>
                      </a:r>
                      <a:r>
                        <a:rPr sz="24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0.008</a:t>
                      </a:r>
                      <a:r>
                        <a:rPr sz="2400" kern="0" spc="2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txBody>
                  <a:tcPr marL="0" marR="0" marT="0" marB="0">
                    <a:lnL>
                      <a:noFill/>
                    </a:lnL>
                    <a:lnR>
                      <a:noFill/>
                    </a:lnR>
                    <a:lnT>
                      <a:noFill/>
                    </a:lnT>
                    <a:lnB>
                      <a:noFill/>
                    </a:lnB>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423545" algn="l" rtl="0" eaLnBrk="0">
                        <a:lnSpc>
                          <a:spcPct val="85000"/>
                        </a:lnSpc>
                      </a:pPr>
                      <a:r>
                        <a:rPr sz="24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2278</a:t>
                      </a:r>
                      <a:r>
                        <a:rPr sz="2400" kern="0" spc="2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algn="l" rtl="0" eaLnBrk="0">
                        <a:lnSpc>
                          <a:spcPct val="103000"/>
                        </a:lnSpc>
                      </a:pPr>
                      <a:endParaRPr sz="600" dirty="0">
                        <a:latin typeface="Arial" panose="020B0604020202020204"/>
                        <a:ea typeface="Arial" panose="020B0604020202020204"/>
                        <a:cs typeface="Arial" panose="020B0604020202020204"/>
                      </a:endParaRPr>
                    </a:p>
                    <a:p>
                      <a:pPr marL="364490" algn="l" rtl="0" eaLnBrk="0">
                        <a:lnSpc>
                          <a:spcPct val="85000"/>
                        </a:lnSpc>
                        <a:spcBef>
                          <a:spcPts val="5"/>
                        </a:spcBef>
                      </a:pPr>
                      <a:r>
                        <a:rPr sz="2400" kern="0" spc="20" dirty="0">
                          <a:solidFill>
                            <a:srgbClr val="000000">
                              <a:alpha val="100000"/>
                            </a:srgbClr>
                          </a:solidFill>
                          <a:latin typeface="Arial" panose="020B0604020202020204"/>
                          <a:ea typeface="Arial" panose="020B0604020202020204"/>
                          <a:cs typeface="Arial" panose="020B0604020202020204"/>
                        </a:rPr>
                        <a:t>(</a:t>
                      </a:r>
                      <a:r>
                        <a:rPr sz="1800" kern="0" spc="20" dirty="0">
                          <a:solidFill>
                            <a:srgbClr val="000000">
                              <a:alpha val="100000"/>
                            </a:srgbClr>
                          </a:solidFill>
                          <a:latin typeface="Times New Roman" panose="02020603050405020304"/>
                          <a:ea typeface="Times New Roman" panose="02020603050405020304"/>
                          <a:cs typeface="Times New Roman" panose="02020603050405020304"/>
                        </a:rPr>
                        <a:t>0.010</a:t>
                      </a:r>
                      <a:r>
                        <a:rPr sz="2400" kern="0" spc="2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txBody>
                  <a:tcPr marL="0" marR="0" marT="0" marB="0">
                    <a:lnL>
                      <a:noFill/>
                    </a:lnL>
                    <a:lnR>
                      <a:noFill/>
                    </a:lnR>
                    <a:lnT>
                      <a:noFill/>
                    </a:lnT>
                    <a:lnB>
                      <a:noFill/>
                    </a:lnB>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393700" algn="l" rtl="0" eaLnBrk="0">
                        <a:lnSpc>
                          <a:spcPct val="85000"/>
                        </a:lnSpc>
                      </a:pP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5044</a:t>
                      </a:r>
                      <a:r>
                        <a:rPr sz="2400" kern="0" spc="1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algn="l" rtl="0" eaLnBrk="0">
                        <a:lnSpc>
                          <a:spcPct val="103000"/>
                        </a:lnSpc>
                      </a:pPr>
                      <a:endParaRPr sz="600" dirty="0">
                        <a:latin typeface="Arial" panose="020B0604020202020204"/>
                        <a:ea typeface="Arial" panose="020B0604020202020204"/>
                        <a:cs typeface="Arial" panose="020B0604020202020204"/>
                      </a:endParaRPr>
                    </a:p>
                    <a:p>
                      <a:pPr marL="393700" algn="l" rtl="0" eaLnBrk="0">
                        <a:lnSpc>
                          <a:spcPct val="85000"/>
                        </a:lnSpc>
                        <a:spcBef>
                          <a:spcPts val="5"/>
                        </a:spcBef>
                      </a:pP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0.005</a:t>
                      </a:r>
                      <a:r>
                        <a:rPr sz="2400" kern="0" spc="1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txBody>
                  <a:tcPr marL="0" marR="0" marT="0" marB="0">
                    <a:lnL>
                      <a:noFill/>
                    </a:lnL>
                    <a:lnR>
                      <a:noFill/>
                    </a:lnR>
                    <a:lnT>
                      <a:noFill/>
                    </a:lnT>
                    <a:lnB>
                      <a:noFill/>
                    </a:lnB>
                  </a:tcPr>
                </a:tc>
                <a:tc>
                  <a:txBody>
                    <a:bodyPr/>
                    <a:lstStyle/>
                    <a:p>
                      <a:pPr algn="l" rtl="0" eaLnBrk="0">
                        <a:lnSpc>
                          <a:spcPct val="147000"/>
                        </a:lnSpc>
                      </a:pPr>
                      <a:endParaRPr sz="200" dirty="0">
                        <a:latin typeface="Arial" panose="020B0604020202020204"/>
                        <a:ea typeface="Arial" panose="020B0604020202020204"/>
                        <a:cs typeface="Arial" panose="020B0604020202020204"/>
                      </a:endParaRPr>
                    </a:p>
                    <a:p>
                      <a:pPr marL="186055" algn="l" rtl="0" eaLnBrk="0">
                        <a:lnSpc>
                          <a:spcPct val="85000"/>
                        </a:lnSpc>
                      </a:pP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2242</a:t>
                      </a:r>
                      <a:r>
                        <a:rPr sz="2400" kern="0" spc="-10" dirty="0">
                          <a:solidFill>
                            <a:srgbClr val="000000">
                              <a:alpha val="100000"/>
                            </a:srgbClr>
                          </a:solidFill>
                          <a:latin typeface="Arial" panose="020B0604020202020204"/>
                          <a:ea typeface="Arial" panose="020B0604020202020204"/>
                          <a:cs typeface="Arial" panose="020B0604020202020204"/>
                        </a:rPr>
                        <a:t>)</a:t>
                      </a:r>
                      <a:r>
                        <a:rPr sz="2400" kern="0" spc="110" dirty="0">
                          <a:solidFill>
                            <a:srgbClr val="000000">
                              <a:alpha val="100000"/>
                            </a:srgbClr>
                          </a:solidFill>
                          <a:latin typeface="Arial" panose="020B0604020202020204"/>
                          <a:ea typeface="Arial" panose="020B0604020202020204"/>
                          <a:cs typeface="Arial" panose="020B0604020202020204"/>
                        </a:rPr>
                        <a:t>  </a:t>
                      </a: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1982</a:t>
                      </a:r>
                      <a:r>
                        <a:rPr sz="2400" kern="0" spc="-1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algn="l" rtl="0" eaLnBrk="0">
                        <a:lnSpc>
                          <a:spcPct val="103000"/>
                        </a:lnSpc>
                      </a:pPr>
                      <a:endParaRPr sz="600" dirty="0">
                        <a:latin typeface="Arial" panose="020B0604020202020204"/>
                        <a:ea typeface="Arial" panose="020B0604020202020204"/>
                        <a:cs typeface="Arial" panose="020B0604020202020204"/>
                      </a:endParaRPr>
                    </a:p>
                    <a:p>
                      <a:pPr marL="186055" algn="l" rtl="0" eaLnBrk="0">
                        <a:lnSpc>
                          <a:spcPct val="85000"/>
                        </a:lnSpc>
                        <a:spcBef>
                          <a:spcPts val="5"/>
                        </a:spcBef>
                      </a:pP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0.692</a:t>
                      </a:r>
                      <a:r>
                        <a:rPr sz="2400" kern="0" spc="-10" dirty="0">
                          <a:solidFill>
                            <a:srgbClr val="000000">
                              <a:alpha val="100000"/>
                            </a:srgbClr>
                          </a:solidFill>
                          <a:latin typeface="Arial" panose="020B0604020202020204"/>
                          <a:ea typeface="Arial" panose="020B0604020202020204"/>
                          <a:cs typeface="Arial" panose="020B0604020202020204"/>
                        </a:rPr>
                        <a:t>)</a:t>
                      </a:r>
                      <a:r>
                        <a:rPr sz="2400" kern="0" spc="460" dirty="0">
                          <a:solidFill>
                            <a:srgbClr val="000000">
                              <a:alpha val="100000"/>
                            </a:srgbClr>
                          </a:solidFill>
                          <a:latin typeface="Arial" panose="020B0604020202020204"/>
                          <a:ea typeface="Arial" panose="020B0604020202020204"/>
                          <a:cs typeface="Arial" panose="020B0604020202020204"/>
                        </a:rPr>
                        <a:t> </a:t>
                      </a:r>
                      <a:r>
                        <a:rPr sz="2400" kern="0" spc="-10" dirty="0">
                          <a:solidFill>
                            <a:srgbClr val="000000">
                              <a:alpha val="100000"/>
                            </a:srgbClr>
                          </a:solidFill>
                          <a:latin typeface="Arial" panose="020B0604020202020204"/>
                          <a:ea typeface="Arial" panose="020B0604020202020204"/>
                          <a:cs typeface="Arial" panose="020B0604020202020204"/>
                        </a:rPr>
                        <a:t>(</a:t>
                      </a:r>
                      <a:r>
                        <a:rPr sz="1800" kern="0" spc="-10" dirty="0">
                          <a:solidFill>
                            <a:srgbClr val="000000">
                              <a:alpha val="100000"/>
                            </a:srgbClr>
                          </a:solidFill>
                          <a:latin typeface="Times New Roman" panose="02020603050405020304"/>
                          <a:ea typeface="Times New Roman" panose="02020603050405020304"/>
                          <a:cs typeface="Times New Roman" panose="02020603050405020304"/>
                        </a:rPr>
                        <a:t>0.591</a:t>
                      </a:r>
                      <a:r>
                        <a:rPr sz="2400" kern="0" spc="-1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a:noFill/>
                    </a:lnT>
                    <a:lnB>
                      <a:noFill/>
                    </a:lnB>
                  </a:tcPr>
                </a:tc>
              </a:tr>
              <a:tr h="824230">
                <a:tc gridSpan="5">
                  <a:txBody>
                    <a:bodyPr/>
                    <a:lstStyle/>
                    <a:p>
                      <a:pPr algn="l" rtl="0" eaLnBrk="0">
                        <a:lnSpc>
                          <a:spcPct val="148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2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引入不相关变量降低了方程中其他变量估计系数的准确性。</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r>
              <a:tr h="876300">
                <a:tc gridSpan="5">
                  <a:txBody>
                    <a:bodyPr/>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17170" algn="l" rtl="0" eaLnBrk="0">
                        <a:lnSpc>
                          <a:spcPct val="75000"/>
                        </a:lnSpc>
                        <a:spcBef>
                          <a:spcPts val="5"/>
                        </a:spcBef>
                      </a:pPr>
                      <a:r>
                        <a:rPr sz="1400" b="1" kern="0" spc="-50" dirty="0">
                          <a:solidFill>
                            <a:srgbClr val="FFFFFF">
                              <a:alpha val="100000"/>
                            </a:srgbClr>
                          </a:solidFill>
                          <a:latin typeface="Franklin Gothic Book" panose="020B0503020102020204"/>
                          <a:ea typeface="Franklin Gothic Book" panose="020B0503020102020204"/>
                          <a:cs typeface="Franklin Gothic Book" panose="020B0503020102020204"/>
                        </a:rPr>
                        <a:t>37</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textbox 268"/>
          <p:cNvSpPr/>
          <p:nvPr/>
        </p:nvSpPr>
        <p:spPr>
          <a:xfrm>
            <a:off x="87630" y="57150"/>
            <a:ext cx="9002395" cy="6719570"/>
          </a:xfrm>
          <a:prstGeom prst="roundRect">
            <a:avLst>
              <a:gd name="adj" fmla="val 5019"/>
            </a:avLst>
          </a:prstGeom>
          <a:noFill/>
          <a:ln w="6350" cap="flat">
            <a:solidFill>
              <a:srgbClr val="000000"/>
            </a:solidFill>
            <a:prstDash val="solid"/>
            <a:miter lim="0"/>
          </a:ln>
        </p:spPr>
        <p:txBody>
          <a:bodyPr vert="horz" wrap="square" lIns="0" tIns="0" rIns="0" bIns="0"/>
          <a:lstStyle/>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6000"/>
              </a:lnSpc>
            </a:pPr>
            <a:endParaRPr sz="1000" dirty="0">
              <a:latin typeface="Arial" panose="020B0604020202020204"/>
              <a:ea typeface="Arial" panose="020B0604020202020204"/>
              <a:cs typeface="Arial" panose="020B0604020202020204"/>
            </a:endParaRPr>
          </a:p>
          <a:p>
            <a:pPr marL="566420" algn="l" rtl="0" eaLnBrk="0">
              <a:lnSpc>
                <a:spcPct val="85000"/>
              </a:lnSpc>
              <a:spcBef>
                <a:spcPts val="0"/>
              </a:spcBef>
            </a:pPr>
            <a:r>
              <a:rPr sz="20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2000" kern="0" spc="50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400" b="1" kern="0" spc="-60" dirty="0">
                <a:solidFill>
                  <a:srgbClr val="000000">
                    <a:alpha val="100000"/>
                  </a:srgbClr>
                </a:solidFill>
                <a:latin typeface="楷体" panose="02010609060101010101" charset="-122"/>
                <a:ea typeface="楷体" panose="02010609060101010101" charset="-122"/>
                <a:cs typeface="楷体" panose="02010609060101010101" charset="-122"/>
              </a:rPr>
              <a:t>（三）模型选择</a:t>
            </a:r>
            <a:endParaRPr sz="2400" dirty="0">
              <a:latin typeface="楷体" panose="02010609060101010101" charset="-122"/>
              <a:ea typeface="楷体" panose="02010609060101010101" charset="-122"/>
              <a:cs typeface="楷体" panose="02010609060101010101" charset="-122"/>
            </a:endParaRPr>
          </a:p>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4000"/>
              </a:lnSpc>
            </a:pPr>
            <a:endParaRPr sz="1000" dirty="0">
              <a:latin typeface="Arial" panose="020B0604020202020204"/>
              <a:ea typeface="Arial" panose="020B0604020202020204"/>
              <a:cs typeface="Arial" panose="020B0604020202020204"/>
            </a:endParaRPr>
          </a:p>
          <a:p>
            <a:pPr marL="564515" algn="l" rtl="0" eaLnBrk="0">
              <a:lnSpc>
                <a:spcPct val="87000"/>
              </a:lnSpc>
              <a:spcBef>
                <a:spcPts val="63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选择模型的一些要</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点：</a:t>
            </a:r>
            <a:endParaRPr sz="2100" dirty="0">
              <a:latin typeface="楷体" panose="02010609060101010101" charset="-122"/>
              <a:ea typeface="楷体" panose="02010609060101010101" charset="-122"/>
              <a:cs typeface="楷体" panose="02010609060101010101" charset="-122"/>
            </a:endParaRPr>
          </a:p>
          <a:p>
            <a:pPr algn="l" rtl="0" eaLnBrk="0">
              <a:lnSpc>
                <a:spcPct val="121000"/>
              </a:lnSpc>
            </a:pPr>
            <a:endParaRPr sz="1000" dirty="0">
              <a:latin typeface="Arial" panose="020B0604020202020204"/>
              <a:ea typeface="Arial" panose="020B0604020202020204"/>
              <a:cs typeface="Arial" panose="020B0604020202020204"/>
            </a:endParaRPr>
          </a:p>
          <a:p>
            <a:pPr marL="831850" indent="-267335" algn="l" rtl="0" eaLnBrk="0">
              <a:lnSpc>
                <a:spcPct val="123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）基于你对变量关系的理论和一般理解选择变量和函数</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形式；</a:t>
            </a:r>
            <a:endParaRPr sz="2100" dirty="0">
              <a:latin typeface="楷体" panose="02010609060101010101" charset="-122"/>
              <a:ea typeface="楷体" panose="02010609060101010101" charset="-122"/>
              <a:cs typeface="楷体" panose="02010609060101010101" charset="-122"/>
            </a:endParaRPr>
          </a:p>
          <a:p>
            <a:pPr marL="824230" indent="-259715" algn="l" rtl="0" eaLnBrk="0">
              <a:lnSpc>
                <a:spcPct val="130000"/>
              </a:lnSpc>
              <a:spcBef>
                <a:spcPts val="182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）如果估计方程中有系数符号与预期不符或系数的取值</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不符合现实，</a:t>
            </a:r>
            <a:r>
              <a:rPr sz="2100" kern="0" spc="-42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这些情况可能</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是的忽略了重要变量等模型误设问</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题导致的；</a:t>
            </a:r>
            <a:endParaRPr sz="2100" dirty="0">
              <a:latin typeface="楷体" panose="02010609060101010101" charset="-122"/>
              <a:ea typeface="楷体" panose="02010609060101010101" charset="-122"/>
              <a:cs typeface="楷体" panose="02010609060101010101" charset="-122"/>
            </a:endParaRPr>
          </a:p>
          <a:p>
            <a:pPr algn="l" rtl="0" eaLnBrk="0">
              <a:lnSpc>
                <a:spcPct val="100000"/>
              </a:lnSpc>
            </a:pPr>
            <a:endParaRPr sz="1000" dirty="0">
              <a:latin typeface="Arial" panose="020B0604020202020204"/>
              <a:ea typeface="Arial" panose="020B0604020202020204"/>
              <a:cs typeface="Arial" panose="020B0604020202020204"/>
            </a:endParaRPr>
          </a:p>
          <a:p>
            <a:pPr marL="839470" indent="-274955" algn="l" rtl="0" eaLnBrk="0">
              <a:lnSpc>
                <a:spcPct val="123000"/>
              </a:lnSpc>
              <a:spcBef>
                <a:spcPts val="63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3</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）评估某一个或一组变量是否应引入模型的方法是实施</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显著性检验。</a:t>
            </a:r>
            <a:endParaRPr sz="2100" dirty="0">
              <a:latin typeface="楷体" panose="02010609060101010101" charset="-122"/>
              <a:ea typeface="楷体" panose="02010609060101010101" charset="-122"/>
              <a:cs typeface="楷体" panose="02010609060101010101" charset="-122"/>
            </a:endParaRPr>
          </a:p>
          <a:p>
            <a:pPr marL="564515" algn="l" rtl="0" eaLnBrk="0">
              <a:lnSpc>
                <a:spcPct val="94000"/>
              </a:lnSpc>
              <a:spcBef>
                <a:spcPts val="1805"/>
              </a:spcBef>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20" dirty="0">
                <a:solidFill>
                  <a:srgbClr val="000000">
                    <a:alpha val="100000"/>
                  </a:srgbClr>
                </a:solidFill>
                <a:latin typeface="Times New Roman" panose="02020603050405020304"/>
                <a:ea typeface="Times New Roman" panose="02020603050405020304"/>
                <a:cs typeface="Times New Roman" panose="02020603050405020304"/>
              </a:rPr>
              <a:t>4</a:t>
            </a:r>
            <a:r>
              <a:rPr sz="2100" kern="0" spc="20" dirty="0">
                <a:solidFill>
                  <a:srgbClr val="000000">
                    <a:alpha val="100000"/>
                  </a:srgbClr>
                </a:solidFill>
                <a:latin typeface="楷体" panose="02010609060101010101" charset="-122"/>
                <a:ea typeface="楷体" panose="02010609060101010101" charset="-122"/>
                <a:cs typeface="楷体" panose="02010609060101010101" charset="-122"/>
              </a:rPr>
              <a:t>）考虑各种模</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型选择标准。</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marL="564515" algn="l" rtl="0" eaLnBrk="0">
              <a:lnSpc>
                <a:spcPct val="94000"/>
              </a:lnSpc>
              <a:spcBef>
                <a:spcPts val="63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5</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）可以采用</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RESET</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一般设定检验评估模型的合意性。</a:t>
            </a:r>
            <a:endParaRPr sz="2100" dirty="0">
              <a:latin typeface="楷体" panose="02010609060101010101" charset="-122"/>
              <a:ea typeface="楷体" panose="02010609060101010101" charset="-122"/>
              <a:cs typeface="楷体" panose="02010609060101010101" charset="-122"/>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12382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38</a:t>
            </a:r>
            <a:endParaRPr sz="1400" dirty="0">
              <a:latin typeface="Franklin Gothic Book" panose="020B0503020102020204"/>
              <a:ea typeface="Franklin Gothic Book" panose="020B0503020102020204"/>
              <a:cs typeface="Franklin Gothic Book" panose="020B0503020102020204"/>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0" name="table 270"/>
          <p:cNvGraphicFramePr>
            <a:graphicFrameLocks noGrp="1"/>
          </p:cNvGraphicFramePr>
          <p:nvPr/>
        </p:nvGraphicFramePr>
        <p:xfrm>
          <a:off x="60832" y="66928"/>
          <a:ext cx="9018905" cy="6699250"/>
        </p:xfrm>
        <a:graphic>
          <a:graphicData uri="http://schemas.openxmlformats.org/drawingml/2006/table">
            <a:tbl>
              <a:tblPr/>
              <a:tblGrid>
                <a:gridCol w="9018905"/>
              </a:tblGrid>
              <a:tr h="5918200">
                <a:tc>
                  <a:txBody>
                    <a:bodyPr/>
                    <a:lstStyle/>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117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965200" algn="l" rtl="0" eaLnBrk="0">
                        <a:lnSpc>
                          <a:spcPct val="87000"/>
                        </a:lnSpc>
                      </a:pPr>
                      <a:r>
                        <a:rPr sz="1800" kern="0" spc="2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20" dirty="0">
                          <a:solidFill>
                            <a:srgbClr val="000000">
                              <a:alpha val="100000"/>
                            </a:srgbClr>
                          </a:solidFill>
                          <a:latin typeface="楷体" panose="02010609060101010101" charset="-122"/>
                          <a:ea typeface="楷体" panose="02010609060101010101" charset="-122"/>
                          <a:cs typeface="楷体" panose="02010609060101010101" charset="-122"/>
                        </a:rPr>
                        <a:t>1.模型选择的标准</a:t>
                      </a:r>
                      <a:endParaRPr sz="2100" dirty="0">
                        <a:latin typeface="楷体" panose="02010609060101010101" charset="-122"/>
                        <a:ea typeface="楷体" panose="02010609060101010101" charset="-122"/>
                        <a:cs typeface="楷体" panose="02010609060101010101" charset="-122"/>
                      </a:endParaRPr>
                    </a:p>
                    <a:p>
                      <a:pPr algn="l" rtl="0" eaLnBrk="0">
                        <a:lnSpc>
                          <a:spcPct val="121000"/>
                        </a:lnSpc>
                      </a:pPr>
                      <a:endParaRPr sz="1000" dirty="0">
                        <a:latin typeface="Arial" panose="020B0604020202020204"/>
                        <a:ea typeface="Arial" panose="020B0604020202020204"/>
                        <a:cs typeface="Arial" panose="020B0604020202020204"/>
                      </a:endParaRPr>
                    </a:p>
                    <a:p>
                      <a:pPr marL="965200" algn="l" rtl="0" eaLnBrk="0">
                        <a:lnSpc>
                          <a:spcPct val="9400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三个主要的模型选择标准：</a:t>
                      </a:r>
                      <a:r>
                        <a:rPr sz="2100" i="1" kern="0" spc="60" dirty="0">
                          <a:solidFill>
                            <a:srgbClr val="000000">
                              <a:alpha val="100000"/>
                            </a:srgbClr>
                          </a:solidFill>
                          <a:latin typeface="Times New Roman" panose="02020603050405020304"/>
                          <a:ea typeface="Times New Roman" panose="02020603050405020304"/>
                          <a:cs typeface="Times New Roman" panose="02020603050405020304"/>
                        </a:rPr>
                        <a:t>R</a:t>
                      </a:r>
                      <a:r>
                        <a:rPr sz="2200" kern="0" spc="60" baseline="28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AIC</a:t>
                      </a:r>
                      <a:r>
                        <a:rPr sz="21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SC</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BIC</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sz="2100" dirty="0">
                        <a:latin typeface="Times New Roman" panose="02020603050405020304"/>
                        <a:ea typeface="Times New Roman" panose="02020603050405020304"/>
                        <a:cs typeface="Times New Roman" panose="02020603050405020304"/>
                      </a:endParaRPr>
                    </a:p>
                    <a:p>
                      <a:pPr algn="l" rtl="0" eaLnBrk="0">
                        <a:lnSpc>
                          <a:spcPct val="106000"/>
                        </a:lnSpc>
                      </a:pPr>
                      <a:endParaRPr sz="1000" dirty="0">
                        <a:latin typeface="Arial" panose="020B0604020202020204"/>
                        <a:ea typeface="Arial" panose="020B0604020202020204"/>
                        <a:cs typeface="Arial" panose="020B0604020202020204"/>
                      </a:endParaRPr>
                    </a:p>
                    <a:p>
                      <a:pPr marL="1224915" indent="-259715" algn="l" rtl="0" eaLnBrk="0">
                        <a:lnSpc>
                          <a:spcPct val="130000"/>
                        </a:lnSpc>
                        <a:spcBef>
                          <a:spcPts val="640"/>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上述标准的一个共同特征是，它们只能用于比较具有相同被</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解释变量的模型，不能用于比较被解释变量不同的模型（比</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如</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ln</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05000"/>
                        </a:lnSpc>
                      </a:pPr>
                      <a:endParaRPr sz="1000" dirty="0">
                        <a:latin typeface="Arial" panose="020B0604020202020204"/>
                        <a:ea typeface="Arial" panose="020B0604020202020204"/>
                        <a:cs typeface="Arial" panose="020B0604020202020204"/>
                      </a:endParaRPr>
                    </a:p>
                    <a:p>
                      <a:pPr marL="1223645" indent="-258445" algn="l" rtl="0" eaLnBrk="0">
                        <a:lnSpc>
                          <a:spcPct val="121000"/>
                        </a:lnSpc>
                        <a:spcBef>
                          <a:spcPts val="630"/>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问题是，</a:t>
                      </a:r>
                      <a:r>
                        <a:rPr sz="2100" kern="0" spc="-58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当模型中加入的变量越来</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越多时，</a:t>
                      </a:r>
                      <a:r>
                        <a:rPr sz="2100" kern="0" spc="-390" dirty="0">
                          <a:solidFill>
                            <a:srgbClr val="000000">
                              <a:alpha val="100000"/>
                            </a:srgbClr>
                          </a:solidFill>
                          <a:latin typeface="楷体" panose="02010609060101010101" charset="-122"/>
                          <a:ea typeface="楷体" panose="02010609060101010101" charset="-122"/>
                          <a:cs typeface="楷体" panose="02010609060101010101" charset="-122"/>
                        </a:rPr>
                        <a:t> </a:t>
                      </a:r>
                      <a:r>
                        <a:rPr sz="2000" i="1" kern="0" spc="40" dirty="0">
                          <a:solidFill>
                            <a:srgbClr val="000000">
                              <a:alpha val="100000"/>
                            </a:srgbClr>
                          </a:solidFill>
                          <a:latin typeface="Times New Roman" panose="02020603050405020304"/>
                          <a:ea typeface="Times New Roman" panose="02020603050405020304"/>
                          <a:cs typeface="Times New Roman" panose="02020603050405020304"/>
                        </a:rPr>
                        <a:t>R</a:t>
                      </a:r>
                      <a:r>
                        <a:rPr sz="2000" kern="0" spc="40" baseline="2900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也会变得越来</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越大，即便加入的变量没有正当理由。</a:t>
                      </a:r>
                      <a:endParaRPr sz="2100" dirty="0">
                        <a:latin typeface="楷体" panose="02010609060101010101" charset="-122"/>
                        <a:ea typeface="楷体" panose="02010609060101010101" charset="-122"/>
                        <a:cs typeface="楷体" panose="02010609060101010101" charset="-122"/>
                      </a:endParaRPr>
                    </a:p>
                    <a:p>
                      <a:pPr algn="l" rtl="0" eaLnBrk="0">
                        <a:lnSpc>
                          <a:spcPct val="105000"/>
                        </a:lnSpc>
                      </a:pPr>
                      <a:endParaRPr sz="1000" dirty="0">
                        <a:latin typeface="Arial" panose="020B0604020202020204"/>
                        <a:ea typeface="Arial" panose="020B0604020202020204"/>
                        <a:cs typeface="Arial" panose="020B0604020202020204"/>
                      </a:endParaRPr>
                    </a:p>
                    <a:p>
                      <a:pPr marL="1228090" indent="-262890" algn="l" rtl="0" eaLnBrk="0">
                        <a:lnSpc>
                          <a:spcPct val="119000"/>
                        </a:lnSpc>
                        <a:spcBef>
                          <a:spcPts val="635"/>
                        </a:spcBef>
                      </a:pPr>
                      <a:r>
                        <a:rPr sz="1800" kern="0" spc="9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90" dirty="0">
                          <a:solidFill>
                            <a:srgbClr val="000000">
                              <a:alpha val="100000"/>
                            </a:srgbClr>
                          </a:solidFill>
                          <a:latin typeface="楷体" panose="02010609060101010101" charset="-122"/>
                          <a:ea typeface="楷体" panose="02010609060101010101" charset="-122"/>
                          <a:cs typeface="楷体" panose="02010609060101010101" charset="-122"/>
                        </a:rPr>
                        <a:t>代数上的事实</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是，模型中加入一个变量，残差平方（</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SSE</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和就会降低， </a:t>
                      </a:r>
                      <a:r>
                        <a:rPr sz="2400" i="1" kern="0" spc="30" dirty="0">
                          <a:solidFill>
                            <a:srgbClr val="000000">
                              <a:alpha val="100000"/>
                            </a:srgbClr>
                          </a:solidFill>
                          <a:latin typeface="Times New Roman" panose="02020603050405020304"/>
                          <a:ea typeface="Times New Roman" panose="02020603050405020304"/>
                          <a:cs typeface="Times New Roman" panose="02020603050405020304"/>
                        </a:rPr>
                        <a:t>R</a:t>
                      </a:r>
                      <a:r>
                        <a:rPr sz="1500" kern="0" spc="30" baseline="30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310" baseline="3000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就会提高</a:t>
                      </a:r>
                      <a:endParaRPr sz="2100" dirty="0">
                        <a:latin typeface="楷体" panose="02010609060101010101" charset="-122"/>
                        <a:ea typeface="楷体" panose="02010609060101010101" charset="-122"/>
                        <a:cs typeface="楷体" panose="02010609060101010101" charset="-122"/>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965200" algn="l" rtl="0" eaLnBrk="0">
                        <a:lnSpc>
                          <a:spcPct val="82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如果模型中包括</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N-1</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个变量，则</a:t>
                      </a:r>
                      <a:r>
                        <a:rPr sz="2400" i="1" kern="0" spc="50" dirty="0">
                          <a:solidFill>
                            <a:srgbClr val="000000">
                              <a:alpha val="100000"/>
                            </a:srgbClr>
                          </a:solidFill>
                          <a:latin typeface="Times New Roman" panose="02020603050405020304"/>
                          <a:ea typeface="Times New Roman" panose="02020603050405020304"/>
                          <a:cs typeface="Times New Roman" panose="02020603050405020304"/>
                        </a:rPr>
                        <a:t>R</a:t>
                      </a:r>
                      <a:r>
                        <a:rPr sz="2400" kern="0" spc="50" baseline="30000" dirty="0">
                          <a:solidFill>
                            <a:srgbClr val="000000">
                              <a:alpha val="100000"/>
                            </a:srgbClr>
                          </a:solidFill>
                          <a:latin typeface="Times New Roman" panose="02020603050405020304"/>
                          <a:ea typeface="Times New Roman" panose="02020603050405020304"/>
                          <a:cs typeface="Times New Roman" panose="02020603050405020304"/>
                        </a:rPr>
                        <a:t>2</a:t>
                      </a:r>
                      <a:r>
                        <a:rPr sz="15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781050">
                <a:tc>
                  <a:txBody>
                    <a:bodyPr/>
                    <a:lstStyle/>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2725" algn="l" rtl="0" eaLnBrk="0">
                        <a:lnSpc>
                          <a:spcPct val="75000"/>
                        </a:lnSpc>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39</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4" name="table 274"/>
          <p:cNvGraphicFramePr>
            <a:graphicFrameLocks noGrp="1"/>
          </p:cNvGraphicFramePr>
          <p:nvPr/>
        </p:nvGraphicFramePr>
        <p:xfrm>
          <a:off x="60832" y="66928"/>
          <a:ext cx="9018903" cy="6699250"/>
        </p:xfrm>
        <a:graphic>
          <a:graphicData uri="http://schemas.openxmlformats.org/drawingml/2006/table">
            <a:tbl>
              <a:tblPr/>
              <a:tblGrid>
                <a:gridCol w="598169"/>
                <a:gridCol w="8420734"/>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3360" algn="l" rtl="0" eaLnBrk="0">
                        <a:lnSpc>
                          <a:spcPct val="75000"/>
                        </a:lnSpc>
                        <a:spcBef>
                          <a:spcPts val="5"/>
                        </a:spcBef>
                      </a:pPr>
                      <a:r>
                        <a:rPr sz="1400" b="1" kern="0" spc="-30" dirty="0">
                          <a:solidFill>
                            <a:srgbClr val="FFFFFF">
                              <a:alpha val="100000"/>
                            </a:srgbClr>
                          </a:solidFill>
                          <a:latin typeface="Franklin Gothic Book" panose="020B0503020102020204"/>
                          <a:ea typeface="Franklin Gothic Book" panose="020B0503020102020204"/>
                          <a:cs typeface="Franklin Gothic Book" panose="020B0503020102020204"/>
                        </a:rPr>
                        <a:t>40</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marL="2368550" indent="-2312670" algn="l" rtl="0" eaLnBrk="0">
                        <a:lnSpc>
                          <a:spcPct val="291000"/>
                        </a:lnSpc>
                        <a:spcBef>
                          <a:spcPts val="5"/>
                        </a:spcBef>
                        <a:tabLst>
                          <a:tab pos="4741545" algn="l"/>
                        </a:tabLst>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另一个备选的拟合优度测度指标是调整后的</a:t>
                      </a:r>
                      <a:r>
                        <a:rPr sz="2100" kern="0" spc="-500" dirty="0">
                          <a:solidFill>
                            <a:srgbClr val="000000">
                              <a:alpha val="100000"/>
                            </a:srgbClr>
                          </a:solidFill>
                          <a:latin typeface="楷体" panose="02010609060101010101" charset="-122"/>
                          <a:ea typeface="楷体" panose="02010609060101010101" charset="-122"/>
                          <a:cs typeface="楷体" panose="02010609060101010101" charset="-122"/>
                        </a:rPr>
                        <a:t> </a:t>
                      </a:r>
                      <a:r>
                        <a:rPr sz="3000" i="1" kern="0" spc="60" baseline="-9000" dirty="0">
                          <a:solidFill>
                            <a:srgbClr val="000000">
                              <a:alpha val="100000"/>
                            </a:srgbClr>
                          </a:solidFill>
                          <a:latin typeface="Times New Roman" panose="02020603050405020304"/>
                          <a:ea typeface="Times New Roman" panose="02020603050405020304"/>
                          <a:cs typeface="Times New Roman" panose="02020603050405020304"/>
                        </a:rPr>
                        <a:t>R</a:t>
                      </a:r>
                      <a:r>
                        <a:rPr sz="1700" kern="0" spc="60" baseline="34000" dirty="0">
                          <a:solidFill>
                            <a:srgbClr val="000000">
                              <a:alpha val="100000"/>
                            </a:srgbClr>
                          </a:solidFill>
                          <a:latin typeface="Times New Roman" panose="02020603050405020304"/>
                          <a:ea typeface="Times New Roman" panose="02020603050405020304"/>
                          <a:cs typeface="Times New Roman" panose="02020603050405020304"/>
                        </a:rPr>
                        <a:t>2</a:t>
                      </a:r>
                      <a:r>
                        <a:rPr sz="11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定义为:</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85000"/>
                        </a:lnSpc>
                      </a:pPr>
                      <a:endParaRPr sz="1000" dirty="0">
                        <a:latin typeface="Arial" panose="020B0604020202020204"/>
                        <a:ea typeface="Arial" panose="020B0604020202020204"/>
                        <a:cs typeface="Arial" panose="020B0604020202020204"/>
                      </a:endParaRPr>
                    </a:p>
                    <a:p>
                      <a:pPr marL="55880" algn="l" rtl="0" eaLnBrk="0">
                        <a:lnSpc>
                          <a:spcPct val="87000"/>
                        </a:lnSpc>
                        <a:spcBef>
                          <a:spcPts val="635"/>
                        </a:spcBef>
                      </a:pPr>
                      <a:r>
                        <a:rPr sz="1800" kern="0" spc="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0" dirty="0">
                          <a:solidFill>
                            <a:srgbClr val="000000">
                              <a:alpha val="100000"/>
                            </a:srgbClr>
                          </a:solidFill>
                          <a:latin typeface="楷体" panose="02010609060101010101" charset="-122"/>
                          <a:ea typeface="楷体" panose="02010609060101010101" charset="-122"/>
                          <a:cs typeface="楷体" panose="02010609060101010101" charset="-122"/>
                        </a:rPr>
                        <a:t>两个信息准则：</a:t>
                      </a:r>
                      <a:endParaRPr sz="2100" dirty="0">
                        <a:latin typeface="楷体" panose="02010609060101010101" charset="-122"/>
                        <a:ea typeface="楷体" panose="02010609060101010101" charset="-122"/>
                        <a:cs typeface="楷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marL="2374900" indent="-2319020" algn="l" rtl="0" eaLnBrk="0">
                        <a:lnSpc>
                          <a:spcPct val="291000"/>
                        </a:lnSpc>
                        <a:spcBef>
                          <a:spcPts val="640"/>
                        </a:spcBef>
                        <a:tabLst>
                          <a:tab pos="4585970" algn="l"/>
                        </a:tabLst>
                      </a:pPr>
                      <a:r>
                        <a:rPr sz="1800" kern="0" spc="1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1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1</a:t>
                      </a:r>
                      <a:r>
                        <a:rPr sz="2100" kern="0" spc="110" dirty="0">
                          <a:solidFill>
                            <a:srgbClr val="000000">
                              <a:alpha val="100000"/>
                            </a:srgbClr>
                          </a:solidFill>
                          <a:latin typeface="楷体" panose="02010609060101010101" charset="-122"/>
                          <a:ea typeface="楷体" panose="02010609060101010101" charset="-122"/>
                          <a:cs typeface="楷体" panose="02010609060101010101" charset="-122"/>
                        </a:rPr>
                        <a:t>）赤池信息准则（</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Akaike</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information</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criterion</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AIC</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83000"/>
                        </a:lnSpc>
                      </a:pPr>
                      <a:endParaRPr sz="1000" dirty="0">
                        <a:latin typeface="Arial" panose="020B0604020202020204"/>
                        <a:ea typeface="Arial" panose="020B0604020202020204"/>
                        <a:cs typeface="Arial" panose="020B0604020202020204"/>
                      </a:endParaRPr>
                    </a:p>
                    <a:p>
                      <a:pPr marL="55880" algn="l" rtl="0" eaLnBrk="0">
                        <a:lnSpc>
                          <a:spcPct val="94000"/>
                        </a:lnSpc>
                        <a:spcBef>
                          <a:spcPts val="640"/>
                        </a:spcBef>
                      </a:pPr>
                      <a:r>
                        <a:rPr sz="1800" kern="0" spc="1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20" dirty="0">
                          <a:solidFill>
                            <a:srgbClr val="000000">
                              <a:alpha val="100000"/>
                            </a:srgbClr>
                          </a:solidFill>
                          <a:latin typeface="楷体" panose="02010609060101010101" charset="-122"/>
                          <a:ea typeface="楷体" panose="02010609060101010101" charset="-122"/>
                          <a:cs typeface="楷体" panose="02010609060101010101" charset="-122"/>
                        </a:rPr>
                        <a:t>（</a:t>
                      </a:r>
                      <a:r>
                        <a:rPr sz="2100" kern="0" spc="120" dirty="0">
                          <a:solidFill>
                            <a:srgbClr val="000000">
                              <a:alpha val="100000"/>
                            </a:srgbClr>
                          </a:solidFill>
                          <a:latin typeface="Times New Roman" panose="02020603050405020304"/>
                          <a:ea typeface="Times New Roman" panose="02020603050405020304"/>
                          <a:cs typeface="Times New Roman" panose="02020603050405020304"/>
                        </a:rPr>
                        <a:t>2</a:t>
                      </a:r>
                      <a:r>
                        <a:rPr sz="2100" kern="0" spc="120" dirty="0">
                          <a:solidFill>
                            <a:srgbClr val="000000">
                              <a:alpha val="100000"/>
                            </a:srgbClr>
                          </a:solidFill>
                          <a:latin typeface="楷体" panose="02010609060101010101" charset="-122"/>
                          <a:ea typeface="楷体" panose="02010609060101010101" charset="-122"/>
                          <a:cs typeface="楷体" panose="02010609060101010101" charset="-122"/>
                        </a:rPr>
                        <a:t>）施瓦茨信息准则，</a:t>
                      </a:r>
                      <a:r>
                        <a:rPr sz="2100" kern="0" spc="110" dirty="0">
                          <a:solidFill>
                            <a:srgbClr val="000000">
                              <a:alpha val="100000"/>
                            </a:srgbClr>
                          </a:solidFill>
                          <a:latin typeface="楷体" panose="02010609060101010101" charset="-122"/>
                          <a:ea typeface="楷体" panose="02010609060101010101" charset="-122"/>
                          <a:cs typeface="楷体" panose="02010609060101010101" charset="-122"/>
                        </a:rPr>
                        <a:t>又称为</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Bayesian</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information</a:t>
                      </a:r>
                      <a:r>
                        <a:rPr sz="21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criterion</a:t>
                      </a:r>
                      <a:endParaRPr sz="2100" dirty="0">
                        <a:latin typeface="Times New Roman" panose="02020603050405020304"/>
                        <a:ea typeface="Times New Roman" panose="02020603050405020304"/>
                        <a:cs typeface="Times New Roman" panose="02020603050405020304"/>
                      </a:endParaRPr>
                    </a:p>
                    <a:p>
                      <a:pPr marL="321945" algn="l" rtl="0" eaLnBrk="0">
                        <a:lnSpc>
                          <a:spcPct val="94000"/>
                        </a:lnSpc>
                        <a:spcBef>
                          <a:spcPts val="1590"/>
                        </a:spcBef>
                      </a:pPr>
                      <a:r>
                        <a:rPr sz="2100" kern="0" spc="30" dirty="0">
                          <a:solidFill>
                            <a:srgbClr val="000000">
                              <a:alpha val="100000"/>
                            </a:srgbClr>
                          </a:solidFill>
                          <a:latin typeface="Times New Roman" panose="02020603050405020304"/>
                          <a:ea typeface="Times New Roman" panose="02020603050405020304"/>
                          <a:cs typeface="Times New Roman" panose="02020603050405020304"/>
                        </a:rPr>
                        <a:t>(</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BIC</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a:t>
                      </a:r>
                      <a:endParaRPr sz="2100" dirty="0">
                        <a:latin typeface="楷体" panose="02010609060101010101" charset="-122"/>
                        <a:ea typeface="楷体" panose="02010609060101010101" charset="-122"/>
                        <a:cs typeface="楷体" panose="02010609060101010101" charset="-122"/>
                      </a:endParaRPr>
                    </a:p>
                    <a:p>
                      <a:pPr algn="l" rtl="0" eaLnBrk="0">
                        <a:lnSpc>
                          <a:spcPct val="100000"/>
                        </a:lnSpc>
                      </a:pPr>
                      <a:endParaRPr sz="600" dirty="0">
                        <a:latin typeface="Arial" panose="020B0604020202020204"/>
                        <a:ea typeface="Arial" panose="020B0604020202020204"/>
                        <a:cs typeface="Arial" panose="020B0604020202020204"/>
                      </a:endParaRPr>
                    </a:p>
                    <a:p>
                      <a:pPr marL="2374900" algn="l" rtl="0" eaLnBrk="0">
                        <a:lnSpc>
                          <a:spcPts val="5325"/>
                        </a:lnSpc>
                        <a:spcBef>
                          <a:spcPts val="5"/>
                        </a:spcBef>
                        <a:tabLst>
                          <a:tab pos="512762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76" name="picture 276"/>
          <p:cNvPicPr>
            <a:picLocks noChangeAspect="1"/>
          </p:cNvPicPr>
          <p:nvPr/>
        </p:nvPicPr>
        <p:blipFill>
          <a:blip r:embed="rId1"/>
          <a:stretch>
            <a:fillRect/>
          </a:stretch>
        </p:blipFill>
        <p:spPr>
          <a:xfrm rot="21600000">
            <a:off x="3034262" y="5826372"/>
            <a:ext cx="2752668" cy="676562"/>
          </a:xfrm>
          <a:prstGeom prst="rect">
            <a:avLst/>
          </a:prstGeom>
        </p:spPr>
      </p:pic>
      <p:pic>
        <p:nvPicPr>
          <p:cNvPr id="278" name="picture 278"/>
          <p:cNvPicPr>
            <a:picLocks noChangeAspect="1"/>
          </p:cNvPicPr>
          <p:nvPr/>
        </p:nvPicPr>
        <p:blipFill>
          <a:blip r:embed="rId2"/>
          <a:stretch>
            <a:fillRect/>
          </a:stretch>
        </p:blipFill>
        <p:spPr>
          <a:xfrm rot="21600000">
            <a:off x="3033951" y="3950437"/>
            <a:ext cx="2211824" cy="620347"/>
          </a:xfrm>
          <a:prstGeom prst="rect">
            <a:avLst/>
          </a:prstGeom>
        </p:spPr>
      </p:pic>
      <p:pic>
        <p:nvPicPr>
          <p:cNvPr id="280" name="picture 280"/>
          <p:cNvPicPr>
            <a:picLocks noChangeAspect="1"/>
          </p:cNvPicPr>
          <p:nvPr/>
        </p:nvPicPr>
        <p:blipFill>
          <a:blip r:embed="rId3"/>
          <a:stretch>
            <a:fillRect/>
          </a:stretch>
        </p:blipFill>
        <p:spPr>
          <a:xfrm rot="21600000">
            <a:off x="3033951" y="1755042"/>
            <a:ext cx="2373047" cy="741288"/>
          </a:xfrm>
          <a:prstGeom prst="rect">
            <a:avLst/>
          </a:prstGeom>
        </p:spPr>
      </p:pic>
      <p:sp>
        <p:nvSpPr>
          <p:cNvPr id="284" name="path 284"/>
          <p:cNvSpPr/>
          <p:nvPr/>
        </p:nvSpPr>
        <p:spPr>
          <a:xfrm>
            <a:off x="6336734" y="880778"/>
            <a:ext cx="271009" cy="10551"/>
          </a:xfrm>
          <a:custGeom>
            <a:avLst/>
            <a:gdLst/>
            <a:ahLst/>
            <a:cxnLst/>
            <a:rect l="0" t="0" r="0" b="0"/>
            <a:pathLst>
              <a:path w="426" h="16">
                <a:moveTo>
                  <a:pt x="8" y="8"/>
                </a:moveTo>
                <a:lnTo>
                  <a:pt x="418" y="8"/>
                </a:lnTo>
              </a:path>
            </a:pathLst>
          </a:custGeom>
          <a:noFill/>
          <a:ln w="10564" cap="sq">
            <a:solidFill>
              <a:srgbClr val="000000"/>
            </a:solidFill>
            <a:prstDash val="solid"/>
            <a:round/>
          </a:ln>
        </p:spPr>
        <p:txBody>
          <a:bodyPr rtlCol="0"/>
          <a:lstStyle/>
          <a:p>
            <a:pPr algn="ctr"/>
            <a:endParaRPr lang="zh-CN" alt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 name="table 286"/>
          <p:cNvGraphicFramePr>
            <a:graphicFrameLocks noGrp="1"/>
          </p:cNvGraphicFramePr>
          <p:nvPr/>
        </p:nvGraphicFramePr>
        <p:xfrm>
          <a:off x="60832" y="66928"/>
          <a:ext cx="9018905" cy="6699250"/>
        </p:xfrm>
        <a:graphic>
          <a:graphicData uri="http://schemas.openxmlformats.org/drawingml/2006/table">
            <a:tbl>
              <a:tblPr/>
              <a:tblGrid>
                <a:gridCol w="9018905"/>
              </a:tblGrid>
              <a:tr h="5155565">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2426970" algn="l" rtl="0" eaLnBrk="0">
                        <a:lnSpc>
                          <a:spcPct val="87000"/>
                        </a:lnSpc>
                        <a:spcBef>
                          <a:spcPts val="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b="1" kern="0" spc="60" dirty="0">
                          <a:solidFill>
                            <a:srgbClr val="000000">
                              <a:alpha val="100000"/>
                            </a:srgbClr>
                          </a:solidFill>
                          <a:latin typeface="楷体" panose="02010609060101010101" charset="-122"/>
                          <a:ea typeface="楷体" panose="02010609060101010101" charset="-122"/>
                          <a:cs typeface="楷体" panose="02010609060101010101" charset="-122"/>
                        </a:rPr>
                        <a:t>不同模型的拟合优度与信息准则</a:t>
                      </a:r>
                      <a:endParaRPr sz="2100" dirty="0">
                        <a:latin typeface="楷体" panose="02010609060101010101" charset="-122"/>
                        <a:ea typeface="楷体" panose="02010609060101010101" charset="-122"/>
                        <a:cs typeface="楷体" panose="02010609060101010101"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543685">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219075" algn="l" rtl="0" eaLnBrk="0">
                        <a:lnSpc>
                          <a:spcPct val="75000"/>
                        </a:lnSpc>
                        <a:spcBef>
                          <a:spcPts val="5"/>
                        </a:spcBef>
                      </a:pPr>
                      <a:r>
                        <a:rPr sz="1400" b="1" kern="0" spc="-60" dirty="0">
                          <a:solidFill>
                            <a:srgbClr val="FFFFFF">
                              <a:alpha val="100000"/>
                            </a:srgbClr>
                          </a:solidFill>
                          <a:latin typeface="Franklin Gothic Book" panose="020B0503020102020204"/>
                          <a:ea typeface="Franklin Gothic Book" panose="020B0503020102020204"/>
                          <a:cs typeface="Franklin Gothic Book" panose="020B0503020102020204"/>
                        </a:rPr>
                        <a:t>41</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288" name="picture 288"/>
          <p:cNvPicPr>
            <a:picLocks noChangeAspect="1"/>
          </p:cNvPicPr>
          <p:nvPr/>
        </p:nvPicPr>
        <p:blipFill>
          <a:blip r:embed="rId1"/>
          <a:stretch>
            <a:fillRect/>
          </a:stretch>
        </p:blipFill>
        <p:spPr>
          <a:xfrm rot="21600000">
            <a:off x="762000" y="1557528"/>
            <a:ext cx="7620000" cy="1871471"/>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6" name="table 356"/>
          <p:cNvGraphicFramePr>
            <a:graphicFrameLocks noGrp="1"/>
          </p:cNvGraphicFramePr>
          <p:nvPr/>
        </p:nvGraphicFramePr>
        <p:xfrm>
          <a:off x="60832" y="66928"/>
          <a:ext cx="9018905" cy="6699250"/>
        </p:xfrm>
        <a:graphic>
          <a:graphicData uri="http://schemas.openxmlformats.org/drawingml/2006/table">
            <a:tbl>
              <a:tblPr/>
              <a:tblGrid>
                <a:gridCol w="9018905"/>
              </a:tblGrid>
              <a:tr h="559054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3869690" algn="l" rtl="0" eaLnBrk="0">
                        <a:lnSpc>
                          <a:spcPct val="84000"/>
                        </a:lnSpc>
                        <a:spcBef>
                          <a:spcPts val="5"/>
                        </a:spcBef>
                      </a:pPr>
                      <a:r>
                        <a:rPr lang="zh-CN" altLang="en-US" sz="2600" b="1" kern="0" spc="-40" dirty="0">
                          <a:solidFill>
                            <a:srgbClr val="000000">
                              <a:alpha val="100000"/>
                            </a:srgbClr>
                          </a:solidFill>
                          <a:latin typeface="黑体" panose="02010609060101010101" charset="-122"/>
                          <a:ea typeface="黑体" panose="02010609060101010101" charset="-122"/>
                          <a:cs typeface="黑体" panose="02010609060101010101" charset="-122"/>
                        </a:rPr>
                        <a:t>三</a:t>
                      </a:r>
                      <a:r>
                        <a:rPr sz="2600" b="1" kern="0" spc="-40" dirty="0">
                          <a:solidFill>
                            <a:srgbClr val="000000">
                              <a:alpha val="100000"/>
                            </a:srgbClr>
                          </a:solidFill>
                          <a:latin typeface="黑体" panose="02010609060101010101" charset="-122"/>
                          <a:ea typeface="黑体" panose="02010609060101010101" charset="-122"/>
                          <a:cs typeface="黑体" panose="02010609060101010101" charset="-122"/>
                        </a:rPr>
                        <a:t>、预测</a:t>
                      </a:r>
                      <a:endParaRPr sz="2600" dirty="0">
                        <a:latin typeface="黑体" panose="02010609060101010101" charset="-122"/>
                        <a:ea typeface="黑体" panose="02010609060101010101" charset="-122"/>
                        <a:cs typeface="黑体" panose="02010609060101010101" charset="-122"/>
                      </a:endParaRPr>
                    </a:p>
                    <a:p>
                      <a:pPr algn="l" rtl="0" eaLnBrk="0">
                        <a:lnSpc>
                          <a:spcPct val="145000"/>
                        </a:lnSpc>
                      </a:pPr>
                      <a:endParaRPr sz="1000" dirty="0">
                        <a:latin typeface="Arial" panose="020B0604020202020204"/>
                        <a:ea typeface="Arial" panose="020B0604020202020204"/>
                        <a:cs typeface="Arial" panose="020B0604020202020204"/>
                      </a:endParaRPr>
                    </a:p>
                    <a:p>
                      <a:pPr algn="l" rtl="0" eaLnBrk="0">
                        <a:lnSpc>
                          <a:spcPct val="145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35"/>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考虑模型:</a:t>
                      </a:r>
                      <a:endParaRPr sz="2100" dirty="0">
                        <a:latin typeface="楷体" panose="02010609060101010101" charset="-122"/>
                        <a:ea typeface="楷体" panose="02010609060101010101" charset="-122"/>
                        <a:cs typeface="楷体" panose="02010609060101010101" charset="-122"/>
                      </a:endParaRPr>
                    </a:p>
                    <a:p>
                      <a:pPr marL="3009900" algn="l" rtl="0" eaLnBrk="0">
                        <a:lnSpc>
                          <a:spcPct val="92000"/>
                        </a:lnSpc>
                        <a:spcBef>
                          <a:spcPts val="1920"/>
                        </a:spcBef>
                      </a:pP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y </a:t>
                      </a:r>
                      <a:r>
                        <a:rPr sz="2600" kern="0" spc="0" dirty="0">
                          <a:solidFill>
                            <a:srgbClr val="000000">
                              <a:alpha val="100000"/>
                            </a:srgbClr>
                          </a:solidFill>
                          <a:latin typeface="Arial" panose="020B0604020202020204"/>
                          <a:ea typeface="Arial" panose="020B0604020202020204"/>
                          <a:cs typeface="Arial" panose="020B06040202020202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600" kern="0" spc="-47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0" baseline="-25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9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Arial" panose="020B0604020202020204"/>
                          <a:ea typeface="Arial" panose="020B0604020202020204"/>
                          <a:cs typeface="Arial" panose="020B0604020202020204"/>
                        </a:rPr>
                        <a:t>+</a:t>
                      </a:r>
                      <a:r>
                        <a:rPr sz="2600" kern="0" spc="-200" dirty="0">
                          <a:solidFill>
                            <a:srgbClr val="000000">
                              <a:alpha val="100000"/>
                            </a:srgbClr>
                          </a:solidFill>
                          <a:latin typeface="Arial" panose="020B0604020202020204"/>
                          <a:ea typeface="Arial" panose="020B0604020202020204"/>
                          <a:cs typeface="Arial" panose="020B06040202020202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0" baseline="-25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Arial" panose="020B0604020202020204"/>
                          <a:ea typeface="Arial" panose="020B0604020202020204"/>
                          <a:cs typeface="Arial" panose="020B0604020202020204"/>
                        </a:rPr>
                        <a:t>+</a:t>
                      </a:r>
                      <a:r>
                        <a:rPr sz="2600" kern="0" spc="-210" dirty="0">
                          <a:solidFill>
                            <a:srgbClr val="000000">
                              <a:alpha val="100000"/>
                            </a:srgbClr>
                          </a:solidFill>
                          <a:latin typeface="Arial" panose="020B0604020202020204"/>
                          <a:ea typeface="Arial" panose="020B0604020202020204"/>
                          <a:cs typeface="Arial" panose="020B0604020202020204"/>
                        </a:rPr>
                        <a:t> </a:t>
                      </a:r>
                      <a:r>
                        <a:rPr sz="2600" kern="0" spc="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0" baseline="-25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0" dirty="0">
                          <a:solidFill>
                            <a:srgbClr val="000000">
                              <a:alpha val="100000"/>
                            </a:srgbClr>
                          </a:solidFill>
                          <a:latin typeface="Arial" panose="020B0604020202020204"/>
                          <a:ea typeface="Arial" panose="020B0604020202020204"/>
                          <a:cs typeface="Arial" panose="020B0604020202020204"/>
                        </a:rPr>
                        <a:t>+</a:t>
                      </a:r>
                      <a:r>
                        <a:rPr sz="2600" kern="0" spc="-180" dirty="0">
                          <a:solidFill>
                            <a:srgbClr val="000000">
                              <a:alpha val="100000"/>
                            </a:srgbClr>
                          </a:solidFill>
                          <a:latin typeface="Arial" panose="020B0604020202020204"/>
                          <a:ea typeface="Arial" panose="020B0604020202020204"/>
                          <a:cs typeface="Arial" panose="020B0604020202020204"/>
                        </a:rPr>
                        <a:t> </a:t>
                      </a:r>
                      <a:r>
                        <a:rPr sz="2600" i="1" kern="0" spc="0" dirty="0">
                          <a:solidFill>
                            <a:srgbClr val="000000">
                              <a:alpha val="100000"/>
                            </a:srgbClr>
                          </a:solidFill>
                          <a:latin typeface="Times New Roman" panose="02020603050405020304"/>
                          <a:ea typeface="Times New Roman" panose="02020603050405020304"/>
                          <a:cs typeface="Times New Roman" panose="02020603050405020304"/>
                        </a:rPr>
                        <a:t>e</a:t>
                      </a:r>
                      <a:endParaRPr sz="2600" dirty="0">
                        <a:latin typeface="Times New Roman" panose="02020603050405020304"/>
                        <a:ea typeface="Times New Roman" panose="02020603050405020304"/>
                        <a:cs typeface="Times New Roman" panose="02020603050405020304"/>
                      </a:endParaRPr>
                    </a:p>
                    <a:p>
                      <a:pPr algn="l" rtl="0" eaLnBrk="0">
                        <a:lnSpc>
                          <a:spcPct val="171000"/>
                        </a:lnSpc>
                      </a:pPr>
                      <a:endParaRPr sz="1000" dirty="0">
                        <a:latin typeface="Arial" panose="020B0604020202020204"/>
                        <a:ea typeface="Arial" panose="020B0604020202020204"/>
                        <a:cs typeface="Arial" panose="020B0604020202020204"/>
                      </a:endParaRPr>
                    </a:p>
                    <a:p>
                      <a:pPr marL="654050" algn="l" rtl="0" eaLnBrk="0">
                        <a:lnSpc>
                          <a:spcPct val="95000"/>
                        </a:lnSpc>
                        <a:spcBef>
                          <a:spcPts val="69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预测问题是，预测被解释变</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量</a:t>
                      </a:r>
                      <a:r>
                        <a:rPr sz="2300" i="1" kern="0" spc="60" dirty="0">
                          <a:solidFill>
                            <a:srgbClr val="000000">
                              <a:alpha val="100000"/>
                            </a:srgbClr>
                          </a:solidFill>
                          <a:latin typeface="楷体" panose="02010609060101010101" charset="-122"/>
                          <a:ea typeface="楷体" panose="02010609060101010101" charset="-122"/>
                          <a:cs typeface="楷体" panose="02010609060101010101" charset="-122"/>
                        </a:rPr>
                        <a:t>y</a:t>
                      </a:r>
                      <a:r>
                        <a:rPr sz="2200" kern="0" spc="60" baseline="-24000" dirty="0">
                          <a:solidFill>
                            <a:srgbClr val="000000">
                              <a:alpha val="100000"/>
                            </a:srgbClr>
                          </a:solidFill>
                          <a:latin typeface="楷体" panose="02010609060101010101" charset="-122"/>
                          <a:ea typeface="楷体" panose="02010609060101010101" charset="-122"/>
                          <a:cs typeface="楷体" panose="02010609060101010101" charset="-122"/>
                        </a:rPr>
                        <a:t>0</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的值，由下给出：</a:t>
                      </a:r>
                      <a:endParaRPr sz="2100" dirty="0">
                        <a:latin typeface="楷体" panose="02010609060101010101" charset="-122"/>
                        <a:ea typeface="楷体" panose="02010609060101010101" charset="-122"/>
                        <a:cs typeface="楷体" panose="02010609060101010101" charset="-122"/>
                      </a:endParaRPr>
                    </a:p>
                    <a:p>
                      <a:pPr algn="l" rtl="0" eaLnBrk="0">
                        <a:lnSpc>
                          <a:spcPct val="189000"/>
                        </a:lnSpc>
                      </a:pPr>
                      <a:endParaRPr sz="1000" dirty="0">
                        <a:latin typeface="Arial" panose="020B0604020202020204"/>
                        <a:ea typeface="Arial" panose="020B0604020202020204"/>
                        <a:cs typeface="Arial" panose="020B0604020202020204"/>
                      </a:endParaRPr>
                    </a:p>
                    <a:p>
                      <a:pPr marL="2834640" algn="l" rtl="0" eaLnBrk="0">
                        <a:lnSpc>
                          <a:spcPct val="93000"/>
                        </a:lnSpc>
                        <a:spcBef>
                          <a:spcPts val="770"/>
                        </a:spcBef>
                      </a:pPr>
                      <a:r>
                        <a:rPr sz="3900" i="1" kern="0" spc="-10" baseline="4000" dirty="0">
                          <a:solidFill>
                            <a:srgbClr val="000000">
                              <a:alpha val="100000"/>
                            </a:srgbClr>
                          </a:solidFill>
                          <a:latin typeface="Times New Roman" panose="02020603050405020304"/>
                          <a:ea typeface="Times New Roman" panose="02020603050405020304"/>
                          <a:cs typeface="Times New Roman" panose="02020603050405020304"/>
                        </a:rPr>
                        <a:t>y</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 baseline="4000" dirty="0">
                          <a:solidFill>
                            <a:srgbClr val="000000">
                              <a:alpha val="100000"/>
                            </a:srgbClr>
                          </a:solidFill>
                          <a:latin typeface="Arial" panose="020B0604020202020204"/>
                          <a:ea typeface="Arial" panose="020B0604020202020204"/>
                          <a:cs typeface="Arial" panose="020B0604020202020204"/>
                        </a:rPr>
                        <a:t>=</a:t>
                      </a:r>
                      <a:r>
                        <a:rPr sz="2500" kern="0" spc="-10" dirty="0">
                          <a:solidFill>
                            <a:srgbClr val="000000">
                              <a:alpha val="100000"/>
                            </a:srgbClr>
                          </a:solidFill>
                          <a:latin typeface="Arial" panose="020B0604020202020204"/>
                          <a:ea typeface="Arial" panose="020B0604020202020204"/>
                          <a:cs typeface="Arial" panose="020B0604020202020204"/>
                        </a:rPr>
                        <a:t> </a:t>
                      </a:r>
                      <a:r>
                        <a:rPr sz="3900" kern="0" spc="-10" baseline="4000" dirty="0">
                          <a:solidFill>
                            <a:srgbClr val="000000">
                              <a:alpha val="100000"/>
                            </a:srgbClr>
                          </a:solidFill>
                          <a:latin typeface="Times New Roman" panose="02020603050405020304"/>
                          <a:ea typeface="Times New Roman" panose="02020603050405020304"/>
                          <a:cs typeface="Times New Roman" panose="02020603050405020304"/>
                        </a:rPr>
                        <a:t>β</a:t>
                      </a:r>
                      <a:r>
                        <a:rPr sz="2500" kern="0" spc="-49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 baseline="40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3900" i="1" kern="0" spc="-1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02</a:t>
                      </a:r>
                      <a:r>
                        <a:rPr sz="14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 baseline="4000" dirty="0">
                          <a:solidFill>
                            <a:srgbClr val="000000">
                              <a:alpha val="100000"/>
                            </a:srgbClr>
                          </a:solidFill>
                          <a:latin typeface="Times New Roman" panose="02020603050405020304"/>
                          <a:ea typeface="Times New Roman" panose="02020603050405020304"/>
                          <a:cs typeface="Times New Roman" panose="02020603050405020304"/>
                        </a:rPr>
                        <a:t>β</a:t>
                      </a:r>
                      <a:r>
                        <a:rPr sz="2500" kern="0" spc="-48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20" baseline="40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3900" i="1" kern="0" spc="-20" baseline="400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03</a:t>
                      </a:r>
                      <a:r>
                        <a:rPr sz="1400" kern="0" spc="-25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20" baseline="4000" dirty="0">
                          <a:solidFill>
                            <a:srgbClr val="000000">
                              <a:alpha val="100000"/>
                            </a:srgbClr>
                          </a:solidFill>
                          <a:latin typeface="Times New Roman" panose="02020603050405020304"/>
                          <a:ea typeface="Times New Roman" panose="02020603050405020304"/>
                          <a:cs typeface="Times New Roman" panose="02020603050405020304"/>
                        </a:rPr>
                        <a:t>β</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20" baseline="40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3900" i="1" kern="0" spc="-20" baseline="4000" dirty="0">
                          <a:solidFill>
                            <a:srgbClr val="000000">
                              <a:alpha val="100000"/>
                            </a:srgbClr>
                          </a:solidFill>
                          <a:latin typeface="Times New Roman" panose="02020603050405020304"/>
                          <a:ea typeface="Times New Roman" panose="02020603050405020304"/>
                          <a:cs typeface="Times New Roman" panose="02020603050405020304"/>
                        </a:rPr>
                        <a:t>e</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0</a:t>
                      </a:r>
                      <a:endParaRPr sz="2300" baseline="-23000" dirty="0">
                        <a:latin typeface="Times New Roman" panose="02020603050405020304"/>
                        <a:ea typeface="Times New Roman" panose="02020603050405020304"/>
                        <a:cs typeface="Times New Roman" panose="02020603050405020304"/>
                      </a:endParaRPr>
                    </a:p>
                    <a:p>
                      <a:pPr marL="654050" algn="l" rtl="0" eaLnBrk="0">
                        <a:lnSpc>
                          <a:spcPct val="87000"/>
                        </a:lnSpc>
                        <a:spcBef>
                          <a:spcPts val="1225"/>
                        </a:spcBef>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最优线性无偏预测是:</a:t>
                      </a:r>
                      <a:endParaRPr sz="2100" dirty="0">
                        <a:latin typeface="楷体" panose="02010609060101010101" charset="-122"/>
                        <a:ea typeface="楷体" panose="02010609060101010101" charset="-122"/>
                        <a:cs typeface="楷体" panose="02010609060101010101" charset="-122"/>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06000"/>
                        </a:lnSpc>
                      </a:pPr>
                      <a:endParaRPr sz="600" dirty="0">
                        <a:latin typeface="Arial" panose="020B0604020202020204"/>
                        <a:ea typeface="Arial" panose="020B0604020202020204"/>
                        <a:cs typeface="Arial" panose="020B0604020202020204"/>
                      </a:endParaRPr>
                    </a:p>
                    <a:p>
                      <a:pPr marL="3324225" algn="l" rtl="0" eaLnBrk="0">
                        <a:lnSpc>
                          <a:spcPct val="91000"/>
                        </a:lnSpc>
                        <a:spcBef>
                          <a:spcPts val="5"/>
                        </a:spcBef>
                      </a:pPr>
                      <a:r>
                        <a:rPr sz="2300" kern="0" spc="-60" baseline="-23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0" baseline="3000" dirty="0">
                          <a:solidFill>
                            <a:srgbClr val="000000">
                              <a:alpha val="100000"/>
                            </a:srgbClr>
                          </a:solidFill>
                          <a:latin typeface="Arial" panose="020B0604020202020204"/>
                          <a:ea typeface="Arial" panose="020B0604020202020204"/>
                          <a:cs typeface="Arial" panose="020B0604020202020204"/>
                        </a:rPr>
                        <a:t>=</a:t>
                      </a:r>
                      <a:r>
                        <a:rPr sz="2500" kern="0" spc="-100" dirty="0">
                          <a:solidFill>
                            <a:srgbClr val="000000">
                              <a:alpha val="100000"/>
                            </a:srgbClr>
                          </a:solidFill>
                          <a:latin typeface="Arial" panose="020B0604020202020204"/>
                          <a:ea typeface="Arial" panose="020B0604020202020204"/>
                          <a:cs typeface="Arial" panose="020B0604020202020204"/>
                        </a:rPr>
                        <a:t> </a:t>
                      </a:r>
                      <a:r>
                        <a:rPr sz="3900" i="1" kern="0" spc="-10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100" baseline="-23000" dirty="0">
                          <a:solidFill>
                            <a:srgbClr val="000000">
                              <a:alpha val="100000"/>
                            </a:srgbClr>
                          </a:solidFill>
                          <a:latin typeface="Times New Roman" panose="02020603050405020304"/>
                          <a:ea typeface="Times New Roman" panose="02020603050405020304"/>
                          <a:cs typeface="Times New Roman" panose="02020603050405020304"/>
                        </a:rPr>
                        <a:t>1</a:t>
                      </a:r>
                      <a:r>
                        <a:rPr sz="1400"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100" baseline="30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39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02</a:t>
                      </a:r>
                      <a:r>
                        <a:rPr sz="39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4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3900" kern="0" spc="20" baseline="3000" dirty="0">
                          <a:solidFill>
                            <a:srgbClr val="000000">
                              <a:alpha val="100000"/>
                            </a:srgbClr>
                          </a:solidFill>
                          <a:latin typeface="Arial" panose="020B0604020202020204"/>
                          <a:ea typeface="Arial" panose="020B0604020202020204"/>
                          <a:cs typeface="Arial" panose="020B0604020202020204"/>
                        </a:rPr>
                        <a:t>+</a:t>
                      </a:r>
                      <a:r>
                        <a:rPr sz="2500" kern="0" spc="-180" dirty="0">
                          <a:solidFill>
                            <a:srgbClr val="000000">
                              <a:alpha val="100000"/>
                            </a:srgbClr>
                          </a:solidFill>
                          <a:latin typeface="Arial" panose="020B0604020202020204"/>
                          <a:ea typeface="Arial" panose="020B0604020202020204"/>
                          <a:cs typeface="Arial" panose="020B0604020202020204"/>
                        </a:rPr>
                        <a:t> </a:t>
                      </a:r>
                      <a:r>
                        <a:rPr sz="3900" i="1" kern="0" spc="20" baseline="3000" dirty="0">
                          <a:solidFill>
                            <a:srgbClr val="000000">
                              <a:alpha val="100000"/>
                            </a:srgbClr>
                          </a:solidFill>
                          <a:latin typeface="Times New Roman" panose="02020603050405020304"/>
                          <a:ea typeface="Times New Roman" panose="02020603050405020304"/>
                          <a:cs typeface="Times New Roman" panose="02020603050405020304"/>
                        </a:rPr>
                        <a:t>x</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03</a:t>
                      </a:r>
                      <a:r>
                        <a:rPr sz="3900" kern="0" spc="20" baseline="3000" dirty="0">
                          <a:solidFill>
                            <a:srgbClr val="000000">
                              <a:alpha val="100000"/>
                            </a:srgbClr>
                          </a:solidFill>
                          <a:latin typeface="Times New Roman" panose="02020603050405020304"/>
                          <a:ea typeface="Times New Roman" panose="02020603050405020304"/>
                          <a:cs typeface="Times New Roman" panose="02020603050405020304"/>
                        </a:rPr>
                        <a:t>b</a:t>
                      </a:r>
                      <a:r>
                        <a:rPr sz="2300" kern="0" spc="20" baseline="-23000" dirty="0">
                          <a:solidFill>
                            <a:srgbClr val="000000">
                              <a:alpha val="100000"/>
                            </a:srgbClr>
                          </a:solidFill>
                          <a:latin typeface="Times New Roman" panose="02020603050405020304"/>
                          <a:ea typeface="Times New Roman" panose="02020603050405020304"/>
                          <a:cs typeface="Times New Roman" panose="02020603050405020304"/>
                        </a:rPr>
                        <a:t>3</a:t>
                      </a:r>
                      <a:endParaRPr sz="2300" baseline="-230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108710">
                <a:tc>
                  <a:txBody>
                    <a:bodyPr/>
                    <a:lstStyle/>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8000"/>
                        </a:lnSpc>
                      </a:pPr>
                      <a:endParaRPr sz="1000" dirty="0">
                        <a:latin typeface="Arial" panose="020B0604020202020204"/>
                        <a:ea typeface="Arial" panose="020B0604020202020204"/>
                        <a:cs typeface="Arial" panose="020B0604020202020204"/>
                      </a:endParaRPr>
                    </a:p>
                    <a:p>
                      <a:pPr algn="l" rtl="0" eaLnBrk="0">
                        <a:lnSpc>
                          <a:spcPct val="119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15265"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52</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358" name="textbox 358"/>
          <p:cNvSpPr/>
          <p:nvPr/>
        </p:nvSpPr>
        <p:spPr>
          <a:xfrm>
            <a:off x="3193690" y="4739487"/>
            <a:ext cx="198754" cy="360679"/>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8000"/>
              </a:lnSpc>
            </a:pPr>
            <a:r>
              <a:rPr sz="2500" i="1" kern="0" spc="240" dirty="0">
                <a:solidFill>
                  <a:srgbClr val="000000">
                    <a:alpha val="100000"/>
                  </a:srgbClr>
                </a:solidFill>
                <a:latin typeface="Times New Roman" panose="02020603050405020304"/>
                <a:ea typeface="Times New Roman" panose="02020603050405020304"/>
                <a:cs typeface="Times New Roman" panose="02020603050405020304"/>
              </a:rPr>
              <a:t>y</a:t>
            </a:r>
            <a:endParaRPr sz="2500" dirty="0">
              <a:latin typeface="Times New Roman" panose="02020603050405020304"/>
              <a:ea typeface="Times New Roman" panose="02020603050405020304"/>
              <a:cs typeface="Times New Roman" panose="02020603050405020304"/>
            </a:endParaRPr>
          </a:p>
        </p:txBody>
      </p:sp>
      <p:sp>
        <p:nvSpPr>
          <p:cNvPr id="360" name="textbox 360"/>
          <p:cNvSpPr/>
          <p:nvPr/>
        </p:nvSpPr>
        <p:spPr>
          <a:xfrm>
            <a:off x="3253961" y="4724699"/>
            <a:ext cx="126364" cy="32321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340"/>
              </a:lnSpc>
            </a:pPr>
            <a:r>
              <a:rPr sz="1800" kern="0" spc="-70" dirty="0">
                <a:solidFill>
                  <a:srgbClr val="000000">
                    <a:alpha val="100000"/>
                  </a:srgbClr>
                </a:solidFill>
                <a:latin typeface="Times New Roman" panose="02020603050405020304"/>
                <a:ea typeface="Times New Roman" panose="02020603050405020304"/>
                <a:cs typeface="Times New Roman" panose="02020603050405020304"/>
              </a:rPr>
              <a:t>^</a:t>
            </a:r>
            <a:endParaRPr sz="1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4" name="table 364"/>
          <p:cNvGraphicFramePr>
            <a:graphicFrameLocks noGrp="1"/>
          </p:cNvGraphicFramePr>
          <p:nvPr/>
        </p:nvGraphicFramePr>
        <p:xfrm>
          <a:off x="60832" y="66928"/>
          <a:ext cx="9018905" cy="6699250"/>
        </p:xfrm>
        <a:graphic>
          <a:graphicData uri="http://schemas.openxmlformats.org/drawingml/2006/table">
            <a:tbl>
              <a:tblPr/>
              <a:tblGrid>
                <a:gridCol w="9018905"/>
              </a:tblGrid>
              <a:tr h="5462270">
                <a:tc>
                  <a:txBody>
                    <a:bodyPr/>
                    <a:lstStyle/>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marL="965200" algn="l" rtl="0" eaLnBrk="0">
                        <a:lnSpc>
                          <a:spcPct val="93000"/>
                        </a:lnSpc>
                        <a:spcBef>
                          <a:spcPts val="5"/>
                        </a:spcBef>
                      </a:pPr>
                      <a:r>
                        <a:rPr sz="1800" kern="0" spc="1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预测误差</a:t>
                      </a:r>
                      <a:r>
                        <a:rPr sz="2100" kern="0" spc="590" dirty="0">
                          <a:solidFill>
                            <a:srgbClr val="000000">
                              <a:alpha val="100000"/>
                            </a:srgbClr>
                          </a:solidFill>
                          <a:latin typeface="楷体" panose="02010609060101010101" charset="-122"/>
                          <a:ea typeface="楷体" panose="02010609060101010101" charset="-122"/>
                          <a:cs typeface="楷体" panose="02010609060101010101" charset="-122"/>
                        </a:rPr>
                        <a:t> </a:t>
                      </a:r>
                      <a:r>
                        <a:rPr sz="3600" i="1" kern="0" spc="10" baseline="3000" dirty="0">
                          <a:solidFill>
                            <a:srgbClr val="000000">
                              <a:alpha val="100000"/>
                            </a:srgbClr>
                          </a:solidFill>
                          <a:latin typeface="Times New Roman" panose="02020603050405020304"/>
                          <a:ea typeface="Times New Roman" panose="02020603050405020304"/>
                          <a:cs typeface="Times New Roman" panose="02020603050405020304"/>
                        </a:rPr>
                        <a:t>f</a:t>
                      </a:r>
                      <a:r>
                        <a:rPr sz="2300" i="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10" baseline="3000" dirty="0">
                          <a:solidFill>
                            <a:srgbClr val="000000">
                              <a:alpha val="100000"/>
                            </a:srgbClr>
                          </a:solidFill>
                          <a:latin typeface="Arial" panose="020B0604020202020204"/>
                          <a:ea typeface="Arial" panose="020B0604020202020204"/>
                          <a:cs typeface="Arial" panose="020B0604020202020204"/>
                        </a:rPr>
                        <a:t>=</a:t>
                      </a:r>
                      <a:r>
                        <a:rPr sz="2300" kern="0" spc="10" dirty="0">
                          <a:solidFill>
                            <a:srgbClr val="000000">
                              <a:alpha val="100000"/>
                            </a:srgbClr>
                          </a:solidFill>
                          <a:latin typeface="Arial" panose="020B0604020202020204"/>
                          <a:ea typeface="Arial" panose="020B0604020202020204"/>
                          <a:cs typeface="Arial" panose="020B0604020202020204"/>
                        </a:rPr>
                        <a:t> </a:t>
                      </a:r>
                      <a:r>
                        <a:rPr sz="3000" kern="0" spc="10" dirty="0">
                          <a:solidFill>
                            <a:srgbClr val="000000">
                              <a:alpha val="100000"/>
                            </a:srgbClr>
                          </a:solidFill>
                          <a:latin typeface="Arial" panose="020B0604020202020204"/>
                          <a:ea typeface="Arial" panose="020B0604020202020204"/>
                          <a:cs typeface="Arial" panose="020B0604020202020204"/>
                        </a:rPr>
                        <a:t>(</a:t>
                      </a:r>
                      <a:r>
                        <a:rPr sz="2300" i="1" kern="0" spc="10" dirty="0">
                          <a:solidFill>
                            <a:srgbClr val="000000">
                              <a:alpha val="100000"/>
                            </a:srgbClr>
                          </a:solidFill>
                          <a:latin typeface="Times New Roman" panose="02020603050405020304"/>
                          <a:ea typeface="Times New Roman" panose="02020603050405020304"/>
                          <a:cs typeface="Times New Roman" panose="02020603050405020304"/>
                        </a:rPr>
                        <a:t>y</a:t>
                      </a:r>
                      <a:r>
                        <a:rPr sz="2100" kern="0" spc="10" baseline="-22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600" kern="0" spc="10" baseline="3000" dirty="0">
                          <a:solidFill>
                            <a:srgbClr val="000000">
                              <a:alpha val="100000"/>
                            </a:srgbClr>
                          </a:solidFill>
                          <a:latin typeface="Arial" panose="020B0604020202020204"/>
                          <a:ea typeface="Arial" panose="020B0604020202020204"/>
                          <a:cs typeface="Arial" panose="020B0604020202020204"/>
                        </a:rPr>
                        <a:t>−</a:t>
                      </a:r>
                      <a:r>
                        <a:rPr sz="2300" kern="0" spc="190" dirty="0">
                          <a:solidFill>
                            <a:srgbClr val="000000">
                              <a:alpha val="100000"/>
                            </a:srgbClr>
                          </a:solidFill>
                          <a:latin typeface="Arial" panose="020B0604020202020204"/>
                          <a:ea typeface="Arial" panose="020B0604020202020204"/>
                          <a:cs typeface="Arial" panose="020B0604020202020204"/>
                        </a:rPr>
                        <a:t>  </a:t>
                      </a:r>
                      <a:r>
                        <a:rPr sz="2100" kern="0" spc="10" baseline="-22000" dirty="0">
                          <a:solidFill>
                            <a:srgbClr val="000000">
                              <a:alpha val="100000"/>
                            </a:srgbClr>
                          </a:solidFill>
                          <a:latin typeface="Times New Roman" panose="02020603050405020304"/>
                          <a:ea typeface="Times New Roman" panose="02020603050405020304"/>
                          <a:cs typeface="Times New Roman" panose="02020603050405020304"/>
                        </a:rPr>
                        <a:t>0</a:t>
                      </a:r>
                      <a:r>
                        <a:rPr sz="13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3000" kern="0" spc="1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楷体" panose="02010609060101010101" charset="-122"/>
                          <a:ea typeface="楷体" panose="02010609060101010101" charset="-122"/>
                          <a:cs typeface="楷体" panose="02010609060101010101" charset="-122"/>
                        </a:rPr>
                        <a:t>的方差为：</a:t>
                      </a:r>
                      <a:endParaRPr sz="2100" dirty="0">
                        <a:latin typeface="楷体" panose="02010609060101010101" charset="-122"/>
                        <a:ea typeface="楷体" panose="02010609060101010101" charset="-122"/>
                        <a:cs typeface="楷体" panose="02010609060101010101" charset="-122"/>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3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marL="962660" algn="l" rtl="0" eaLnBrk="0">
                        <a:lnSpc>
                          <a:spcPts val="3340"/>
                        </a:lnSpc>
                        <a:spcBef>
                          <a:spcPts val="300"/>
                        </a:spcBef>
                        <a:tabLst>
                          <a:tab pos="803910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911350" algn="l" rtl="0" eaLnBrk="0">
                        <a:lnSpc>
                          <a:spcPts val="2970"/>
                        </a:lnSpc>
                        <a:spcBef>
                          <a:spcPts val="1190"/>
                        </a:spcBef>
                        <a:tabLst>
                          <a:tab pos="526669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911350" algn="l" rtl="0" eaLnBrk="0">
                        <a:lnSpc>
                          <a:spcPts val="2970"/>
                        </a:lnSpc>
                        <a:spcBef>
                          <a:spcPts val="1225"/>
                        </a:spcBef>
                        <a:tabLst>
                          <a:tab pos="7366635"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104000"/>
                        </a:lnSpc>
                      </a:pPr>
                      <a:endParaRPr sz="900" dirty="0">
                        <a:latin typeface="Arial" panose="020B0604020202020204"/>
                        <a:ea typeface="Arial" panose="020B0604020202020204"/>
                        <a:cs typeface="Arial" panose="020B0604020202020204"/>
                      </a:endParaRPr>
                    </a:p>
                    <a:p>
                      <a:pPr marL="1987550" algn="l" rtl="0" eaLnBrk="0">
                        <a:lnSpc>
                          <a:spcPts val="2970"/>
                        </a:lnSpc>
                        <a:spcBef>
                          <a:spcPts val="5"/>
                        </a:spcBef>
                        <a:tabLst>
                          <a:tab pos="853313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236980">
                <a:tc>
                  <a:txBody>
                    <a:bodyPr/>
                    <a:lstStyle/>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0"/>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53</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366" name="picture 366"/>
          <p:cNvPicPr>
            <a:picLocks noChangeAspect="1"/>
          </p:cNvPicPr>
          <p:nvPr/>
        </p:nvPicPr>
        <p:blipFill>
          <a:blip r:embed="rId1"/>
          <a:stretch>
            <a:fillRect/>
          </a:stretch>
        </p:blipFill>
        <p:spPr>
          <a:xfrm rot="21600000">
            <a:off x="2048451" y="4471179"/>
            <a:ext cx="6546001" cy="377457"/>
          </a:xfrm>
          <a:prstGeom prst="rect">
            <a:avLst/>
          </a:prstGeom>
        </p:spPr>
      </p:pic>
      <p:pic>
        <p:nvPicPr>
          <p:cNvPr id="368" name="picture 368"/>
          <p:cNvPicPr>
            <a:picLocks noChangeAspect="1"/>
          </p:cNvPicPr>
          <p:nvPr/>
        </p:nvPicPr>
        <p:blipFill>
          <a:blip r:embed="rId2"/>
          <a:stretch>
            <a:fillRect/>
          </a:stretch>
        </p:blipFill>
        <p:spPr>
          <a:xfrm rot="21600000">
            <a:off x="1972563" y="3950324"/>
            <a:ext cx="5455604" cy="377465"/>
          </a:xfrm>
          <a:prstGeom prst="rect">
            <a:avLst/>
          </a:prstGeom>
        </p:spPr>
      </p:pic>
      <p:pic>
        <p:nvPicPr>
          <p:cNvPr id="370" name="picture 370"/>
          <p:cNvPicPr>
            <a:picLocks noChangeAspect="1"/>
          </p:cNvPicPr>
          <p:nvPr/>
        </p:nvPicPr>
        <p:blipFill>
          <a:blip r:embed="rId3"/>
          <a:stretch>
            <a:fillRect/>
          </a:stretch>
        </p:blipFill>
        <p:spPr>
          <a:xfrm rot="21600000">
            <a:off x="1972563" y="3417241"/>
            <a:ext cx="3355330" cy="377464"/>
          </a:xfrm>
          <a:prstGeom prst="rect">
            <a:avLst/>
          </a:prstGeom>
        </p:spPr>
      </p:pic>
      <p:pic>
        <p:nvPicPr>
          <p:cNvPr id="372" name="picture 372"/>
          <p:cNvPicPr>
            <a:picLocks noChangeAspect="1"/>
          </p:cNvPicPr>
          <p:nvPr/>
        </p:nvPicPr>
        <p:blipFill>
          <a:blip r:embed="rId4"/>
          <a:stretch>
            <a:fillRect/>
          </a:stretch>
        </p:blipFill>
        <p:spPr>
          <a:xfrm rot="21600000">
            <a:off x="1024019" y="2841381"/>
            <a:ext cx="7076943" cy="424541"/>
          </a:xfrm>
          <a:prstGeom prst="rect">
            <a:avLst/>
          </a:prstGeom>
        </p:spPr>
      </p:pic>
      <p:sp>
        <p:nvSpPr>
          <p:cNvPr id="374" name="textbox 374"/>
          <p:cNvSpPr/>
          <p:nvPr/>
        </p:nvSpPr>
        <p:spPr>
          <a:xfrm>
            <a:off x="3766792" y="1546119"/>
            <a:ext cx="183514" cy="334645"/>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88000"/>
              </a:lnSpc>
            </a:pPr>
            <a:r>
              <a:rPr sz="2300" i="1" kern="0" spc="200" dirty="0">
                <a:solidFill>
                  <a:srgbClr val="000000">
                    <a:alpha val="100000"/>
                  </a:srgbClr>
                </a:solidFill>
                <a:latin typeface="Times New Roman" panose="02020603050405020304"/>
                <a:ea typeface="Times New Roman" panose="02020603050405020304"/>
                <a:cs typeface="Times New Roman" panose="02020603050405020304"/>
              </a:rPr>
              <a:t>y</a:t>
            </a:r>
            <a:endParaRPr sz="2300" dirty="0">
              <a:latin typeface="Times New Roman" panose="02020603050405020304"/>
              <a:ea typeface="Times New Roman" panose="02020603050405020304"/>
              <a:cs typeface="Times New Roman" panose="02020603050405020304"/>
            </a:endParaRPr>
          </a:p>
        </p:txBody>
      </p:sp>
      <p:sp>
        <p:nvSpPr>
          <p:cNvPr id="376" name="textbox 376"/>
          <p:cNvSpPr/>
          <p:nvPr/>
        </p:nvSpPr>
        <p:spPr>
          <a:xfrm>
            <a:off x="3748367" y="1532093"/>
            <a:ext cx="117475" cy="29654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2135"/>
              </a:lnSpc>
            </a:pPr>
            <a:r>
              <a:rPr sz="1600"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16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0" name="table 380"/>
          <p:cNvGraphicFramePr>
            <a:graphicFrameLocks noGrp="1"/>
          </p:cNvGraphicFramePr>
          <p:nvPr/>
        </p:nvGraphicFramePr>
        <p:xfrm>
          <a:off x="60832" y="66928"/>
          <a:ext cx="9018905" cy="6699250"/>
        </p:xfrm>
        <a:graphic>
          <a:graphicData uri="http://schemas.openxmlformats.org/drawingml/2006/table">
            <a:tbl>
              <a:tblPr/>
              <a:tblGrid>
                <a:gridCol w="9018905"/>
              </a:tblGrid>
              <a:tr h="5741670">
                <a:tc>
                  <a:txBody>
                    <a:bodyPr/>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965200" algn="l" rtl="0" eaLnBrk="0">
                        <a:lnSpc>
                          <a:spcPct val="87000"/>
                        </a:lnSpc>
                        <a:spcBef>
                          <a:spcPts val="5"/>
                        </a:spcBef>
                      </a:pPr>
                      <a:r>
                        <a:rPr sz="1800" kern="0" spc="-10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100" dirty="0">
                          <a:solidFill>
                            <a:srgbClr val="000000">
                              <a:alpha val="100000"/>
                            </a:srgbClr>
                          </a:solidFill>
                          <a:latin typeface="楷体" panose="02010609060101010101" charset="-122"/>
                          <a:ea typeface="楷体" panose="02010609060101010101" charset="-122"/>
                          <a:cs typeface="楷体" panose="02010609060101010101" charset="-122"/>
                        </a:rPr>
                        <a:t>预测的例子：</a:t>
                      </a:r>
                      <a:endParaRPr sz="2100" dirty="0">
                        <a:latin typeface="楷体" panose="02010609060101010101" charset="-122"/>
                        <a:ea typeface="楷体" panose="02010609060101010101" charset="-122"/>
                        <a:cs typeface="楷体" panose="02010609060101010101" charset="-122"/>
                      </a:endParaRPr>
                    </a:p>
                    <a:p>
                      <a:pPr algn="l" rtl="0" eaLnBrk="0">
                        <a:lnSpc>
                          <a:spcPct val="144000"/>
                        </a:lnSpc>
                      </a:pPr>
                      <a:endParaRPr sz="1000" dirty="0">
                        <a:latin typeface="Arial" panose="020B0604020202020204"/>
                        <a:ea typeface="Arial" panose="020B0604020202020204"/>
                        <a:cs typeface="Arial" panose="020B0604020202020204"/>
                      </a:endParaRPr>
                    </a:p>
                    <a:p>
                      <a:pPr marL="965200" algn="l" rtl="0" eaLnBrk="0">
                        <a:lnSpc>
                          <a:spcPts val="2740"/>
                        </a:lnSpc>
                        <a:spcBef>
                          <a:spcPts val="640"/>
                        </a:spcBef>
                      </a:pPr>
                      <a:r>
                        <a:rPr sz="1800" kern="0" spc="6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假定</a:t>
                      </a:r>
                      <a:r>
                        <a:rPr sz="2100" kern="0" spc="-570" dirty="0">
                          <a:solidFill>
                            <a:srgbClr val="000000">
                              <a:alpha val="100000"/>
                            </a:srgbClr>
                          </a:solidFill>
                          <a:latin typeface="楷体" panose="02010609060101010101" charset="-122"/>
                          <a:ea typeface="楷体" panose="02010609060101010101" charset="-122"/>
                          <a:cs typeface="楷体" panose="02010609060101010101" charset="-122"/>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PRICE</a:t>
                      </a:r>
                      <a:r>
                        <a:rPr sz="2200" kern="0" spc="60" baseline="-11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 6,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ADVERT</a:t>
                      </a:r>
                      <a:r>
                        <a:rPr sz="2200" kern="0" spc="60" baseline="-11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a:t>
                      </a:r>
                      <a:r>
                        <a:rPr sz="2100" kern="0" spc="28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1.9,</a:t>
                      </a:r>
                      <a:r>
                        <a:rPr sz="21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100" i="1" kern="0" spc="0" dirty="0">
                          <a:solidFill>
                            <a:srgbClr val="000000">
                              <a:alpha val="100000"/>
                            </a:srgbClr>
                          </a:solidFill>
                          <a:latin typeface="Times New Roman" panose="02020603050405020304"/>
                          <a:ea typeface="Times New Roman" panose="02020603050405020304"/>
                          <a:cs typeface="Times New Roman" panose="02020603050405020304"/>
                        </a:rPr>
                        <a:t>ADVERT</a:t>
                      </a:r>
                      <a:r>
                        <a:rPr sz="2200" kern="0" spc="50" baseline="44000" dirty="0">
                          <a:solidFill>
                            <a:srgbClr val="000000">
                              <a:alpha val="100000"/>
                            </a:srgbClr>
                          </a:solidFill>
                          <a:latin typeface="Times New Roman" panose="02020603050405020304"/>
                          <a:ea typeface="Times New Roman" panose="02020603050405020304"/>
                          <a:cs typeface="Times New Roman" panose="02020603050405020304"/>
                        </a:rPr>
                        <a:t>2</a:t>
                      </a:r>
                      <a:r>
                        <a:rPr sz="2200" kern="0" spc="50" baseline="-11000" dirty="0">
                          <a:solidFill>
                            <a:srgbClr val="000000">
                              <a:alpha val="100000"/>
                            </a:srgbClr>
                          </a:solidFill>
                          <a:latin typeface="Times New Roman" panose="02020603050405020304"/>
                          <a:ea typeface="Times New Roman" panose="02020603050405020304"/>
                          <a:cs typeface="Times New Roman" panose="02020603050405020304"/>
                        </a:rPr>
                        <a:t>0</a:t>
                      </a:r>
                      <a:r>
                        <a:rPr sz="1400" kern="0" spc="33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50" dirty="0">
                          <a:solidFill>
                            <a:srgbClr val="000000">
                              <a:alpha val="100000"/>
                            </a:srgbClr>
                          </a:solidFill>
                          <a:latin typeface="Times New Roman" panose="02020603050405020304"/>
                          <a:ea typeface="Times New Roman" panose="02020603050405020304"/>
                          <a:cs typeface="Times New Roman" panose="02020603050405020304"/>
                        </a:rPr>
                        <a:t>= 3.61:</a:t>
                      </a:r>
                      <a:endParaRPr sz="2100" dirty="0">
                        <a:latin typeface="Times New Roman" panose="02020603050405020304"/>
                        <a:ea typeface="Times New Roman" panose="02020603050405020304"/>
                        <a:cs typeface="Times New Roman" panose="020206030504050203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1026795" algn="l" rtl="0" eaLnBrk="0">
                        <a:lnSpc>
                          <a:spcPts val="3120"/>
                        </a:lnSpc>
                        <a:spcBef>
                          <a:spcPts val="310"/>
                        </a:spcBef>
                        <a:tabLst>
                          <a:tab pos="8456930" algn="l"/>
                        </a:tabLst>
                      </a:pPr>
                      <a:r>
                        <a:rPr sz="1000" kern="0" spc="0" dirty="0">
                          <a:solidFill>
                            <a:srgbClr val="000000">
                              <a:alpha val="100000"/>
                            </a:srgbClr>
                          </a:solidFill>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marL="1899920" algn="l" rtl="0" eaLnBrk="0">
                        <a:lnSpc>
                          <a:spcPct val="80000"/>
                        </a:lnSpc>
                        <a:spcBef>
                          <a:spcPts val="905"/>
                        </a:spcBef>
                      </a:pPr>
                      <a:r>
                        <a:rPr sz="1900" kern="0" spc="30" dirty="0">
                          <a:solidFill>
                            <a:srgbClr val="000000">
                              <a:alpha val="100000"/>
                            </a:srgbClr>
                          </a:solidFill>
                          <a:latin typeface="Arial" panose="020B0604020202020204"/>
                          <a:ea typeface="Arial" panose="020B0604020202020204"/>
                          <a:cs typeface="Arial" panose="020B0604020202020204"/>
                        </a:rPr>
                        <a:t>= </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109.719</a:t>
                      </a:r>
                      <a:r>
                        <a:rPr sz="19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Arial" panose="020B0604020202020204"/>
                          <a:ea typeface="Arial" panose="020B0604020202020204"/>
                          <a:cs typeface="Arial" panose="020B0604020202020204"/>
                        </a:rPr>
                        <a:t>−</a:t>
                      </a:r>
                      <a:r>
                        <a:rPr sz="1900" kern="0" spc="-160" dirty="0">
                          <a:solidFill>
                            <a:srgbClr val="000000">
                              <a:alpha val="100000"/>
                            </a:srgbClr>
                          </a:solidFill>
                          <a:latin typeface="Arial" panose="020B0604020202020204"/>
                          <a:ea typeface="Arial" panose="020B0604020202020204"/>
                          <a:cs typeface="Arial" panose="020B0604020202020204"/>
                        </a:rPr>
                        <a:t> </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7.640</a:t>
                      </a:r>
                      <a:r>
                        <a:rPr sz="19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Arial" panose="020B0604020202020204"/>
                          <a:ea typeface="Arial" panose="020B0604020202020204"/>
                          <a:cs typeface="Arial" panose="020B0604020202020204"/>
                        </a:rPr>
                        <a:t>×</a:t>
                      </a:r>
                      <a:r>
                        <a:rPr sz="1900" kern="0" spc="-230" dirty="0">
                          <a:solidFill>
                            <a:srgbClr val="000000">
                              <a:alpha val="100000"/>
                            </a:srgbClr>
                          </a:solidFill>
                          <a:latin typeface="Arial" panose="020B0604020202020204"/>
                          <a:ea typeface="Arial" panose="020B0604020202020204"/>
                          <a:cs typeface="Arial" panose="020B0604020202020204"/>
                        </a:rPr>
                        <a:t> </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6</a:t>
                      </a:r>
                      <a:r>
                        <a:rPr sz="19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30" dirty="0">
                          <a:solidFill>
                            <a:srgbClr val="000000">
                              <a:alpha val="100000"/>
                            </a:srgbClr>
                          </a:solidFill>
                          <a:latin typeface="Arial" panose="020B0604020202020204"/>
                          <a:ea typeface="Arial" panose="020B0604020202020204"/>
                          <a:cs typeface="Arial" panose="020B0604020202020204"/>
                        </a:rPr>
                        <a:t>+</a:t>
                      </a:r>
                      <a:r>
                        <a:rPr sz="1900" kern="0" spc="30" dirty="0">
                          <a:solidFill>
                            <a:srgbClr val="000000">
                              <a:alpha val="100000"/>
                            </a:srgbClr>
                          </a:solidFill>
                          <a:latin typeface="Times New Roman" panose="02020603050405020304"/>
                          <a:ea typeface="Times New Roman" panose="02020603050405020304"/>
                          <a:cs typeface="Times New Roman" panose="02020603050405020304"/>
                        </a:rPr>
                        <a:t>12.</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1512</a:t>
                      </a:r>
                      <a:r>
                        <a:rPr sz="19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1.9</a:t>
                      </a:r>
                      <a:r>
                        <a:rPr sz="19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180" dirty="0">
                          <a:solidFill>
                            <a:srgbClr val="000000">
                              <a:alpha val="100000"/>
                            </a:srgbClr>
                          </a:solidFill>
                          <a:latin typeface="Arial" panose="020B0604020202020204"/>
                          <a:ea typeface="Arial" panose="020B0604020202020204"/>
                          <a:cs typeface="Arial" panose="020B0604020202020204"/>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2.768</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3.61</a:t>
                      </a:r>
                      <a:endParaRPr sz="1900" dirty="0">
                        <a:latin typeface="Times New Roman" panose="02020603050405020304"/>
                        <a:ea typeface="Times New Roman" panose="02020603050405020304"/>
                        <a:cs typeface="Times New Roman" panose="02020603050405020304"/>
                      </a:endParaRPr>
                    </a:p>
                    <a:p>
                      <a:pPr marL="1899920" algn="l" rtl="0" eaLnBrk="0">
                        <a:lnSpc>
                          <a:spcPct val="80000"/>
                        </a:lnSpc>
                        <a:spcBef>
                          <a:spcPts val="1175"/>
                        </a:spcBef>
                      </a:pPr>
                      <a:r>
                        <a:rPr sz="1900" kern="0" spc="10" dirty="0">
                          <a:solidFill>
                            <a:srgbClr val="000000">
                              <a:alpha val="100000"/>
                            </a:srgbClr>
                          </a:solidFill>
                          <a:latin typeface="Arial" panose="020B0604020202020204"/>
                          <a:ea typeface="Arial" panose="020B0604020202020204"/>
                          <a:cs typeface="Arial" panose="020B06040202020202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76.974</a:t>
                      </a:r>
                      <a:endParaRPr sz="1900" dirty="0">
                        <a:latin typeface="Times New Roman" panose="02020603050405020304"/>
                        <a:ea typeface="Times New Roman" panose="02020603050405020304"/>
                        <a:cs typeface="Times New Roman" panose="020206030504050203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6000"/>
                        </a:lnSpc>
                      </a:pPr>
                      <a:endParaRPr sz="500" dirty="0">
                        <a:latin typeface="Arial" panose="020B0604020202020204"/>
                        <a:ea typeface="Arial" panose="020B0604020202020204"/>
                        <a:cs typeface="Arial" panose="020B0604020202020204"/>
                      </a:endParaRPr>
                    </a:p>
                    <a:p>
                      <a:pPr marL="965200" algn="l" rtl="0" eaLnBrk="0">
                        <a:lnSpc>
                          <a:spcPct val="94000"/>
                        </a:lnSpc>
                        <a:spcBef>
                          <a:spcPts val="0"/>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我们预测销售额为</a:t>
                      </a:r>
                      <a:r>
                        <a:rPr sz="2100" kern="0" spc="-34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40" dirty="0">
                          <a:solidFill>
                            <a:srgbClr val="000000">
                              <a:alpha val="100000"/>
                            </a:srgbClr>
                          </a:solidFill>
                          <a:latin typeface="Times New Roman" panose="02020603050405020304"/>
                          <a:ea typeface="Times New Roman" panose="02020603050405020304"/>
                          <a:cs typeface="Times New Roman" panose="02020603050405020304"/>
                        </a:rPr>
                        <a:t>$76,974</a:t>
                      </a:r>
                      <a:endParaRPr sz="2100" dirty="0">
                        <a:latin typeface="Times New Roman" panose="02020603050405020304"/>
                        <a:ea typeface="Times New Roman" panose="02020603050405020304"/>
                        <a:cs typeface="Times New Roman" panose="020206030504050203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957580">
                <a:tc>
                  <a:txBody>
                    <a:bodyPr/>
                    <a:lstStyle/>
                    <a:p>
                      <a:pPr algn="l" rtl="0" eaLnBrk="0">
                        <a:lnSpc>
                          <a:spcPct val="124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215265" algn="l" rtl="0" eaLnBrk="0">
                        <a:lnSpc>
                          <a:spcPct val="75000"/>
                        </a:lnSpc>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54</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382" name="picture 382"/>
          <p:cNvPicPr>
            <a:picLocks noChangeAspect="1"/>
          </p:cNvPicPr>
          <p:nvPr/>
        </p:nvPicPr>
        <p:blipFill>
          <a:blip r:embed="rId1"/>
          <a:stretch>
            <a:fillRect/>
          </a:stretch>
        </p:blipFill>
        <p:spPr>
          <a:xfrm rot="21600000">
            <a:off x="1088149" y="3093209"/>
            <a:ext cx="7430054" cy="396166"/>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6" name="table 386"/>
          <p:cNvGraphicFramePr>
            <a:graphicFrameLocks noGrp="1"/>
          </p:cNvGraphicFramePr>
          <p:nvPr/>
        </p:nvGraphicFramePr>
        <p:xfrm>
          <a:off x="60832" y="66928"/>
          <a:ext cx="9018903" cy="6699250"/>
        </p:xfrm>
        <a:graphic>
          <a:graphicData uri="http://schemas.openxmlformats.org/drawingml/2006/table">
            <a:tbl>
              <a:tblPr/>
              <a:tblGrid>
                <a:gridCol w="753744"/>
                <a:gridCol w="8265159"/>
              </a:tblGrid>
              <a:tr h="6699250">
                <a:tc>
                  <a:txBody>
                    <a:bodyPr/>
                    <a:lstStyle/>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2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5"/>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55</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11455" algn="l" rtl="0" eaLnBrk="0">
                        <a:lnSpc>
                          <a:spcPts val="2550"/>
                        </a:lnSpc>
                      </a:pPr>
                      <a:r>
                        <a:rPr sz="1800" kern="0" spc="7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预测误差的估计方差为</a:t>
                      </a:r>
                      <a:r>
                        <a:rPr sz="2100" kern="0" spc="70" dirty="0">
                          <a:solidFill>
                            <a:srgbClr val="000000">
                              <a:alpha val="100000"/>
                            </a:srgbClr>
                          </a:solidFill>
                          <a:latin typeface="Perpetua" panose="02020502060401020303"/>
                          <a:ea typeface="Perpetua" panose="02020502060401020303"/>
                          <a:cs typeface="Perpetua" panose="02020502060401020303"/>
                        </a:rPr>
                        <a:t>:</a:t>
                      </a:r>
                      <a:endParaRPr sz="2100" dirty="0">
                        <a:latin typeface="Perpetua" panose="02020502060401020303"/>
                        <a:ea typeface="Perpetua" panose="02020502060401020303"/>
                        <a:cs typeface="Perpetua" panose="02020502060401020303"/>
                      </a:endParaRPr>
                    </a:p>
                    <a:p>
                      <a:pPr marL="824230" algn="l" rtl="0" eaLnBrk="0">
                        <a:lnSpc>
                          <a:spcPts val="735"/>
                        </a:lnSpc>
                        <a:spcBef>
                          <a:spcPts val="1040"/>
                        </a:spcBef>
                      </a:pPr>
                      <a:r>
                        <a:rPr sz="1000" kern="0" spc="-20" dirty="0">
                          <a:solidFill>
                            <a:srgbClr val="000000">
                              <a:alpha val="100000"/>
                            </a:srgbClr>
                          </a:solidFill>
                          <a:latin typeface="Arial" panose="020B0604020202020204"/>
                          <a:ea typeface="Arial" panose="020B0604020202020204"/>
                          <a:cs typeface="Arial" panose="020B0604020202020204"/>
                        </a:rPr>
                        <a:t>Λ</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20" dirty="0">
                          <a:solidFill>
                            <a:srgbClr val="000000">
                              <a:alpha val="100000"/>
                            </a:srgbClr>
                          </a:solidFill>
                          <a:latin typeface="Arial" panose="020B0604020202020204"/>
                          <a:ea typeface="Arial" panose="020B0604020202020204"/>
                          <a:cs typeface="Arial" panose="020B0604020202020204"/>
                        </a:rPr>
                        <a:t>Λ                   </a:t>
                      </a:r>
                      <a:r>
                        <a:rPr sz="1000" kern="0" spc="-30" dirty="0">
                          <a:solidFill>
                            <a:srgbClr val="000000">
                              <a:alpha val="100000"/>
                            </a:srgbClr>
                          </a:solidFill>
                          <a:latin typeface="Arial" panose="020B0604020202020204"/>
                          <a:ea typeface="Arial" panose="020B0604020202020204"/>
                          <a:cs typeface="Arial" panose="020B0604020202020204"/>
                        </a:rPr>
                        <a:t>             Λ</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30" dirty="0">
                          <a:solidFill>
                            <a:srgbClr val="000000">
                              <a:alpha val="100000"/>
                            </a:srgbClr>
                          </a:solidFill>
                          <a:latin typeface="Arial" panose="020B0604020202020204"/>
                          <a:ea typeface="Arial" panose="020B0604020202020204"/>
                          <a:cs typeface="Arial" panose="020B0604020202020204"/>
                        </a:rPr>
                        <a:t>Λ</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3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539750" algn="l" rtl="0" eaLnBrk="0">
                        <a:lnSpc>
                          <a:spcPct val="96000"/>
                        </a:lnSpc>
                        <a:spcBef>
                          <a:spcPts val="10"/>
                        </a:spcBef>
                      </a:pPr>
                      <a:r>
                        <a:rPr sz="1700" kern="0" spc="-20" dirty="0">
                          <a:solidFill>
                            <a:srgbClr val="000000">
                              <a:alpha val="100000"/>
                            </a:srgbClr>
                          </a:solidFill>
                          <a:latin typeface="Times New Roman" panose="02020603050405020304"/>
                          <a:ea typeface="Times New Roman" panose="02020603050405020304"/>
                          <a:cs typeface="Times New Roman" panose="02020603050405020304"/>
                        </a:rPr>
                        <a:t>var</a:t>
                      </a:r>
                      <a:r>
                        <a:rPr sz="17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1700" i="1" kern="0" spc="-20" dirty="0">
                          <a:solidFill>
                            <a:srgbClr val="000000">
                              <a:alpha val="100000"/>
                            </a:srgbClr>
                          </a:solidFill>
                          <a:latin typeface="Times New Roman" panose="02020603050405020304"/>
                          <a:ea typeface="Times New Roman" panose="02020603050405020304"/>
                          <a:cs typeface="Times New Roman" panose="02020603050405020304"/>
                        </a:rPr>
                        <a:t>f</a:t>
                      </a:r>
                      <a:r>
                        <a:rPr sz="1700" i="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2300" kern="0" spc="-22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200" dirty="0">
                          <a:solidFill>
                            <a:srgbClr val="000000">
                              <a:alpha val="100000"/>
                            </a:srgbClr>
                          </a:solidFill>
                          <a:latin typeface="Arial" panose="020B0604020202020204"/>
                          <a:ea typeface="Arial" panose="020B0604020202020204"/>
                          <a:cs typeface="Arial" panose="020B0604020202020204"/>
                        </a:rPr>
                        <a:t>  </a:t>
                      </a:r>
                      <a:r>
                        <a:rPr sz="1600" kern="0" spc="-20" baseline="55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10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var</a:t>
                      </a:r>
                      <a:r>
                        <a:rPr sz="17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1700" i="1" kern="0" spc="-2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20" baseline="-26000" dirty="0">
                          <a:solidFill>
                            <a:srgbClr val="000000">
                              <a:alpha val="100000"/>
                            </a:srgbClr>
                          </a:solidFill>
                          <a:latin typeface="Times New Roman" panose="02020603050405020304"/>
                          <a:ea typeface="Times New Roman" panose="02020603050405020304"/>
                          <a:cs typeface="Times New Roman" panose="02020603050405020304"/>
                        </a:rPr>
                        <a:t>1</a:t>
                      </a:r>
                      <a:r>
                        <a:rPr sz="10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130" dirty="0">
                          <a:solidFill>
                            <a:srgbClr val="000000">
                              <a:alpha val="100000"/>
                            </a:srgbClr>
                          </a:solidFill>
                          <a:latin typeface="Arial" panose="020B0604020202020204"/>
                          <a:ea typeface="Arial" panose="020B0604020202020204"/>
                          <a:cs typeface="Arial" panose="020B0604020202020204"/>
                        </a:rPr>
                        <a:t> </a:t>
                      </a:r>
                      <a:r>
                        <a:rPr sz="17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1700" i="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600" kern="0" spc="-2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30" dirty="0">
                          <a:solidFill>
                            <a:srgbClr val="000000">
                              <a:alpha val="100000"/>
                            </a:srgbClr>
                          </a:solidFill>
                          <a:latin typeface="Times New Roman" panose="02020603050405020304"/>
                          <a:ea typeface="Times New Roman" panose="02020603050405020304"/>
                          <a:cs typeface="Times New Roman" panose="02020603050405020304"/>
                        </a:rPr>
                        <a:t>var</a:t>
                      </a:r>
                      <a:r>
                        <a:rPr sz="17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26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kern="0" spc="-30" dirty="0">
                          <a:solidFill>
                            <a:srgbClr val="000000">
                              <a:alpha val="100000"/>
                            </a:srgbClr>
                          </a:solidFill>
                          <a:latin typeface="Arial" panose="020B0604020202020204"/>
                          <a:ea typeface="Arial" panose="020B0604020202020204"/>
                          <a:cs typeface="Arial" panose="020B0604020202020204"/>
                        </a:rPr>
                        <a:t>+</a:t>
                      </a:r>
                      <a:r>
                        <a:rPr sz="1700" kern="0" spc="-120" dirty="0">
                          <a:solidFill>
                            <a:srgbClr val="000000">
                              <a:alpha val="100000"/>
                            </a:srgbClr>
                          </a:solidFill>
                          <a:latin typeface="Arial" panose="020B0604020202020204"/>
                          <a:ea typeface="Arial" panose="020B0604020202020204"/>
                          <a:cs typeface="Arial" panose="020B0604020202020204"/>
                        </a:rPr>
                        <a:t> </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700" i="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600" kern="0" spc="-30" baseline="-26000" dirty="0">
                          <a:solidFill>
                            <a:srgbClr val="000000">
                              <a:alpha val="100000"/>
                            </a:srgbClr>
                          </a:solidFill>
                          <a:latin typeface="Times New Roman" panose="02020603050405020304"/>
                          <a:ea typeface="Times New Roman" panose="02020603050405020304"/>
                          <a:cs typeface="Times New Roman" panose="02020603050405020304"/>
                        </a:rPr>
                        <a:t>3</a:t>
                      </a:r>
                      <a:r>
                        <a:rPr sz="10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30" dirty="0">
                          <a:solidFill>
                            <a:srgbClr val="000000">
                              <a:alpha val="100000"/>
                            </a:srgbClr>
                          </a:solidFill>
                          <a:latin typeface="Times New Roman" panose="02020603050405020304"/>
                          <a:ea typeface="Times New Roman" panose="02020603050405020304"/>
                          <a:cs typeface="Times New Roman" panose="02020603050405020304"/>
                        </a:rPr>
                        <a:t>var</a:t>
                      </a:r>
                      <a:r>
                        <a:rPr sz="17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26000" dirty="0">
                          <a:solidFill>
                            <a:srgbClr val="000000">
                              <a:alpha val="100000"/>
                            </a:srgbClr>
                          </a:solidFill>
                          <a:latin typeface="Times New Roman" panose="02020603050405020304"/>
                          <a:ea typeface="Times New Roman" panose="02020603050405020304"/>
                          <a:cs typeface="Times New Roman" panose="02020603050405020304"/>
                        </a:rPr>
                        <a:t>3</a:t>
                      </a:r>
                      <a:r>
                        <a:rPr sz="10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kern="0" spc="-30" dirty="0">
                          <a:solidFill>
                            <a:srgbClr val="000000">
                              <a:alpha val="100000"/>
                            </a:srgbClr>
                          </a:solidFill>
                          <a:latin typeface="Arial" panose="020B0604020202020204"/>
                          <a:ea typeface="Arial" panose="020B0604020202020204"/>
                          <a:cs typeface="Arial" panose="020B0604020202020204"/>
                        </a:rPr>
                        <a:t>+</a:t>
                      </a:r>
                      <a:r>
                        <a:rPr sz="1700" kern="0" spc="-120" dirty="0">
                          <a:solidFill>
                            <a:srgbClr val="000000">
                              <a:alpha val="100000"/>
                            </a:srgbClr>
                          </a:solidFill>
                          <a:latin typeface="Arial" panose="020B0604020202020204"/>
                          <a:ea typeface="Arial" panose="020B0604020202020204"/>
                          <a:cs typeface="Arial" panose="020B0604020202020204"/>
                        </a:rPr>
                        <a:t> </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700" i="1"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1600" kern="0" spc="-30" baseline="-26000" dirty="0">
                          <a:solidFill>
                            <a:srgbClr val="000000">
                              <a:alpha val="100000"/>
                            </a:srgbClr>
                          </a:solidFill>
                          <a:latin typeface="Times New Roman" panose="02020603050405020304"/>
                          <a:ea typeface="Times New Roman" panose="02020603050405020304"/>
                          <a:cs typeface="Times New Roman" panose="02020603050405020304"/>
                        </a:rPr>
                        <a:t>4</a:t>
                      </a:r>
                      <a:r>
                        <a:rPr sz="10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30" dirty="0">
                          <a:solidFill>
                            <a:srgbClr val="000000">
                              <a:alpha val="100000"/>
                            </a:srgbClr>
                          </a:solidFill>
                          <a:latin typeface="Times New Roman" panose="02020603050405020304"/>
                          <a:ea typeface="Times New Roman" panose="02020603050405020304"/>
                          <a:cs typeface="Times New Roman" panose="02020603050405020304"/>
                        </a:rPr>
                        <a:t>var</a:t>
                      </a:r>
                      <a:r>
                        <a:rPr sz="17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26000" dirty="0">
                          <a:solidFill>
                            <a:srgbClr val="000000">
                              <a:alpha val="100000"/>
                            </a:srgbClr>
                          </a:solidFill>
                          <a:latin typeface="Times New Roman" panose="02020603050405020304"/>
                          <a:ea typeface="Times New Roman" panose="02020603050405020304"/>
                          <a:cs typeface="Times New Roman" panose="02020603050405020304"/>
                        </a:rPr>
                        <a:t>4</a:t>
                      </a:r>
                      <a:r>
                        <a:rPr sz="1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endParaRPr sz="2300" dirty="0">
                        <a:latin typeface="Arial" panose="020B0604020202020204"/>
                        <a:ea typeface="Arial" panose="020B0604020202020204"/>
                        <a:cs typeface="Arial" panose="020B0604020202020204"/>
                      </a:endParaRPr>
                    </a:p>
                    <a:p>
                      <a:pPr marL="2272030" algn="l" rtl="0" eaLnBrk="0">
                        <a:lnSpc>
                          <a:spcPts val="735"/>
                        </a:lnSpc>
                        <a:spcBef>
                          <a:spcPts val="725"/>
                        </a:spcBef>
                      </a:pPr>
                      <a:r>
                        <a:rPr sz="1000" kern="0" spc="-50" dirty="0">
                          <a:solidFill>
                            <a:srgbClr val="000000">
                              <a:alpha val="100000"/>
                            </a:srgbClr>
                          </a:solidFill>
                          <a:latin typeface="Arial" panose="020B0604020202020204"/>
                          <a:ea typeface="Arial" panose="020B0604020202020204"/>
                          <a:cs typeface="Arial" panose="020B0604020202020204"/>
                        </a:rPr>
                        <a:t>Λ</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50" dirty="0">
                          <a:solidFill>
                            <a:srgbClr val="000000">
                              <a:alpha val="100000"/>
                            </a:srgbClr>
                          </a:solidFill>
                          <a:latin typeface="Arial" panose="020B0604020202020204"/>
                          <a:ea typeface="Arial" panose="020B0604020202020204"/>
                          <a:cs typeface="Arial" panose="020B0604020202020204"/>
                        </a:rPr>
                        <a:t>Λ</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5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1303020" algn="l" rtl="0" eaLnBrk="0">
                        <a:lnSpc>
                          <a:spcPct val="98000"/>
                        </a:lnSpc>
                        <a:spcBef>
                          <a:spcPts val="5"/>
                        </a:spcBef>
                      </a:pPr>
                      <a:r>
                        <a:rPr sz="2700" kern="0" spc="-20" baseline="2000" dirty="0">
                          <a:solidFill>
                            <a:srgbClr val="000000">
                              <a:alpha val="100000"/>
                            </a:srgbClr>
                          </a:solidFill>
                          <a:latin typeface="Arial" panose="020B0604020202020204"/>
                          <a:ea typeface="Arial" panose="020B0604020202020204"/>
                          <a:cs typeface="Arial" panose="020B0604020202020204"/>
                        </a:rPr>
                        <a:t>+</a:t>
                      </a:r>
                      <a:r>
                        <a:rPr sz="2700" kern="0" spc="-20" baseline="2000" dirty="0">
                          <a:solidFill>
                            <a:srgbClr val="000000">
                              <a:alpha val="100000"/>
                            </a:srgbClr>
                          </a:solidFill>
                          <a:latin typeface="Times New Roman" panose="02020603050405020304"/>
                          <a:ea typeface="Times New Roman" panose="02020603050405020304"/>
                          <a:cs typeface="Times New Roman" panose="02020603050405020304"/>
                        </a:rPr>
                        <a:t>2</a:t>
                      </a:r>
                      <a:r>
                        <a:rPr sz="2700" i="1" kern="0" spc="-20" baseline="20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20" baseline="-23000" dirty="0">
                          <a:solidFill>
                            <a:srgbClr val="000000">
                              <a:alpha val="100000"/>
                            </a:srgbClr>
                          </a:solidFill>
                          <a:latin typeface="Times New Roman" panose="02020603050405020304"/>
                          <a:ea typeface="Times New Roman" panose="02020603050405020304"/>
                          <a:cs typeface="Times New Roman" panose="02020603050405020304"/>
                        </a:rPr>
                        <a:t>02</a:t>
                      </a:r>
                      <a:r>
                        <a:rPr sz="10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cov</a:t>
                      </a:r>
                      <a:r>
                        <a:rPr sz="17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1700" i="1" kern="0" spc="-2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2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2700" kern="0" spc="-20" baseline="-1000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20" baseline="200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20" baseline="-23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11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2</a:t>
                      </a:r>
                      <a:r>
                        <a:rPr sz="1700" i="1" kern="0" spc="-2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20" baseline="-23000" dirty="0">
                          <a:solidFill>
                            <a:srgbClr val="000000">
                              <a:alpha val="100000"/>
                            </a:srgbClr>
                          </a:solidFill>
                          <a:latin typeface="Times New Roman" panose="02020603050405020304"/>
                          <a:ea typeface="Times New Roman" panose="02020603050405020304"/>
                          <a:cs typeface="Times New Roman" panose="02020603050405020304"/>
                        </a:rPr>
                        <a:t>03</a:t>
                      </a:r>
                      <a:r>
                        <a:rPr sz="1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cov</a:t>
                      </a:r>
                      <a:r>
                        <a:rPr sz="17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20" dirty="0">
                          <a:solidFill>
                            <a:srgbClr val="000000">
                              <a:alpha val="100000"/>
                            </a:srgbClr>
                          </a:solidFill>
                          <a:latin typeface="Arial" panose="020B0604020202020204"/>
                          <a:ea typeface="Arial" panose="020B0604020202020204"/>
                          <a:cs typeface="Arial" panose="020B0604020202020204"/>
                        </a:rPr>
                        <a:t>(</a:t>
                      </a:r>
                      <a:r>
                        <a:rPr sz="1700" i="1" kern="0" spc="-2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2700" kern="0" spc="-30" baseline="-1000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30" baseline="200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1000"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kern="0" spc="-30" dirty="0">
                          <a:solidFill>
                            <a:srgbClr val="000000">
                              <a:alpha val="100000"/>
                            </a:srgbClr>
                          </a:solidFill>
                          <a:latin typeface="Arial" panose="020B0604020202020204"/>
                          <a:ea typeface="Arial" panose="020B0604020202020204"/>
                          <a:cs typeface="Arial" panose="020B0604020202020204"/>
                        </a:rPr>
                        <a:t>+</a:t>
                      </a:r>
                      <a:r>
                        <a:rPr sz="1700" kern="0" spc="-110" dirty="0">
                          <a:solidFill>
                            <a:srgbClr val="000000">
                              <a:alpha val="100000"/>
                            </a:srgbClr>
                          </a:solidFill>
                          <a:latin typeface="Arial" panose="020B0604020202020204"/>
                          <a:ea typeface="Arial" panose="020B0604020202020204"/>
                          <a:cs typeface="Arial" panose="020B0604020202020204"/>
                        </a:rPr>
                        <a:t> </a:t>
                      </a:r>
                      <a:r>
                        <a:rPr sz="1700" kern="0" spc="-30" dirty="0">
                          <a:solidFill>
                            <a:srgbClr val="000000">
                              <a:alpha val="100000"/>
                            </a:srgbClr>
                          </a:solidFill>
                          <a:latin typeface="Times New Roman" panose="02020603050405020304"/>
                          <a:ea typeface="Times New Roman" panose="02020603050405020304"/>
                          <a:cs typeface="Times New Roman" panose="02020603050405020304"/>
                        </a:rPr>
                        <a:t>2</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30" baseline="-23000" dirty="0">
                          <a:solidFill>
                            <a:srgbClr val="000000">
                              <a:alpha val="100000"/>
                            </a:srgbClr>
                          </a:solidFill>
                          <a:latin typeface="Times New Roman" panose="02020603050405020304"/>
                          <a:ea typeface="Times New Roman" panose="02020603050405020304"/>
                          <a:cs typeface="Times New Roman" panose="02020603050405020304"/>
                        </a:rPr>
                        <a:t>04</a:t>
                      </a:r>
                      <a:r>
                        <a:rPr sz="10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30" dirty="0">
                          <a:solidFill>
                            <a:srgbClr val="000000">
                              <a:alpha val="100000"/>
                            </a:srgbClr>
                          </a:solidFill>
                          <a:latin typeface="Times New Roman" panose="02020603050405020304"/>
                          <a:ea typeface="Times New Roman" panose="02020603050405020304"/>
                          <a:cs typeface="Times New Roman" panose="02020603050405020304"/>
                        </a:rPr>
                        <a:t>cov</a:t>
                      </a:r>
                      <a:r>
                        <a:rPr sz="17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r>
                        <a:rPr sz="1700" i="1" kern="0" spc="-3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16000" dirty="0">
                          <a:solidFill>
                            <a:srgbClr val="000000">
                              <a:alpha val="100000"/>
                            </a:srgbClr>
                          </a:solidFill>
                          <a:latin typeface="Times New Roman" panose="02020603050405020304"/>
                          <a:ea typeface="Times New Roman" panose="02020603050405020304"/>
                          <a:cs typeface="Times New Roman" panose="02020603050405020304"/>
                        </a:rPr>
                        <a:t>1</a:t>
                      </a:r>
                      <a:r>
                        <a:rPr sz="2700" kern="0" spc="-30" baseline="-1000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30" baseline="200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30" baseline="-23000" dirty="0">
                          <a:solidFill>
                            <a:srgbClr val="000000">
                              <a:alpha val="100000"/>
                            </a:srgbClr>
                          </a:solidFill>
                          <a:latin typeface="Times New Roman" panose="02020603050405020304"/>
                          <a:ea typeface="Times New Roman" panose="02020603050405020304"/>
                          <a:cs typeface="Times New Roman" panose="02020603050405020304"/>
                        </a:rPr>
                        <a:t>4</a:t>
                      </a:r>
                      <a:r>
                        <a:rPr sz="10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30" dirty="0">
                          <a:solidFill>
                            <a:srgbClr val="000000">
                              <a:alpha val="100000"/>
                            </a:srgbClr>
                          </a:solidFill>
                          <a:latin typeface="Arial" panose="020B0604020202020204"/>
                          <a:ea typeface="Arial" panose="020B0604020202020204"/>
                          <a:cs typeface="Arial" panose="020B0604020202020204"/>
                        </a:rPr>
                        <a:t>)</a:t>
                      </a:r>
                      <a:endParaRPr sz="2300" dirty="0">
                        <a:latin typeface="Arial" panose="020B0604020202020204"/>
                        <a:ea typeface="Arial" panose="020B0604020202020204"/>
                        <a:cs typeface="Arial" panose="020B0604020202020204"/>
                      </a:endParaRPr>
                    </a:p>
                    <a:p>
                      <a:pPr marL="2527300" algn="l" rtl="0" eaLnBrk="0">
                        <a:lnSpc>
                          <a:spcPts val="730"/>
                        </a:lnSpc>
                        <a:spcBef>
                          <a:spcPts val="680"/>
                        </a:spcBef>
                      </a:pPr>
                      <a:r>
                        <a:rPr sz="1000" kern="0" spc="-20" dirty="0">
                          <a:solidFill>
                            <a:srgbClr val="000000">
                              <a:alpha val="100000"/>
                            </a:srgbClr>
                          </a:solidFill>
                          <a:latin typeface="Arial" panose="020B0604020202020204"/>
                          <a:ea typeface="Arial" panose="020B0604020202020204"/>
                          <a:cs typeface="Arial" panose="020B0604020202020204"/>
                        </a:rPr>
                        <a:t>Λ                                                    Λ</a:t>
                      </a:r>
                      <a:r>
                        <a:rPr sz="1000" kern="0" spc="10" dirty="0">
                          <a:solidFill>
                            <a:srgbClr val="000000">
                              <a:alpha val="100000"/>
                            </a:srgbClr>
                          </a:solidFill>
                          <a:latin typeface="Arial" panose="020B0604020202020204"/>
                          <a:ea typeface="Arial" panose="020B0604020202020204"/>
                          <a:cs typeface="Arial" panose="020B0604020202020204"/>
                        </a:rPr>
                        <a:t>                   </a:t>
                      </a:r>
                      <a:r>
                        <a:rPr sz="1000" kern="0" spc="0" dirty="0">
                          <a:solidFill>
                            <a:srgbClr val="000000">
                              <a:alpha val="100000"/>
                            </a:srgbClr>
                          </a:solidFill>
                          <a:latin typeface="Arial" panose="020B0604020202020204"/>
                          <a:ea typeface="Arial" panose="020B0604020202020204"/>
                          <a:cs typeface="Arial" panose="020B0604020202020204"/>
                        </a:rPr>
                        <a:t>                             </a:t>
                      </a:r>
                      <a:r>
                        <a:rPr sz="1000" kern="0" spc="-20" dirty="0">
                          <a:solidFill>
                            <a:srgbClr val="000000">
                              <a:alpha val="100000"/>
                            </a:srgbClr>
                          </a:solidFill>
                          <a:latin typeface="Arial" panose="020B0604020202020204"/>
                          <a:ea typeface="Arial" panose="020B0604020202020204"/>
                          <a:cs typeface="Arial" panose="020B0604020202020204"/>
                        </a:rPr>
                        <a:t>Λ</a:t>
                      </a:r>
                      <a:endParaRPr sz="1000" dirty="0">
                        <a:latin typeface="Arial" panose="020B0604020202020204"/>
                        <a:ea typeface="Arial" panose="020B0604020202020204"/>
                        <a:cs typeface="Arial" panose="020B0604020202020204"/>
                      </a:endParaRPr>
                    </a:p>
                    <a:p>
                      <a:pPr marL="1303020" algn="l" rtl="0" eaLnBrk="0">
                        <a:lnSpc>
                          <a:spcPct val="98000"/>
                        </a:lnSpc>
                        <a:spcBef>
                          <a:spcPts val="5"/>
                        </a:spcBef>
                      </a:pPr>
                      <a:r>
                        <a:rPr sz="2700" kern="0" spc="0" baseline="2000" dirty="0">
                          <a:solidFill>
                            <a:srgbClr val="000000">
                              <a:alpha val="100000"/>
                            </a:srgbClr>
                          </a:solidFill>
                          <a:latin typeface="Arial" panose="020B0604020202020204"/>
                          <a:ea typeface="Arial" panose="020B0604020202020204"/>
                          <a:cs typeface="Arial" panose="020B0604020202020204"/>
                        </a:rPr>
                        <a:t>+</a:t>
                      </a:r>
                      <a:r>
                        <a:rPr sz="2700" kern="0" spc="0" baseline="2000" dirty="0">
                          <a:solidFill>
                            <a:srgbClr val="000000">
                              <a:alpha val="100000"/>
                            </a:srgbClr>
                          </a:solidFill>
                          <a:latin typeface="Times New Roman" panose="02020603050405020304"/>
                          <a:ea typeface="Times New Roman" panose="02020603050405020304"/>
                          <a:cs typeface="Times New Roman" panose="02020603050405020304"/>
                        </a:rPr>
                        <a:t>2</a:t>
                      </a:r>
                      <a:r>
                        <a:rPr sz="2700" i="1" kern="0" spc="0" baseline="20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0" baseline="-23000" dirty="0">
                          <a:solidFill>
                            <a:srgbClr val="000000">
                              <a:alpha val="100000"/>
                            </a:srgbClr>
                          </a:solidFill>
                          <a:latin typeface="Times New Roman" panose="02020603050405020304"/>
                          <a:ea typeface="Times New Roman" panose="02020603050405020304"/>
                          <a:cs typeface="Times New Roman" panose="02020603050405020304"/>
                        </a:rPr>
                        <a:t>02</a:t>
                      </a:r>
                      <a:r>
                        <a:rPr sz="10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0" baseline="20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0" baseline="-23000" dirty="0">
                          <a:solidFill>
                            <a:srgbClr val="000000">
                              <a:alpha val="100000"/>
                            </a:srgbClr>
                          </a:solidFill>
                          <a:latin typeface="Times New Roman" panose="02020603050405020304"/>
                          <a:ea typeface="Times New Roman" panose="02020603050405020304"/>
                          <a:cs typeface="Times New Roman" panose="02020603050405020304"/>
                        </a:rPr>
                        <a:t>03</a:t>
                      </a:r>
                      <a:r>
                        <a:rPr sz="10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0" dirty="0">
                          <a:solidFill>
                            <a:srgbClr val="000000">
                              <a:alpha val="100000"/>
                            </a:srgbClr>
                          </a:solidFill>
                          <a:latin typeface="Times New Roman" panose="02020603050405020304"/>
                          <a:ea typeface="Times New Roman" panose="02020603050405020304"/>
                          <a:cs typeface="Times New Roman" panose="02020603050405020304"/>
                        </a:rPr>
                        <a:t>cov</a:t>
                      </a:r>
                      <a:r>
                        <a:rPr sz="17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0" dirty="0">
                          <a:solidFill>
                            <a:srgbClr val="000000">
                              <a:alpha val="100000"/>
                            </a:srgbClr>
                          </a:solidFill>
                          <a:latin typeface="Arial" panose="020B0604020202020204"/>
                          <a:ea typeface="Arial" panose="020B0604020202020204"/>
                          <a:cs typeface="Arial" panose="020B0604020202020204"/>
                        </a:rPr>
                        <a:t>(</a:t>
                      </a:r>
                      <a:r>
                        <a:rPr sz="1700" i="1" kern="0" spc="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0" baseline="-16000" dirty="0">
                          <a:solidFill>
                            <a:srgbClr val="000000">
                              <a:alpha val="100000"/>
                            </a:srgbClr>
                          </a:solidFill>
                          <a:latin typeface="Times New Roman" panose="02020603050405020304"/>
                          <a:ea typeface="Times New Roman" panose="02020603050405020304"/>
                          <a:cs typeface="Times New Roman" panose="02020603050405020304"/>
                        </a:rPr>
                        <a:t>2</a:t>
                      </a:r>
                      <a:r>
                        <a:rPr sz="2700" kern="0" spc="0" baseline="-1000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0" baseline="200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0" baseline="-23000" dirty="0">
                          <a:solidFill>
                            <a:srgbClr val="000000">
                              <a:alpha val="100000"/>
                            </a:srgbClr>
                          </a:solidFill>
                          <a:latin typeface="Times New Roman" panose="02020603050405020304"/>
                          <a:ea typeface="Times New Roman" panose="02020603050405020304"/>
                          <a:cs typeface="Times New Roman" panose="02020603050405020304"/>
                        </a:rPr>
                        <a:t>3</a:t>
                      </a:r>
                      <a:r>
                        <a:rPr sz="10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r>
                        <a:rPr sz="1700" kern="0" spc="-10" dirty="0">
                          <a:solidFill>
                            <a:srgbClr val="000000">
                              <a:alpha val="100000"/>
                            </a:srgbClr>
                          </a:solidFill>
                          <a:latin typeface="Arial" panose="020B0604020202020204"/>
                          <a:ea typeface="Arial" panose="020B0604020202020204"/>
                          <a:cs typeface="Arial" panose="020B0604020202020204"/>
                        </a:rPr>
                        <a:t>+</a:t>
                      </a:r>
                      <a:r>
                        <a:rPr sz="1700" kern="0" spc="-110" dirty="0">
                          <a:solidFill>
                            <a:srgbClr val="000000">
                              <a:alpha val="100000"/>
                            </a:srgbClr>
                          </a:solidFill>
                          <a:latin typeface="Arial" panose="020B0604020202020204"/>
                          <a:ea typeface="Arial" panose="020B0604020202020204"/>
                          <a:cs typeface="Arial" panose="020B0604020202020204"/>
                        </a:rPr>
                        <a:t> </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2</a:t>
                      </a:r>
                      <a:r>
                        <a:rPr sz="17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10" baseline="-23000" dirty="0">
                          <a:solidFill>
                            <a:srgbClr val="000000">
                              <a:alpha val="100000"/>
                            </a:srgbClr>
                          </a:solidFill>
                          <a:latin typeface="Times New Roman" panose="02020603050405020304"/>
                          <a:ea typeface="Times New Roman" panose="02020603050405020304"/>
                          <a:cs typeface="Times New Roman" panose="02020603050405020304"/>
                        </a:rPr>
                        <a:t>02</a:t>
                      </a:r>
                      <a:r>
                        <a:rPr sz="10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10" baseline="20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10" baseline="-23000" dirty="0">
                          <a:solidFill>
                            <a:srgbClr val="000000">
                              <a:alpha val="100000"/>
                            </a:srgbClr>
                          </a:solidFill>
                          <a:latin typeface="Times New Roman" panose="02020603050405020304"/>
                          <a:ea typeface="Times New Roman" panose="02020603050405020304"/>
                          <a:cs typeface="Times New Roman" panose="02020603050405020304"/>
                        </a:rPr>
                        <a:t>04</a:t>
                      </a:r>
                      <a:r>
                        <a:rPr sz="10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cov</a:t>
                      </a:r>
                      <a:r>
                        <a:rPr sz="17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r>
                        <a:rPr sz="1700" i="1" kern="0" spc="-1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10" baseline="-16000" dirty="0">
                          <a:solidFill>
                            <a:srgbClr val="000000">
                              <a:alpha val="100000"/>
                            </a:srgbClr>
                          </a:solidFill>
                          <a:latin typeface="Times New Roman" panose="02020603050405020304"/>
                          <a:ea typeface="Times New Roman" panose="02020603050405020304"/>
                          <a:cs typeface="Times New Roman" panose="02020603050405020304"/>
                        </a:rPr>
                        <a:t>2</a:t>
                      </a:r>
                      <a:r>
                        <a:rPr sz="2700" kern="0" spc="-10" baseline="-1000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10" baseline="200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10" baseline="-23000" dirty="0">
                          <a:solidFill>
                            <a:srgbClr val="000000">
                              <a:alpha val="100000"/>
                            </a:srgbClr>
                          </a:solidFill>
                          <a:latin typeface="Times New Roman" panose="02020603050405020304"/>
                          <a:ea typeface="Times New Roman" panose="02020603050405020304"/>
                          <a:cs typeface="Times New Roman" panose="02020603050405020304"/>
                        </a:rPr>
                        <a:t>4</a:t>
                      </a:r>
                      <a:r>
                        <a:rPr sz="10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r>
                        <a:rPr sz="1700" kern="0" spc="-10" dirty="0">
                          <a:solidFill>
                            <a:srgbClr val="000000">
                              <a:alpha val="100000"/>
                            </a:srgbClr>
                          </a:solidFill>
                          <a:latin typeface="Arial" panose="020B0604020202020204"/>
                          <a:ea typeface="Arial" panose="020B0604020202020204"/>
                          <a:cs typeface="Arial" panose="020B0604020202020204"/>
                        </a:rPr>
                        <a:t>+</a:t>
                      </a:r>
                      <a:r>
                        <a:rPr sz="1700" kern="0" spc="-120" dirty="0">
                          <a:solidFill>
                            <a:srgbClr val="000000">
                              <a:alpha val="100000"/>
                            </a:srgbClr>
                          </a:solidFill>
                          <a:latin typeface="Arial" panose="020B0604020202020204"/>
                          <a:ea typeface="Arial" panose="020B0604020202020204"/>
                          <a:cs typeface="Arial" panose="020B0604020202020204"/>
                        </a:rPr>
                        <a:t> </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2</a:t>
                      </a:r>
                      <a:r>
                        <a:rPr sz="1700" i="1" kern="0" spc="-1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10" baseline="-23000" dirty="0">
                          <a:solidFill>
                            <a:srgbClr val="000000">
                              <a:alpha val="100000"/>
                            </a:srgbClr>
                          </a:solidFill>
                          <a:latin typeface="Times New Roman" panose="02020603050405020304"/>
                          <a:ea typeface="Times New Roman" panose="02020603050405020304"/>
                          <a:cs typeface="Times New Roman" panose="02020603050405020304"/>
                        </a:rPr>
                        <a:t>03</a:t>
                      </a:r>
                      <a:r>
                        <a:rPr sz="2700" i="1" kern="0" spc="-10" baseline="2000" dirty="0">
                          <a:solidFill>
                            <a:srgbClr val="000000">
                              <a:alpha val="100000"/>
                            </a:srgbClr>
                          </a:solidFill>
                          <a:latin typeface="Times New Roman" panose="02020603050405020304"/>
                          <a:ea typeface="Times New Roman" panose="02020603050405020304"/>
                          <a:cs typeface="Times New Roman" panose="02020603050405020304"/>
                        </a:rPr>
                        <a:t>x</a:t>
                      </a:r>
                      <a:r>
                        <a:rPr sz="1600" kern="0" spc="-10" baseline="-23000" dirty="0">
                          <a:solidFill>
                            <a:srgbClr val="000000">
                              <a:alpha val="100000"/>
                            </a:srgbClr>
                          </a:solidFill>
                          <a:latin typeface="Times New Roman" panose="02020603050405020304"/>
                          <a:ea typeface="Times New Roman" panose="02020603050405020304"/>
                          <a:cs typeface="Times New Roman" panose="02020603050405020304"/>
                        </a:rPr>
                        <a:t>04</a:t>
                      </a:r>
                      <a:r>
                        <a:rPr sz="10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cov</a:t>
                      </a:r>
                      <a:r>
                        <a:rPr sz="17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r>
                        <a:rPr sz="1700" i="1" kern="0" spc="-1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10" baseline="-16000" dirty="0">
                          <a:solidFill>
                            <a:srgbClr val="000000">
                              <a:alpha val="100000"/>
                            </a:srgbClr>
                          </a:solidFill>
                          <a:latin typeface="Times New Roman" panose="02020603050405020304"/>
                          <a:ea typeface="Times New Roman" panose="02020603050405020304"/>
                          <a:cs typeface="Times New Roman" panose="02020603050405020304"/>
                        </a:rPr>
                        <a:t>3</a:t>
                      </a:r>
                      <a:r>
                        <a:rPr sz="2700" kern="0" spc="-10" baseline="-10000" dirty="0">
                          <a:solidFill>
                            <a:srgbClr val="000000">
                              <a:alpha val="100000"/>
                            </a:srgbClr>
                          </a:solidFill>
                          <a:latin typeface="Times New Roman" panose="02020603050405020304"/>
                          <a:ea typeface="Times New Roman" panose="02020603050405020304"/>
                          <a:cs typeface="Times New Roman" panose="02020603050405020304"/>
                        </a:rPr>
                        <a:t>,</a:t>
                      </a:r>
                      <a:r>
                        <a:rPr sz="17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2700" i="1" kern="0" spc="-10" baseline="2000" dirty="0">
                          <a:solidFill>
                            <a:srgbClr val="000000">
                              <a:alpha val="100000"/>
                            </a:srgbClr>
                          </a:solidFill>
                          <a:latin typeface="Times New Roman" panose="02020603050405020304"/>
                          <a:ea typeface="Times New Roman" panose="02020603050405020304"/>
                          <a:cs typeface="Times New Roman" panose="02020603050405020304"/>
                        </a:rPr>
                        <a:t>b</a:t>
                      </a:r>
                      <a:r>
                        <a:rPr sz="1600" kern="0" spc="-10" baseline="-23000" dirty="0">
                          <a:solidFill>
                            <a:srgbClr val="000000">
                              <a:alpha val="100000"/>
                            </a:srgbClr>
                          </a:solidFill>
                          <a:latin typeface="Times New Roman" panose="02020603050405020304"/>
                          <a:ea typeface="Times New Roman" panose="02020603050405020304"/>
                          <a:cs typeface="Times New Roman" panose="02020603050405020304"/>
                        </a:rPr>
                        <a:t>4</a:t>
                      </a:r>
                      <a:r>
                        <a:rPr sz="10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0" dirty="0">
                          <a:solidFill>
                            <a:srgbClr val="000000">
                              <a:alpha val="100000"/>
                            </a:srgbClr>
                          </a:solidFill>
                          <a:latin typeface="Arial" panose="020B0604020202020204"/>
                          <a:ea typeface="Arial" panose="020B0604020202020204"/>
                          <a:cs typeface="Arial" panose="020B0604020202020204"/>
                        </a:rPr>
                        <a:t>)</a:t>
                      </a:r>
                      <a:endParaRPr sz="2300" dirty="0">
                        <a:latin typeface="Arial" panose="020B0604020202020204"/>
                        <a:ea typeface="Arial" panose="020B0604020202020204"/>
                        <a:cs typeface="Arial" panose="020B0604020202020204"/>
                      </a:endParaRPr>
                    </a:p>
                    <a:p>
                      <a:pPr marL="1246505" algn="l" rtl="0" eaLnBrk="0">
                        <a:lnSpc>
                          <a:spcPct val="94000"/>
                        </a:lnSpc>
                        <a:spcBef>
                          <a:spcPts val="425"/>
                        </a:spcBef>
                      </a:pPr>
                      <a:r>
                        <a:rPr sz="1700" kern="0" spc="2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21.57865</a:t>
                      </a:r>
                      <a:r>
                        <a:rPr sz="1700"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11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46.22702</a:t>
                      </a:r>
                      <a:r>
                        <a:rPr sz="1700"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9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6</a:t>
                      </a:r>
                      <a:r>
                        <a:rPr sz="1600" kern="0" spc="20" baseline="49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23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1.093988</a:t>
                      </a:r>
                      <a:r>
                        <a:rPr sz="1700" kern="0" spc="-17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1.9</a:t>
                      </a:r>
                      <a:r>
                        <a:rPr sz="1600" kern="0" spc="20" baseline="49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12.6463</a:t>
                      </a:r>
                      <a:r>
                        <a:rPr sz="1700" kern="0" spc="-21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10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3.61</a:t>
                      </a:r>
                      <a:r>
                        <a:rPr sz="1600" kern="0" spc="20" baseline="49000" dirty="0">
                          <a:solidFill>
                            <a:srgbClr val="000000">
                              <a:alpha val="100000"/>
                            </a:srgbClr>
                          </a:solidFill>
                          <a:latin typeface="Times New Roman" panose="02020603050405020304"/>
                          <a:ea typeface="Times New Roman" panose="02020603050405020304"/>
                          <a:cs typeface="Times New Roman" panose="02020603050405020304"/>
                        </a:rPr>
                        <a:t>2</a:t>
                      </a:r>
                      <a:r>
                        <a:rPr sz="1000" kern="0" spc="22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20" dirty="0">
                          <a:solidFill>
                            <a:srgbClr val="000000">
                              <a:alpha val="100000"/>
                            </a:srgbClr>
                          </a:solidFill>
                          <a:latin typeface="Arial" panose="020B0604020202020204"/>
                          <a:ea typeface="Arial" panose="020B0604020202020204"/>
                          <a:cs typeface="Arial" panose="020B0604020202020204"/>
                        </a:rPr>
                        <a:t>×</a:t>
                      </a:r>
                      <a:r>
                        <a:rPr sz="1700" kern="0" spc="-160" dirty="0">
                          <a:solidFill>
                            <a:srgbClr val="000000">
                              <a:alpha val="100000"/>
                            </a:srgbClr>
                          </a:solidFill>
                          <a:latin typeface="Arial" panose="020B0604020202020204"/>
                          <a:ea typeface="Arial" panose="020B0604020202020204"/>
                          <a:cs typeface="Arial" panose="020B0604020202020204"/>
                        </a:rPr>
                        <a:t> </a:t>
                      </a:r>
                      <a:r>
                        <a:rPr sz="1700" kern="0" spc="20" dirty="0">
                          <a:solidFill>
                            <a:srgbClr val="000000">
                              <a:alpha val="100000"/>
                            </a:srgbClr>
                          </a:solidFill>
                          <a:latin typeface="Times New Roman" panose="02020603050405020304"/>
                          <a:ea typeface="Times New Roman" panose="02020603050405020304"/>
                          <a:cs typeface="Times New Roman" panose="02020603050405020304"/>
                        </a:rPr>
                        <a:t>0.884774</a:t>
                      </a:r>
                      <a:endParaRPr sz="1700" dirty="0">
                        <a:latin typeface="Times New Roman" panose="02020603050405020304"/>
                        <a:ea typeface="Times New Roman" panose="02020603050405020304"/>
                        <a:cs typeface="Times New Roman" panose="02020603050405020304"/>
                      </a:endParaRPr>
                    </a:p>
                    <a:p>
                      <a:pPr marL="1303020" algn="l" rtl="0" eaLnBrk="0">
                        <a:lnSpc>
                          <a:spcPct val="85000"/>
                        </a:lnSpc>
                        <a:spcBef>
                          <a:spcPts val="915"/>
                        </a:spcBef>
                      </a:pP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6</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220" dirty="0">
                          <a:solidFill>
                            <a:srgbClr val="000000">
                              <a:alpha val="100000"/>
                            </a:srgbClr>
                          </a:solidFill>
                          <a:latin typeface="Arial" panose="020B0604020202020204"/>
                          <a:ea typeface="Arial" panose="020B0604020202020204"/>
                          <a:cs typeface="Arial" panose="020B0604020202020204"/>
                        </a:rPr>
                        <a:t> </a:t>
                      </a:r>
                      <a:r>
                        <a:rPr sz="23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6.426113</a:t>
                      </a:r>
                      <a:r>
                        <a:rPr sz="23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90" dirty="0">
                          <a:solidFill>
                            <a:srgbClr val="000000">
                              <a:alpha val="100000"/>
                            </a:srgbClr>
                          </a:solidFill>
                          <a:latin typeface="Arial" panose="020B0604020202020204"/>
                          <a:ea typeface="Arial" panose="020B0604020202020204"/>
                          <a:cs typeface="Arial" panose="020B0604020202020204"/>
                        </a:rPr>
                        <a:t> </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1.9</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210" dirty="0">
                          <a:solidFill>
                            <a:srgbClr val="000000">
                              <a:alpha val="100000"/>
                            </a:srgbClr>
                          </a:solidFill>
                          <a:latin typeface="Arial" panose="020B0604020202020204"/>
                          <a:ea typeface="Arial" panose="020B0604020202020204"/>
                          <a:cs typeface="Arial" panose="020B0604020202020204"/>
                        </a:rPr>
                        <a:t> </a:t>
                      </a:r>
                      <a:r>
                        <a:rPr sz="23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11.60096</a:t>
                      </a:r>
                      <a:r>
                        <a:rPr sz="23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80" dirty="0">
                          <a:solidFill>
                            <a:srgbClr val="000000">
                              <a:alpha val="100000"/>
                            </a:srgbClr>
                          </a:solidFill>
                          <a:latin typeface="Arial" panose="020B0604020202020204"/>
                          <a:ea typeface="Arial" panose="020B0604020202020204"/>
                          <a:cs typeface="Arial" panose="020B0604020202020204"/>
                        </a:rPr>
                        <a:t> </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3.61</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160" dirty="0">
                          <a:solidFill>
                            <a:srgbClr val="000000">
                              <a:alpha val="100000"/>
                            </a:srgbClr>
                          </a:solidFill>
                          <a:latin typeface="Arial" panose="020B0604020202020204"/>
                          <a:ea typeface="Arial" panose="020B0604020202020204"/>
                          <a:cs typeface="Arial" panose="020B0604020202020204"/>
                        </a:rPr>
                        <a:t> </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2.93902</a:t>
                      </a:r>
                      <a:r>
                        <a:rPr sz="1700" kern="0" spc="40" dirty="0">
                          <a:solidFill>
                            <a:srgbClr val="000000">
                              <a:alpha val="100000"/>
                            </a:srgbClr>
                          </a:solidFill>
                          <a:latin typeface="Times New Roman" panose="02020603050405020304"/>
                          <a:ea typeface="Times New Roman" panose="02020603050405020304"/>
                          <a:cs typeface="Times New Roman" panose="02020603050405020304"/>
                        </a:rPr>
                        <a:t>6</a:t>
                      </a:r>
                      <a:endParaRPr sz="1700" dirty="0">
                        <a:latin typeface="Times New Roman" panose="02020603050405020304"/>
                        <a:ea typeface="Times New Roman" panose="02020603050405020304"/>
                        <a:cs typeface="Times New Roman" panose="02020603050405020304"/>
                      </a:endParaRPr>
                    </a:p>
                    <a:p>
                      <a:pPr marL="1303020" algn="l" rtl="0" eaLnBrk="0">
                        <a:lnSpc>
                          <a:spcPct val="85000"/>
                        </a:lnSpc>
                        <a:spcBef>
                          <a:spcPts val="715"/>
                        </a:spcBef>
                      </a:pPr>
                      <a:r>
                        <a:rPr sz="17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6</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1.9</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0.300407</a:t>
                      </a:r>
                      <a:r>
                        <a:rPr sz="1700" kern="0" spc="-70" dirty="0">
                          <a:solidFill>
                            <a:srgbClr val="000000">
                              <a:alpha val="100000"/>
                            </a:srgbClr>
                          </a:solidFill>
                          <a:latin typeface="Times New Roman" panose="02020603050405020304"/>
                          <a:ea typeface="Times New Roman" panose="02020603050405020304"/>
                          <a:cs typeface="Times New Roman" panose="02020603050405020304"/>
                        </a:rPr>
                        <a:t> </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100" dirty="0">
                          <a:solidFill>
                            <a:srgbClr val="000000">
                              <a:alpha val="100000"/>
                            </a:srgbClr>
                          </a:solidFill>
                          <a:latin typeface="Arial" panose="020B0604020202020204"/>
                          <a:ea typeface="Arial" panose="020B0604020202020204"/>
                          <a:cs typeface="Arial" panose="020B0604020202020204"/>
                        </a:rPr>
                        <a:t> </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170" dirty="0">
                          <a:solidFill>
                            <a:srgbClr val="000000">
                              <a:alpha val="100000"/>
                            </a:srgbClr>
                          </a:solidFill>
                          <a:latin typeface="Arial" panose="020B0604020202020204"/>
                          <a:ea typeface="Arial" panose="020B0604020202020204"/>
                          <a:cs typeface="Arial" panose="020B0604020202020204"/>
                        </a:rPr>
                        <a:t> </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6</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3.61</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200" dirty="0">
                          <a:solidFill>
                            <a:srgbClr val="000000">
                              <a:alpha val="100000"/>
                            </a:srgbClr>
                          </a:solidFill>
                          <a:latin typeface="Arial" panose="020B0604020202020204"/>
                          <a:ea typeface="Arial" panose="020B0604020202020204"/>
                          <a:cs typeface="Arial" panose="020B0604020202020204"/>
                        </a:rPr>
                        <a:t> </a:t>
                      </a:r>
                      <a:r>
                        <a:rPr sz="23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Arial" panose="020B0604020202020204"/>
                          <a:ea typeface="Arial" panose="020B0604020202020204"/>
                          <a:cs typeface="Arial" panose="020B0604020202020204"/>
                        </a:rPr>
                        <a:t>−</a:t>
                      </a:r>
                      <a:r>
                        <a:rPr sz="1700" kern="0" spc="60" dirty="0">
                          <a:solidFill>
                            <a:srgbClr val="000000">
                              <a:alpha val="100000"/>
                            </a:srgbClr>
                          </a:solidFill>
                          <a:latin typeface="Times New Roman" panose="02020603050405020304"/>
                          <a:ea typeface="Times New Roman" panose="02020603050405020304"/>
                          <a:cs typeface="Times New Roman" panose="02020603050405020304"/>
                        </a:rPr>
                        <a:t>0.085619</a:t>
                      </a:r>
                      <a:r>
                        <a:rPr sz="2300" kern="0" spc="60" dirty="0">
                          <a:solidFill>
                            <a:srgbClr val="000000">
                              <a:alpha val="100000"/>
                            </a:srgbClr>
                          </a:solidFill>
                          <a:latin typeface="Arial" panose="020B0604020202020204"/>
                          <a:ea typeface="Arial" panose="020B0604020202020204"/>
                          <a:cs typeface="Arial" panose="020B0604020202020204"/>
                        </a:rPr>
                        <a:t>)</a:t>
                      </a:r>
                      <a:endParaRPr sz="2300" dirty="0">
                        <a:latin typeface="Arial" panose="020B0604020202020204"/>
                        <a:ea typeface="Arial" panose="020B0604020202020204"/>
                        <a:cs typeface="Arial" panose="020B0604020202020204"/>
                      </a:endParaRPr>
                    </a:p>
                    <a:p>
                      <a:pPr marL="1303020" algn="l" rtl="0" eaLnBrk="0">
                        <a:lnSpc>
                          <a:spcPct val="85000"/>
                        </a:lnSpc>
                        <a:spcBef>
                          <a:spcPts val="715"/>
                        </a:spcBef>
                      </a:pP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2</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1.9</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3.61</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220" dirty="0">
                          <a:solidFill>
                            <a:srgbClr val="000000">
                              <a:alpha val="100000"/>
                            </a:srgbClr>
                          </a:solidFill>
                          <a:latin typeface="Arial" panose="020B0604020202020204"/>
                          <a:ea typeface="Arial" panose="020B0604020202020204"/>
                          <a:cs typeface="Arial" panose="020B0604020202020204"/>
                        </a:rPr>
                        <a:t> </a:t>
                      </a:r>
                      <a:r>
                        <a:rPr sz="23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Arial" panose="020B0604020202020204"/>
                          <a:ea typeface="Arial" panose="020B0604020202020204"/>
                          <a:cs typeface="Arial" panose="020B0604020202020204"/>
                        </a:rPr>
                        <a:t>−</a:t>
                      </a:r>
                      <a:r>
                        <a:rPr sz="1700" kern="0" spc="50" dirty="0">
                          <a:solidFill>
                            <a:srgbClr val="000000">
                              <a:alpha val="100000"/>
                            </a:srgbClr>
                          </a:solidFill>
                          <a:latin typeface="Times New Roman" panose="02020603050405020304"/>
                          <a:ea typeface="Times New Roman" panose="02020603050405020304"/>
                          <a:cs typeface="Times New Roman" panose="02020603050405020304"/>
                        </a:rPr>
                        <a:t>3.288746</a:t>
                      </a:r>
                      <a:r>
                        <a:rPr sz="2300" kern="0" spc="40" dirty="0">
                          <a:solidFill>
                            <a:srgbClr val="000000">
                              <a:alpha val="100000"/>
                            </a:srgbClr>
                          </a:solidFill>
                          <a:latin typeface="Arial" panose="020B0604020202020204"/>
                          <a:ea typeface="Arial" panose="020B0604020202020204"/>
                          <a:cs typeface="Arial" panose="020B0604020202020204"/>
                        </a:rPr>
                        <a:t>)</a:t>
                      </a:r>
                      <a:endParaRPr sz="2300" dirty="0">
                        <a:latin typeface="Arial" panose="020B0604020202020204"/>
                        <a:ea typeface="Arial" panose="020B0604020202020204"/>
                        <a:cs typeface="Arial" panose="020B0604020202020204"/>
                      </a:endParaRPr>
                    </a:p>
                    <a:p>
                      <a:pPr marL="1246505" algn="l" rtl="0" eaLnBrk="0">
                        <a:lnSpc>
                          <a:spcPct val="80000"/>
                        </a:lnSpc>
                        <a:spcBef>
                          <a:spcPts val="850"/>
                        </a:spcBef>
                      </a:pPr>
                      <a:r>
                        <a:rPr sz="1700" kern="0" spc="10" dirty="0">
                          <a:solidFill>
                            <a:srgbClr val="000000">
                              <a:alpha val="100000"/>
                            </a:srgbClr>
                          </a:solidFill>
                          <a:latin typeface="Arial" panose="020B0604020202020204"/>
                          <a:ea typeface="Arial" panose="020B0604020202020204"/>
                          <a:cs typeface="Arial" panose="020B0604020202020204"/>
                        </a:rPr>
                        <a:t>= </a:t>
                      </a:r>
                      <a:r>
                        <a:rPr sz="1700" kern="0" spc="10" dirty="0">
                          <a:solidFill>
                            <a:srgbClr val="000000">
                              <a:alpha val="100000"/>
                            </a:srgbClr>
                          </a:solidFill>
                          <a:latin typeface="Times New Roman" panose="02020603050405020304"/>
                          <a:ea typeface="Times New Roman" panose="02020603050405020304"/>
                          <a:cs typeface="Times New Roman" panose="02020603050405020304"/>
                        </a:rPr>
                        <a:t>22.4208</a:t>
                      </a:r>
                      <a:endParaRPr sz="1700" dirty="0">
                        <a:latin typeface="Times New Roman" panose="02020603050405020304"/>
                        <a:ea typeface="Times New Roman" panose="02020603050405020304"/>
                        <a:cs typeface="Times New Roman" panose="020206030504050203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5000"/>
                        </a:lnSpc>
                      </a:pPr>
                      <a:endParaRPr sz="500" dirty="0">
                        <a:latin typeface="Arial" panose="020B0604020202020204"/>
                        <a:ea typeface="Arial" panose="020B0604020202020204"/>
                        <a:cs typeface="Arial" panose="020B0604020202020204"/>
                      </a:endParaRPr>
                    </a:p>
                    <a:p>
                      <a:pPr marL="211455" algn="l" rtl="0" eaLnBrk="0">
                        <a:lnSpc>
                          <a:spcPct val="87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预测误差的标准误为 </a:t>
                      </a:r>
                      <a:endParaRPr sz="2100" dirty="0">
                        <a:latin typeface="楷体" panose="02010609060101010101" charset="-122"/>
                        <a:ea typeface="楷体" panose="02010609060101010101" charset="-122"/>
                        <a:cs typeface="楷体" panose="02010609060101010101" charset="-122"/>
                      </a:endParaRPr>
                    </a:p>
                  </a:txBody>
                  <a:tcPr marL="0" marR="0" marT="0" marB="0">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388" name="picture 388"/>
          <p:cNvPicPr>
            <a:picLocks noChangeAspect="1"/>
          </p:cNvPicPr>
          <p:nvPr/>
        </p:nvPicPr>
        <p:blipFill>
          <a:blip r:embed="rId1"/>
          <a:stretch>
            <a:fillRect/>
          </a:stretch>
        </p:blipFill>
        <p:spPr>
          <a:xfrm rot="21600000">
            <a:off x="3818528" y="6004033"/>
            <a:ext cx="3026234" cy="335576"/>
          </a:xfrm>
          <a:prstGeom prst="rect">
            <a:avLst/>
          </a:prstGeom>
        </p:spPr>
      </p:pic>
      <p:sp>
        <p:nvSpPr>
          <p:cNvPr id="390" name="textbox 390"/>
          <p:cNvSpPr/>
          <p:nvPr/>
        </p:nvSpPr>
        <p:spPr>
          <a:xfrm>
            <a:off x="5872054" y="2576559"/>
            <a:ext cx="86994" cy="1460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9000"/>
              </a:lnSpc>
            </a:pPr>
            <a:r>
              <a:rPr sz="1000"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000" dirty="0">
              <a:latin typeface="Times New Roman" panose="02020603050405020304"/>
              <a:ea typeface="Times New Roman" panose="02020603050405020304"/>
              <a:cs typeface="Times New Roman" panose="02020603050405020304"/>
            </a:endParaRPr>
          </a:p>
        </p:txBody>
      </p:sp>
      <p:sp>
        <p:nvSpPr>
          <p:cNvPr id="392" name="textbox 392"/>
          <p:cNvSpPr/>
          <p:nvPr/>
        </p:nvSpPr>
        <p:spPr>
          <a:xfrm>
            <a:off x="5883268" y="2416119"/>
            <a:ext cx="88900" cy="1460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9000"/>
              </a:lnSpc>
            </a:pPr>
            <a:r>
              <a:rPr sz="10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000" dirty="0">
              <a:latin typeface="Times New Roman" panose="02020603050405020304"/>
              <a:ea typeface="Times New Roman" panose="02020603050405020304"/>
              <a:cs typeface="Times New Roman" panose="02020603050405020304"/>
            </a:endParaRPr>
          </a:p>
        </p:txBody>
      </p:sp>
      <p:sp>
        <p:nvSpPr>
          <p:cNvPr id="394" name="textbox 394"/>
          <p:cNvSpPr/>
          <p:nvPr/>
        </p:nvSpPr>
        <p:spPr>
          <a:xfrm>
            <a:off x="4736060" y="2576559"/>
            <a:ext cx="86994" cy="1460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9000"/>
              </a:lnSpc>
            </a:pPr>
            <a:r>
              <a:rPr sz="1000"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000" dirty="0">
              <a:latin typeface="Times New Roman" panose="02020603050405020304"/>
              <a:ea typeface="Times New Roman" panose="02020603050405020304"/>
              <a:cs typeface="Times New Roman" panose="02020603050405020304"/>
            </a:endParaRPr>
          </a:p>
        </p:txBody>
      </p:sp>
      <p:sp>
        <p:nvSpPr>
          <p:cNvPr id="396" name="textbox 396"/>
          <p:cNvSpPr/>
          <p:nvPr/>
        </p:nvSpPr>
        <p:spPr>
          <a:xfrm>
            <a:off x="4734345" y="2416118"/>
            <a:ext cx="88900" cy="1460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9000"/>
              </a:lnSpc>
            </a:pPr>
            <a:r>
              <a:rPr sz="10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000" dirty="0">
              <a:latin typeface="Times New Roman" panose="02020603050405020304"/>
              <a:ea typeface="Times New Roman" panose="02020603050405020304"/>
              <a:cs typeface="Times New Roman" panose="02020603050405020304"/>
            </a:endParaRPr>
          </a:p>
        </p:txBody>
      </p:sp>
      <p:sp>
        <p:nvSpPr>
          <p:cNvPr id="398" name="textbox 398"/>
          <p:cNvSpPr/>
          <p:nvPr/>
        </p:nvSpPr>
        <p:spPr>
          <a:xfrm>
            <a:off x="3587357" y="2576559"/>
            <a:ext cx="86994" cy="1460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9000"/>
              </a:lnSpc>
            </a:pPr>
            <a:r>
              <a:rPr sz="1000" kern="0" spc="-10" dirty="0">
                <a:solidFill>
                  <a:srgbClr val="000000">
                    <a:alpha val="100000"/>
                  </a:srgbClr>
                </a:solidFill>
                <a:latin typeface="Times New Roman" panose="02020603050405020304"/>
                <a:ea typeface="Times New Roman" panose="02020603050405020304"/>
                <a:cs typeface="Times New Roman" panose="02020603050405020304"/>
              </a:rPr>
              <a:t>0</a:t>
            </a:r>
            <a:endParaRPr sz="1000" dirty="0">
              <a:latin typeface="Times New Roman" panose="02020603050405020304"/>
              <a:ea typeface="Times New Roman" panose="02020603050405020304"/>
              <a:cs typeface="Times New Roman" panose="02020603050405020304"/>
            </a:endParaRPr>
          </a:p>
        </p:txBody>
      </p:sp>
      <p:sp>
        <p:nvSpPr>
          <p:cNvPr id="400" name="textbox 400"/>
          <p:cNvSpPr/>
          <p:nvPr/>
        </p:nvSpPr>
        <p:spPr>
          <a:xfrm>
            <a:off x="3576554" y="2416118"/>
            <a:ext cx="88900" cy="14605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79000"/>
              </a:lnSpc>
            </a:pPr>
            <a:r>
              <a:rPr sz="10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sz="1000" dirty="0">
              <a:latin typeface="Times New Roman" panose="02020603050405020304"/>
              <a:ea typeface="Times New Roman" panose="02020603050405020304"/>
              <a:cs typeface="Times New Roman" panose="02020603050405020304"/>
            </a:endParaRPr>
          </a:p>
        </p:txBody>
      </p:sp>
      <p:sp>
        <p:nvSpPr>
          <p:cNvPr id="402" name="textbox 402"/>
          <p:cNvSpPr/>
          <p:nvPr/>
        </p:nvSpPr>
        <p:spPr>
          <a:xfrm>
            <a:off x="2225977" y="2452201"/>
            <a:ext cx="140335" cy="232409"/>
          </a:xfrm>
          <a:prstGeom prst="rect">
            <a:avLst/>
          </a:prstGeom>
          <a:noFill/>
          <a:ln w="0" cap="flat">
            <a:noFill/>
            <a:prstDash val="solid"/>
            <a:miter lim="0"/>
          </a:ln>
        </p:spPr>
        <p:txBody>
          <a:bodyPr vert="horz" wrap="square" lIns="0" tIns="0" rIns="0" bIns="0"/>
          <a:lstStyle/>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80000"/>
              </a:lnSpc>
            </a:pPr>
            <a:r>
              <a:rPr sz="1700" kern="0" spc="-10" dirty="0">
                <a:solidFill>
                  <a:srgbClr val="000000">
                    <a:alpha val="100000"/>
                  </a:srgbClr>
                </a:solidFill>
                <a:latin typeface="Times New Roman" panose="02020603050405020304"/>
                <a:ea typeface="Times New Roman" panose="02020603050405020304"/>
                <a:cs typeface="Times New Roman" panose="02020603050405020304"/>
              </a:rPr>
              <a:t>σ</a:t>
            </a:r>
            <a:endParaRPr sz="1700" dirty="0">
              <a:latin typeface="Times New Roman" panose="02020603050405020304"/>
              <a:ea typeface="Times New Roman" panose="02020603050405020304"/>
              <a:cs typeface="Times New Roman" panose="02020603050405020304"/>
            </a:endParaRPr>
          </a:p>
        </p:txBody>
      </p:sp>
      <p:sp>
        <p:nvSpPr>
          <p:cNvPr id="404" name="textbox 404"/>
          <p:cNvSpPr/>
          <p:nvPr/>
        </p:nvSpPr>
        <p:spPr>
          <a:xfrm>
            <a:off x="2211407" y="2441832"/>
            <a:ext cx="94614" cy="23240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1625"/>
              </a:lnSpc>
            </a:pPr>
            <a:r>
              <a:rPr sz="1200" kern="0" spc="-40" dirty="0">
                <a:solidFill>
                  <a:srgbClr val="000000">
                    <a:alpha val="100000"/>
                  </a:srgbClr>
                </a:solidFill>
                <a:latin typeface="Times New Roman" panose="02020603050405020304"/>
                <a:ea typeface="Times New Roman" panose="02020603050405020304"/>
                <a:cs typeface="Times New Roman" panose="02020603050405020304"/>
              </a:rPr>
              <a:t>^</a:t>
            </a:r>
            <a:endParaRPr sz="1200" dirty="0">
              <a:latin typeface="Times New Roman" panose="02020603050405020304"/>
              <a:ea typeface="Times New Roman" panose="02020603050405020304"/>
              <a:cs typeface="Times New Roman" panose="02020603050405020304"/>
            </a:endParaRPr>
          </a:p>
        </p:txBody>
      </p:sp>
      <p:pic>
        <p:nvPicPr>
          <p:cNvPr id="406" name="picture 406"/>
          <p:cNvPicPr>
            <a:picLocks noChangeAspect="1"/>
          </p:cNvPicPr>
          <p:nvPr/>
        </p:nvPicPr>
        <p:blipFill>
          <a:blip r:embed="rId2"/>
          <a:stretch>
            <a:fillRect/>
          </a:stretch>
        </p:blipFill>
        <p:spPr>
          <a:xfrm rot="21600000">
            <a:off x="1046988" y="144780"/>
            <a:ext cx="7050023" cy="1556003"/>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0" name="table 410"/>
          <p:cNvGraphicFramePr>
            <a:graphicFrameLocks noGrp="1"/>
          </p:cNvGraphicFramePr>
          <p:nvPr/>
        </p:nvGraphicFramePr>
        <p:xfrm>
          <a:off x="60832" y="66928"/>
          <a:ext cx="9018905" cy="6699248"/>
        </p:xfrm>
        <a:graphic>
          <a:graphicData uri="http://schemas.openxmlformats.org/drawingml/2006/table">
            <a:tbl>
              <a:tblPr/>
              <a:tblGrid>
                <a:gridCol w="9018905"/>
              </a:tblGrid>
              <a:tr h="6091554">
                <a:tc>
                  <a:txBody>
                    <a:bodyPr/>
                    <a:lstStyle/>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marL="654050" algn="l" rtl="0" eaLnBrk="0">
                        <a:lnSpc>
                          <a:spcPct val="94000"/>
                        </a:lnSpc>
                        <a:spcBef>
                          <a:spcPts val="5"/>
                        </a:spcBef>
                      </a:pPr>
                      <a:r>
                        <a:rPr sz="1800" kern="0" spc="-3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30" dirty="0">
                          <a:solidFill>
                            <a:srgbClr val="000000">
                              <a:alpha val="100000"/>
                            </a:srgbClr>
                          </a:solidFill>
                          <a:latin typeface="Times New Roman" panose="02020603050405020304"/>
                          <a:ea typeface="Times New Roman" panose="02020603050405020304"/>
                          <a:cs typeface="Times New Roman" panose="02020603050405020304"/>
                        </a:rPr>
                        <a:t>95%</a:t>
                      </a:r>
                      <a:r>
                        <a:rPr sz="2100" kern="0" spc="24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30" dirty="0">
                          <a:solidFill>
                            <a:srgbClr val="000000">
                              <a:alpha val="100000"/>
                            </a:srgbClr>
                          </a:solidFill>
                          <a:latin typeface="楷体" panose="02010609060101010101" charset="-122"/>
                          <a:ea typeface="楷体" panose="02010609060101010101" charset="-122"/>
                          <a:cs typeface="楷体" panose="02010609060101010101" charset="-122"/>
                        </a:rPr>
                        <a:t>的预测</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区间为：</a:t>
                      </a:r>
                      <a:endParaRPr sz="2100" dirty="0">
                        <a:latin typeface="楷体" panose="02010609060101010101" charset="-122"/>
                        <a:ea typeface="楷体" panose="02010609060101010101" charset="-122"/>
                        <a:cs typeface="楷体" panose="02010609060101010101" charset="-122"/>
                      </a:endParaRPr>
                    </a:p>
                    <a:p>
                      <a:pPr algn="l" rtl="0" eaLnBrk="0">
                        <a:lnSpc>
                          <a:spcPct val="127000"/>
                        </a:lnSpc>
                      </a:pPr>
                      <a:endParaRPr sz="1000" dirty="0">
                        <a:latin typeface="Arial" panose="020B0604020202020204"/>
                        <a:ea typeface="Arial" panose="020B0604020202020204"/>
                        <a:cs typeface="Arial" panose="020B0604020202020204"/>
                      </a:endParaRPr>
                    </a:p>
                    <a:p>
                      <a:pPr marL="1016635" algn="l" rtl="0" eaLnBrk="0">
                        <a:lnSpc>
                          <a:spcPct val="85000"/>
                        </a:lnSpc>
                        <a:spcBef>
                          <a:spcPts val="760"/>
                        </a:spcBef>
                      </a:pPr>
                      <a:r>
                        <a:rPr sz="25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76.974</a:t>
                      </a:r>
                      <a:r>
                        <a:rPr sz="1900" kern="0" spc="-15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1.9939</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240" dirty="0">
                          <a:solidFill>
                            <a:srgbClr val="000000">
                              <a:alpha val="100000"/>
                            </a:srgbClr>
                          </a:solidFill>
                          <a:latin typeface="Arial" panose="020B0604020202020204"/>
                          <a:ea typeface="Arial" panose="020B0604020202020204"/>
                          <a:cs typeface="Arial" panose="020B0604020202020204"/>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4.7351,</a:t>
                      </a:r>
                      <a:r>
                        <a:rPr sz="19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76.974</a:t>
                      </a:r>
                      <a:r>
                        <a:rPr sz="1900"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1.9939</a:t>
                      </a:r>
                      <a:r>
                        <a:rPr sz="1900" kern="0" spc="20" dirty="0">
                          <a:solidFill>
                            <a:srgbClr val="000000">
                              <a:alpha val="100000"/>
                            </a:srgbClr>
                          </a:solidFill>
                          <a:latin typeface="Arial" panose="020B0604020202020204"/>
                          <a:ea typeface="Arial" panose="020B0604020202020204"/>
                          <a:cs typeface="Arial" panose="020B0604020202020204"/>
                        </a:rPr>
                        <a:t>×</a:t>
                      </a:r>
                      <a:r>
                        <a:rPr sz="1900" kern="0" spc="-250" dirty="0">
                          <a:solidFill>
                            <a:srgbClr val="000000">
                              <a:alpha val="100000"/>
                            </a:srgbClr>
                          </a:solidFill>
                          <a:latin typeface="Arial" panose="020B0604020202020204"/>
                          <a:ea typeface="Arial" panose="020B0604020202020204"/>
                          <a:cs typeface="Arial" panose="020B0604020202020204"/>
                        </a:rPr>
                        <a:t> </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4.7351</a:t>
                      </a:r>
                      <a:r>
                        <a:rPr sz="2500" kern="0" spc="20" dirty="0">
                          <a:solidFill>
                            <a:srgbClr val="000000">
                              <a:alpha val="100000"/>
                            </a:srgbClr>
                          </a:solidFill>
                          <a:latin typeface="Arial" panose="020B0604020202020204"/>
                          <a:ea typeface="Arial" panose="020B0604020202020204"/>
                          <a:cs typeface="Arial" panose="020B0604020202020204"/>
                        </a:rPr>
                        <a:t>)</a:t>
                      </a:r>
                      <a:r>
                        <a:rPr sz="2500" kern="0" spc="-250" dirty="0">
                          <a:solidFill>
                            <a:srgbClr val="000000">
                              <a:alpha val="100000"/>
                            </a:srgbClr>
                          </a:solidFill>
                          <a:latin typeface="Arial" panose="020B0604020202020204"/>
                          <a:ea typeface="Arial" panose="020B0604020202020204"/>
                          <a:cs typeface="Arial" panose="020B0604020202020204"/>
                        </a:rPr>
                        <a:t> </a:t>
                      </a:r>
                      <a:r>
                        <a:rPr sz="1900" kern="0" spc="20" dirty="0">
                          <a:solidFill>
                            <a:srgbClr val="000000">
                              <a:alpha val="100000"/>
                            </a:srgbClr>
                          </a:solidFill>
                          <a:latin typeface="Arial" panose="020B0604020202020204"/>
                          <a:ea typeface="Arial" panose="020B0604020202020204"/>
                          <a:cs typeface="Arial" panose="020B0604020202020204"/>
                        </a:rPr>
                        <a:t>= </a:t>
                      </a:r>
                      <a:r>
                        <a:rPr sz="2500" kern="0" spc="20" dirty="0">
                          <a:solidFill>
                            <a:srgbClr val="000000">
                              <a:alpha val="100000"/>
                            </a:srgbClr>
                          </a:solidFill>
                          <a:latin typeface="Arial" panose="020B0604020202020204"/>
                          <a:ea typeface="Arial" panose="020B0604020202020204"/>
                          <a:cs typeface="Arial" panose="020B0604020202020204"/>
                        </a:rPr>
                        <a:t>(</a:t>
                      </a:r>
                      <a:r>
                        <a:rPr sz="1900" kern="0" spc="20" dirty="0">
                          <a:solidFill>
                            <a:srgbClr val="000000">
                              <a:alpha val="100000"/>
                            </a:srgbClr>
                          </a:solidFill>
                          <a:latin typeface="Times New Roman" panose="02020603050405020304"/>
                          <a:ea typeface="Times New Roman" panose="02020603050405020304"/>
                          <a:cs typeface="Times New Roman" panose="02020603050405020304"/>
                        </a:rPr>
                        <a:t>67.5</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33,86.415</a:t>
                      </a:r>
                      <a:r>
                        <a:rPr sz="2500" kern="0" spc="10" dirty="0">
                          <a:solidFill>
                            <a:srgbClr val="000000">
                              <a:alpha val="100000"/>
                            </a:srgbClr>
                          </a:solidFill>
                          <a:latin typeface="Arial" panose="020B0604020202020204"/>
                          <a:ea typeface="Arial" panose="020B0604020202020204"/>
                          <a:cs typeface="Arial" panose="020B0604020202020204"/>
                        </a:rPr>
                        <a:t>)</a:t>
                      </a:r>
                      <a:endParaRPr sz="25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913130" indent="-259080" algn="l" rtl="0" eaLnBrk="0">
                        <a:lnSpc>
                          <a:spcPct val="128000"/>
                        </a:lnSpc>
                        <a:spcBef>
                          <a:spcPts val="635"/>
                        </a:spcBef>
                      </a:pPr>
                      <a:r>
                        <a:rPr sz="1800" kern="0" spc="8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我们预测，在</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95%</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的置信水平上，设定的广告支出</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和价格会增</a:t>
                      </a:r>
                      <a:r>
                        <a:rPr sz="2100" kern="0" spc="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加销售收入的额度在</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$67,533</a:t>
                      </a:r>
                      <a:r>
                        <a:rPr sz="2100" kern="0" spc="80" dirty="0">
                          <a:solidFill>
                            <a:srgbClr val="000000">
                              <a:alpha val="100000"/>
                            </a:srgbClr>
                          </a:solidFill>
                          <a:latin typeface="楷体" panose="02010609060101010101" charset="-122"/>
                          <a:ea typeface="楷体" panose="02010609060101010101" charset="-122"/>
                          <a:cs typeface="楷体" panose="02010609060101010101" charset="-122"/>
                        </a:rPr>
                        <a:t>和</a:t>
                      </a:r>
                      <a:r>
                        <a:rPr sz="2100" kern="0" spc="-38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80" dirty="0">
                          <a:solidFill>
                            <a:srgbClr val="000000">
                              <a:alpha val="100000"/>
                            </a:srgbClr>
                          </a:solidFill>
                          <a:latin typeface="Times New Roman" panose="02020603050405020304"/>
                          <a:ea typeface="Times New Roman" panose="02020603050405020304"/>
                          <a:cs typeface="Times New Roman" panose="02020603050405020304"/>
                        </a:rPr>
                        <a:t>$86</a:t>
                      </a:r>
                      <a:r>
                        <a:rPr sz="2100" kern="0" spc="70" dirty="0">
                          <a:solidFill>
                            <a:srgbClr val="000000">
                              <a:alpha val="100000"/>
                            </a:srgbClr>
                          </a:solidFill>
                          <a:latin typeface="Times New Roman" panose="02020603050405020304"/>
                          <a:ea typeface="Times New Roman" panose="02020603050405020304"/>
                          <a:cs typeface="Times New Roman" panose="02020603050405020304"/>
                        </a:rPr>
                        <a:t>.415</a:t>
                      </a:r>
                      <a:r>
                        <a:rPr sz="2100" kern="0" spc="70" dirty="0">
                          <a:solidFill>
                            <a:srgbClr val="000000">
                              <a:alpha val="100000"/>
                            </a:srgbClr>
                          </a:solidFill>
                          <a:latin typeface="楷体" panose="02010609060101010101" charset="-122"/>
                          <a:ea typeface="楷体" panose="02010609060101010101" charset="-122"/>
                          <a:cs typeface="楷体" panose="02010609060101010101" charset="-122"/>
                        </a:rPr>
                        <a:t>之间。</a:t>
                      </a:r>
                      <a:endParaRPr sz="2100" dirty="0">
                        <a:latin typeface="楷体" panose="02010609060101010101" charset="-122"/>
                        <a:ea typeface="楷体" panose="02010609060101010101" charset="-122"/>
                        <a:cs typeface="楷体" panose="02010609060101010101" charset="-122"/>
                      </a:endParaRPr>
                    </a:p>
                    <a:p>
                      <a:pPr algn="l" rtl="0" eaLnBrk="0">
                        <a:lnSpc>
                          <a:spcPct val="118000"/>
                        </a:lnSpc>
                      </a:pPr>
                      <a:endParaRPr sz="1000" dirty="0">
                        <a:latin typeface="Arial" panose="020B0604020202020204"/>
                        <a:ea typeface="Arial" panose="020B0604020202020204"/>
                        <a:cs typeface="Arial" panose="020B0604020202020204"/>
                      </a:endParaRPr>
                    </a:p>
                    <a:p>
                      <a:pPr marL="654050" algn="l" rtl="0" eaLnBrk="0">
                        <a:lnSpc>
                          <a:spcPct val="87000"/>
                        </a:lnSpc>
                        <a:spcBef>
                          <a:spcPts val="635"/>
                        </a:spcBef>
                      </a:pPr>
                      <a:r>
                        <a:rPr sz="1800" kern="0" spc="4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5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2100" kern="0" spc="40" dirty="0">
                          <a:solidFill>
                            <a:srgbClr val="000000">
                              <a:alpha val="100000"/>
                            </a:srgbClr>
                          </a:solidFill>
                          <a:latin typeface="楷体" panose="02010609060101010101" charset="-122"/>
                          <a:ea typeface="楷体" panose="02010609060101010101" charset="-122"/>
                          <a:cs typeface="楷体" panose="02010609060101010101" charset="-122"/>
                        </a:rPr>
                        <a:t>点预测和点估计是一样的：</a:t>
                      </a:r>
                      <a:endParaRPr sz="2100" dirty="0">
                        <a:latin typeface="楷体" panose="02010609060101010101" charset="-122"/>
                        <a:ea typeface="楷体" panose="02010609060101010101" charset="-122"/>
                        <a:cs typeface="楷体" panose="02010609060101010101" charset="-122"/>
                      </a:endParaRPr>
                    </a:p>
                    <a:p>
                      <a:pPr marL="3176270" algn="l" rtl="0" eaLnBrk="0">
                        <a:lnSpc>
                          <a:spcPts val="870"/>
                        </a:lnSpc>
                        <a:spcBef>
                          <a:spcPts val="1475"/>
                        </a:spcBef>
                      </a:pPr>
                      <a:r>
                        <a:rPr sz="1900" kern="0" spc="-20" baseline="-10000" dirty="0">
                          <a:solidFill>
                            <a:srgbClr val="000000">
                              <a:alpha val="100000"/>
                            </a:srgbClr>
                          </a:solidFill>
                          <a:latin typeface="Arial" panose="020B0604020202020204"/>
                          <a:ea typeface="Arial" panose="020B0604020202020204"/>
                          <a:cs typeface="Arial" panose="020B0604020202020204"/>
                        </a:rPr>
                        <a:t>Λ</a:t>
                      </a:r>
                      <a:r>
                        <a:rPr sz="1200" kern="0" spc="-20" dirty="0">
                          <a:solidFill>
                            <a:srgbClr val="000000">
                              <a:alpha val="100000"/>
                            </a:srgbClr>
                          </a:solidFill>
                          <a:latin typeface="Arial" panose="020B0604020202020204"/>
                          <a:ea typeface="Arial" panose="020B0604020202020204"/>
                          <a:cs typeface="Arial" panose="020B0604020202020204"/>
                        </a:rPr>
                        <a:t>                               </a:t>
                      </a:r>
                      <a:r>
                        <a:rPr sz="1900" kern="0" spc="-30" baseline="-4000" dirty="0">
                          <a:solidFill>
                            <a:srgbClr val="000000">
                              <a:alpha val="100000"/>
                            </a:srgbClr>
                          </a:solidFill>
                          <a:latin typeface="Arial" panose="020B0604020202020204"/>
                          <a:ea typeface="Arial" panose="020B0604020202020204"/>
                          <a:cs typeface="Arial" panose="020B0604020202020204"/>
                        </a:rPr>
                        <a:t>Λ</a:t>
                      </a:r>
                      <a:endParaRPr sz="1900" baseline="-4000" dirty="0">
                        <a:latin typeface="Arial" panose="020B0604020202020204"/>
                        <a:ea typeface="Arial" panose="020B0604020202020204"/>
                        <a:cs typeface="Arial" panose="020B0604020202020204"/>
                      </a:endParaRPr>
                    </a:p>
                    <a:p>
                      <a:pPr marL="2795905" algn="l" rtl="0" eaLnBrk="0">
                        <a:lnSpc>
                          <a:spcPct val="100000"/>
                        </a:lnSpc>
                        <a:spcBef>
                          <a:spcPts val="0"/>
                        </a:spcBef>
                      </a:pP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SALES</a:t>
                      </a:r>
                      <a:r>
                        <a:rPr sz="1900" kern="0" spc="-10" baseline="-25000" dirty="0">
                          <a:solidFill>
                            <a:srgbClr val="000000">
                              <a:alpha val="100000"/>
                            </a:srgbClr>
                          </a:solidFill>
                          <a:latin typeface="Times New Roman" panose="02020603050405020304"/>
                          <a:ea typeface="Times New Roman" panose="02020603050405020304"/>
                          <a:cs typeface="Times New Roman" panose="02020603050405020304"/>
                        </a:rPr>
                        <a:t>0</a:t>
                      </a:r>
                      <a:r>
                        <a:rPr sz="1200" kern="0" spc="-1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10" dirty="0">
                          <a:solidFill>
                            <a:srgbClr val="000000">
                              <a:alpha val="100000"/>
                            </a:srgbClr>
                          </a:solidFill>
                          <a:latin typeface="Arial" panose="020B0604020202020204"/>
                          <a:ea typeface="Arial" panose="020B0604020202020204"/>
                          <a:cs typeface="Arial" panose="020B0604020202020204"/>
                        </a:rPr>
                        <a:t>= </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21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100" i="1" kern="0" spc="-10" dirty="0">
                          <a:solidFill>
                            <a:srgbClr val="000000">
                              <a:alpha val="100000"/>
                            </a:srgbClr>
                          </a:solidFill>
                          <a:latin typeface="Times New Roman" panose="02020603050405020304"/>
                          <a:ea typeface="Times New Roman" panose="02020603050405020304"/>
                          <a:cs typeface="Times New Roman" panose="02020603050405020304"/>
                        </a:rPr>
                        <a:t>SALES</a:t>
                      </a:r>
                      <a:r>
                        <a:rPr sz="1900" kern="0" spc="-10" baseline="-25000" dirty="0">
                          <a:solidFill>
                            <a:srgbClr val="000000">
                              <a:alpha val="100000"/>
                            </a:srgbClr>
                          </a:solidFill>
                          <a:latin typeface="Times New Roman" panose="02020603050405020304"/>
                          <a:ea typeface="Times New Roman" panose="02020603050405020304"/>
                          <a:cs typeface="Times New Roman" panose="02020603050405020304"/>
                        </a:rPr>
                        <a:t>0</a:t>
                      </a:r>
                      <a:r>
                        <a:rPr sz="1200" kern="0" spc="80" dirty="0">
                          <a:solidFill>
                            <a:srgbClr val="000000">
                              <a:alpha val="100000"/>
                            </a:srgbClr>
                          </a:solidFill>
                          <a:latin typeface="Times New Roman" panose="02020603050405020304"/>
                          <a:ea typeface="Times New Roman" panose="02020603050405020304"/>
                          <a:cs typeface="Times New Roman" panose="02020603050405020304"/>
                        </a:rPr>
                        <a:t> </a:t>
                      </a:r>
                      <a:r>
                        <a:rPr sz="2700" kern="0" spc="-10" dirty="0">
                          <a:solidFill>
                            <a:srgbClr val="000000">
                              <a:alpha val="100000"/>
                            </a:srgbClr>
                          </a:solidFill>
                          <a:latin typeface="Arial" panose="020B0604020202020204"/>
                          <a:ea typeface="Arial" panose="020B0604020202020204"/>
                          <a:cs typeface="Arial" panose="020B0604020202020204"/>
                        </a:rPr>
                        <a:t>)</a:t>
                      </a:r>
                      <a:r>
                        <a:rPr sz="2700" kern="0" spc="-25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Arial" panose="020B0604020202020204"/>
                          <a:ea typeface="Arial" panose="020B0604020202020204"/>
                          <a:cs typeface="Arial" panose="020B0604020202020204"/>
                        </a:rPr>
                        <a:t>= </a:t>
                      </a:r>
                      <a:r>
                        <a:rPr sz="2100" kern="0" spc="-10" dirty="0">
                          <a:solidFill>
                            <a:srgbClr val="000000">
                              <a:alpha val="100000"/>
                            </a:srgbClr>
                          </a:solidFill>
                          <a:latin typeface="Times New Roman" panose="02020603050405020304"/>
                          <a:ea typeface="Times New Roman" panose="02020603050405020304"/>
                          <a:cs typeface="Times New Roman" panose="02020603050405020304"/>
                        </a:rPr>
                        <a:t>76.974</a:t>
                      </a:r>
                      <a:endParaRPr sz="2100" dirty="0">
                        <a:latin typeface="Times New Roman" panose="02020603050405020304"/>
                        <a:ea typeface="Times New Roman" panose="02020603050405020304"/>
                        <a:cs typeface="Times New Roman" panose="02020603050405020304"/>
                      </a:endParaRPr>
                    </a:p>
                    <a:p>
                      <a:pPr marL="1576070" algn="l" rtl="0" eaLnBrk="0">
                        <a:lnSpc>
                          <a:spcPts val="730"/>
                        </a:lnSpc>
                        <a:spcBef>
                          <a:spcPts val="605"/>
                        </a:spcBef>
                      </a:pPr>
                      <a:r>
                        <a:rPr sz="1100" kern="0" spc="-20" dirty="0">
                          <a:solidFill>
                            <a:srgbClr val="000000">
                              <a:alpha val="100000"/>
                            </a:srgbClr>
                          </a:solidFill>
                          <a:latin typeface="Arial" panose="020B0604020202020204"/>
                          <a:ea typeface="Arial" panose="020B0604020202020204"/>
                          <a:cs typeface="Arial" panose="020B0604020202020204"/>
                        </a:rPr>
                        <a:t>Λ</a:t>
                      </a:r>
                      <a:endParaRPr sz="1100" dirty="0">
                        <a:latin typeface="Arial" panose="020B0604020202020204"/>
                        <a:ea typeface="Arial" panose="020B0604020202020204"/>
                        <a:cs typeface="Arial" panose="020B0604020202020204"/>
                      </a:endParaRPr>
                    </a:p>
                    <a:p>
                      <a:pPr marL="654050" algn="l" rtl="0" eaLnBrk="0">
                        <a:lnSpc>
                          <a:spcPct val="85000"/>
                        </a:lnSpc>
                        <a:spcBef>
                          <a:spcPts val="5"/>
                        </a:spcBef>
                      </a:pPr>
                      <a:r>
                        <a:rPr sz="1800" kern="0" spc="-50" dirty="0">
                          <a:solidFill>
                            <a:srgbClr val="D34817">
                              <a:alpha val="100000"/>
                            </a:srgbClr>
                          </a:solidFill>
                          <a:latin typeface="微软雅黑" panose="020B0503020204020204" charset="-122"/>
                          <a:ea typeface="微软雅黑" panose="020B0503020204020204" charset="-122"/>
                          <a:cs typeface="微软雅黑" panose="020B0503020204020204" charset="-122"/>
                        </a:rPr>
                        <a:t>●</a:t>
                      </a:r>
                      <a:r>
                        <a:rPr sz="1800" kern="0" spc="120" dirty="0">
                          <a:solidFill>
                            <a:srgbClr val="D34817">
                              <a:alpha val="100000"/>
                            </a:srgbClr>
                          </a:solidFill>
                          <a:latin typeface="微软雅黑" panose="020B0503020204020204" charset="-122"/>
                          <a:ea typeface="微软雅黑" panose="020B0503020204020204" charset="-122"/>
                          <a:cs typeface="微软雅黑" panose="020B0503020204020204" charset="-122"/>
                        </a:rPr>
                        <a:t>   </a:t>
                      </a:r>
                      <a:r>
                        <a:rPr sz="30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E</a:t>
                      </a:r>
                      <a:r>
                        <a:rPr sz="1900" i="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50" dirty="0">
                          <a:solidFill>
                            <a:srgbClr val="000000">
                              <a:alpha val="100000"/>
                            </a:srgbClr>
                          </a:solidFill>
                          <a:latin typeface="Arial" panose="020B0604020202020204"/>
                          <a:ea typeface="Arial" panose="020B0604020202020204"/>
                          <a:cs typeface="Arial" panose="020B0604020202020204"/>
                        </a:rPr>
                        <a:t>(</a:t>
                      </a:r>
                      <a:r>
                        <a:rPr sz="3000" i="1" kern="0" spc="-50" baseline="3000" dirty="0">
                          <a:solidFill>
                            <a:srgbClr val="000000">
                              <a:alpha val="100000"/>
                            </a:srgbClr>
                          </a:solidFill>
                          <a:latin typeface="Times New Roman" panose="02020603050405020304"/>
                          <a:ea typeface="Times New Roman" panose="02020603050405020304"/>
                          <a:cs typeface="Times New Roman" panose="02020603050405020304"/>
                        </a:rPr>
                        <a:t>SALES</a:t>
                      </a:r>
                      <a:r>
                        <a:rPr sz="1700" kern="0" spc="-50" baseline="-25000" dirty="0">
                          <a:solidFill>
                            <a:srgbClr val="000000">
                              <a:alpha val="100000"/>
                            </a:srgbClr>
                          </a:solidFill>
                          <a:latin typeface="Times New Roman" panose="02020603050405020304"/>
                          <a:ea typeface="Times New Roman" panose="02020603050405020304"/>
                          <a:cs typeface="Times New Roman" panose="02020603050405020304"/>
                        </a:rPr>
                        <a:t>0</a:t>
                      </a:r>
                      <a:r>
                        <a:rPr sz="1100" kern="0" spc="9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50" dirty="0">
                          <a:solidFill>
                            <a:srgbClr val="000000">
                              <a:alpha val="100000"/>
                            </a:srgbClr>
                          </a:solidFill>
                          <a:latin typeface="Arial" panose="020B0604020202020204"/>
                          <a:ea typeface="Arial" panose="020B0604020202020204"/>
                          <a:cs typeface="Arial" panose="020B0604020202020204"/>
                        </a:rPr>
                        <a:t>) </a:t>
                      </a:r>
                      <a:r>
                        <a:rPr sz="2100" kern="0" spc="-50" dirty="0">
                          <a:solidFill>
                            <a:srgbClr val="000000">
                              <a:alpha val="100000"/>
                            </a:srgbClr>
                          </a:solidFill>
                          <a:latin typeface="楷体" panose="02010609060101010101" charset="-122"/>
                          <a:ea typeface="楷体" panose="02010609060101010101" charset="-122"/>
                          <a:cs typeface="楷体" panose="02010609060101010101" charset="-122"/>
                        </a:rPr>
                        <a:t>的</a:t>
                      </a:r>
                      <a:r>
                        <a:rPr sz="2100" kern="0" spc="-410" dirty="0">
                          <a:solidFill>
                            <a:srgbClr val="000000">
                              <a:alpha val="100000"/>
                            </a:srgbClr>
                          </a:solidFill>
                          <a:latin typeface="楷体" panose="02010609060101010101" charset="-122"/>
                          <a:ea typeface="楷体" panose="02010609060101010101" charset="-122"/>
                          <a:cs typeface="楷体" panose="02010609060101010101" charset="-122"/>
                        </a:rPr>
                        <a:t> </a:t>
                      </a:r>
                      <a:r>
                        <a:rPr sz="2100" kern="0" spc="-60" dirty="0">
                          <a:solidFill>
                            <a:srgbClr val="000000">
                              <a:alpha val="100000"/>
                            </a:srgbClr>
                          </a:solidFill>
                          <a:latin typeface="Times New Roman" panose="02020603050405020304"/>
                          <a:ea typeface="Times New Roman" panose="02020603050405020304"/>
                          <a:cs typeface="Times New Roman" panose="02020603050405020304"/>
                        </a:rPr>
                        <a:t>95%</a:t>
                      </a:r>
                      <a:r>
                        <a:rPr sz="21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2100" kern="0" spc="-60" dirty="0">
                          <a:solidFill>
                            <a:srgbClr val="000000">
                              <a:alpha val="100000"/>
                            </a:srgbClr>
                          </a:solidFill>
                          <a:latin typeface="楷体" panose="02010609060101010101" charset="-122"/>
                          <a:ea typeface="楷体" panose="02010609060101010101" charset="-122"/>
                          <a:cs typeface="楷体" panose="02010609060101010101" charset="-122"/>
                        </a:rPr>
                        <a:t>置信区间是：</a:t>
                      </a:r>
                      <a:endParaRPr sz="2100" dirty="0">
                        <a:latin typeface="楷体" panose="02010609060101010101" charset="-122"/>
                        <a:ea typeface="楷体" panose="02010609060101010101" charset="-122"/>
                        <a:cs typeface="楷体" panose="02010609060101010101" charset="-122"/>
                      </a:endParaRPr>
                    </a:p>
                    <a:p>
                      <a:pPr algn="l" rtl="0" eaLnBrk="0">
                        <a:lnSpc>
                          <a:spcPct val="104000"/>
                        </a:lnSpc>
                      </a:pPr>
                      <a:endParaRPr sz="1000" dirty="0">
                        <a:latin typeface="Arial" panose="020B0604020202020204"/>
                        <a:ea typeface="Arial" panose="020B0604020202020204"/>
                        <a:cs typeface="Arial" panose="020B0604020202020204"/>
                      </a:endParaRPr>
                    </a:p>
                    <a:p>
                      <a:pPr algn="l" rtl="0" eaLnBrk="0">
                        <a:lnSpc>
                          <a:spcPct val="105000"/>
                        </a:lnSpc>
                      </a:pPr>
                      <a:endParaRPr sz="1000" dirty="0">
                        <a:latin typeface="Arial" panose="020B0604020202020204"/>
                        <a:ea typeface="Arial" panose="020B0604020202020204"/>
                        <a:cs typeface="Arial" panose="020B0604020202020204"/>
                      </a:endParaRPr>
                    </a:p>
                    <a:p>
                      <a:pPr algn="l" rtl="0" eaLnBrk="0">
                        <a:lnSpc>
                          <a:spcPct val="125000"/>
                        </a:lnSpc>
                      </a:pPr>
                      <a:endParaRPr sz="200" dirty="0">
                        <a:latin typeface="Arial" panose="020B0604020202020204"/>
                        <a:ea typeface="Arial" panose="020B0604020202020204"/>
                        <a:cs typeface="Arial" panose="020B0604020202020204"/>
                      </a:endParaRPr>
                    </a:p>
                    <a:p>
                      <a:pPr marL="1016000" indent="542925" algn="l" rtl="0" eaLnBrk="0">
                        <a:lnSpc>
                          <a:spcPct val="242000"/>
                        </a:lnSpc>
                        <a:spcBef>
                          <a:spcPts val="0"/>
                        </a:spcBef>
                        <a:tabLst>
                          <a:tab pos="7685405" algn="l"/>
                        </a:tabLst>
                      </a:pPr>
                      <a:r>
                        <a:rPr sz="1000" kern="0" spc="0" dirty="0">
                          <a:solidFill>
                            <a:srgbClr val="000000">
                              <a:alpha val="100000"/>
                            </a:srgbClr>
                          </a:solidFill>
                          <a:latin typeface="Arial" panose="020B0604020202020204"/>
                          <a:ea typeface="Arial" panose="020B0604020202020204"/>
                          <a:cs typeface="Arial" panose="020B0604020202020204"/>
                        </a:rPr>
                        <a:t>	                                      </a:t>
                      </a:r>
                      <a:r>
                        <a:rPr sz="1000" kern="0" spc="-10" dirty="0">
                          <a:solidFill>
                            <a:srgbClr val="000000">
                              <a:alpha val="100000"/>
                            </a:srgbClr>
                          </a:solidFill>
                          <a:latin typeface="Arial" panose="020B0604020202020204"/>
                          <a:ea typeface="Arial" panose="020B0604020202020204"/>
                          <a:cs typeface="Arial" panose="020B0604020202020204"/>
                        </a:rPr>
                        <a:t> </a:t>
                      </a:r>
                      <a:r>
                        <a:rPr sz="2500" kern="0" spc="10" dirty="0">
                          <a:solidFill>
                            <a:srgbClr val="000000">
                              <a:alpha val="100000"/>
                            </a:srgbClr>
                          </a:solidFill>
                          <a:latin typeface="Arial" panose="020B0604020202020204"/>
                          <a:ea typeface="Arial" panose="020B0604020202020204"/>
                          <a:cs typeface="Arial" panose="020B0604020202020204"/>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76.974</a:t>
                      </a:r>
                      <a:r>
                        <a:rPr sz="19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Arial" panose="020B0604020202020204"/>
                          <a:ea typeface="Arial" panose="020B0604020202020204"/>
                          <a:cs typeface="Arial" panose="020B0604020202020204"/>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1.9939</a:t>
                      </a:r>
                      <a:r>
                        <a:rPr sz="1900" kern="0" spc="10" dirty="0">
                          <a:solidFill>
                            <a:srgbClr val="000000">
                              <a:alpha val="100000"/>
                            </a:srgbClr>
                          </a:solidFill>
                          <a:latin typeface="Arial" panose="020B0604020202020204"/>
                          <a:ea typeface="Arial" panose="020B0604020202020204"/>
                          <a:cs typeface="Arial" panose="020B0604020202020204"/>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0.9177,</a:t>
                      </a:r>
                      <a:r>
                        <a:rPr sz="1900" kern="0" spc="-20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76.974</a:t>
                      </a:r>
                      <a:r>
                        <a:rPr sz="1900" kern="0" spc="-12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Arial" panose="020B0604020202020204"/>
                          <a:ea typeface="Arial" panose="020B0604020202020204"/>
                          <a:cs typeface="Arial" panose="020B0604020202020204"/>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1.9939</a:t>
                      </a:r>
                      <a:r>
                        <a:rPr sz="1900" kern="0" spc="-16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Arial" panose="020B0604020202020204"/>
                          <a:ea typeface="Arial" panose="020B0604020202020204"/>
                          <a:cs typeface="Arial" panose="020B0604020202020204"/>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0.9177</a:t>
                      </a:r>
                      <a:r>
                        <a:rPr sz="1900" kern="0" spc="-270" dirty="0">
                          <a:solidFill>
                            <a:srgbClr val="000000">
                              <a:alpha val="100000"/>
                            </a:srgbClr>
                          </a:solidFill>
                          <a:latin typeface="Times New Roman" panose="02020603050405020304"/>
                          <a:ea typeface="Times New Roman" panose="02020603050405020304"/>
                          <a:cs typeface="Times New Roman" panose="02020603050405020304"/>
                        </a:rPr>
                        <a:t> </a:t>
                      </a:r>
                      <a:r>
                        <a:rPr sz="2500" kern="0" spc="10" dirty="0">
                          <a:solidFill>
                            <a:srgbClr val="000000">
                              <a:alpha val="100000"/>
                            </a:srgbClr>
                          </a:solidFill>
                          <a:latin typeface="Arial" panose="020B0604020202020204"/>
                          <a:ea typeface="Arial" panose="020B0604020202020204"/>
                          <a:cs typeface="Arial" panose="020B0604020202020204"/>
                        </a:rPr>
                        <a:t>)</a:t>
                      </a:r>
                      <a:r>
                        <a:rPr sz="2500" kern="0" spc="-260" dirty="0">
                          <a:solidFill>
                            <a:srgbClr val="000000">
                              <a:alpha val="100000"/>
                            </a:srgbClr>
                          </a:solidFill>
                          <a:latin typeface="Arial" panose="020B0604020202020204"/>
                          <a:ea typeface="Arial" panose="020B0604020202020204"/>
                          <a:cs typeface="Arial" panose="020B0604020202020204"/>
                        </a:rPr>
                        <a:t> </a:t>
                      </a:r>
                      <a:r>
                        <a:rPr sz="1900" kern="0" spc="10" dirty="0">
                          <a:solidFill>
                            <a:srgbClr val="000000">
                              <a:alpha val="100000"/>
                            </a:srgbClr>
                          </a:solidFill>
                          <a:latin typeface="Arial" panose="020B0604020202020204"/>
                          <a:ea typeface="Arial" panose="020B0604020202020204"/>
                          <a:cs typeface="Arial" panose="020B0604020202020204"/>
                        </a:rPr>
                        <a:t>= </a:t>
                      </a:r>
                      <a:r>
                        <a:rPr sz="2500" kern="0" spc="10" dirty="0">
                          <a:solidFill>
                            <a:srgbClr val="000000">
                              <a:alpha val="100000"/>
                            </a:srgbClr>
                          </a:solidFill>
                          <a:latin typeface="Arial" panose="020B0604020202020204"/>
                          <a:ea typeface="Arial" panose="020B0604020202020204"/>
                          <a:cs typeface="Arial" panose="020B0604020202020204"/>
                        </a:rPr>
                        <a:t>(</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75.144,</a:t>
                      </a:r>
                      <a:r>
                        <a:rPr sz="1900" kern="0" spc="-190" dirty="0">
                          <a:solidFill>
                            <a:srgbClr val="000000">
                              <a:alpha val="100000"/>
                            </a:srgbClr>
                          </a:solidFill>
                          <a:latin typeface="Times New Roman" panose="02020603050405020304"/>
                          <a:ea typeface="Times New Roman" panose="02020603050405020304"/>
                          <a:cs typeface="Times New Roman" panose="02020603050405020304"/>
                        </a:rPr>
                        <a:t> </a:t>
                      </a:r>
                      <a:r>
                        <a:rPr sz="1900" kern="0" spc="10" dirty="0">
                          <a:solidFill>
                            <a:srgbClr val="000000">
                              <a:alpha val="100000"/>
                            </a:srgbClr>
                          </a:solidFill>
                          <a:latin typeface="Times New Roman" panose="02020603050405020304"/>
                          <a:ea typeface="Times New Roman" panose="02020603050405020304"/>
                          <a:cs typeface="Times New Roman" panose="02020603050405020304"/>
                        </a:rPr>
                        <a:t>78.804</a:t>
                      </a:r>
                      <a:r>
                        <a:rPr sz="2500" kern="0" spc="10" dirty="0">
                          <a:solidFill>
                            <a:srgbClr val="000000">
                              <a:alpha val="100000"/>
                            </a:srgbClr>
                          </a:solidFill>
                          <a:latin typeface="Arial" panose="020B0604020202020204"/>
                          <a:ea typeface="Arial" panose="020B0604020202020204"/>
                          <a:cs typeface="Arial" panose="020B0604020202020204"/>
                        </a:rPr>
                        <a:t>)</a:t>
                      </a:r>
                      <a:endParaRPr sz="2500" dirty="0">
                        <a:latin typeface="Arial" panose="020B0604020202020204"/>
                        <a:ea typeface="Arial" panose="020B0604020202020204"/>
                        <a:cs typeface="Arial" panose="020B06040202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607694">
                <a:tc>
                  <a:txBody>
                    <a:bodyPr/>
                    <a:lstStyle/>
                    <a:p>
                      <a:pPr algn="l" rtl="0" eaLnBrk="0">
                        <a:lnSpc>
                          <a:spcPct val="145000"/>
                        </a:lnSpc>
                      </a:pPr>
                      <a:endParaRPr sz="1000" dirty="0">
                        <a:latin typeface="Arial" panose="020B0604020202020204"/>
                        <a:ea typeface="Arial" panose="020B0604020202020204"/>
                        <a:cs typeface="Arial" panose="020B0604020202020204"/>
                      </a:endParaRPr>
                    </a:p>
                    <a:p>
                      <a:pPr marL="215265" algn="l" rtl="0" eaLnBrk="0">
                        <a:lnSpc>
                          <a:spcPct val="75000"/>
                        </a:lnSpc>
                        <a:spcBef>
                          <a:spcPts val="0"/>
                        </a:spcBef>
                      </a:pPr>
                      <a:r>
                        <a:rPr sz="1400" b="1" kern="0" spc="-40" dirty="0">
                          <a:solidFill>
                            <a:srgbClr val="FFFFFF">
                              <a:alpha val="100000"/>
                            </a:srgbClr>
                          </a:solidFill>
                          <a:latin typeface="Franklin Gothic Book" panose="020B0503020102020204"/>
                          <a:ea typeface="Franklin Gothic Book" panose="020B0503020102020204"/>
                          <a:cs typeface="Franklin Gothic Book" panose="020B0503020102020204"/>
                        </a:rPr>
                        <a:t>56</a:t>
                      </a:r>
                      <a:endParaRPr sz="1400" dirty="0">
                        <a:latin typeface="Franklin Gothic Book" panose="020B0503020102020204"/>
                        <a:ea typeface="Franklin Gothic Book" panose="020B0503020102020204"/>
                        <a:cs typeface="Franklin Gothic Book" panose="020B0503020102020204"/>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pic>
        <p:nvPicPr>
          <p:cNvPr id="412" name="picture 412"/>
          <p:cNvPicPr>
            <a:picLocks noChangeAspect="1"/>
          </p:cNvPicPr>
          <p:nvPr/>
        </p:nvPicPr>
        <p:blipFill>
          <a:blip r:embed="rId1"/>
          <a:stretch>
            <a:fillRect/>
          </a:stretch>
        </p:blipFill>
        <p:spPr>
          <a:xfrm rot="21600000">
            <a:off x="1620728" y="4828724"/>
            <a:ext cx="6125991" cy="639578"/>
          </a:xfrm>
          <a:prstGeom prst="rect">
            <a:avLst/>
          </a:prstGeom>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28787</Words>
  <Application>WPS 演示</Application>
  <PresentationFormat>全屏显示(4:3)</PresentationFormat>
  <Paragraphs>7237</Paragraphs>
  <Slides>169</Slides>
  <Notes>1</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24</vt:i4>
      </vt:variant>
      <vt:variant>
        <vt:lpstr>幻灯片标题</vt:lpstr>
      </vt:variant>
      <vt:variant>
        <vt:i4>169</vt:i4>
      </vt:variant>
    </vt:vector>
  </HeadingPairs>
  <TitlesOfParts>
    <vt:vector size="217" baseType="lpstr">
      <vt:lpstr>Arial</vt:lpstr>
      <vt:lpstr>宋体</vt:lpstr>
      <vt:lpstr>Wingdings</vt:lpstr>
      <vt:lpstr>Wingdings 2</vt:lpstr>
      <vt:lpstr>Arial</vt:lpstr>
      <vt:lpstr>幼圆</vt:lpstr>
      <vt:lpstr>Franklin Gothic Book</vt:lpstr>
      <vt:lpstr>华文楷体</vt:lpstr>
      <vt:lpstr>微软雅黑</vt:lpstr>
      <vt:lpstr>Times New Roman</vt:lpstr>
      <vt:lpstr>华文仿宋</vt:lpstr>
      <vt:lpstr>仿宋</vt:lpstr>
      <vt:lpstr>Arial Unicode MS</vt:lpstr>
      <vt:lpstr>Calibri</vt:lpstr>
      <vt:lpstr>Perpetua</vt:lpstr>
      <vt:lpstr>楷体</vt:lpstr>
      <vt:lpstr>黑体</vt:lpstr>
      <vt:lpstr>Times New Roman</vt:lpstr>
      <vt:lpstr>Symbol</vt:lpstr>
      <vt:lpstr>等线</vt:lpstr>
      <vt:lpstr>Cambria Math</vt:lpstr>
      <vt:lpstr>Cambria</vt:lpstr>
      <vt:lpstr>Office theme</vt:lpstr>
      <vt:lpstr>平衡</vt:lpstr>
      <vt:lpstr>Equation.DSMT4</vt:lpstr>
      <vt:lpstr>Equation.3</vt:lpstr>
      <vt:lpstr>Equation.3</vt:lpstr>
      <vt:lpstr>Equation.3</vt:lpstr>
      <vt:lpstr>Equation.3</vt:lpstr>
      <vt:lpstr>Equation.DSMT4</vt:lpstr>
      <vt:lpstr>Equation.3</vt:lpstr>
      <vt:lpstr>Equation.3</vt:lpstr>
      <vt:lpstr>Equation.DSMT4</vt:lpstr>
      <vt:lpstr>Equation.DSMT4</vt:lpstr>
      <vt:lpstr>Equation.DSMT4</vt:lpstr>
      <vt:lpstr>Equation.3</vt:lpstr>
      <vt:lpstr>Equation.DSMT4</vt:lpstr>
      <vt:lpstr>Equation.DSMT4</vt:lpstr>
      <vt:lpstr>Equation.3</vt:lpstr>
      <vt:lpstr>Equation.DSMT4</vt:lpstr>
      <vt:lpstr>Equation.3</vt:lpstr>
      <vt:lpstr>Equation.3</vt:lpstr>
      <vt:lpstr>Equation.3</vt:lpstr>
      <vt:lpstr>Equation.3</vt:lpstr>
      <vt:lpstr>Equation.3</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第二章  区间估计与假设检验</vt:lpstr>
      <vt:lpstr>一、区间估计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二、假设检验</vt:lpstr>
      <vt:lpstr>PowerPoint 演示文稿</vt:lpstr>
      <vt:lpstr>PowerPoint 演示文稿</vt:lpstr>
      <vt:lpstr>PowerPoint 演示文稿</vt:lpstr>
      <vt:lpstr>PowerPoint 演示文稿</vt:lpstr>
      <vt:lpstr>PowerPoint 演示文稿</vt:lpstr>
      <vt:lpstr>PowerPoint 演示文稿</vt:lpstr>
      <vt:lpstr>三、假设检验的例子</vt:lpstr>
      <vt:lpstr>双尾检验的情形</vt:lpstr>
      <vt:lpstr>PowerPoint 演示文稿</vt:lpstr>
      <vt:lpstr>PowerPoint 演示文稿</vt:lpstr>
      <vt:lpstr>四、P值</vt:lpstr>
      <vt:lpstr>PowerPoint 演示文稿</vt:lpstr>
      <vt:lpstr>PowerPoint 演示文稿</vt:lpstr>
      <vt:lpstr>第三章  预测、拟合优度与建模问题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地方政府融资、债务及风险防范</dc:title>
  <dc:creator>gongfeng</dc:creator>
  <cp:lastModifiedBy>胡利琴</cp:lastModifiedBy>
  <cp:revision>15</cp:revision>
  <dcterms:created xsi:type="dcterms:W3CDTF">2025-11-10T13:37:00Z</dcterms:created>
  <dcterms:modified xsi:type="dcterms:W3CDTF">2025-11-17T01:11:57Z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wqlLaW5nc29mdCBQREYgdG8gV1BTIDExMA</vt:lpwstr>
  </property>
  <property fmtid="{D5CDD505-2E9C-101B-9397-08002B2CF9AE}" pid="3" name="Created">
    <vt:filetime>2025-11-11T11:09:37Z</vt:filetime>
  </property>
  <property fmtid="{D5CDD505-2E9C-101B-9397-08002B2CF9AE}" pid="4" name="ICV">
    <vt:lpwstr>EDDAB6FBF605404485416578D6AAEE4B_13</vt:lpwstr>
  </property>
  <property fmtid="{D5CDD505-2E9C-101B-9397-08002B2CF9AE}" pid="5" name="KSOProductBuildVer">
    <vt:lpwstr>2052-12.1.0.19302</vt:lpwstr>
  </property>
</Properties>
</file>